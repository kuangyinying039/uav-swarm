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Belief Decisiveness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44.99</c:v>
                </c:pt>
                <c:pt idx="1">
                  <c:v>30</c:v>
                </c:pt>
                <c:pt idx="2">
                  <c:v>41.91</c:v>
                </c:pt>
                <c:pt idx="3">
                  <c:v>47.05</c:v>
                </c:pt>
                <c:pt idx="4">
                  <c:v>62.15</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Target Discovery (%)</a:t>
            </a:r>
          </a:p>
        </c:rich>
      </c:tx>
      <c:layout/>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77.78</c:v>
                </c:pt>
                <c:pt idx="1">
                  <c:v>72.11</c:v>
                </c:pt>
                <c:pt idx="2">
                  <c:v>76.22</c:v>
                </c:pt>
                <c:pt idx="3">
                  <c:v>79.78</c:v>
                </c:pt>
                <c:pt idx="4">
                  <c:v>86.78</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Times New Roman"/>
              </a:defRPr>
            </a:pPr>
            <a:r>
              <a:rPr sz="1100" b="0" i="0" u="none" strike="noStrike">
                <a:solidFill>
                  <a:srgbClr val="1F2A44"/>
                </a:solidFill>
                <a:latin typeface="Times New Roman"/>
              </a:rPr>
              <a:t>Ablation  (Decisiveness / Discovery,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2F5597"/>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Sheet1!$B$2:$B$5</c:f>
              <c:numCache>
                <c:formatCode>General</c:formatCode>
                <c:ptCount val="4"/>
                <c:pt idx="0">
                  <c:v>62.15</c:v>
                </c:pt>
                <c:pt idx="1">
                  <c:v>45.82</c:v>
                </c:pt>
                <c:pt idx="2">
                  <c:v>53.99</c:v>
                </c:pt>
                <c:pt idx="3">
                  <c:v>47.05</c:v>
                </c:pt>
              </c:numCache>
            </c:numRef>
          </c:val>
        </c:ser>
        <c:ser>
          <c:idx val="1"/>
          <c:order val="1"/>
          <c:tx>
            <c:strRef>
              <c:f>Sheet1!$C$1</c:f>
              <c:strCache>
                <c:ptCount val="1"/>
                <c:pt idx="0">
                  <c:v>Discovery</c:v>
                </c:pt>
              </c:strCache>
            </c:strRef>
          </c:tx>
          <c:spPr>
            <a:solidFill>
              <a:srgbClr val="ED7D31"/>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Sheet1!$C$2:$C$5</c:f>
              <c:numCache>
                <c:formatCode>General</c:formatCode>
                <c:ptCount val="4"/>
                <c:pt idx="0">
                  <c:v>86.78</c:v>
                </c:pt>
                <c:pt idx="1">
                  <c:v>73.11</c:v>
                </c:pt>
                <c:pt idx="2">
                  <c:v>85.33</c:v>
                </c:pt>
                <c:pt idx="3">
                  <c:v>79.78</c:v>
                </c:pt>
              </c:numCache>
            </c:numRef>
          </c:val>
        </c:ser>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各位老师、同学，大家好。感谢主持人，也感谢各位在 CAC 2026 抽出时间听我们汇报。今天的工作面向间歇通信约束下的多无人机协同搜索。请先把问题记清楚：我们不把“全局地图可共享、链路始终连通”当作默认前提，而是把它建模成一个通信受限的 Dec-POMDP——每架无人机只能使用机载观测，以及当前物理上仍可达的邻居消息。算法名称 IC-HGAT-MAPPO 会在问题讲清楚之后再给出。接下来请各位先看目录，了解整场报告的三条主线。
【English】
Good morning, and thank you for joining this CAC 2026 session. This talk studies cooperative multi-UAV search under intermittent communication. Please keep the problem first: we do not assume a shared global map or always-on links. The setting is a communication-constrained Dec-POMDP, so each UAV may use only onboard observations and currently reachable peer messages. The name IC-HGAT-MAPPO comes after the problem is clear. Next, a short contents slide will mark the three parts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报告严格对应论文结构，分成三部分，这里十几秒带过即可。第一部分是背景与问题：从应用场景走到间歇通信下的三个挑战，再映射到三个设计问题。第二部分是方法：问题形式化、整体框架、P/E/R 记忆与历史感知选源，以及异构图注意力加 MAPPO。第三部分是实验与结论：主结果、消融和敏感性，最后收束贡献与展望。下面请先进入第一部分，用三个典型任务说明：为什么多无人机搜索在通信不可靠时会变成一个决策问题。
【English】
The talk has three parts, matching the paper. Part I is background and the problem: applications, three communication-induced challenges, then three design questions. Part II is the method: formulation, the IC-HGAT-MAPPO pipeline, P/E/R memory with history-aware source selection, and heterogeneous graph attention with MAPPO. Part III reports experiments and conclusions. We now enter Part I, starting from three application scenes that make unreliable communication a decision problem, not only a networking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多无人机可以并行覆盖震后搜救、林火监测和海上救援。这类任务的共同需求是：在动态障碍和运动目标下尽快提高发现率，同时把格子级信念推到更决断的状态。很多 MARL 搜索方法默认通信充分、信息接近全局，策略几乎可以当中心化控制器来训。但在干扰、遮挡或距离超限时，链路会间歇中断，可用邻居集合 𝒩_i(t) 随时间跳变。于是问题不再只是“怎么搜”，而是“信息不完整时如何协同搜”。请看下方三栏：左侧是常规设定，中间是更现实的设定，右侧三条研究需求——维持有用信念、利用可达同伴信息、建模异构关系——正好对应后文三个模块。下一页我们把这个现实设定拆成三个可以单独回答的挑战。
【English】
Multi-UAV teams can search in earthquake response, wildfire monitoring, and maritime rescue. The shared need is to raise discovery quickly while driving cell-wise beliefs toward more decisive states, under moving targets and dynamic obstacles. Many MARL search methods assume stable communication and nearly global information, so the policy almost trains as a centralized controller. Under interference, occlusion, or range limits, links drop and the reachable set 𝒩_i(t) jumps over time. The question is therefore not only how to search, but how to coordinate under incomplete information. The three columns map conventional, practical, and research needs onto the three modules that follow. Next we split that practical setting into three challenges we can answer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带着刚才的应用，间歇通信会落到三个核心挑战。第一，没有共享全局地图，观测是局部的，可用邻居随 A_{i,j,t} 变化，决策必须去中心化。第二，同伴、任务或前沿、障碍物角色不同：同伴提供协作信息，任务节点编码搜索效用，障碍编码碰撞风险，不能只用同构 UAV 图。第三，通信恢复后拿到的信念可能过时，可达不等于可信，必须回答“该信哪一个源”。请强调一句：我们优化的是通信约束下的决策，而不是去改 MAC 或路由协议。下一页把三个挑战一一映射到机制，完成从问题到方法的转折。
【English】
From those applications, intermittent communication yields three challenges. First, there is no shared global map; observations are local and the neighbor set changes with A_{i,j,t}, so decisions are decentralized. Second, peers, tasks or frontiers, and obstacles play different roles: cooperation, search utility, and collision risk. A homogeneous UAV graph is not enough. Third, beliefs recovered after an outage may be stale, so reachability is not usefulness: we must choose which source to trust. Our focus is decision-making under communication constraints, not protocol optimization. The next slide maps each challenge onto a mechanism and turns the problem into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这一页是转折页，请放慢一点。挑战一用不完整信念来表述，对应 revisit-aware 的 P/E/R 记忆：P 是目标存在概率，E 是不确定性，R 是回访陈旧度。挑战二是过时邻居信息，对应通信历史感知的源选择，每个格子只选一个源，避免相关 log-odds 相加。挑战三是异构实体，对应异构图注意力。学习框架是共享 Actor、训练期集中 Critic、MAPPO 加 CTDE；底部安全投影对所有对比方法相同，不是本文贡献。三个问题汇到 IC-HGAT-MAPPO 之后，下一页进入第二部分，先把搜索场景和评价指标写清楚。
【English】
This is the turning slide; please slow down. Incomplete beliefs are handled by revisit-aware P/E/R memory: existence P, uncertainty E, and revisit staleness R. Stale peer information is handled by communication-history-aware source selection, one source per cell, without adding correlated log-odds. Heterogeneous entities are handled by heterogeneous graph attention. Training uses a shared actor, a centralized critic, and MAPPO with CTDE. The safety projection is shared by all methods and is not a contribution. After these three questions collapse into IC-HGAT-MAPPO, Part II begins with the search scene and the evaluation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问题设定对应论文第二节，请先看左侧场景图：实线是当前连通，虚线是断链，还有局部感知、运动目标和动态障碍。仿真是 6 架无人机、15 个目标、10 个障碍、30×30 网格；动作为八方向加悬停。运动方程是可行域投影后的离散更新，决策间隔 Δt 可在 0.45 到 1.0 秒自适应。通信用指示函数 A_{i,j,t}：距离不超过 Rc，且双方都在工作、都允许发射。策略只能使用瞬时可达集合 𝒩_i(t)。评价指标请连公式一起念：发现率 Dt 是已发现目标占比；信念决断度 Ct 是格子上 |2P−1| 的均值，越接近 1 越决断；T80 是 Dt 首次达到 0.8 的最早时刻。Dt、Ct 越高越好，T80 越低越快。设定讲完后，下一页按数据流把整套算法串起来。
【English】
This is the problem formulation. The figure shows live and broken links, local sensing, moving targets, and dynamic obstacles. The setting has 6 UAVs, 15 targets, 10 obstacles, and a 30 by 30 grid, with eight move directions plus hover. Motion is a discrete update with a feasible-set projection and an adaptive interval Δt in [0.45, 1.0] s. The link indicator A_{i,j,t} requires range within Rc and both UAVs active. The policy may use only the instantaneous set 𝒩_i(t). Discovery Dt is the fraction of found targets; decisiveness Ct is the mean of |2P−1| over cells; T80 is the first time Dt reaches 0.8. Higher Dt and Ct are better; lower T80 is faster. With the setting fixed, the next slide walks the full data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请严格按箭头从左到右讲，不要跳模块。执行时：局部观测和链路掩码先更新 P/E/R 记忆，再构造异构图，共享 Actor 输出九个名义动作，最后经安全投影落到可行动作。训练时集中 Critic 看到全局状态，用 MAPPO 的 clip 目标和 GAE 优势写回 Actor；执行阶段去掉 Critic，这就是 CTDE。务必说明：安全投影对所有对比方法相同，性能不能记在 safety layer 上。框架清楚以后，下一页拆开两个信念模块：记什么，以及信谁。
【English】
Please follow the arrows from left to right. At execution, local observation and the link mask update P/E/R memory, then the heterogeneous graph, then the shared actor with nine nominal actions, then safety projection. During training, a centralized critic sees global state and MAPPO writes the update back through a clipped objective and GAE advantages. The critic is removed at execution; that is CTDE. Safety projection is shared by all methods, so it is not the source of the gains. After the pipeline, the next slide opens the two belief modules: what to remember, and whom to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左栏回答“记什么”。每架无人机在格子 x 上维护 log-odds L，再映射成存在概率 P=σ(L)；不确定性 E=exp(−kq|L|)，|L| 越大越确定。回访场 R 以老化系数 α=0.035 增长，并以 β=0.08 向邻域扩散；被感知格子重置为 0。前沿分数 q=E+0.15P+0.65R，后面会用来抽任务节点。右栏回答“信谁”。即使 j 和 k 都能通信，也按距离衰减和通信历史 g_{j,t} 加权，βd=0.28；每个格子只选使 w|L| 最大的一个源，避免把相关 log-odds 简单相加。信念怎么进策略，下一页用异构图注意力和 MAPPO 来回答。
【English】
The left column answers what to remember. Each UAV keeps a log-odds field L and maps it to existence P=σ(L). Uncertainty is E=exp(−kq|L|): larger |L| is more certain. Revisit staleness R ages with α=0.035 and diffuses with β=0.08; sensed cells reset to zero. The frontier score q=E+0.15P+0.65R later nominates task nodes. The right column answers whom to trust. Even if both j and k are reachable, weights use distance decay and communication history g_{j,t} with βd=0.28, and one source is chosen per cell by maximizing w|L|. We do not add correlated log-odds. The next slide feeds these beliefs into heterogeneous graph attention and MAPPO.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异构图以本机 UAV 为中心，分别连同伴、任务和障碍三类关系。注意力不是普通 GAT：除 QK 项外，还有关系置信 log χ、距离先验 −κr d_ik，以及链路掩码。κr 对同伴取 1.5，对任务和障碍取 0.7；网络是 2 层 4 头，任务槽 6 个、障碍槽 4 个。右侧是共享 Actor 输出 9 个名义动作；单一集中 Critic 只在训练使用。奖励是发现增量加决断度增量，减去安全代价，权重 1.0、0.30、0.10。优化用 MAPPO：重要性比 ρt、clip 系数 ε=0.20、GAE λ=0.95、γ=0.99。完整推导不必展开。方法讲完，下一页进入实验：先看协议和主结果。
【English】
The graph is centered on UAV i, with peer, task, and obstacle relations. Attention is not a plain GAT: besides the QK term, it uses relation confidence log χ, a distance prior −κr d_ik, and a link mask. κr is 1.5 for peers and 0.7 for tasks and obstacles. The network has two layers and four heads, with six task slots and four obstacle slots. The shared actor outputs nine nominal actions; one centralized critic is used only in training. The reward is discovery plus decisiveness minus a safety cost, with weights 1.0, 0.30, and 0.10. MAPPO uses the importance ratio ρt, clip ε=0.20, GAE λ=0.95, and γ=0.99. The full PPO derivation can wait for questions. With the method in place, the next slide turns to experiments: protocol and main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实验协议公平：同一环境、奖励、动作空间和训练预算；感知半径 2 格、通信半径 10 格，对应 10 米和 50 米；时域 200 步，训练 2000 回合；5 个独立策略，30 个保留场景。左下轨迹图只说明系统长什么样，不是定量证据。主结果请看柱状图：决断度 62.15%，发现率 86.78%。相对启发式提高 17.16 和 9.00 个百分点，95% 置信区间大约 12.96–21.36；相对 QMIX 提高 32.15 和 14.67 个百分点，区间大约 28.30–36.01。T80 成功率为 82.0%，成功条件下 88.63 步。安全干预仅 0.17%，碰撞与启发式相当，不要把安全列说成本文优势。主结果之后，下一页用消融证明三个模块各自有贡献，并用敏感性看扰动是否吃掉优势。
【English】
The protocol is shared: same environment, reward, action space, and budget; sensing radius 2 cells and communication radius 10 cells, that is 10 m and 50 m; horizon 200 and 2,000 training episodes; five independently trained policies and thirty held-out scenarios. The trajectory figure shows what a run looks like; it is not the quantitative evidence. Read the bars: 62.15 percent decisiveness and 86.78 percent discovery. Versus the heuristic that is plus 17.16 and plus 9.00 points, with a 95 percent CI of about 12.96 to 21.36 on decisiveness; versus QMIX, plus 32.15 and plus 14.67, with a CI of about 28.30 to 36.01. T80 succeeds in 82.0 percent of runs at 88.63 steps when successful. Safety intervention is only 0.17 percent, and collision is comparable to the heuristic, so do not rank the method on safety columns. Next, ablations show that each module contributes, and sensitivity checks whether the gain survives perturbations.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消融说明三个模块都有用。完整模型 62.15 / 86.78。相对同构图 47.05 / 79.78，异构关系带来约 15.10 个百分点决断度。去掉 revisit 记忆落到 45.82 / 73.11，决断度和发现率分别下降 16.33 和 13.67 个百分点。去掉历史加权落到 53.99 / 85.33，决断度下降 8.16，条件 T80 从 88.63 变到 98.19，但阈值成功率从 82.0% 升到 86.7%——这是需要主动承认的权衡：历史加权更决断、条件上更快，但不加权时更多回合能跨过 80% 发现阈值。下方敏感性不必六张图逐张讲，举目标速度和通信半径或中断概率两例，然后说在测试扰动范围内平均发现率更高。数字和机制都齐了，下一页用三条贡献收束，并给出按论文写的未来工作。
【English】
Ablations support all three modules. The full model is 62.15 / 86.78. Heterogeneous relations add about 15.10 points of decisiveness over the homogeneous graph at 47.05 / 79.78. Removing revisit memory drops to 45.82 / 73.11, that is minus 16.33 and minus 13.67 points. Removing history weighting drops to 53.99 / 85.33: decisiveness falls by 8.16 points and conditional T80 slows from 88.63 to 98.19, while threshold success rises from 82.0 to 86.7 percent. That trade-off should be stated: history weighting is more decisive and conditionally faster, but without it more runs cross the 80 percent discovery threshold. Do not walk through all six sensitivity plots. Mention target speed and communication radius or outage, then conclude that mean discovery stays higher over the tested ranges. With numbers and mechanisms in place, the next slide closes with three contributions and the paper’s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总结只留三条，请对应前面三个挑战再念一遍：第一，通信约束下的去中心决策，策略只用局部观测和瞬时可达邻居；第二，信念管理，也就是 P/E/R 记忆加上历史感知选源；第三，异构关系编码，用 HGAT 把同伴、任务和障碍写进 MAPPO。请再报核心数字：62.15% 决断度、86.78% 发现率、82.0% 的 T80 成功率，成功条件下 88.63 步。未来工作按论文来：三维环境、完全去中心安全、以及含真实通信的半实物验证。如果被问到仓库里的围捕代码，只作为口头补充，不要把这篇 search 报告讲成 pursuit。最后一页致谢，欢迎提问。
【English】
Leave three contributions, matching the three challenges: communication-constrained decentralized decisions that use only local observations and reachable peers; belief management with P/E/R and history-aware selection; and heterogeneous relational encoding inside MAPPO. Repeat 62.15 percent, 86.78 percent, 82.0 percent, and 88.63 conditional steps. Future work follows the paper: 3D environments, fully decentralized safety, and hardware-in-the-loop with real communication. If asked about pursuit code in the repo, mention it only as an ongoing extension. Do not turn this search talk into a pursuit talk. The last slide is the thank-you, and then we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【中文】
谢谢各位老师、同学。欢迎就间歇通信下的 Dec-POMDP 建模、log-odds 信念维护、历史感知源选择，以及异构图注意力提问。联系邮箱是 kuangyinying039@163.com。如果时间允许，我可以从公式或消融里任选一处展开。
【English】
Thank you for your attention. I welcome questions on the Dec-POMDP model, log-odds belief maintenance, history-aware source selection, and heterogeneous graph attention under intermittent communication. My email is kuangyinying039@163.com. If time allows, I can expand any equation or ablation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4052"/>
            <a:ext cx="1554480" cy="1073224"/>
          </a:xfrm>
          <a:prstGeom prst="rect">
            <a:avLst/>
          </a:prstGeom>
        </p:spPr>
      </p:pic>
      <p:pic>
        <p:nvPicPr>
          <p:cNvPr id="4" name="Image 1" descr="/tmp/ppt-work/assets/caa.png">    </p:cNvPr>
          <p:cNvPicPr>
            <a:picLocks noChangeAspect="1"/>
          </p:cNvPicPr>
          <p:nvPr/>
        </p:nvPicPr>
        <p:blipFill>
          <a:blip r:embed="rId2"/>
          <a:stretch>
            <a:fillRect/>
          </a:stretch>
        </p:blipFill>
        <p:spPr>
          <a:xfrm>
            <a:off x="5147419" y="256032"/>
            <a:ext cx="1638082" cy="1005840"/>
          </a:xfrm>
          <a:prstGeom prst="rect">
            <a:avLst/>
          </a:prstGeom>
        </p:spPr>
      </p:pic>
      <p:sp>
        <p:nvSpPr>
          <p:cNvPr id="5" name="Text 1"/>
          <p:cNvSpPr/>
          <p:nvPr/>
        </p:nvSpPr>
        <p:spPr>
          <a:xfrm>
            <a:off x="6903720" y="384048"/>
            <a:ext cx="4846320" cy="731520"/>
          </a:xfrm>
          <a:prstGeom prst="rect">
            <a:avLst/>
          </a:prstGeom>
          <a:noFill/>
          <a:ln/>
        </p:spPr>
        <p:txBody>
          <a:bodyPr wrap="square" lIns="0" tIns="0" rIns="0" bIns="0" rtlCol="0" anchor="ctr"/>
          <a:lstStyle/>
          <a:p>
            <a:pPr indent="0" marL="0">
              <a:buNone/>
            </a:pPr>
            <a:r>
              <a:rPr lang="en-US" sz="1800" b="1" dirty="0">
                <a:solidFill>
                  <a:srgbClr val="2F5597"/>
                </a:solidFill>
                <a:latin typeface="Times New Roman" pitchFamily="34" charset="0"/>
                <a:ea typeface="Times New Roman" pitchFamily="34" charset="-122"/>
                <a:cs typeface="Times New Roman" pitchFamily="34" charset="-120"/>
              </a:rPr>
              <a:t>Chinese Automation Congress  ·  CAC 2026</a:t>
            </a:r>
            <a:endParaRPr lang="en-US" sz="1800" dirty="0"/>
          </a:p>
        </p:txBody>
      </p:sp>
      <p:sp>
        <p:nvSpPr>
          <p:cNvPr id="6" name="Shape 2"/>
          <p:cNvSpPr/>
          <p:nvPr/>
        </p:nvSpPr>
        <p:spPr>
          <a:xfrm>
            <a:off x="0" y="1417320"/>
            <a:ext cx="12191695" cy="3063240"/>
          </a:xfrm>
          <a:prstGeom prst="rect">
            <a:avLst/>
          </a:prstGeom>
          <a:solidFill>
            <a:srgbClr val="2F5597"/>
          </a:solidFill>
          <a:ln/>
        </p:spPr>
      </p:sp>
      <p:sp>
        <p:nvSpPr>
          <p:cNvPr id="7" name="Text 3"/>
          <p:cNvSpPr/>
          <p:nvPr/>
        </p:nvSpPr>
        <p:spPr>
          <a:xfrm>
            <a:off x="411480" y="1508760"/>
            <a:ext cx="11338560" cy="28803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A Heterogeneous Graph-Attention MAPPO Algorithm</a:t>
            </a:r>
            <a:endParaRPr lang="en-US" sz="3000" dirty="0"/>
          </a:p>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for Cooperative Multi-UAV Search</a:t>
            </a:r>
            <a:endParaRPr lang="en-US" sz="3000" dirty="0"/>
          </a:p>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under Intermittent Communication Constraints</a:t>
            </a:r>
            <a:endParaRPr lang="en-US" sz="3000" dirty="0"/>
          </a:p>
        </p:txBody>
      </p:sp>
      <p:sp>
        <p:nvSpPr>
          <p:cNvPr id="8" name="Text 4"/>
          <p:cNvSpPr/>
          <p:nvPr/>
        </p:nvSpPr>
        <p:spPr>
          <a:xfrm>
            <a:off x="457200" y="4617720"/>
            <a:ext cx="11247120" cy="457200"/>
          </a:xfrm>
          <a:prstGeom prst="rect">
            <a:avLst/>
          </a:prstGeom>
          <a:noFill/>
          <a:ln/>
        </p:spPr>
        <p:txBody>
          <a:bodyPr wrap="square" lIns="0" tIns="0" rIns="0" bIns="0" rtlCol="0" anchor="ctr"/>
          <a:lstStyle/>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Yinying Kuang, Zhaowei Liang, Yongran Zhi, Huijin Fan*, Lei Liu*, Bo Wang*</a:t>
            </a:r>
            <a:endParaRPr lang="en-US" sz="1800" dirty="0"/>
          </a:p>
        </p:txBody>
      </p:sp>
      <p:sp>
        <p:nvSpPr>
          <p:cNvPr id="9" name="Text 5"/>
          <p:cNvSpPr/>
          <p:nvPr/>
        </p:nvSpPr>
        <p:spPr>
          <a:xfrm>
            <a:off x="457200" y="5074920"/>
            <a:ext cx="11247120" cy="713232"/>
          </a:xfrm>
          <a:prstGeom prst="rect">
            <a:avLst/>
          </a:prstGeom>
          <a:noFill/>
          <a:ln/>
        </p:spPr>
        <p:txBody>
          <a:bodyPr wrap="square" lIns="0" tIns="0" rIns="0" bIns="0" rtlCol="0" anchor="ctr"/>
          <a:lstStyle/>
          <a:p>
            <a:pPr algn="ctr" indent="0" marL="0">
              <a:buNone/>
            </a:pPr>
            <a:r>
              <a:rPr lang="en-US" sz="1700" dirty="0">
                <a:solidFill>
                  <a:srgbClr val="5A6A80"/>
                </a:solidFill>
                <a:latin typeface="Times New Roman" pitchFamily="34" charset="0"/>
                <a:ea typeface="Times New Roman" pitchFamily="34" charset="-122"/>
                <a:cs typeface="Times New Roman" pitchFamily="34" charset="-120"/>
              </a:rPr>
              <a:t>Huazhong University of Science and Technology</a:t>
            </a:r>
            <a:endParaRPr lang="en-US" sz="1700" dirty="0"/>
          </a:p>
          <a:p>
            <a:pPr algn="ctr" indent="0" marL="0">
              <a:buNone/>
            </a:pPr>
            <a:r>
              <a:rPr lang="en-US" sz="1700" dirty="0">
                <a:solidFill>
                  <a:srgbClr val="5A6A80"/>
                </a:solidFill>
                <a:latin typeface="Times New Roman" pitchFamily="34" charset="0"/>
                <a:ea typeface="Times New Roman" pitchFamily="34" charset="-122"/>
                <a:cs typeface="Times New Roman" pitchFamily="34" charset="-120"/>
              </a:rPr>
              <a:t>Wuhan Second Ship Design and Research Institute</a:t>
            </a:r>
            <a:endParaRPr lang="en-US" sz="1700" dirty="0"/>
          </a:p>
        </p:txBody>
      </p:sp>
      <p:sp>
        <p:nvSpPr>
          <p:cNvPr id="10" name="Text 6"/>
          <p:cNvSpPr/>
          <p:nvPr/>
        </p:nvSpPr>
        <p:spPr>
          <a:xfrm>
            <a:off x="457200" y="5779008"/>
            <a:ext cx="11247120" cy="329184"/>
          </a:xfrm>
          <a:prstGeom prst="rect">
            <a:avLst/>
          </a:prstGeom>
          <a:noFill/>
          <a:ln/>
        </p:spPr>
        <p:txBody>
          <a:bodyPr wrap="square" lIns="0" tIns="0" rIns="0" bIns="0" rtlCol="0" anchor="ctr"/>
          <a:lstStyle/>
          <a:p>
            <a:pPr algn="ctr" indent="0" marL="0">
              <a:buNone/>
            </a:pPr>
            <a:r>
              <a:rPr lang="en-US" sz="1700" b="1" dirty="0">
                <a:solidFill>
                  <a:srgbClr val="2F5597"/>
                </a:solidFill>
                <a:latin typeface="Times New Roman" pitchFamily="34" charset="0"/>
                <a:ea typeface="Times New Roman" pitchFamily="34" charset="-122"/>
                <a:cs typeface="Times New Roman" pitchFamily="34" charset="-120"/>
              </a:rPr>
              <a:t>CAC 2026  ·  Beijing  ·  October 2026</a:t>
            </a:r>
            <a:endParaRPr lang="en-US" sz="1700" dirty="0"/>
          </a:p>
        </p:txBody>
      </p:sp>
      <p:sp>
        <p:nvSpPr>
          <p:cNvPr id="11" name="Shape 7"/>
          <p:cNvSpPr/>
          <p:nvPr/>
        </p:nvSpPr>
        <p:spPr>
          <a:xfrm>
            <a:off x="347472" y="6199632"/>
            <a:ext cx="2267712" cy="438912"/>
          </a:xfrm>
          <a:prstGeom prst="roundRect">
            <a:avLst>
              <a:gd name="adj" fmla="val 16667"/>
            </a:avLst>
          </a:prstGeom>
          <a:solidFill>
            <a:srgbClr val="EAF0F8"/>
          </a:solidFill>
          <a:ln/>
        </p:spPr>
      </p:sp>
      <p:sp>
        <p:nvSpPr>
          <p:cNvPr id="12" name="Text 8"/>
          <p:cNvSpPr/>
          <p:nvPr/>
        </p:nvSpPr>
        <p:spPr>
          <a:xfrm>
            <a:off x="347472"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Dec-POMDP</a:t>
            </a:r>
            <a:endParaRPr lang="en-US" sz="1100" dirty="0"/>
          </a:p>
        </p:txBody>
      </p:sp>
      <p:sp>
        <p:nvSpPr>
          <p:cNvPr id="13" name="Shape 9"/>
          <p:cNvSpPr/>
          <p:nvPr/>
        </p:nvSpPr>
        <p:spPr>
          <a:xfrm>
            <a:off x="2706624" y="6199632"/>
            <a:ext cx="2267712" cy="438912"/>
          </a:xfrm>
          <a:prstGeom prst="roundRect">
            <a:avLst>
              <a:gd name="adj" fmla="val 16667"/>
            </a:avLst>
          </a:prstGeom>
          <a:solidFill>
            <a:srgbClr val="EAF0F8"/>
          </a:solidFill>
          <a:ln/>
        </p:spPr>
      </p:sp>
      <p:sp>
        <p:nvSpPr>
          <p:cNvPr id="14" name="Text 10"/>
          <p:cNvSpPr/>
          <p:nvPr/>
        </p:nvSpPr>
        <p:spPr>
          <a:xfrm>
            <a:off x="2706624"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Intermittent links</a:t>
            </a:r>
            <a:endParaRPr lang="en-US" sz="1100" dirty="0"/>
          </a:p>
        </p:txBody>
      </p:sp>
      <p:sp>
        <p:nvSpPr>
          <p:cNvPr id="15" name="Shape 11"/>
          <p:cNvSpPr/>
          <p:nvPr/>
        </p:nvSpPr>
        <p:spPr>
          <a:xfrm>
            <a:off x="5065776" y="6199632"/>
            <a:ext cx="2267712" cy="438912"/>
          </a:xfrm>
          <a:prstGeom prst="roundRect">
            <a:avLst>
              <a:gd name="adj" fmla="val 16667"/>
            </a:avLst>
          </a:prstGeom>
          <a:solidFill>
            <a:srgbClr val="EAF0F8"/>
          </a:solidFill>
          <a:ln/>
        </p:spPr>
      </p:sp>
      <p:sp>
        <p:nvSpPr>
          <p:cNvPr id="16" name="Text 12"/>
          <p:cNvSpPr/>
          <p:nvPr/>
        </p:nvSpPr>
        <p:spPr>
          <a:xfrm>
            <a:off x="5065776"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P / E / R memory</a:t>
            </a:r>
            <a:endParaRPr lang="en-US" sz="1100" dirty="0"/>
          </a:p>
        </p:txBody>
      </p:sp>
      <p:sp>
        <p:nvSpPr>
          <p:cNvPr id="17" name="Shape 13"/>
          <p:cNvSpPr/>
          <p:nvPr/>
        </p:nvSpPr>
        <p:spPr>
          <a:xfrm>
            <a:off x="7424928" y="6199632"/>
            <a:ext cx="2267712" cy="438912"/>
          </a:xfrm>
          <a:prstGeom prst="roundRect">
            <a:avLst>
              <a:gd name="adj" fmla="val 16667"/>
            </a:avLst>
          </a:prstGeom>
          <a:solidFill>
            <a:srgbClr val="EAF0F8"/>
          </a:solidFill>
          <a:ln/>
        </p:spPr>
      </p:sp>
      <p:sp>
        <p:nvSpPr>
          <p:cNvPr id="18" name="Text 14"/>
          <p:cNvSpPr/>
          <p:nvPr/>
        </p:nvSpPr>
        <p:spPr>
          <a:xfrm>
            <a:off x="7424928"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History-aware source</a:t>
            </a:r>
            <a:endParaRPr lang="en-US" sz="1100" dirty="0"/>
          </a:p>
        </p:txBody>
      </p:sp>
      <p:sp>
        <p:nvSpPr>
          <p:cNvPr id="19" name="Shape 15"/>
          <p:cNvSpPr/>
          <p:nvPr/>
        </p:nvSpPr>
        <p:spPr>
          <a:xfrm>
            <a:off x="9784080" y="6199632"/>
            <a:ext cx="2267712" cy="438912"/>
          </a:xfrm>
          <a:prstGeom prst="roundRect">
            <a:avLst>
              <a:gd name="adj" fmla="val 16667"/>
            </a:avLst>
          </a:prstGeom>
          <a:solidFill>
            <a:srgbClr val="EAF0F8"/>
          </a:solidFill>
          <a:ln/>
        </p:spPr>
      </p:sp>
      <p:sp>
        <p:nvSpPr>
          <p:cNvPr id="20" name="Text 16"/>
          <p:cNvSpPr/>
          <p:nvPr/>
        </p:nvSpPr>
        <p:spPr>
          <a:xfrm>
            <a:off x="9784080" y="6199632"/>
            <a:ext cx="2267712" cy="438912"/>
          </a:xfrm>
          <a:prstGeom prst="rect">
            <a:avLst/>
          </a:prstGeom>
          <a:noFill/>
          <a:ln/>
        </p:spPr>
        <p:txBody>
          <a:bodyPr wrap="square" lIns="0" tIns="0" rIns="0" bIns="0" rtlCol="0" anchor="ctr"/>
          <a:lstStyle/>
          <a:p>
            <a:pPr algn="ctr" indent="0" marL="0">
              <a:buNone/>
            </a:pPr>
            <a:r>
              <a:rPr lang="en-US" sz="1100" b="1" dirty="0">
                <a:solidFill>
                  <a:srgbClr val="1E3F73"/>
                </a:solidFill>
                <a:latin typeface="Times New Roman" pitchFamily="34" charset="0"/>
                <a:ea typeface="Times New Roman" pitchFamily="34" charset="-122"/>
                <a:cs typeface="Times New Roman" pitchFamily="34" charset="-120"/>
              </a:rPr>
              <a:t>HGAT + MAPPO / CTDE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91440"/>
            <a:ext cx="715196" cy="493776"/>
          </a:xfrm>
          <a:prstGeom prst="rect">
            <a:avLst/>
          </a:prstGeom>
        </p:spPr>
      </p:pic>
      <p:sp>
        <p:nvSpPr>
          <p:cNvPr id="3" name="Text 0"/>
          <p:cNvSpPr/>
          <p:nvPr/>
        </p:nvSpPr>
        <p:spPr>
          <a:xfrm>
            <a:off x="347472" y="109728"/>
            <a:ext cx="10698480" cy="457200"/>
          </a:xfrm>
          <a:prstGeom prst="rect">
            <a:avLst/>
          </a:prstGeom>
          <a:noFill/>
          <a:ln/>
        </p:spPr>
        <p:txBody>
          <a:bodyPr wrap="square" lIns="0" tIns="0" rIns="0" bIns="0" rtlCol="0" anchor="ctr"/>
          <a:lstStyle/>
          <a:p>
            <a:pPr indent="0" marL="0">
              <a:buNone/>
            </a:pPr>
            <a:r>
              <a:rPr lang="en-US" sz="2800" b="1" dirty="0">
                <a:solidFill>
                  <a:srgbClr val="2F5597"/>
                </a:solidFill>
                <a:latin typeface="Times New Roman" pitchFamily="34" charset="0"/>
                <a:ea typeface="Times New Roman" pitchFamily="34" charset="-122"/>
                <a:cs typeface="Times New Roman" pitchFamily="34" charset="-120"/>
              </a:rPr>
              <a:t>CONTENTS</a:t>
            </a:r>
            <a:endParaRPr lang="en-US" sz="2800" dirty="0"/>
          </a:p>
        </p:txBody>
      </p:sp>
      <p:sp>
        <p:nvSpPr>
          <p:cNvPr id="4" name="Shape 1"/>
          <p:cNvSpPr/>
          <p:nvPr/>
        </p:nvSpPr>
        <p:spPr>
          <a:xfrm>
            <a:off x="0" y="658368"/>
            <a:ext cx="12191695" cy="128016"/>
          </a:xfrm>
          <a:prstGeom prst="rect">
            <a:avLst/>
          </a:prstGeom>
          <a:solidFill>
            <a:srgbClr val="2F5597"/>
          </a:solidFill>
          <a:ln/>
        </p:spPr>
      </p:sp>
      <p:sp>
        <p:nvSpPr>
          <p:cNvPr id="5" name="Shape 2"/>
          <p:cNvSpPr/>
          <p:nvPr/>
        </p:nvSpPr>
        <p:spPr>
          <a:xfrm>
            <a:off x="256032" y="1051560"/>
            <a:ext cx="11658600" cy="475488"/>
          </a:xfrm>
          <a:prstGeom prst="roundRect">
            <a:avLst>
              <a:gd name="adj" fmla="val 15385"/>
            </a:avLst>
          </a:prstGeom>
          <a:solidFill>
            <a:srgbClr val="EAF0F8"/>
          </a:solidFill>
          <a:ln/>
        </p:spPr>
      </p:sp>
      <p:sp>
        <p:nvSpPr>
          <p:cNvPr id="6" name="Text 3"/>
          <p:cNvSpPr/>
          <p:nvPr/>
        </p:nvSpPr>
        <p:spPr>
          <a:xfrm>
            <a:off x="384048" y="1051560"/>
            <a:ext cx="11384280" cy="475488"/>
          </a:xfrm>
          <a:prstGeom prst="rect">
            <a:avLst/>
          </a:prstGeom>
          <a:noFill/>
          <a:ln/>
        </p:spPr>
        <p:txBody>
          <a:bodyPr wrap="square" lIns="0" tIns="0" rIns="0" bIns="0" rtlCol="0" anchor="ctr"/>
          <a:lstStyle/>
          <a:p>
            <a:pPr algn="ctr" indent="0" marL="0">
              <a:buNone/>
            </a:pPr>
            <a:r>
              <a:rPr lang="en-US" sz="1600" i="1" dirty="0">
                <a:solidFill>
                  <a:srgbClr val="1E3F73"/>
                </a:solidFill>
                <a:latin typeface="Times New Roman" pitchFamily="34" charset="0"/>
                <a:ea typeface="Times New Roman" pitchFamily="34" charset="-122"/>
                <a:cs typeface="Times New Roman" pitchFamily="34" charset="-120"/>
              </a:rPr>
              <a:t>A 13-page academic talk  ·  problem first, then IC-HGAT-MAPPO, then evidence</a:t>
            </a:r>
            <a:endParaRPr lang="en-US" sz="1600" dirty="0"/>
          </a:p>
        </p:txBody>
      </p:sp>
      <p:sp>
        <p:nvSpPr>
          <p:cNvPr id="7" name="Shape 4"/>
          <p:cNvSpPr/>
          <p:nvPr/>
        </p:nvSpPr>
        <p:spPr>
          <a:xfrm>
            <a:off x="320040" y="1691640"/>
            <a:ext cx="11539728" cy="1389888"/>
          </a:xfrm>
          <a:prstGeom prst="roundRect">
            <a:avLst>
              <a:gd name="adj" fmla="val 5263"/>
            </a:avLst>
          </a:prstGeom>
          <a:solidFill>
            <a:srgbClr val="FFFFFF"/>
          </a:solidFill>
          <a:ln/>
          <a:effectLst>
            <a:outerShdw sx="100000" sy="100000" kx="0" ky="0" algn="bl" rotWithShape="0" blurRad="50800" dist="12700" dir="16200000">
              <a:srgbClr val="1F2A44">
                <a:alpha val="12000"/>
              </a:srgbClr>
            </a:outerShdw>
          </a:effectLst>
        </p:spPr>
      </p:sp>
      <p:sp>
        <p:nvSpPr>
          <p:cNvPr id="8" name="Shape 5"/>
          <p:cNvSpPr/>
          <p:nvPr/>
        </p:nvSpPr>
        <p:spPr>
          <a:xfrm>
            <a:off x="502920" y="1947672"/>
            <a:ext cx="1234440" cy="868680"/>
          </a:xfrm>
          <a:prstGeom prst="roundRect">
            <a:avLst>
              <a:gd name="adj" fmla="val 10526"/>
            </a:avLst>
          </a:prstGeom>
          <a:solidFill>
            <a:srgbClr val="2F5597"/>
          </a:solidFill>
          <a:ln/>
        </p:spPr>
      </p:sp>
      <p:sp>
        <p:nvSpPr>
          <p:cNvPr id="9" name="Text 6"/>
          <p:cNvSpPr/>
          <p:nvPr/>
        </p:nvSpPr>
        <p:spPr>
          <a:xfrm>
            <a:off x="502920" y="1947672"/>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01</a:t>
            </a:r>
            <a:endParaRPr lang="en-US" sz="2800" dirty="0"/>
          </a:p>
        </p:txBody>
      </p:sp>
      <p:sp>
        <p:nvSpPr>
          <p:cNvPr id="10" name="Text 7"/>
          <p:cNvSpPr/>
          <p:nvPr/>
        </p:nvSpPr>
        <p:spPr>
          <a:xfrm>
            <a:off x="1920240" y="1801368"/>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Background and Problem Formulation</a:t>
            </a:r>
            <a:endParaRPr lang="en-US" sz="2200" dirty="0"/>
          </a:p>
        </p:txBody>
      </p:sp>
      <p:sp>
        <p:nvSpPr>
          <p:cNvPr id="11" name="Text 8"/>
          <p:cNvSpPr/>
          <p:nvPr/>
        </p:nvSpPr>
        <p:spPr>
          <a:xfrm>
            <a:off x="1920240" y="2258568"/>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Applications  →  three challenges  →  Q1–Q3 mapping</a:t>
            </a:r>
            <a:endParaRPr lang="en-US" sz="1600" dirty="0"/>
          </a:p>
          <a:p>
            <a:pPr indent="0" marL="0">
              <a:buNone/>
            </a:pPr>
            <a:r>
              <a:rPr lang="en-US" sz="1600" dirty="0">
                <a:solidFill>
                  <a:srgbClr val="5A6A80"/>
                </a:solidFill>
                <a:latin typeface="Times New Roman" pitchFamily="34" charset="0"/>
                <a:ea typeface="Times New Roman" pitchFamily="34" charset="-122"/>
                <a:cs typeface="Times New Roman" pitchFamily="34" charset="-120"/>
              </a:rPr>
              <a:t>Dec-POMDP under intermittent links  Aij,t</a:t>
            </a:r>
            <a:endParaRPr lang="en-US" sz="1600" dirty="0"/>
          </a:p>
        </p:txBody>
      </p:sp>
      <p:sp>
        <p:nvSpPr>
          <p:cNvPr id="12" name="Shape 9"/>
          <p:cNvSpPr/>
          <p:nvPr/>
        </p:nvSpPr>
        <p:spPr>
          <a:xfrm>
            <a:off x="320040" y="3227832"/>
            <a:ext cx="11539728" cy="1389888"/>
          </a:xfrm>
          <a:prstGeom prst="roundRect">
            <a:avLst>
              <a:gd name="adj" fmla="val 5263"/>
            </a:avLst>
          </a:prstGeom>
          <a:solidFill>
            <a:srgbClr val="FFF3E8"/>
          </a:solidFill>
          <a:ln/>
          <a:effectLst>
            <a:outerShdw sx="100000" sy="100000" kx="0" ky="0" algn="bl" rotWithShape="0" blurRad="50800" dist="12700" dir="16200000">
              <a:srgbClr val="1F2A44">
                <a:alpha val="12000"/>
              </a:srgbClr>
            </a:outerShdw>
          </a:effectLst>
        </p:spPr>
      </p:sp>
      <p:sp>
        <p:nvSpPr>
          <p:cNvPr id="13" name="Shape 10"/>
          <p:cNvSpPr/>
          <p:nvPr/>
        </p:nvSpPr>
        <p:spPr>
          <a:xfrm>
            <a:off x="502920" y="3483864"/>
            <a:ext cx="1234440" cy="868680"/>
          </a:xfrm>
          <a:prstGeom prst="roundRect">
            <a:avLst>
              <a:gd name="adj" fmla="val 10526"/>
            </a:avLst>
          </a:prstGeom>
          <a:solidFill>
            <a:srgbClr val="2F5597"/>
          </a:solidFill>
          <a:ln/>
        </p:spPr>
      </p:sp>
      <p:sp>
        <p:nvSpPr>
          <p:cNvPr id="14" name="Text 11"/>
          <p:cNvSpPr/>
          <p:nvPr/>
        </p:nvSpPr>
        <p:spPr>
          <a:xfrm>
            <a:off x="502920" y="3483864"/>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02</a:t>
            </a:r>
            <a:endParaRPr lang="en-US" sz="2800" dirty="0"/>
          </a:p>
        </p:txBody>
      </p:sp>
      <p:sp>
        <p:nvSpPr>
          <p:cNvPr id="15" name="Text 12"/>
          <p:cNvSpPr/>
          <p:nvPr/>
        </p:nvSpPr>
        <p:spPr>
          <a:xfrm>
            <a:off x="1920240" y="3337560"/>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Proposed IC-HGAT-MAPPO</a:t>
            </a:r>
            <a:endParaRPr lang="en-US" sz="2200" dirty="0"/>
          </a:p>
        </p:txBody>
      </p:sp>
      <p:sp>
        <p:nvSpPr>
          <p:cNvPr id="16" name="Text 13"/>
          <p:cNvSpPr/>
          <p:nvPr/>
        </p:nvSpPr>
        <p:spPr>
          <a:xfrm>
            <a:off x="1920240" y="3794760"/>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Motion / link / metrics   ·   P/E/R + source selection</a:t>
            </a:r>
            <a:endParaRPr lang="en-US" sz="1600" dirty="0"/>
          </a:p>
          <a:p>
            <a:pPr indent="0" marL="0">
              <a:buNone/>
            </a:pPr>
            <a:r>
              <a:rPr lang="en-US" sz="1600" dirty="0">
                <a:solidFill>
                  <a:srgbClr val="5A6A80"/>
                </a:solidFill>
                <a:latin typeface="Times New Roman" pitchFamily="34" charset="0"/>
                <a:ea typeface="Times New Roman" pitchFamily="34" charset="-122"/>
                <a:cs typeface="Times New Roman" pitchFamily="34" charset="-120"/>
              </a:rPr>
              <a:t>HGAT attention   ·   MAPPO clip / GAE / CTDE</a:t>
            </a:r>
            <a:endParaRPr lang="en-US" sz="1600" dirty="0"/>
          </a:p>
        </p:txBody>
      </p:sp>
      <p:sp>
        <p:nvSpPr>
          <p:cNvPr id="17" name="Shape 14"/>
          <p:cNvSpPr/>
          <p:nvPr/>
        </p:nvSpPr>
        <p:spPr>
          <a:xfrm>
            <a:off x="320040" y="4764024"/>
            <a:ext cx="11539728" cy="1389888"/>
          </a:xfrm>
          <a:prstGeom prst="roundRect">
            <a:avLst>
              <a:gd name="adj" fmla="val 5263"/>
            </a:avLst>
          </a:prstGeom>
          <a:solidFill>
            <a:srgbClr val="FFFFFF"/>
          </a:solidFill>
          <a:ln/>
          <a:effectLst>
            <a:outerShdw sx="100000" sy="100000" kx="0" ky="0" algn="bl" rotWithShape="0" blurRad="50800" dist="12700" dir="16200000">
              <a:srgbClr val="1F2A44">
                <a:alpha val="12000"/>
              </a:srgbClr>
            </a:outerShdw>
          </a:effectLst>
        </p:spPr>
      </p:sp>
      <p:sp>
        <p:nvSpPr>
          <p:cNvPr id="18" name="Shape 15"/>
          <p:cNvSpPr/>
          <p:nvPr/>
        </p:nvSpPr>
        <p:spPr>
          <a:xfrm>
            <a:off x="502920" y="5020056"/>
            <a:ext cx="1234440" cy="868680"/>
          </a:xfrm>
          <a:prstGeom prst="roundRect">
            <a:avLst>
              <a:gd name="adj" fmla="val 10526"/>
            </a:avLst>
          </a:prstGeom>
          <a:solidFill>
            <a:srgbClr val="2F5597"/>
          </a:solidFill>
          <a:ln/>
        </p:spPr>
      </p:sp>
      <p:sp>
        <p:nvSpPr>
          <p:cNvPr id="19" name="Text 16"/>
          <p:cNvSpPr/>
          <p:nvPr/>
        </p:nvSpPr>
        <p:spPr>
          <a:xfrm>
            <a:off x="502920" y="5020056"/>
            <a:ext cx="1234440" cy="868680"/>
          </a:xfrm>
          <a:prstGeom prst="rect">
            <a:avLst/>
          </a:prstGeom>
          <a:noFill/>
          <a:ln/>
        </p:spPr>
        <p:txBody>
          <a:bodyPr wrap="square" lIns="0" tIns="0" rIns="0" bIns="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03</a:t>
            </a:r>
            <a:endParaRPr lang="en-US" sz="2800" dirty="0"/>
          </a:p>
        </p:txBody>
      </p:sp>
      <p:sp>
        <p:nvSpPr>
          <p:cNvPr id="20" name="Text 17"/>
          <p:cNvSpPr/>
          <p:nvPr/>
        </p:nvSpPr>
        <p:spPr>
          <a:xfrm>
            <a:off x="1920240" y="4873752"/>
            <a:ext cx="9646920" cy="438912"/>
          </a:xfrm>
          <a:prstGeom prst="rect">
            <a:avLst/>
          </a:prstGeom>
          <a:noFill/>
          <a:ln/>
        </p:spPr>
        <p:txBody>
          <a:bodyPr wrap="square" lIns="0" tIns="0" rIns="0" bIns="0" rtlCol="0" anchor="ctr"/>
          <a:lstStyle/>
          <a:p>
            <a:pPr indent="0" marL="0">
              <a:buNone/>
            </a:pPr>
            <a:r>
              <a:rPr lang="en-US" sz="2200" b="1" dirty="0">
                <a:solidFill>
                  <a:srgbClr val="1F2A44"/>
                </a:solidFill>
                <a:latin typeface="Times New Roman" pitchFamily="34" charset="0"/>
                <a:ea typeface="Times New Roman" pitchFamily="34" charset="-122"/>
                <a:cs typeface="Times New Roman" pitchFamily="34" charset="-120"/>
              </a:rPr>
              <a:t>Experimental Results and Conclusions</a:t>
            </a:r>
            <a:endParaRPr lang="en-US" sz="2200" dirty="0"/>
          </a:p>
        </p:txBody>
      </p:sp>
      <p:sp>
        <p:nvSpPr>
          <p:cNvPr id="21" name="Text 18"/>
          <p:cNvSpPr/>
          <p:nvPr/>
        </p:nvSpPr>
        <p:spPr>
          <a:xfrm>
            <a:off x="1920240" y="5330952"/>
            <a:ext cx="9646920" cy="658368"/>
          </a:xfrm>
          <a:prstGeom prst="rect">
            <a:avLst/>
          </a:prstGeom>
          <a:noFill/>
          <a:ln/>
        </p:spPr>
        <p:txBody>
          <a:bodyPr wrap="square" lIns="0" tIns="0" rIns="0" bIns="0" rtlCol="0" anchor="ctr"/>
          <a:lstStyle/>
          <a:p>
            <a:pPr indent="0" marL="0">
              <a:buNone/>
            </a:pPr>
            <a:r>
              <a:rPr lang="en-US" sz="1600" dirty="0">
                <a:solidFill>
                  <a:srgbClr val="5A6A80"/>
                </a:solidFill>
                <a:latin typeface="Times New Roman" pitchFamily="34" charset="0"/>
                <a:ea typeface="Times New Roman" pitchFamily="34" charset="-122"/>
                <a:cs typeface="Times New Roman" pitchFamily="34" charset="-120"/>
              </a:rPr>
              <a:t>Main results vs Heuristic / QMIX   ·   ablation</a:t>
            </a:r>
            <a:endParaRPr lang="en-US" sz="1600" dirty="0"/>
          </a:p>
          <a:p>
            <a:pPr indent="0" marL="0">
              <a:buNone/>
            </a:pPr>
            <a:r>
              <a:rPr lang="en-US" sz="1600" dirty="0">
                <a:solidFill>
                  <a:srgbClr val="5A6A80"/>
                </a:solidFill>
                <a:latin typeface="Times New Roman" pitchFamily="34" charset="0"/>
                <a:ea typeface="Times New Roman" pitchFamily="34" charset="-122"/>
                <a:cs typeface="Times New Roman" pitchFamily="34" charset="-120"/>
              </a:rPr>
              <a:t>Sensitivity   ·   contributions and future work</a:t>
            </a:r>
            <a:endParaRPr lang="en-US" sz="1600" dirty="0"/>
          </a:p>
        </p:txBody>
      </p:sp>
      <p:sp>
        <p:nvSpPr>
          <p:cNvPr id="22" name="Shape 19"/>
          <p:cNvSpPr/>
          <p:nvPr/>
        </p:nvSpPr>
        <p:spPr>
          <a:xfrm>
            <a:off x="0" y="6784848"/>
            <a:ext cx="12191695" cy="73152"/>
          </a:xfrm>
          <a:prstGeom prst="rect">
            <a:avLst/>
          </a:prstGeom>
          <a:solidFill>
            <a:srgbClr val="2F5597"/>
          </a:solidFill>
          <a:ln/>
        </p:spPr>
      </p:sp>
      <p:sp>
        <p:nvSpPr>
          <p:cNvPr id="23" name="Text 2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24" name="Text 2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1.1 Cooperative Multi-UAV Search</a:t>
            </a:r>
            <a:endParaRPr lang="en-US" sz="2000" dirty="0"/>
          </a:p>
        </p:txBody>
      </p:sp>
      <p:pic>
        <p:nvPicPr>
          <p:cNvPr id="6" name="Image 1" descr="/tmp/ppt-work/assets/photo_eq.png">    </p:cNvPr>
          <p:cNvPicPr>
            <a:picLocks noChangeAspect="1"/>
          </p:cNvPicPr>
          <p:nvPr/>
        </p:nvPicPr>
        <p:blipFill>
          <a:blip r:embed="rId2"/>
          <a:srcRect l="0" r="0" t="0" b="0"/>
          <a:stretch/>
        </p:blipFill>
        <p:spPr>
          <a:xfrm>
            <a:off x="365760" y="1097280"/>
            <a:ext cx="3703320" cy="1993392"/>
          </a:xfrm>
          <a:prstGeom prst="rect">
            <a:avLst/>
          </a:prstGeom>
        </p:spPr>
      </p:pic>
      <p:sp>
        <p:nvSpPr>
          <p:cNvPr id="7" name="Text 3"/>
          <p:cNvSpPr/>
          <p:nvPr/>
        </p:nvSpPr>
        <p:spPr>
          <a:xfrm>
            <a:off x="365760" y="3108960"/>
            <a:ext cx="3703320" cy="274320"/>
          </a:xfrm>
          <a:prstGeom prst="rect">
            <a:avLst/>
          </a:prstGeom>
          <a:noFill/>
          <a:ln/>
        </p:spPr>
        <p:txBody>
          <a:bodyPr wrap="square" lIns="0" tIns="0" rIns="0" bIns="0" rtlCol="0" anchor="ctr"/>
          <a:lstStyle/>
          <a:p>
            <a:pPr algn="ctr" indent="0" marL="0">
              <a:buNone/>
            </a:pPr>
            <a:r>
              <a:rPr lang="en-US" sz="1500" b="1" dirty="0">
                <a:solidFill>
                  <a:srgbClr val="1F2A44"/>
                </a:solidFill>
                <a:latin typeface="Times New Roman" pitchFamily="34" charset="0"/>
                <a:ea typeface="Times New Roman" pitchFamily="34" charset="-122"/>
                <a:cs typeface="Times New Roman" pitchFamily="34" charset="-120"/>
              </a:rPr>
              <a:t>Earthquake Response</a:t>
            </a:r>
            <a:endParaRPr lang="en-US" sz="1500" dirty="0"/>
          </a:p>
        </p:txBody>
      </p:sp>
      <p:pic>
        <p:nvPicPr>
          <p:cNvPr id="8" name="Image 2" descr="/tmp/ppt-work/assets/photo_wf.png">    </p:cNvPr>
          <p:cNvPicPr>
            <a:picLocks noChangeAspect="1"/>
          </p:cNvPicPr>
          <p:nvPr/>
        </p:nvPicPr>
        <p:blipFill>
          <a:blip r:embed="rId3"/>
          <a:srcRect l="0" r="0" t="0" b="0"/>
          <a:stretch/>
        </p:blipFill>
        <p:spPr>
          <a:xfrm>
            <a:off x="4297680" y="1097280"/>
            <a:ext cx="3703320" cy="1993392"/>
          </a:xfrm>
          <a:prstGeom prst="rect">
            <a:avLst/>
          </a:prstGeom>
        </p:spPr>
      </p:pic>
      <p:sp>
        <p:nvSpPr>
          <p:cNvPr id="9" name="Text 4"/>
          <p:cNvSpPr/>
          <p:nvPr/>
        </p:nvSpPr>
        <p:spPr>
          <a:xfrm>
            <a:off x="4297680" y="3108960"/>
            <a:ext cx="3703320" cy="274320"/>
          </a:xfrm>
          <a:prstGeom prst="rect">
            <a:avLst/>
          </a:prstGeom>
          <a:noFill/>
          <a:ln/>
        </p:spPr>
        <p:txBody>
          <a:bodyPr wrap="square" lIns="0" tIns="0" rIns="0" bIns="0" rtlCol="0" anchor="ctr"/>
          <a:lstStyle/>
          <a:p>
            <a:pPr algn="ctr" indent="0" marL="0">
              <a:buNone/>
            </a:pPr>
            <a:r>
              <a:rPr lang="en-US" sz="1500" b="1" dirty="0">
                <a:solidFill>
                  <a:srgbClr val="1F2A44"/>
                </a:solidFill>
                <a:latin typeface="Times New Roman" pitchFamily="34" charset="0"/>
                <a:ea typeface="Times New Roman" pitchFamily="34" charset="-122"/>
                <a:cs typeface="Times New Roman" pitchFamily="34" charset="-120"/>
              </a:rPr>
              <a:t>Wildfire Monitoring</a:t>
            </a:r>
            <a:endParaRPr lang="en-US" sz="1500" dirty="0"/>
          </a:p>
        </p:txBody>
      </p:sp>
      <p:pic>
        <p:nvPicPr>
          <p:cNvPr id="10" name="Image 3" descr="/tmp/ppt-work/assets/photo_mr.png">    </p:cNvPr>
          <p:cNvPicPr>
            <a:picLocks noChangeAspect="1"/>
          </p:cNvPicPr>
          <p:nvPr/>
        </p:nvPicPr>
        <p:blipFill>
          <a:blip r:embed="rId4"/>
          <a:srcRect l="0" r="0" t="0" b="0"/>
          <a:stretch/>
        </p:blipFill>
        <p:spPr>
          <a:xfrm>
            <a:off x="8229600" y="1097280"/>
            <a:ext cx="3703320" cy="1993392"/>
          </a:xfrm>
          <a:prstGeom prst="rect">
            <a:avLst/>
          </a:prstGeom>
        </p:spPr>
      </p:pic>
      <p:sp>
        <p:nvSpPr>
          <p:cNvPr id="11" name="Text 5"/>
          <p:cNvSpPr/>
          <p:nvPr/>
        </p:nvSpPr>
        <p:spPr>
          <a:xfrm>
            <a:off x="8229600" y="3108960"/>
            <a:ext cx="3703320" cy="274320"/>
          </a:xfrm>
          <a:prstGeom prst="rect">
            <a:avLst/>
          </a:prstGeom>
          <a:noFill/>
          <a:ln/>
        </p:spPr>
        <p:txBody>
          <a:bodyPr wrap="square" lIns="0" tIns="0" rIns="0" bIns="0" rtlCol="0" anchor="ctr"/>
          <a:lstStyle/>
          <a:p>
            <a:pPr algn="ctr" indent="0" marL="0">
              <a:buNone/>
            </a:pPr>
            <a:r>
              <a:rPr lang="en-US" sz="1500" b="1" dirty="0">
                <a:solidFill>
                  <a:srgbClr val="1F2A44"/>
                </a:solidFill>
                <a:latin typeface="Times New Roman" pitchFamily="34" charset="0"/>
                <a:ea typeface="Times New Roman" pitchFamily="34" charset="-122"/>
                <a:cs typeface="Times New Roman" pitchFamily="34" charset="-120"/>
              </a:rPr>
              <a:t>Maritime Rescue</a:t>
            </a:r>
            <a:endParaRPr lang="en-US" sz="1500" dirty="0"/>
          </a:p>
        </p:txBody>
      </p:sp>
      <p:sp>
        <p:nvSpPr>
          <p:cNvPr id="12" name="Shape 6"/>
          <p:cNvSpPr/>
          <p:nvPr/>
        </p:nvSpPr>
        <p:spPr>
          <a:xfrm>
            <a:off x="365760" y="3419856"/>
            <a:ext cx="11475720" cy="841248"/>
          </a:xfrm>
          <a:prstGeom prst="roundRect">
            <a:avLst>
              <a:gd name="adj" fmla="val 8696"/>
            </a:avLst>
          </a:prstGeom>
          <a:solidFill>
            <a:srgbClr val="FFFFFF"/>
          </a:solidFill>
          <a:ln/>
          <a:effectLst>
            <a:outerShdw sx="100000" sy="100000" kx="0" ky="0" algn="bl" rotWithShape="0" blurRad="50800" dist="12700" dir="16200000">
              <a:srgbClr val="1F2A44">
                <a:alpha val="12000"/>
              </a:srgbClr>
            </a:outerShdw>
          </a:effectLst>
        </p:spPr>
      </p:sp>
      <p:sp>
        <p:nvSpPr>
          <p:cNvPr id="13" name="Text 7"/>
          <p:cNvSpPr/>
          <p:nvPr/>
        </p:nvSpPr>
        <p:spPr>
          <a:xfrm>
            <a:off x="502920" y="3438144"/>
            <a:ext cx="11201400" cy="237744"/>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Dec-POMDP  (partial observation, joint reward, no assumed global map)</a:t>
            </a:r>
            <a:endParaRPr lang="en-US" sz="1300" dirty="0"/>
          </a:p>
        </p:txBody>
      </p:sp>
      <p:sp>
        <p:nvSpPr>
          <p:cNvPr id="14" name="Shape 8"/>
          <p:cNvSpPr/>
          <p:nvPr/>
        </p:nvSpPr>
        <p:spPr>
          <a:xfrm>
            <a:off x="457200" y="3675888"/>
            <a:ext cx="11292840" cy="512064"/>
          </a:xfrm>
          <a:prstGeom prst="roundRect">
            <a:avLst>
              <a:gd name="adj" fmla="val 8929"/>
            </a:avLst>
          </a:prstGeom>
          <a:solidFill>
            <a:srgbClr val="F4EFE4"/>
          </a:solidFill>
          <a:ln/>
        </p:spPr>
      </p:sp>
      <p:pic>
        <p:nvPicPr>
          <p:cNvPr id="15" name="Image 4" descr="/workspace/presentations/eq/dec.png">    </p:cNvPr>
          <p:cNvPicPr>
            <a:picLocks noChangeAspect="1"/>
          </p:cNvPicPr>
          <p:nvPr/>
        </p:nvPicPr>
        <p:blipFill>
          <a:blip r:embed="rId5"/>
          <a:stretch>
            <a:fillRect/>
          </a:stretch>
        </p:blipFill>
        <p:spPr>
          <a:xfrm>
            <a:off x="4061524" y="3712464"/>
            <a:ext cx="4084192" cy="438912"/>
          </a:xfrm>
          <a:prstGeom prst="rect">
            <a:avLst/>
          </a:prstGeom>
        </p:spPr>
      </p:pic>
      <p:sp>
        <p:nvSpPr>
          <p:cNvPr id="16" name="Shape 9"/>
          <p:cNvSpPr/>
          <p:nvPr/>
        </p:nvSpPr>
        <p:spPr>
          <a:xfrm>
            <a:off x="365760" y="4334256"/>
            <a:ext cx="11475720" cy="310896"/>
          </a:xfrm>
          <a:prstGeom prst="rect">
            <a:avLst/>
          </a:prstGeom>
          <a:solidFill>
            <a:srgbClr val="F4F6FA"/>
          </a:solidFill>
          <a:ln/>
        </p:spPr>
      </p:sp>
      <p:sp>
        <p:nvSpPr>
          <p:cNvPr id="17" name="Text 10"/>
          <p:cNvSpPr/>
          <p:nvPr/>
        </p:nvSpPr>
        <p:spPr>
          <a:xfrm>
            <a:off x="457200" y="4334256"/>
            <a:ext cx="11292840" cy="310896"/>
          </a:xfrm>
          <a:prstGeom prst="rect">
            <a:avLst/>
          </a:prstGeom>
          <a:noFill/>
          <a:ln/>
        </p:spPr>
        <p:txBody>
          <a:bodyPr wrap="square" lIns="0" tIns="0" rIns="0" bIns="0" rtlCol="0" anchor="ctr"/>
          <a:lstStyle/>
          <a:p>
            <a:pPr algn="ctr" indent="0" marL="0">
              <a:buNone/>
            </a:pPr>
            <a:r>
              <a:rPr lang="en-US" sz="1300" dirty="0">
                <a:solidFill>
                  <a:srgbClr val="1F2A44"/>
                </a:solidFill>
                <a:latin typeface="Times New Roman" pitchFamily="34" charset="0"/>
                <a:ea typeface="Times New Roman" pitchFamily="34" charset="-122"/>
                <a:cs typeface="Times New Roman" pitchFamily="34" charset="-120"/>
              </a:rPr>
              <a:t>Global / reliable information    →     Local observation + intermittent communication    ·    More realistic, more challenging</a:t>
            </a:r>
            <a:endParaRPr lang="en-US" sz="1300" dirty="0"/>
          </a:p>
        </p:txBody>
      </p:sp>
      <p:sp>
        <p:nvSpPr>
          <p:cNvPr id="18" name="Shape 11"/>
          <p:cNvSpPr/>
          <p:nvPr/>
        </p:nvSpPr>
        <p:spPr>
          <a:xfrm>
            <a:off x="365760" y="4718304"/>
            <a:ext cx="3703320" cy="1645920"/>
          </a:xfrm>
          <a:prstGeom prst="roundRect">
            <a:avLst>
              <a:gd name="adj" fmla="val 4444"/>
            </a:avLst>
          </a:prstGeom>
          <a:solidFill>
            <a:srgbClr val="EAF0F8"/>
          </a:solidFill>
          <a:ln/>
          <a:effectLst>
            <a:outerShdw sx="100000" sy="100000" kx="0" ky="0" algn="bl" rotWithShape="0" blurRad="50800" dist="12700" dir="16200000">
              <a:srgbClr val="1F2A44">
                <a:alpha val="12000"/>
              </a:srgbClr>
            </a:outerShdw>
          </a:effectLst>
        </p:spPr>
      </p:sp>
      <p:sp>
        <p:nvSpPr>
          <p:cNvPr id="19" name="Shape 12"/>
          <p:cNvSpPr/>
          <p:nvPr/>
        </p:nvSpPr>
        <p:spPr>
          <a:xfrm>
            <a:off x="365760" y="4718304"/>
            <a:ext cx="64008" cy="1645920"/>
          </a:xfrm>
          <a:prstGeom prst="rect">
            <a:avLst/>
          </a:prstGeom>
          <a:solidFill>
            <a:srgbClr val="2F5597"/>
          </a:solidFill>
          <a:ln/>
        </p:spPr>
      </p:sp>
      <p:sp>
        <p:nvSpPr>
          <p:cNvPr id="20" name="Text 13"/>
          <p:cNvSpPr/>
          <p:nvPr/>
        </p:nvSpPr>
        <p:spPr>
          <a:xfrm>
            <a:off x="530352" y="4773168"/>
            <a:ext cx="3401568" cy="310896"/>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Conventional Setting</a:t>
            </a:r>
            <a:endParaRPr lang="en-US" sz="1500" dirty="0"/>
          </a:p>
        </p:txBody>
      </p:sp>
      <p:sp>
        <p:nvSpPr>
          <p:cNvPr id="21" name="Text 14"/>
          <p:cNvSpPr/>
          <p:nvPr/>
        </p:nvSpPr>
        <p:spPr>
          <a:xfrm>
            <a:off x="530352" y="5065776"/>
            <a:ext cx="3401568" cy="120700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Stable communication</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Synchronized / near-global information</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Homogeneous UAV–UAV graph</a:t>
            </a:r>
            <a:endParaRPr lang="en-US" sz="1300" dirty="0"/>
          </a:p>
        </p:txBody>
      </p:sp>
      <p:sp>
        <p:nvSpPr>
          <p:cNvPr id="22" name="Shape 15"/>
          <p:cNvSpPr/>
          <p:nvPr/>
        </p:nvSpPr>
        <p:spPr>
          <a:xfrm>
            <a:off x="4297680" y="4718304"/>
            <a:ext cx="3703320" cy="1645920"/>
          </a:xfrm>
          <a:prstGeom prst="roundRect">
            <a:avLst>
              <a:gd name="adj" fmla="val 4444"/>
            </a:avLst>
          </a:prstGeom>
          <a:solidFill>
            <a:srgbClr val="FFF3E8"/>
          </a:solidFill>
          <a:ln/>
          <a:effectLst>
            <a:outerShdw sx="100000" sy="100000" kx="0" ky="0" algn="bl" rotWithShape="0" blurRad="50800" dist="12700" dir="16200000">
              <a:srgbClr val="1F2A44">
                <a:alpha val="12000"/>
              </a:srgbClr>
            </a:outerShdw>
          </a:effectLst>
        </p:spPr>
      </p:sp>
      <p:sp>
        <p:nvSpPr>
          <p:cNvPr id="23" name="Shape 16"/>
          <p:cNvSpPr/>
          <p:nvPr/>
        </p:nvSpPr>
        <p:spPr>
          <a:xfrm>
            <a:off x="4297680" y="4718304"/>
            <a:ext cx="64008" cy="1645920"/>
          </a:xfrm>
          <a:prstGeom prst="rect">
            <a:avLst/>
          </a:prstGeom>
          <a:solidFill>
            <a:srgbClr val="2F5597"/>
          </a:solidFill>
          <a:ln/>
        </p:spPr>
      </p:sp>
      <p:sp>
        <p:nvSpPr>
          <p:cNvPr id="24" name="Text 17"/>
          <p:cNvSpPr/>
          <p:nvPr/>
        </p:nvSpPr>
        <p:spPr>
          <a:xfrm>
            <a:off x="4462272" y="4773168"/>
            <a:ext cx="3401568" cy="310896"/>
          </a:xfrm>
          <a:prstGeom prst="rect">
            <a:avLst/>
          </a:prstGeom>
          <a:noFill/>
          <a:ln/>
        </p:spPr>
        <p:txBody>
          <a:bodyPr wrap="square" lIns="0" tIns="0" rIns="0" bIns="0" rtlCol="0" anchor="ctr"/>
          <a:lstStyle/>
          <a:p>
            <a:pPr indent="0" marL="0">
              <a:buNone/>
            </a:pPr>
            <a:r>
              <a:rPr lang="en-US" sz="1500" b="1" dirty="0">
                <a:solidFill>
                  <a:srgbClr val="ED7D31"/>
                </a:solidFill>
                <a:latin typeface="Times New Roman" pitchFamily="34" charset="0"/>
                <a:ea typeface="Times New Roman" pitchFamily="34" charset="-122"/>
                <a:cs typeface="Times New Roman" pitchFamily="34" charset="-120"/>
              </a:rPr>
              <a:t>Practical Setting</a:t>
            </a:r>
            <a:endParaRPr lang="en-US" sz="1500" dirty="0"/>
          </a:p>
        </p:txBody>
      </p:sp>
      <p:sp>
        <p:nvSpPr>
          <p:cNvPr id="25" name="Text 18"/>
          <p:cNvSpPr/>
          <p:nvPr/>
        </p:nvSpPr>
        <p:spPr>
          <a:xfrm>
            <a:off x="4462272" y="5065776"/>
            <a:ext cx="3401568" cy="120700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Intermittent links  A(i,j,t)  and  N_i(t)</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Local, incomplete, possibly stale beliefs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UAV / target / obstacle interactions</a:t>
            </a:r>
            <a:endParaRPr lang="en-US" sz="1300" dirty="0"/>
          </a:p>
        </p:txBody>
      </p:sp>
      <p:sp>
        <p:nvSpPr>
          <p:cNvPr id="26" name="Shape 19"/>
          <p:cNvSpPr/>
          <p:nvPr/>
        </p:nvSpPr>
        <p:spPr>
          <a:xfrm>
            <a:off x="8229600" y="4718304"/>
            <a:ext cx="3703320" cy="1645920"/>
          </a:xfrm>
          <a:prstGeom prst="roundRect">
            <a:avLst>
              <a:gd name="adj" fmla="val 4444"/>
            </a:avLst>
          </a:prstGeom>
          <a:solidFill>
            <a:srgbClr val="FDECEA"/>
          </a:solidFill>
          <a:ln/>
          <a:effectLst>
            <a:outerShdw sx="100000" sy="100000" kx="0" ky="0" algn="bl" rotWithShape="0" blurRad="50800" dist="12700" dir="16200000">
              <a:srgbClr val="1F2A44">
                <a:alpha val="12000"/>
              </a:srgbClr>
            </a:outerShdw>
          </a:effectLst>
        </p:spPr>
      </p:sp>
      <p:sp>
        <p:nvSpPr>
          <p:cNvPr id="27" name="Shape 20"/>
          <p:cNvSpPr/>
          <p:nvPr/>
        </p:nvSpPr>
        <p:spPr>
          <a:xfrm>
            <a:off x="8229600" y="4718304"/>
            <a:ext cx="64008" cy="1645920"/>
          </a:xfrm>
          <a:prstGeom prst="rect">
            <a:avLst/>
          </a:prstGeom>
          <a:solidFill>
            <a:srgbClr val="2F5597"/>
          </a:solidFill>
          <a:ln/>
        </p:spPr>
      </p:sp>
      <p:sp>
        <p:nvSpPr>
          <p:cNvPr id="28" name="Text 21"/>
          <p:cNvSpPr/>
          <p:nvPr/>
        </p:nvSpPr>
        <p:spPr>
          <a:xfrm>
            <a:off x="8394192" y="4773168"/>
            <a:ext cx="3401568" cy="310896"/>
          </a:xfrm>
          <a:prstGeom prst="rect">
            <a:avLst/>
          </a:prstGeom>
          <a:noFill/>
          <a:ln/>
        </p:spPr>
        <p:txBody>
          <a:bodyPr wrap="square" lIns="0" tIns="0" rIns="0" bIns="0" rtlCol="0" anchor="ctr"/>
          <a:lstStyle/>
          <a:p>
            <a:pPr indent="0" marL="0">
              <a:buNone/>
            </a:pPr>
            <a:r>
              <a:rPr lang="en-US" sz="1500" b="1" dirty="0">
                <a:solidFill>
                  <a:srgbClr val="C0392B"/>
                </a:solidFill>
                <a:latin typeface="Times New Roman" pitchFamily="34" charset="0"/>
                <a:ea typeface="Times New Roman" pitchFamily="34" charset="-122"/>
                <a:cs typeface="Times New Roman" pitchFamily="34" charset="-120"/>
              </a:rPr>
              <a:t>Research Needs</a:t>
            </a:r>
            <a:endParaRPr lang="en-US" sz="1500" dirty="0"/>
          </a:p>
        </p:txBody>
      </p:sp>
      <p:sp>
        <p:nvSpPr>
          <p:cNvPr id="29" name="Text 22"/>
          <p:cNvSpPr/>
          <p:nvPr/>
        </p:nvSpPr>
        <p:spPr>
          <a:xfrm>
            <a:off x="8394192" y="5065776"/>
            <a:ext cx="3401568" cy="120700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1. Maintain useful local beliefs  P, E, R</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2. Select reachable peer evidence</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3. Encode heterogeneous relations</a:t>
            </a:r>
            <a:endParaRPr lang="en-US" sz="1300" dirty="0"/>
          </a:p>
        </p:txBody>
      </p:sp>
      <p:sp>
        <p:nvSpPr>
          <p:cNvPr id="30" name="Shape 23"/>
          <p:cNvSpPr/>
          <p:nvPr/>
        </p:nvSpPr>
        <p:spPr>
          <a:xfrm>
            <a:off x="0" y="6784848"/>
            <a:ext cx="12191695" cy="73152"/>
          </a:xfrm>
          <a:prstGeom prst="rect">
            <a:avLst/>
          </a:prstGeom>
          <a:solidFill>
            <a:srgbClr val="2F5597"/>
          </a:solidFill>
          <a:ln/>
        </p:spPr>
      </p:sp>
      <p:sp>
        <p:nvSpPr>
          <p:cNvPr id="31" name="Text 24"/>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2" name="Text 25"/>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1.2 Key Challenges under Intermittent Communication</a:t>
            </a:r>
            <a:endParaRPr lang="en-US" sz="2000" dirty="0"/>
          </a:p>
        </p:txBody>
      </p:sp>
      <p:sp>
        <p:nvSpPr>
          <p:cNvPr id="6" name="Shape 3"/>
          <p:cNvSpPr/>
          <p:nvPr/>
        </p:nvSpPr>
        <p:spPr>
          <a:xfrm>
            <a:off x="320040"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115568"/>
            <a:ext cx="3794760" cy="402336"/>
          </a:xfrm>
          <a:prstGeom prst="rect">
            <a:avLst/>
          </a:prstGeom>
          <a:solidFill>
            <a:srgbClr val="2F5597"/>
          </a:solidFill>
          <a:ln/>
        </p:spPr>
      </p:sp>
      <p:sp>
        <p:nvSpPr>
          <p:cNvPr id="8" name="Text 5"/>
          <p:cNvSpPr/>
          <p:nvPr/>
        </p:nvSpPr>
        <p:spPr>
          <a:xfrm>
            <a:off x="411480"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1  Incomplete Information Exchange</a:t>
            </a:r>
            <a:endParaRPr lang="en-US" sz="1300" dirty="0"/>
          </a:p>
        </p:txBody>
      </p:sp>
      <p:sp>
        <p:nvSpPr>
          <p:cNvPr id="9" name="Shape 6"/>
          <p:cNvSpPr/>
          <p:nvPr/>
        </p:nvSpPr>
        <p:spPr>
          <a:xfrm>
            <a:off x="429768" y="1591056"/>
            <a:ext cx="3566160" cy="1874520"/>
          </a:xfrm>
          <a:prstGeom prst="rect">
            <a:avLst/>
          </a:prstGeom>
          <a:solidFill>
            <a:srgbClr val="F4F6FA"/>
          </a:solidFill>
          <a:ln/>
        </p:spPr>
      </p:sp>
      <p:pic>
        <p:nvPicPr>
          <p:cNvPr id="10" name="Image 1" descr="/tmp/ppt-work/assets/chal1.png">    </p:cNvPr>
          <p:cNvPicPr>
            <a:picLocks noChangeAspect="1"/>
          </p:cNvPicPr>
          <p:nvPr/>
        </p:nvPicPr>
        <p:blipFill>
          <a:blip r:embed="rId2"/>
          <a:stretch>
            <a:fillRect/>
          </a:stretch>
        </p:blipFill>
        <p:spPr>
          <a:xfrm>
            <a:off x="805766" y="1591056"/>
            <a:ext cx="2814165" cy="1874520"/>
          </a:xfrm>
          <a:prstGeom prst="rect">
            <a:avLst/>
          </a:prstGeom>
        </p:spPr>
      </p:pic>
      <p:sp>
        <p:nvSpPr>
          <p:cNvPr id="11" name="Text 7"/>
          <p:cNvSpPr/>
          <p:nvPr/>
        </p:nvSpPr>
        <p:spPr>
          <a:xfrm>
            <a:off x="466344" y="3493008"/>
            <a:ext cx="3493008" cy="129844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No shared global map; local o_i,t only</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Reachable set changes with A(i,j,t)</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Decentralized policy on local memory</a:t>
            </a:r>
            <a:endParaRPr lang="en-US" sz="1300" dirty="0"/>
          </a:p>
        </p:txBody>
      </p:sp>
      <p:sp>
        <p:nvSpPr>
          <p:cNvPr id="12" name="Shape 8"/>
          <p:cNvSpPr/>
          <p:nvPr/>
        </p:nvSpPr>
        <p:spPr>
          <a:xfrm>
            <a:off x="4270248"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3" name="Shape 9"/>
          <p:cNvSpPr/>
          <p:nvPr/>
        </p:nvSpPr>
        <p:spPr>
          <a:xfrm>
            <a:off x="4270248" y="1115568"/>
            <a:ext cx="3794760" cy="402336"/>
          </a:xfrm>
          <a:prstGeom prst="rect">
            <a:avLst/>
          </a:prstGeom>
          <a:solidFill>
            <a:srgbClr val="2F5597"/>
          </a:solidFill>
          <a:ln/>
        </p:spPr>
      </p:sp>
      <p:sp>
        <p:nvSpPr>
          <p:cNvPr id="14" name="Text 10"/>
          <p:cNvSpPr/>
          <p:nvPr/>
        </p:nvSpPr>
        <p:spPr>
          <a:xfrm>
            <a:off x="4361688"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2  Heterogeneous Interactions</a:t>
            </a:r>
            <a:endParaRPr lang="en-US" sz="1300" dirty="0"/>
          </a:p>
        </p:txBody>
      </p:sp>
      <p:sp>
        <p:nvSpPr>
          <p:cNvPr id="15" name="Shape 11"/>
          <p:cNvSpPr/>
          <p:nvPr/>
        </p:nvSpPr>
        <p:spPr>
          <a:xfrm>
            <a:off x="4379976" y="1591056"/>
            <a:ext cx="3566160" cy="1874520"/>
          </a:xfrm>
          <a:prstGeom prst="rect">
            <a:avLst/>
          </a:prstGeom>
          <a:solidFill>
            <a:srgbClr val="F4F6FA"/>
          </a:solidFill>
          <a:ln/>
        </p:spPr>
      </p:sp>
      <p:pic>
        <p:nvPicPr>
          <p:cNvPr id="16" name="Image 2" descr="/tmp/ppt-work/assets/chal2.png">    </p:cNvPr>
          <p:cNvPicPr>
            <a:picLocks noChangeAspect="1"/>
          </p:cNvPicPr>
          <p:nvPr/>
        </p:nvPicPr>
        <p:blipFill>
          <a:blip r:embed="rId3"/>
          <a:stretch>
            <a:fillRect/>
          </a:stretch>
        </p:blipFill>
        <p:spPr>
          <a:xfrm>
            <a:off x="4755974" y="1591056"/>
            <a:ext cx="2814165" cy="1874520"/>
          </a:xfrm>
          <a:prstGeom prst="rect">
            <a:avLst/>
          </a:prstGeom>
        </p:spPr>
      </p:pic>
      <p:sp>
        <p:nvSpPr>
          <p:cNvPr id="17" name="Text 12"/>
          <p:cNvSpPr/>
          <p:nvPr/>
        </p:nvSpPr>
        <p:spPr>
          <a:xfrm>
            <a:off x="4416552" y="3493008"/>
            <a:ext cx="3493008" cy="129844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Peer: cooperation / message fusion</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Task / frontier: search utility q(x)</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Obstacle: collision risk in feasible set</a:t>
            </a:r>
            <a:endParaRPr lang="en-US" sz="1300" dirty="0"/>
          </a:p>
        </p:txBody>
      </p:sp>
      <p:sp>
        <p:nvSpPr>
          <p:cNvPr id="18" name="Shape 13"/>
          <p:cNvSpPr/>
          <p:nvPr/>
        </p:nvSpPr>
        <p:spPr>
          <a:xfrm>
            <a:off x="8220456" y="1115568"/>
            <a:ext cx="3794760" cy="3822192"/>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9" name="Shape 14"/>
          <p:cNvSpPr/>
          <p:nvPr/>
        </p:nvSpPr>
        <p:spPr>
          <a:xfrm>
            <a:off x="8220456" y="1115568"/>
            <a:ext cx="3794760" cy="402336"/>
          </a:xfrm>
          <a:prstGeom prst="rect">
            <a:avLst/>
          </a:prstGeom>
          <a:solidFill>
            <a:srgbClr val="C0392B"/>
          </a:solidFill>
          <a:ln/>
        </p:spPr>
      </p:sp>
      <p:sp>
        <p:nvSpPr>
          <p:cNvPr id="20" name="Text 15"/>
          <p:cNvSpPr/>
          <p:nvPr/>
        </p:nvSpPr>
        <p:spPr>
          <a:xfrm>
            <a:off x="8311896" y="1133856"/>
            <a:ext cx="3611880" cy="365760"/>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3  Information Staleness</a:t>
            </a:r>
            <a:endParaRPr lang="en-US" sz="1300" dirty="0"/>
          </a:p>
        </p:txBody>
      </p:sp>
      <p:sp>
        <p:nvSpPr>
          <p:cNvPr id="21" name="Shape 16"/>
          <p:cNvSpPr/>
          <p:nvPr/>
        </p:nvSpPr>
        <p:spPr>
          <a:xfrm>
            <a:off x="8330184" y="1591056"/>
            <a:ext cx="3566160" cy="1874520"/>
          </a:xfrm>
          <a:prstGeom prst="rect">
            <a:avLst/>
          </a:prstGeom>
          <a:solidFill>
            <a:srgbClr val="F4F6FA"/>
          </a:solidFill>
          <a:ln/>
        </p:spPr>
      </p:sp>
      <p:pic>
        <p:nvPicPr>
          <p:cNvPr id="22" name="Image 3" descr="/tmp/ppt-work/assets/chal3.png">    </p:cNvPr>
          <p:cNvPicPr>
            <a:picLocks noChangeAspect="1"/>
          </p:cNvPicPr>
          <p:nvPr/>
        </p:nvPicPr>
        <p:blipFill>
          <a:blip r:embed="rId4"/>
          <a:stretch>
            <a:fillRect/>
          </a:stretch>
        </p:blipFill>
        <p:spPr>
          <a:xfrm>
            <a:off x="8706182" y="1591056"/>
            <a:ext cx="2814165" cy="1874520"/>
          </a:xfrm>
          <a:prstGeom prst="rect">
            <a:avLst/>
          </a:prstGeom>
        </p:spPr>
      </p:pic>
      <p:sp>
        <p:nvSpPr>
          <p:cNvPr id="23" name="Text 17"/>
          <p:cNvSpPr/>
          <p:nvPr/>
        </p:nvSpPr>
        <p:spPr>
          <a:xfrm>
            <a:off x="8366760" y="3493008"/>
            <a:ext cx="3493008" cy="1298448"/>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Recovered beliefs may be stale</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Reachable ≠ useful  (history gj,t)</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Select one source per cell</a:t>
            </a:r>
            <a:endParaRPr lang="en-US" sz="1300" dirty="0"/>
          </a:p>
        </p:txBody>
      </p:sp>
      <p:sp>
        <p:nvSpPr>
          <p:cNvPr id="24" name="Shape 18"/>
          <p:cNvSpPr/>
          <p:nvPr/>
        </p:nvSpPr>
        <p:spPr>
          <a:xfrm>
            <a:off x="320040" y="5010912"/>
            <a:ext cx="11539728" cy="1353312"/>
          </a:xfrm>
          <a:prstGeom prst="roundRect">
            <a:avLst>
              <a:gd name="adj" fmla="val 5405"/>
            </a:avLst>
          </a:prstGeom>
          <a:solidFill>
            <a:srgbClr val="EAF0F8"/>
          </a:solidFill>
          <a:ln/>
          <a:effectLst>
            <a:outerShdw sx="100000" sy="100000" kx="0" ky="0" algn="bl" rotWithShape="0" blurRad="50800" dist="12700" dir="16200000">
              <a:srgbClr val="1F2A44">
                <a:alpha val="12000"/>
              </a:srgbClr>
            </a:outerShdw>
          </a:effectLst>
        </p:spPr>
      </p:sp>
      <p:sp>
        <p:nvSpPr>
          <p:cNvPr id="25" name="Text 19"/>
          <p:cNvSpPr/>
          <p:nvPr/>
        </p:nvSpPr>
        <p:spPr>
          <a:xfrm>
            <a:off x="457200" y="5047488"/>
            <a:ext cx="11265408" cy="237744"/>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Instantaneous neighbor set used by the policy (not a delayed topology)</a:t>
            </a:r>
            <a:endParaRPr lang="en-US" sz="1300" dirty="0"/>
          </a:p>
        </p:txBody>
      </p:sp>
      <p:sp>
        <p:nvSpPr>
          <p:cNvPr id="26" name="Shape 20"/>
          <p:cNvSpPr/>
          <p:nvPr/>
        </p:nvSpPr>
        <p:spPr>
          <a:xfrm>
            <a:off x="457200" y="5303520"/>
            <a:ext cx="11265408" cy="566928"/>
          </a:xfrm>
          <a:prstGeom prst="roundRect">
            <a:avLst>
              <a:gd name="adj" fmla="val 8065"/>
            </a:avLst>
          </a:prstGeom>
          <a:solidFill>
            <a:srgbClr val="F4EFE4"/>
          </a:solidFill>
          <a:ln/>
        </p:spPr>
      </p:sp>
      <p:pic>
        <p:nvPicPr>
          <p:cNvPr id="27" name="Image 4" descr="/workspace/presentations/eq/ni.png">    </p:cNvPr>
          <p:cNvPicPr>
            <a:picLocks noChangeAspect="1"/>
          </p:cNvPicPr>
          <p:nvPr/>
        </p:nvPicPr>
        <p:blipFill>
          <a:blip r:embed="rId5"/>
          <a:stretch>
            <a:fillRect/>
          </a:stretch>
        </p:blipFill>
        <p:spPr>
          <a:xfrm>
            <a:off x="4297497" y="5340096"/>
            <a:ext cx="3584814" cy="493776"/>
          </a:xfrm>
          <a:prstGeom prst="rect">
            <a:avLst/>
          </a:prstGeom>
        </p:spPr>
      </p:pic>
      <p:sp>
        <p:nvSpPr>
          <p:cNvPr id="28" name="Text 21"/>
          <p:cNvSpPr/>
          <p:nvPr/>
        </p:nvSpPr>
        <p:spPr>
          <a:xfrm>
            <a:off x="457200" y="5907024"/>
            <a:ext cx="11265408" cy="365760"/>
          </a:xfrm>
          <a:prstGeom prst="rect">
            <a:avLst/>
          </a:prstGeom>
          <a:noFill/>
          <a:ln/>
        </p:spPr>
        <p:txBody>
          <a:bodyPr wrap="square" lIns="0" tIns="0" rIns="0" bIns="0" rtlCol="0" anchor="ctr"/>
          <a:lstStyle/>
          <a:p>
            <a:pPr algn="ctr" indent="0" marL="0">
              <a:buNone/>
            </a:pPr>
            <a:r>
              <a:rPr lang="en-US" sz="1400" i="1" dirty="0">
                <a:solidFill>
                  <a:srgbClr val="1E3F73"/>
                </a:solidFill>
                <a:latin typeface="Times New Roman" pitchFamily="34" charset="0"/>
                <a:ea typeface="Times New Roman" pitchFamily="34" charset="-122"/>
                <a:cs typeface="Times New Roman" pitchFamily="34" charset="-120"/>
              </a:rPr>
              <a:t>Focus: cooperative decision-making under communication constraints, rather than protocol optimization.</a:t>
            </a:r>
            <a:endParaRPr lang="en-US" sz="1400" dirty="0"/>
          </a:p>
        </p:txBody>
      </p:sp>
      <p:sp>
        <p:nvSpPr>
          <p:cNvPr id="29" name="Shape 22"/>
          <p:cNvSpPr/>
          <p:nvPr/>
        </p:nvSpPr>
        <p:spPr>
          <a:xfrm>
            <a:off x="0" y="6784848"/>
            <a:ext cx="12191695" cy="73152"/>
          </a:xfrm>
          <a:prstGeom prst="rect">
            <a:avLst/>
          </a:prstGeom>
          <a:solidFill>
            <a:srgbClr val="2F5597"/>
          </a:solidFill>
          <a:ln/>
        </p:spPr>
      </p:sp>
      <p:sp>
        <p:nvSpPr>
          <p:cNvPr id="30" name="Text 23"/>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1" name="Text 24"/>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1. Background</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1.3 Proposed Solution</a:t>
            </a:r>
            <a:endParaRPr lang="en-US" sz="2000" dirty="0"/>
          </a:p>
        </p:txBody>
      </p:sp>
      <p:sp>
        <p:nvSpPr>
          <p:cNvPr id="6" name="Shape 3"/>
          <p:cNvSpPr/>
          <p:nvPr/>
        </p:nvSpPr>
        <p:spPr>
          <a:xfrm>
            <a:off x="32004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115568"/>
            <a:ext cx="64008" cy="2331720"/>
          </a:xfrm>
          <a:prstGeom prst="rect">
            <a:avLst/>
          </a:prstGeom>
          <a:solidFill>
            <a:srgbClr val="2F5597"/>
          </a:solidFill>
          <a:ln/>
        </p:spPr>
      </p:sp>
      <p:sp>
        <p:nvSpPr>
          <p:cNvPr id="8" name="Text 5"/>
          <p:cNvSpPr/>
          <p:nvPr/>
        </p:nvSpPr>
        <p:spPr>
          <a:xfrm>
            <a:off x="32004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Times New Roman" pitchFamily="34" charset="0"/>
                <a:ea typeface="Times New Roman" pitchFamily="34" charset="-122"/>
                <a:cs typeface="Times New Roman" pitchFamily="34" charset="-120"/>
              </a:rPr>
              <a:t>Challenge 1</a:t>
            </a:r>
            <a:endParaRPr lang="en-US" sz="1200" dirty="0"/>
          </a:p>
        </p:txBody>
      </p:sp>
      <p:sp>
        <p:nvSpPr>
          <p:cNvPr id="9" name="Text 6"/>
          <p:cNvSpPr/>
          <p:nvPr/>
        </p:nvSpPr>
        <p:spPr>
          <a:xfrm>
            <a:off x="41148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Times New Roman" pitchFamily="34" charset="0"/>
                <a:ea typeface="Times New Roman" pitchFamily="34" charset="-122"/>
                <a:cs typeface="Times New Roman" pitchFamily="34" charset="-120"/>
              </a:rPr>
              <a:t>Incomplete beliefs</a:t>
            </a:r>
            <a:endParaRPr lang="en-US" sz="1400" dirty="0"/>
          </a:p>
        </p:txBody>
      </p:sp>
      <p:sp>
        <p:nvSpPr>
          <p:cNvPr id="10" name="Shape 7"/>
          <p:cNvSpPr/>
          <p:nvPr/>
        </p:nvSpPr>
        <p:spPr>
          <a:xfrm>
            <a:off x="1371600" y="1810512"/>
            <a:ext cx="640080" cy="256032"/>
          </a:xfrm>
          <a:prstGeom prst="downArrow">
            <a:avLst/>
          </a:prstGeom>
          <a:solidFill>
            <a:srgbClr val="2F5597"/>
          </a:solidFill>
          <a:ln/>
        </p:spPr>
      </p:sp>
      <p:sp>
        <p:nvSpPr>
          <p:cNvPr id="11" name="Text 8"/>
          <p:cNvSpPr/>
          <p:nvPr/>
        </p:nvSpPr>
        <p:spPr>
          <a:xfrm>
            <a:off x="393192" y="2084832"/>
            <a:ext cx="2596896" cy="1207008"/>
          </a:xfrm>
          <a:prstGeom prst="rect">
            <a:avLst/>
          </a:prstGeom>
          <a:noFill/>
          <a:ln/>
        </p:spPr>
        <p:txBody>
          <a:bodyPr wrap="square" lIns="0" tIns="0" rIns="0" bIns="0" rtlCol="0" anchor="ctr"/>
          <a:lstStyle/>
          <a:p>
            <a:pPr algn="ctr" indent="0" marL="0">
              <a:buNone/>
            </a:pPr>
            <a:r>
              <a:rPr lang="en-US" sz="1400" b="1" dirty="0">
                <a:solidFill>
                  <a:srgbClr val="2F5597"/>
                </a:solidFill>
                <a:latin typeface="Times New Roman" pitchFamily="34" charset="0"/>
                <a:ea typeface="Times New Roman" pitchFamily="34" charset="-122"/>
                <a:cs typeface="Times New Roman" pitchFamily="34" charset="-120"/>
              </a:rPr>
              <a:t>Revisit-aware</a:t>
            </a:r>
            <a:endParaRPr lang="en-US" sz="1400" dirty="0"/>
          </a:p>
          <a:p>
            <a:pPr algn="ctr" indent="0" marL="0">
              <a:buNone/>
            </a:pPr>
            <a:r>
              <a:rPr lang="en-US" sz="1400" b="1" dirty="0">
                <a:solidFill>
                  <a:srgbClr val="2F5597"/>
                </a:solidFill>
                <a:latin typeface="Times New Roman" pitchFamily="34" charset="0"/>
                <a:ea typeface="Times New Roman" pitchFamily="34" charset="-122"/>
                <a:cs typeface="Times New Roman" pitchFamily="34" charset="-120"/>
              </a:rPr>
              <a:t>P/E/R Memory</a:t>
            </a:r>
            <a:endParaRPr lang="en-US" sz="1400" dirty="0"/>
          </a:p>
        </p:txBody>
      </p:sp>
      <p:sp>
        <p:nvSpPr>
          <p:cNvPr id="12" name="Shape 9"/>
          <p:cNvSpPr/>
          <p:nvPr/>
        </p:nvSpPr>
        <p:spPr>
          <a:xfrm>
            <a:off x="320040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13" name="Shape 10"/>
          <p:cNvSpPr/>
          <p:nvPr/>
        </p:nvSpPr>
        <p:spPr>
          <a:xfrm>
            <a:off x="3200400" y="1115568"/>
            <a:ext cx="64008" cy="2331720"/>
          </a:xfrm>
          <a:prstGeom prst="rect">
            <a:avLst/>
          </a:prstGeom>
          <a:solidFill>
            <a:srgbClr val="2F5597"/>
          </a:solidFill>
          <a:ln/>
        </p:spPr>
      </p:sp>
      <p:sp>
        <p:nvSpPr>
          <p:cNvPr id="14" name="Text 11"/>
          <p:cNvSpPr/>
          <p:nvPr/>
        </p:nvSpPr>
        <p:spPr>
          <a:xfrm>
            <a:off x="320040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Times New Roman" pitchFamily="34" charset="0"/>
                <a:ea typeface="Times New Roman" pitchFamily="34" charset="-122"/>
                <a:cs typeface="Times New Roman" pitchFamily="34" charset="-120"/>
              </a:rPr>
              <a:t>Challenge 2</a:t>
            </a:r>
            <a:endParaRPr lang="en-US" sz="1200" dirty="0"/>
          </a:p>
        </p:txBody>
      </p:sp>
      <p:sp>
        <p:nvSpPr>
          <p:cNvPr id="15" name="Text 12"/>
          <p:cNvSpPr/>
          <p:nvPr/>
        </p:nvSpPr>
        <p:spPr>
          <a:xfrm>
            <a:off x="329184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Times New Roman" pitchFamily="34" charset="0"/>
                <a:ea typeface="Times New Roman" pitchFamily="34" charset="-122"/>
                <a:cs typeface="Times New Roman" pitchFamily="34" charset="-120"/>
              </a:rPr>
              <a:t>Stale peer information</a:t>
            </a:r>
            <a:endParaRPr lang="en-US" sz="1400" dirty="0"/>
          </a:p>
        </p:txBody>
      </p:sp>
      <p:sp>
        <p:nvSpPr>
          <p:cNvPr id="16" name="Shape 13"/>
          <p:cNvSpPr/>
          <p:nvPr/>
        </p:nvSpPr>
        <p:spPr>
          <a:xfrm>
            <a:off x="4251960" y="1810512"/>
            <a:ext cx="640080" cy="256032"/>
          </a:xfrm>
          <a:prstGeom prst="downArrow">
            <a:avLst/>
          </a:prstGeom>
          <a:solidFill>
            <a:srgbClr val="ED7D31"/>
          </a:solidFill>
          <a:ln/>
        </p:spPr>
      </p:sp>
      <p:sp>
        <p:nvSpPr>
          <p:cNvPr id="17" name="Text 14"/>
          <p:cNvSpPr/>
          <p:nvPr/>
        </p:nvSpPr>
        <p:spPr>
          <a:xfrm>
            <a:off x="3273552" y="2084832"/>
            <a:ext cx="2596896" cy="1207008"/>
          </a:xfrm>
          <a:prstGeom prst="rect">
            <a:avLst/>
          </a:prstGeom>
          <a:noFill/>
          <a:ln/>
        </p:spPr>
        <p:txBody>
          <a:bodyPr wrap="square" lIns="0" tIns="0" rIns="0" bIns="0" rtlCol="0" anchor="ctr"/>
          <a:lstStyle/>
          <a:p>
            <a:pPr algn="ctr" indent="0" marL="0">
              <a:buNone/>
            </a:pPr>
            <a:r>
              <a:rPr lang="en-US" sz="1400" b="1" dirty="0">
                <a:solidFill>
                  <a:srgbClr val="ED7D31"/>
                </a:solidFill>
                <a:latin typeface="Times New Roman" pitchFamily="34" charset="0"/>
                <a:ea typeface="Times New Roman" pitchFamily="34" charset="-122"/>
                <a:cs typeface="Times New Roman" pitchFamily="34" charset="-120"/>
              </a:rPr>
              <a:t>Communication-History-</a:t>
            </a:r>
            <a:endParaRPr lang="en-US" sz="1400" dirty="0"/>
          </a:p>
          <a:p>
            <a:pPr algn="ctr" indent="0" marL="0">
              <a:buNone/>
            </a:pPr>
            <a:r>
              <a:rPr lang="en-US" sz="1400" b="1" dirty="0">
                <a:solidFill>
                  <a:srgbClr val="ED7D31"/>
                </a:solidFill>
                <a:latin typeface="Times New Roman" pitchFamily="34" charset="0"/>
                <a:ea typeface="Times New Roman" pitchFamily="34" charset="-122"/>
                <a:cs typeface="Times New Roman" pitchFamily="34" charset="-120"/>
              </a:rPr>
              <a:t>Aware Source Selection</a:t>
            </a:r>
            <a:endParaRPr lang="en-US" sz="1400" dirty="0"/>
          </a:p>
        </p:txBody>
      </p:sp>
      <p:sp>
        <p:nvSpPr>
          <p:cNvPr id="18" name="Shape 15"/>
          <p:cNvSpPr/>
          <p:nvPr/>
        </p:nvSpPr>
        <p:spPr>
          <a:xfrm>
            <a:off x="6080760" y="1115568"/>
            <a:ext cx="2743200" cy="2331720"/>
          </a:xfrm>
          <a:prstGeom prst="roundRect">
            <a:avLst>
              <a:gd name="adj" fmla="val 3137"/>
            </a:avLst>
          </a:prstGeom>
          <a:solidFill>
            <a:srgbClr val="FFFFFF"/>
          </a:solidFill>
          <a:ln/>
          <a:effectLst>
            <a:outerShdw sx="100000" sy="100000" kx="0" ky="0" algn="bl" rotWithShape="0" blurRad="50800" dist="12700" dir="16200000">
              <a:srgbClr val="1F2A44">
                <a:alpha val="12000"/>
              </a:srgbClr>
            </a:outerShdw>
          </a:effectLst>
        </p:spPr>
      </p:sp>
      <p:sp>
        <p:nvSpPr>
          <p:cNvPr id="19" name="Shape 16"/>
          <p:cNvSpPr/>
          <p:nvPr/>
        </p:nvSpPr>
        <p:spPr>
          <a:xfrm>
            <a:off x="6080760" y="1115568"/>
            <a:ext cx="64008" cy="2331720"/>
          </a:xfrm>
          <a:prstGeom prst="rect">
            <a:avLst/>
          </a:prstGeom>
          <a:solidFill>
            <a:srgbClr val="2F5597"/>
          </a:solidFill>
          <a:ln/>
        </p:spPr>
      </p:sp>
      <p:sp>
        <p:nvSpPr>
          <p:cNvPr id="20" name="Text 17"/>
          <p:cNvSpPr/>
          <p:nvPr/>
        </p:nvSpPr>
        <p:spPr>
          <a:xfrm>
            <a:off x="6080760" y="1170432"/>
            <a:ext cx="2743200" cy="256032"/>
          </a:xfrm>
          <a:prstGeom prst="rect">
            <a:avLst/>
          </a:prstGeom>
          <a:noFill/>
          <a:ln/>
        </p:spPr>
        <p:txBody>
          <a:bodyPr wrap="square" lIns="0" tIns="0" rIns="0" bIns="0" rtlCol="0" anchor="ctr"/>
          <a:lstStyle/>
          <a:p>
            <a:pPr algn="ctr" indent="0" marL="0">
              <a:buNone/>
            </a:pPr>
            <a:r>
              <a:rPr lang="en-US" sz="1200" dirty="0">
                <a:solidFill>
                  <a:srgbClr val="5A6A80"/>
                </a:solidFill>
                <a:latin typeface="Times New Roman" pitchFamily="34" charset="0"/>
                <a:ea typeface="Times New Roman" pitchFamily="34" charset="-122"/>
                <a:cs typeface="Times New Roman" pitchFamily="34" charset="-120"/>
              </a:rPr>
              <a:t>Challenge 3</a:t>
            </a:r>
            <a:endParaRPr lang="en-US" sz="1200" dirty="0"/>
          </a:p>
        </p:txBody>
      </p:sp>
      <p:sp>
        <p:nvSpPr>
          <p:cNvPr id="21" name="Text 18"/>
          <p:cNvSpPr/>
          <p:nvPr/>
        </p:nvSpPr>
        <p:spPr>
          <a:xfrm>
            <a:off x="6172200" y="1408176"/>
            <a:ext cx="2560320" cy="384048"/>
          </a:xfrm>
          <a:prstGeom prst="rect">
            <a:avLst/>
          </a:prstGeom>
          <a:noFill/>
          <a:ln/>
        </p:spPr>
        <p:txBody>
          <a:bodyPr wrap="square" lIns="0" tIns="0" rIns="0" bIns="0" rtlCol="0" anchor="ctr"/>
          <a:lstStyle/>
          <a:p>
            <a:pPr algn="ctr" indent="0" marL="0">
              <a:buNone/>
            </a:pPr>
            <a:r>
              <a:rPr lang="en-US" sz="1400" b="1" dirty="0">
                <a:solidFill>
                  <a:srgbClr val="1F2A44"/>
                </a:solidFill>
                <a:latin typeface="Times New Roman" pitchFamily="34" charset="0"/>
                <a:ea typeface="Times New Roman" pitchFamily="34" charset="-122"/>
                <a:cs typeface="Times New Roman" pitchFamily="34" charset="-120"/>
              </a:rPr>
              <a:t>Heterogeneous entities</a:t>
            </a:r>
            <a:endParaRPr lang="en-US" sz="1400" dirty="0"/>
          </a:p>
        </p:txBody>
      </p:sp>
      <p:sp>
        <p:nvSpPr>
          <p:cNvPr id="22" name="Shape 19"/>
          <p:cNvSpPr/>
          <p:nvPr/>
        </p:nvSpPr>
        <p:spPr>
          <a:xfrm>
            <a:off x="7132320" y="1810512"/>
            <a:ext cx="640080" cy="256032"/>
          </a:xfrm>
          <a:prstGeom prst="downArrow">
            <a:avLst/>
          </a:prstGeom>
          <a:solidFill>
            <a:srgbClr val="2E8B57"/>
          </a:solidFill>
          <a:ln/>
        </p:spPr>
      </p:sp>
      <p:sp>
        <p:nvSpPr>
          <p:cNvPr id="23" name="Text 20"/>
          <p:cNvSpPr/>
          <p:nvPr/>
        </p:nvSpPr>
        <p:spPr>
          <a:xfrm>
            <a:off x="6153912" y="2084832"/>
            <a:ext cx="2596896" cy="1207008"/>
          </a:xfrm>
          <a:prstGeom prst="rect">
            <a:avLst/>
          </a:prstGeom>
          <a:noFill/>
          <a:ln/>
        </p:spPr>
        <p:txBody>
          <a:bodyPr wrap="square" lIns="0" tIns="0" rIns="0" bIns="0" rtlCol="0" anchor="ctr"/>
          <a:lstStyle/>
          <a:p>
            <a:pPr algn="ctr" indent="0" marL="0">
              <a:buNone/>
            </a:pPr>
            <a:r>
              <a:rPr lang="en-US" sz="1400" b="1" dirty="0">
                <a:solidFill>
                  <a:srgbClr val="2E8B57"/>
                </a:solidFill>
                <a:latin typeface="Times New Roman" pitchFamily="34" charset="0"/>
                <a:ea typeface="Times New Roman" pitchFamily="34" charset="-122"/>
                <a:cs typeface="Times New Roman" pitchFamily="34" charset="-120"/>
              </a:rPr>
              <a:t>Heterogeneous</a:t>
            </a:r>
            <a:endParaRPr lang="en-US" sz="1400" dirty="0"/>
          </a:p>
          <a:p>
            <a:pPr algn="ctr" indent="0" marL="0">
              <a:buNone/>
            </a:pPr>
            <a:r>
              <a:rPr lang="en-US" sz="1400" b="1" dirty="0">
                <a:solidFill>
                  <a:srgbClr val="2E8B57"/>
                </a:solidFill>
                <a:latin typeface="Times New Roman" pitchFamily="34" charset="0"/>
                <a:ea typeface="Times New Roman" pitchFamily="34" charset="-122"/>
                <a:cs typeface="Times New Roman" pitchFamily="34" charset="-120"/>
              </a:rPr>
              <a:t>Graph Attention</a:t>
            </a:r>
            <a:endParaRPr lang="en-US" sz="1400" dirty="0"/>
          </a:p>
        </p:txBody>
      </p:sp>
      <p:sp>
        <p:nvSpPr>
          <p:cNvPr id="24" name="Shape 21"/>
          <p:cNvSpPr/>
          <p:nvPr/>
        </p:nvSpPr>
        <p:spPr>
          <a:xfrm>
            <a:off x="9006840" y="1115568"/>
            <a:ext cx="2852928" cy="2331720"/>
          </a:xfrm>
          <a:prstGeom prst="roundRect">
            <a:avLst>
              <a:gd name="adj" fmla="val 3137"/>
            </a:avLst>
          </a:prstGeom>
          <a:solidFill>
            <a:srgbClr val="2F5597"/>
          </a:solidFill>
          <a:ln/>
          <a:effectLst>
            <a:outerShdw sx="100000" sy="100000" kx="0" ky="0" algn="bl" rotWithShape="0" blurRad="50800" dist="12700" dir="16200000">
              <a:srgbClr val="1F2A44">
                <a:alpha val="12000"/>
              </a:srgbClr>
            </a:outerShdw>
          </a:effectLst>
        </p:spPr>
      </p:sp>
      <p:sp>
        <p:nvSpPr>
          <p:cNvPr id="25" name="Text 22"/>
          <p:cNvSpPr/>
          <p:nvPr/>
        </p:nvSpPr>
        <p:spPr>
          <a:xfrm>
            <a:off x="9144000" y="1207008"/>
            <a:ext cx="2606040" cy="329184"/>
          </a:xfrm>
          <a:prstGeom prst="rect">
            <a:avLst/>
          </a:prstGeom>
          <a:noFill/>
          <a:ln/>
        </p:spPr>
        <p:txBody>
          <a:bodyPr wrap="square" lIns="0" tIns="0" rIns="0" bIns="0" rtlCol="0" anchor="ctr"/>
          <a:lstStyle/>
          <a:p>
            <a:pPr indent="0" marL="0">
              <a:buNone/>
            </a:pPr>
            <a:r>
              <a:rPr lang="en-US" sz="1500" b="1" dirty="0">
                <a:solidFill>
                  <a:srgbClr val="FFFFFF"/>
                </a:solidFill>
                <a:latin typeface="Times New Roman" pitchFamily="34" charset="0"/>
                <a:ea typeface="Times New Roman" pitchFamily="34" charset="-122"/>
                <a:cs typeface="Times New Roman" pitchFamily="34" charset="-120"/>
              </a:rPr>
              <a:t>Learning (CTDE)</a:t>
            </a:r>
            <a:endParaRPr lang="en-US" sz="1500" dirty="0"/>
          </a:p>
        </p:txBody>
      </p:sp>
      <p:sp>
        <p:nvSpPr>
          <p:cNvPr id="26" name="Text 23"/>
          <p:cNvSpPr/>
          <p:nvPr/>
        </p:nvSpPr>
        <p:spPr>
          <a:xfrm>
            <a:off x="9144000" y="1554480"/>
            <a:ext cx="2606040" cy="1737360"/>
          </a:xfrm>
          <a:prstGeom prst="rect">
            <a:avLst/>
          </a:prstGeom>
          <a:noFill/>
          <a:ln/>
        </p:spPr>
        <p:txBody>
          <a:bodyPr wrap="square" lIns="0" tIns="0" rIns="0" bIns="0" rtlCol="0" anchor="ctr"/>
          <a:lstStyle/>
          <a:p>
            <a:pPr indent="0" marL="0">
              <a:buNone/>
            </a:pPr>
            <a:r>
              <a:rPr lang="en-US" sz="1400" dirty="0">
                <a:solidFill>
                  <a:srgbClr val="FFFFFF"/>
                </a:solidFill>
                <a:latin typeface="Times New Roman" pitchFamily="34" charset="0"/>
                <a:ea typeface="Times New Roman" pitchFamily="34" charset="-122"/>
                <a:cs typeface="Times New Roman" pitchFamily="34" charset="-120"/>
              </a:rPr>
              <a:t>Shared actor  pi(a|o)</a:t>
            </a:r>
            <a:endParaRPr lang="en-US" sz="1400" dirty="0"/>
          </a:p>
          <a:p>
            <a:pPr indent="0" marL="0">
              <a:buNone/>
            </a:pPr>
            <a:r>
              <a:rPr lang="en-US" sz="1400" dirty="0">
                <a:solidFill>
                  <a:srgbClr val="FFFFFF"/>
                </a:solidFill>
                <a:latin typeface="Times New Roman" pitchFamily="34" charset="0"/>
                <a:ea typeface="Times New Roman" pitchFamily="34" charset="-122"/>
                <a:cs typeface="Times New Roman" pitchFamily="34" charset="-120"/>
              </a:rPr>
              <a:t>Centralized critic V(s)</a:t>
            </a:r>
            <a:endParaRPr lang="en-US" sz="1400" dirty="0"/>
          </a:p>
          <a:p>
            <a:pPr indent="0" marL="0">
              <a:buNone/>
            </a:pPr>
            <a:r>
              <a:rPr lang="en-US" sz="1400" dirty="0">
                <a:solidFill>
                  <a:srgbClr val="FFFFFF"/>
                </a:solidFill>
                <a:latin typeface="Times New Roman" pitchFamily="34" charset="0"/>
                <a:ea typeface="Times New Roman" pitchFamily="34" charset="-122"/>
                <a:cs typeface="Times New Roman" pitchFamily="34" charset="-120"/>
              </a:rPr>
              <a:t>MAPPO: clip + GAE</a:t>
            </a:r>
            <a:endParaRPr lang="en-US" sz="1400" dirty="0"/>
          </a:p>
          <a:p>
            <a:pPr indent="0" marL="0">
              <a:buNone/>
            </a:pPr>
            <a:r>
              <a:rPr lang="en-US" sz="1400" dirty="0">
                <a:solidFill>
                  <a:srgbClr val="FFFFFF"/>
                </a:solidFill>
                <a:latin typeface="Times New Roman" pitchFamily="34" charset="0"/>
                <a:ea typeface="Times New Roman" pitchFamily="34" charset="-122"/>
                <a:cs typeface="Times New Roman" pitchFamily="34" charset="-120"/>
              </a:rPr>
              <a:t>Common safety projection</a:t>
            </a:r>
            <a:endParaRPr lang="en-US" sz="1400" dirty="0"/>
          </a:p>
        </p:txBody>
      </p:sp>
      <p:sp>
        <p:nvSpPr>
          <p:cNvPr id="27" name="Shape 24"/>
          <p:cNvSpPr/>
          <p:nvPr/>
        </p:nvSpPr>
        <p:spPr>
          <a:xfrm>
            <a:off x="320040" y="3566160"/>
            <a:ext cx="11539728" cy="2788920"/>
          </a:xfrm>
          <a:prstGeom prst="roundRect">
            <a:avLst>
              <a:gd name="adj" fmla="val 2623"/>
            </a:avLst>
          </a:prstGeom>
          <a:solidFill>
            <a:srgbClr val="EAF0F8"/>
          </a:solidFill>
          <a:ln/>
        </p:spPr>
      </p:sp>
      <p:sp>
        <p:nvSpPr>
          <p:cNvPr id="28" name="Text 25"/>
          <p:cNvSpPr/>
          <p:nvPr/>
        </p:nvSpPr>
        <p:spPr>
          <a:xfrm>
            <a:off x="502920" y="3639312"/>
            <a:ext cx="11173968" cy="329184"/>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From three questions to one algorithm  ·  IC-HGAT-MAPPO</a:t>
            </a:r>
            <a:endParaRPr lang="en-US" sz="1600" dirty="0"/>
          </a:p>
        </p:txBody>
      </p:sp>
      <p:sp>
        <p:nvSpPr>
          <p:cNvPr id="29" name="Shape 26"/>
          <p:cNvSpPr/>
          <p:nvPr/>
        </p:nvSpPr>
        <p:spPr>
          <a:xfrm>
            <a:off x="475488" y="4023360"/>
            <a:ext cx="658368" cy="585216"/>
          </a:xfrm>
          <a:prstGeom prst="roundRect">
            <a:avLst>
              <a:gd name="adj" fmla="val 9375"/>
            </a:avLst>
          </a:prstGeom>
          <a:solidFill>
            <a:srgbClr val="C0392B"/>
          </a:solidFill>
          <a:ln/>
        </p:spPr>
      </p:sp>
      <p:sp>
        <p:nvSpPr>
          <p:cNvPr id="30" name="Text 27"/>
          <p:cNvSpPr/>
          <p:nvPr/>
        </p:nvSpPr>
        <p:spPr>
          <a:xfrm>
            <a:off x="475488" y="4023360"/>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Q1</a:t>
            </a:r>
            <a:endParaRPr lang="en-US" sz="1600" dirty="0"/>
          </a:p>
        </p:txBody>
      </p:sp>
      <p:sp>
        <p:nvSpPr>
          <p:cNvPr id="31" name="Text 28"/>
          <p:cNvSpPr/>
          <p:nvPr/>
        </p:nvSpPr>
        <p:spPr>
          <a:xfrm>
            <a:off x="1261872" y="4023360"/>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Times New Roman" pitchFamily="34" charset="0"/>
                <a:ea typeface="Times New Roman" pitchFamily="34" charset="-122"/>
                <a:cs typeface="Times New Roman" pitchFamily="34" charset="-120"/>
              </a:rPr>
              <a:t>How to maintain useful beliefs without global map sharing?</a:t>
            </a:r>
            <a:endParaRPr lang="en-US" sz="1400" dirty="0"/>
          </a:p>
        </p:txBody>
      </p:sp>
      <p:sp>
        <p:nvSpPr>
          <p:cNvPr id="32" name="Text 29"/>
          <p:cNvSpPr/>
          <p:nvPr/>
        </p:nvSpPr>
        <p:spPr>
          <a:xfrm>
            <a:off x="1261872" y="4315968"/>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Times New Roman" pitchFamily="34" charset="0"/>
                <a:ea typeface="Times New Roman" pitchFamily="34" charset="-122"/>
                <a:cs typeface="Times New Roman" pitchFamily="34" charset="-120"/>
              </a:rPr>
              <a:t>Bayesian log-odds L  →  P, E, R</a:t>
            </a:r>
            <a:endParaRPr lang="en-US" sz="1300" dirty="0"/>
          </a:p>
        </p:txBody>
      </p:sp>
      <p:sp>
        <p:nvSpPr>
          <p:cNvPr id="33" name="Shape 30"/>
          <p:cNvSpPr/>
          <p:nvPr/>
        </p:nvSpPr>
        <p:spPr>
          <a:xfrm>
            <a:off x="475488" y="4736592"/>
            <a:ext cx="658368" cy="585216"/>
          </a:xfrm>
          <a:prstGeom prst="roundRect">
            <a:avLst>
              <a:gd name="adj" fmla="val 9375"/>
            </a:avLst>
          </a:prstGeom>
          <a:solidFill>
            <a:srgbClr val="C0392B"/>
          </a:solidFill>
          <a:ln/>
        </p:spPr>
      </p:sp>
      <p:sp>
        <p:nvSpPr>
          <p:cNvPr id="34" name="Text 31"/>
          <p:cNvSpPr/>
          <p:nvPr/>
        </p:nvSpPr>
        <p:spPr>
          <a:xfrm>
            <a:off x="475488" y="4736592"/>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Q2</a:t>
            </a:r>
            <a:endParaRPr lang="en-US" sz="1600" dirty="0"/>
          </a:p>
        </p:txBody>
      </p:sp>
      <p:sp>
        <p:nvSpPr>
          <p:cNvPr id="35" name="Text 32"/>
          <p:cNvSpPr/>
          <p:nvPr/>
        </p:nvSpPr>
        <p:spPr>
          <a:xfrm>
            <a:off x="1261872" y="4736592"/>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Times New Roman" pitchFamily="34" charset="0"/>
                <a:ea typeface="Times New Roman" pitchFamily="34" charset="-122"/>
                <a:cs typeface="Times New Roman" pitchFamily="34" charset="-120"/>
              </a:rPr>
              <a:t>How to select useful information after communication recovery?</a:t>
            </a:r>
            <a:endParaRPr lang="en-US" sz="1400" dirty="0"/>
          </a:p>
        </p:txBody>
      </p:sp>
      <p:sp>
        <p:nvSpPr>
          <p:cNvPr id="36" name="Text 33"/>
          <p:cNvSpPr/>
          <p:nvPr/>
        </p:nvSpPr>
        <p:spPr>
          <a:xfrm>
            <a:off x="1261872" y="5029200"/>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Times New Roman" pitchFamily="34" charset="0"/>
                <a:ea typeface="Times New Roman" pitchFamily="34" charset="-122"/>
                <a:cs typeface="Times New Roman" pitchFamily="34" charset="-120"/>
              </a:rPr>
              <a:t>One source j⋆ per cell via w |L|</a:t>
            </a:r>
            <a:endParaRPr lang="en-US" sz="1300" dirty="0"/>
          </a:p>
        </p:txBody>
      </p:sp>
      <p:sp>
        <p:nvSpPr>
          <p:cNvPr id="37" name="Shape 34"/>
          <p:cNvSpPr/>
          <p:nvPr/>
        </p:nvSpPr>
        <p:spPr>
          <a:xfrm>
            <a:off x="475488" y="5449824"/>
            <a:ext cx="658368" cy="585216"/>
          </a:xfrm>
          <a:prstGeom prst="roundRect">
            <a:avLst>
              <a:gd name="adj" fmla="val 9375"/>
            </a:avLst>
          </a:prstGeom>
          <a:solidFill>
            <a:srgbClr val="C0392B"/>
          </a:solidFill>
          <a:ln/>
        </p:spPr>
      </p:sp>
      <p:sp>
        <p:nvSpPr>
          <p:cNvPr id="38" name="Text 35"/>
          <p:cNvSpPr/>
          <p:nvPr/>
        </p:nvSpPr>
        <p:spPr>
          <a:xfrm>
            <a:off x="475488" y="5449824"/>
            <a:ext cx="658368"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Q3</a:t>
            </a:r>
            <a:endParaRPr lang="en-US" sz="1600" dirty="0"/>
          </a:p>
        </p:txBody>
      </p:sp>
      <p:sp>
        <p:nvSpPr>
          <p:cNvPr id="39" name="Text 36"/>
          <p:cNvSpPr/>
          <p:nvPr/>
        </p:nvSpPr>
        <p:spPr>
          <a:xfrm>
            <a:off x="1261872" y="5449824"/>
            <a:ext cx="7178040" cy="329184"/>
          </a:xfrm>
          <a:prstGeom prst="rect">
            <a:avLst/>
          </a:prstGeom>
          <a:noFill/>
          <a:ln/>
        </p:spPr>
        <p:txBody>
          <a:bodyPr wrap="square" lIns="0" tIns="0" rIns="0" bIns="0" rtlCol="0" anchor="ctr"/>
          <a:lstStyle/>
          <a:p>
            <a:pPr indent="0" marL="0">
              <a:buNone/>
            </a:pPr>
            <a:r>
              <a:rPr lang="en-US" sz="1400" b="1" dirty="0">
                <a:solidFill>
                  <a:srgbClr val="1F2A44"/>
                </a:solidFill>
                <a:latin typeface="Times New Roman" pitchFamily="34" charset="0"/>
                <a:ea typeface="Times New Roman" pitchFamily="34" charset="-122"/>
                <a:cs typeface="Times New Roman" pitchFamily="34" charset="-120"/>
              </a:rPr>
              <a:t>How to model UAV, task, and obstacle interactions jointly?</a:t>
            </a:r>
            <a:endParaRPr lang="en-US" sz="1400" dirty="0"/>
          </a:p>
        </p:txBody>
      </p:sp>
      <p:sp>
        <p:nvSpPr>
          <p:cNvPr id="40" name="Text 37"/>
          <p:cNvSpPr/>
          <p:nvPr/>
        </p:nvSpPr>
        <p:spPr>
          <a:xfrm>
            <a:off x="1261872" y="5742432"/>
            <a:ext cx="7178040" cy="274320"/>
          </a:xfrm>
          <a:prstGeom prst="rect">
            <a:avLst/>
          </a:prstGeom>
          <a:noFill/>
          <a:ln/>
        </p:spPr>
        <p:txBody>
          <a:bodyPr wrap="square" lIns="0" tIns="0" rIns="0" bIns="0" rtlCol="0" anchor="ctr"/>
          <a:lstStyle/>
          <a:p>
            <a:pPr indent="0" marL="0">
              <a:buNone/>
            </a:pPr>
            <a:r>
              <a:rPr lang="en-US" sz="1300" i="1" dirty="0">
                <a:solidFill>
                  <a:srgbClr val="5A6A80"/>
                </a:solidFill>
                <a:latin typeface="Times New Roman" pitchFamily="34" charset="0"/>
                <a:ea typeface="Times New Roman" pitchFamily="34" charset="-122"/>
                <a:cs typeface="Times New Roman" pitchFamily="34" charset="-120"/>
              </a:rPr>
              <a:t>Relation-specific attention  alpha_r,i,k</a:t>
            </a:r>
            <a:endParaRPr lang="en-US" sz="1300" dirty="0"/>
          </a:p>
        </p:txBody>
      </p:sp>
      <p:sp>
        <p:nvSpPr>
          <p:cNvPr id="41" name="Shape 38"/>
          <p:cNvSpPr/>
          <p:nvPr/>
        </p:nvSpPr>
        <p:spPr>
          <a:xfrm>
            <a:off x="8595360" y="4892040"/>
            <a:ext cx="457200" cy="274320"/>
          </a:xfrm>
          <a:prstGeom prst="rightArrow">
            <a:avLst/>
          </a:prstGeom>
          <a:solidFill>
            <a:srgbClr val="2F5597"/>
          </a:solidFill>
          <a:ln/>
        </p:spPr>
      </p:sp>
      <p:sp>
        <p:nvSpPr>
          <p:cNvPr id="42" name="Shape 39"/>
          <p:cNvSpPr/>
          <p:nvPr/>
        </p:nvSpPr>
        <p:spPr>
          <a:xfrm>
            <a:off x="9144000" y="4297680"/>
            <a:ext cx="2514600" cy="1737360"/>
          </a:xfrm>
          <a:prstGeom prst="roundRect">
            <a:avLst>
              <a:gd name="adj" fmla="val 4211"/>
            </a:avLst>
          </a:prstGeom>
          <a:solidFill>
            <a:srgbClr val="2F5597"/>
          </a:solidFill>
          <a:ln/>
        </p:spPr>
      </p:sp>
      <p:sp>
        <p:nvSpPr>
          <p:cNvPr id="43" name="Text 40"/>
          <p:cNvSpPr/>
          <p:nvPr/>
        </p:nvSpPr>
        <p:spPr>
          <a:xfrm>
            <a:off x="9189720" y="4462272"/>
            <a:ext cx="242316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IC-HGAT-</a:t>
            </a:r>
            <a:endParaRPr lang="en-US" sz="2000" dirty="0"/>
          </a:p>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MAPPO</a:t>
            </a:r>
            <a:endParaRPr lang="en-US" sz="2000" dirty="0"/>
          </a:p>
        </p:txBody>
      </p:sp>
      <p:sp>
        <p:nvSpPr>
          <p:cNvPr id="44" name="Text 41"/>
          <p:cNvSpPr/>
          <p:nvPr/>
        </p:nvSpPr>
        <p:spPr>
          <a:xfrm>
            <a:off x="9189720" y="5394960"/>
            <a:ext cx="2423160" cy="502920"/>
          </a:xfrm>
          <a:prstGeom prst="rect">
            <a:avLst/>
          </a:prstGeom>
          <a:noFill/>
          <a:ln/>
        </p:spPr>
        <p:txBody>
          <a:bodyPr wrap="square" lIns="0" tIns="0" rIns="0" bIns="0" rtlCol="0" anchor="ctr"/>
          <a:lstStyle/>
          <a:p>
            <a:pPr algn="ctr" indent="0" marL="0">
              <a:buNone/>
            </a:pPr>
            <a:r>
              <a:rPr lang="en-US" sz="1200" dirty="0">
                <a:solidFill>
                  <a:srgbClr val="D6E2F5"/>
                </a:solidFill>
                <a:latin typeface="Times New Roman" pitchFamily="34" charset="0"/>
                <a:ea typeface="Times New Roman" pitchFamily="34" charset="-122"/>
                <a:cs typeface="Times New Roman" pitchFamily="34" charset="-120"/>
              </a:rPr>
              <a:t>exec: local only</a:t>
            </a:r>
            <a:endParaRPr lang="en-US" sz="1200" dirty="0"/>
          </a:p>
          <a:p>
            <a:pPr algn="ctr" indent="0" marL="0">
              <a:buNone/>
            </a:pPr>
            <a:r>
              <a:rPr lang="en-US" sz="1200" dirty="0">
                <a:solidFill>
                  <a:srgbClr val="D6E2F5"/>
                </a:solidFill>
                <a:latin typeface="Times New Roman" pitchFamily="34" charset="0"/>
                <a:ea typeface="Times New Roman" pitchFamily="34" charset="-122"/>
                <a:cs typeface="Times New Roman" pitchFamily="34" charset="-120"/>
              </a:rPr>
              <a:t>train: global critic</a:t>
            </a:r>
            <a:endParaRPr lang="en-US" sz="1200" dirty="0"/>
          </a:p>
        </p:txBody>
      </p:sp>
      <p:sp>
        <p:nvSpPr>
          <p:cNvPr id="45" name="Shape 42"/>
          <p:cNvSpPr/>
          <p:nvPr/>
        </p:nvSpPr>
        <p:spPr>
          <a:xfrm>
            <a:off x="0" y="6784848"/>
            <a:ext cx="12191695" cy="73152"/>
          </a:xfrm>
          <a:prstGeom prst="rect">
            <a:avLst/>
          </a:prstGeom>
          <a:solidFill>
            <a:srgbClr val="2F5597"/>
          </a:solidFill>
          <a:ln/>
        </p:spPr>
      </p:sp>
      <p:sp>
        <p:nvSpPr>
          <p:cNvPr id="46" name="Text 43"/>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47" name="Text 44"/>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2.1 Problem Formulation</a:t>
            </a:r>
            <a:endParaRPr lang="en-US" sz="2000" dirty="0"/>
          </a:p>
        </p:txBody>
      </p:sp>
      <p:sp>
        <p:nvSpPr>
          <p:cNvPr id="6" name="Shape 3"/>
          <p:cNvSpPr/>
          <p:nvPr/>
        </p:nvSpPr>
        <p:spPr>
          <a:xfrm>
            <a:off x="256032" y="1078992"/>
            <a:ext cx="5852160" cy="2834640"/>
          </a:xfrm>
          <a:prstGeom prst="roundRect">
            <a:avLst>
              <a:gd name="adj" fmla="val 2581"/>
            </a:avLst>
          </a:prstGeom>
          <a:solidFill>
            <a:srgbClr val="FFFFFF"/>
          </a:solidFill>
          <a:ln/>
          <a:effectLst>
            <a:outerShdw sx="100000" sy="100000" kx="0" ky="0" algn="bl" rotWithShape="0" blurRad="50800" dist="12700" dir="16200000">
              <a:srgbClr val="1F2A44">
                <a:alpha val="12000"/>
              </a:srgbClr>
            </a:outerShdw>
          </a:effectLst>
        </p:spPr>
      </p:sp>
      <p:pic>
        <p:nvPicPr>
          <p:cNvPr id="7" name="Image 1" descr="/tmp/ppt-work/assets/fig1.png">    </p:cNvPr>
          <p:cNvPicPr>
            <a:picLocks noChangeAspect="1"/>
          </p:cNvPicPr>
          <p:nvPr/>
        </p:nvPicPr>
        <p:blipFill>
          <a:blip r:embed="rId2"/>
          <a:stretch>
            <a:fillRect/>
          </a:stretch>
        </p:blipFill>
        <p:spPr>
          <a:xfrm>
            <a:off x="1173998" y="1097280"/>
            <a:ext cx="4016228" cy="2788920"/>
          </a:xfrm>
          <a:prstGeom prst="rect">
            <a:avLst/>
          </a:prstGeom>
        </p:spPr>
      </p:pic>
      <p:sp>
        <p:nvSpPr>
          <p:cNvPr id="8" name="Text 4"/>
          <p:cNvSpPr/>
          <p:nvPr/>
        </p:nvSpPr>
        <p:spPr>
          <a:xfrm>
            <a:off x="256032" y="3895344"/>
            <a:ext cx="5852160" cy="256032"/>
          </a:xfrm>
          <a:prstGeom prst="rect">
            <a:avLst/>
          </a:prstGeom>
          <a:noFill/>
          <a:ln/>
        </p:spPr>
        <p:txBody>
          <a:bodyPr wrap="square" lIns="0" tIns="0" rIns="0" bIns="0" rtlCol="0" anchor="ctr"/>
          <a:lstStyle/>
          <a:p>
            <a:pPr indent="0" marL="0">
              <a:buNone/>
            </a:pPr>
            <a:r>
              <a:rPr lang="en-US" sz="1100" i="1" dirty="0">
                <a:solidFill>
                  <a:srgbClr val="5A6A80"/>
                </a:solidFill>
                <a:latin typeface="Times New Roman" pitchFamily="34" charset="0"/>
                <a:ea typeface="Times New Roman" pitchFamily="34" charset="-122"/>
                <a:cs typeface="Times New Roman" pitchFamily="34" charset="-120"/>
              </a:rPr>
              <a:t>Fig. 1  Local sensing, intermittent links, moving targets, dynamic obstacles</a:t>
            </a:r>
            <a:endParaRPr lang="en-US" sz="1100" dirty="0"/>
          </a:p>
        </p:txBody>
      </p:sp>
      <p:sp>
        <p:nvSpPr>
          <p:cNvPr id="9" name="Shape 5"/>
          <p:cNvSpPr/>
          <p:nvPr/>
        </p:nvSpPr>
        <p:spPr>
          <a:xfrm>
            <a:off x="256032" y="4169664"/>
            <a:ext cx="5852160" cy="2194560"/>
          </a:xfrm>
          <a:prstGeom prst="roundRect">
            <a:avLst>
              <a:gd name="adj" fmla="val 3333"/>
            </a:avLst>
          </a:prstGeom>
          <a:solidFill>
            <a:srgbClr val="F4F6FA"/>
          </a:solidFill>
          <a:ln/>
          <a:effectLst>
            <a:outerShdw sx="100000" sy="100000" kx="0" ky="0" algn="bl" rotWithShape="0" blurRad="50800" dist="12700" dir="16200000">
              <a:srgbClr val="1F2A44">
                <a:alpha val="12000"/>
              </a:srgbClr>
            </a:outerShdw>
          </a:effectLst>
        </p:spPr>
      </p:sp>
      <p:sp>
        <p:nvSpPr>
          <p:cNvPr id="10" name="Text 6"/>
          <p:cNvSpPr/>
          <p:nvPr/>
        </p:nvSpPr>
        <p:spPr>
          <a:xfrm>
            <a:off x="384048" y="4206240"/>
            <a:ext cx="5577840" cy="256032"/>
          </a:xfrm>
          <a:prstGeom prst="rect">
            <a:avLst/>
          </a:prstGeom>
          <a:noFill/>
          <a:ln/>
        </p:spPr>
        <p:txBody>
          <a:bodyPr wrap="square" lIns="0" tIns="0" rIns="0" bIns="0" rtlCol="0" anchor="ctr"/>
          <a:lstStyle/>
          <a:p>
            <a:pPr indent="0" marL="0">
              <a:buNone/>
            </a:pPr>
            <a:r>
              <a:rPr lang="en-US" sz="1400" b="1" dirty="0">
                <a:solidFill>
                  <a:srgbClr val="2F5597"/>
                </a:solidFill>
                <a:latin typeface="Times New Roman" pitchFamily="34" charset="0"/>
                <a:ea typeface="Times New Roman" pitchFamily="34" charset="-122"/>
                <a:cs typeface="Times New Roman" pitchFamily="34" charset="-120"/>
              </a:rPr>
              <a:t>Scenario  ·  sensing / comm. radii</a:t>
            </a:r>
            <a:endParaRPr lang="en-US" sz="1400" dirty="0"/>
          </a:p>
        </p:txBody>
      </p:sp>
      <p:sp>
        <p:nvSpPr>
          <p:cNvPr id="11" name="Text 7"/>
          <p:cNvSpPr/>
          <p:nvPr/>
        </p:nvSpPr>
        <p:spPr>
          <a:xfrm>
            <a:off x="384048" y="4480560"/>
            <a:ext cx="5577840" cy="1755648"/>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6 UAVs · 15 targets · 10 obstacles · 30×30 grid</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Action: 8 directions + hover     Horizon T=200</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Rs = 2 cells (10 m)    Rc = 10 cells (50 m)</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dt in [0.45, 1.0] s    ·    policy uses only N_i(t)</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Occupancy |X|=900 cells   ·   moving targets and obstacles</a:t>
            </a:r>
            <a:endParaRPr lang="en-US" sz="1400" dirty="0"/>
          </a:p>
          <a:p>
            <a:pPr indent="0" marL="0">
              <a:buNone/>
            </a:pPr>
            <a:r>
              <a:rPr lang="en-US" sz="1400" dirty="0">
                <a:solidFill>
                  <a:srgbClr val="1F2A44"/>
                </a:solidFill>
                <a:latin typeface="Times New Roman" pitchFamily="34" charset="0"/>
                <a:ea typeface="Times New Roman" pitchFamily="34" charset="-122"/>
                <a:cs typeface="Times New Roman" pitchFamily="34" charset="-120"/>
              </a:rPr>
              <a:t>Report D_t, C_t and T_80 on 30 held-out scenarios</a:t>
            </a:r>
            <a:endParaRPr lang="en-US" sz="1400" dirty="0"/>
          </a:p>
        </p:txBody>
      </p:sp>
      <p:sp>
        <p:nvSpPr>
          <p:cNvPr id="12" name="Shape 8"/>
          <p:cNvSpPr/>
          <p:nvPr/>
        </p:nvSpPr>
        <p:spPr>
          <a:xfrm>
            <a:off x="6263640" y="1078992"/>
            <a:ext cx="5623560" cy="1353312"/>
          </a:xfrm>
          <a:prstGeom prst="roundRect">
            <a:avLst>
              <a:gd name="adj" fmla="val 5405"/>
            </a:avLst>
          </a:prstGeom>
          <a:solidFill>
            <a:srgbClr val="FFFFFF"/>
          </a:solidFill>
          <a:ln/>
          <a:effectLst>
            <a:outerShdw sx="100000" sy="100000" kx="0" ky="0" algn="bl" rotWithShape="0" blurRad="50800" dist="12700" dir="16200000">
              <a:srgbClr val="1F2A44">
                <a:alpha val="12000"/>
              </a:srgbClr>
            </a:outerShdw>
          </a:effectLst>
        </p:spPr>
      </p:sp>
      <p:sp>
        <p:nvSpPr>
          <p:cNvPr id="13" name="Text 9"/>
          <p:cNvSpPr/>
          <p:nvPr/>
        </p:nvSpPr>
        <p:spPr>
          <a:xfrm>
            <a:off x="6382512" y="1097280"/>
            <a:ext cx="5394960"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Motion model  (feasible-set projection)</a:t>
            </a:r>
            <a:endParaRPr lang="en-US" sz="1300" dirty="0"/>
          </a:p>
        </p:txBody>
      </p:sp>
      <p:sp>
        <p:nvSpPr>
          <p:cNvPr id="14" name="Shape 10"/>
          <p:cNvSpPr/>
          <p:nvPr/>
        </p:nvSpPr>
        <p:spPr>
          <a:xfrm>
            <a:off x="6355080" y="1316736"/>
            <a:ext cx="5440680" cy="658368"/>
          </a:xfrm>
          <a:prstGeom prst="roundRect">
            <a:avLst>
              <a:gd name="adj" fmla="val 6944"/>
            </a:avLst>
          </a:prstGeom>
          <a:solidFill>
            <a:srgbClr val="F4EFE4"/>
          </a:solidFill>
          <a:ln/>
        </p:spPr>
      </p:sp>
      <p:pic>
        <p:nvPicPr>
          <p:cNvPr id="15" name="Image 2" descr="/workspace/presentations/eq/motion.png">    </p:cNvPr>
          <p:cNvPicPr>
            <a:picLocks noChangeAspect="1"/>
          </p:cNvPicPr>
          <p:nvPr/>
        </p:nvPicPr>
        <p:blipFill>
          <a:blip r:embed="rId3"/>
          <a:stretch>
            <a:fillRect/>
          </a:stretch>
        </p:blipFill>
        <p:spPr>
          <a:xfrm>
            <a:off x="6428232" y="1375185"/>
            <a:ext cx="5294376" cy="541470"/>
          </a:xfrm>
          <a:prstGeom prst="rect">
            <a:avLst/>
          </a:prstGeom>
        </p:spPr>
      </p:pic>
      <p:sp>
        <p:nvSpPr>
          <p:cNvPr id="16" name="Text 11"/>
          <p:cNvSpPr/>
          <p:nvPr/>
        </p:nvSpPr>
        <p:spPr>
          <a:xfrm>
            <a:off x="6382512" y="1993392"/>
            <a:ext cx="5394960" cy="365760"/>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Discrete kinematics with adaptive decision interval dt</a:t>
            </a:r>
            <a:endParaRPr lang="en-US" sz="1200" dirty="0"/>
          </a:p>
        </p:txBody>
      </p:sp>
      <p:sp>
        <p:nvSpPr>
          <p:cNvPr id="17" name="Shape 12"/>
          <p:cNvSpPr/>
          <p:nvPr/>
        </p:nvSpPr>
        <p:spPr>
          <a:xfrm>
            <a:off x="6263640" y="2505456"/>
            <a:ext cx="5623560" cy="1389888"/>
          </a:xfrm>
          <a:prstGeom prst="roundRect">
            <a:avLst>
              <a:gd name="adj" fmla="val 5263"/>
            </a:avLst>
          </a:prstGeom>
          <a:solidFill>
            <a:srgbClr val="FFFFFF"/>
          </a:solidFill>
          <a:ln/>
          <a:effectLst>
            <a:outerShdw sx="100000" sy="100000" kx="0" ky="0" algn="bl" rotWithShape="0" blurRad="50800" dist="12700" dir="16200000">
              <a:srgbClr val="1F2A44">
                <a:alpha val="12000"/>
              </a:srgbClr>
            </a:outerShdw>
          </a:effectLst>
        </p:spPr>
      </p:sp>
      <p:sp>
        <p:nvSpPr>
          <p:cNvPr id="18" name="Text 13"/>
          <p:cNvSpPr/>
          <p:nvPr/>
        </p:nvSpPr>
        <p:spPr>
          <a:xfrm>
            <a:off x="6382512" y="2523744"/>
            <a:ext cx="5394960"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Communication constraint</a:t>
            </a:r>
            <a:endParaRPr lang="en-US" sz="1300" dirty="0"/>
          </a:p>
        </p:txBody>
      </p:sp>
      <p:sp>
        <p:nvSpPr>
          <p:cNvPr id="19" name="Shape 14"/>
          <p:cNvSpPr/>
          <p:nvPr/>
        </p:nvSpPr>
        <p:spPr>
          <a:xfrm>
            <a:off x="6355080" y="2743200"/>
            <a:ext cx="5440680" cy="658368"/>
          </a:xfrm>
          <a:prstGeom prst="roundRect">
            <a:avLst>
              <a:gd name="adj" fmla="val 6944"/>
            </a:avLst>
          </a:prstGeom>
          <a:solidFill>
            <a:srgbClr val="F4EFE4"/>
          </a:solidFill>
          <a:ln/>
        </p:spPr>
      </p:sp>
      <p:pic>
        <p:nvPicPr>
          <p:cNvPr id="20" name="Image 3" descr="/workspace/presentations/eq/link.png">    </p:cNvPr>
          <p:cNvPicPr>
            <a:picLocks noChangeAspect="1"/>
          </p:cNvPicPr>
          <p:nvPr/>
        </p:nvPicPr>
        <p:blipFill>
          <a:blip r:embed="rId4"/>
          <a:stretch>
            <a:fillRect/>
          </a:stretch>
        </p:blipFill>
        <p:spPr>
          <a:xfrm>
            <a:off x="6428232" y="2852004"/>
            <a:ext cx="5294376" cy="440761"/>
          </a:xfrm>
          <a:prstGeom prst="rect">
            <a:avLst/>
          </a:prstGeom>
        </p:spPr>
      </p:pic>
      <p:sp>
        <p:nvSpPr>
          <p:cNvPr id="21" name="Text 15"/>
          <p:cNvSpPr/>
          <p:nvPr/>
        </p:nvSpPr>
        <p:spPr>
          <a:xfrm>
            <a:off x="6382512" y="3419856"/>
            <a:ext cx="5394960" cy="384048"/>
          </a:xfrm>
          <a:prstGeom prst="rect">
            <a:avLst/>
          </a:prstGeom>
          <a:noFill/>
          <a:ln/>
        </p:spPr>
        <p:txBody>
          <a:bodyPr wrap="square" lIns="0" tIns="0" rIns="0" bIns="0" rtlCol="0" anchor="ctr"/>
          <a:lstStyle/>
          <a:p>
            <a:pPr indent="0" marL="0">
              <a:buNone/>
            </a:pPr>
            <a:r>
              <a:rPr lang="en-US" sz="1300" b="1" dirty="0">
                <a:solidFill>
                  <a:srgbClr val="C0392B"/>
                </a:solidFill>
                <a:latin typeface="Times New Roman" pitchFamily="34" charset="0"/>
                <a:ea typeface="Times New Roman" pitchFamily="34" charset="-122"/>
                <a:cs typeface="Times New Roman" pitchFamily="34" charset="-120"/>
              </a:rPr>
              <a:t>Only instantaneous reachable links enter the policy</a:t>
            </a:r>
            <a:endParaRPr lang="en-US" sz="1300" dirty="0"/>
          </a:p>
        </p:txBody>
      </p:sp>
      <p:sp>
        <p:nvSpPr>
          <p:cNvPr id="22" name="Shape 16"/>
          <p:cNvSpPr/>
          <p:nvPr/>
        </p:nvSpPr>
        <p:spPr>
          <a:xfrm>
            <a:off x="6263640" y="3968496"/>
            <a:ext cx="5623560" cy="2395728"/>
          </a:xfrm>
          <a:prstGeom prst="roundRect">
            <a:avLst>
              <a:gd name="adj" fmla="val 3053"/>
            </a:avLst>
          </a:prstGeom>
          <a:solidFill>
            <a:srgbClr val="EAF0F8"/>
          </a:solidFill>
          <a:ln/>
          <a:effectLst>
            <a:outerShdw sx="100000" sy="100000" kx="0" ky="0" algn="bl" rotWithShape="0" blurRad="50800" dist="12700" dir="16200000">
              <a:srgbClr val="1F2A44">
                <a:alpha val="12000"/>
              </a:srgbClr>
            </a:outerShdw>
          </a:effectLst>
        </p:spPr>
      </p:sp>
      <p:sp>
        <p:nvSpPr>
          <p:cNvPr id="23" name="Text 17"/>
          <p:cNvSpPr/>
          <p:nvPr/>
        </p:nvSpPr>
        <p:spPr>
          <a:xfrm>
            <a:off x="6382512" y="3986784"/>
            <a:ext cx="5394960" cy="219456"/>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Evaluation  ·  higher Dt, Ct better; lower T80 faster</a:t>
            </a:r>
            <a:endParaRPr lang="en-US" sz="1300" dirty="0"/>
          </a:p>
        </p:txBody>
      </p:sp>
      <p:sp>
        <p:nvSpPr>
          <p:cNvPr id="24" name="Shape 18"/>
          <p:cNvSpPr/>
          <p:nvPr/>
        </p:nvSpPr>
        <p:spPr>
          <a:xfrm>
            <a:off x="6355080" y="4224528"/>
            <a:ext cx="5440680" cy="530352"/>
          </a:xfrm>
          <a:prstGeom prst="roundRect">
            <a:avLst>
              <a:gd name="adj" fmla="val 8621"/>
            </a:avLst>
          </a:prstGeom>
          <a:solidFill>
            <a:srgbClr val="F4EFE4"/>
          </a:solidFill>
          <a:ln/>
        </p:spPr>
      </p:sp>
      <p:pic>
        <p:nvPicPr>
          <p:cNvPr id="25" name="Image 4" descr="/workspace/presentations/eq/dt.png">    </p:cNvPr>
          <p:cNvPicPr>
            <a:picLocks noChangeAspect="1"/>
          </p:cNvPicPr>
          <p:nvPr/>
        </p:nvPicPr>
        <p:blipFill>
          <a:blip r:embed="rId5"/>
          <a:stretch>
            <a:fillRect/>
          </a:stretch>
        </p:blipFill>
        <p:spPr>
          <a:xfrm>
            <a:off x="7942148" y="4261104"/>
            <a:ext cx="2266545" cy="457200"/>
          </a:xfrm>
          <a:prstGeom prst="rect">
            <a:avLst/>
          </a:prstGeom>
        </p:spPr>
      </p:pic>
      <p:sp>
        <p:nvSpPr>
          <p:cNvPr id="26" name="Shape 19"/>
          <p:cNvSpPr/>
          <p:nvPr/>
        </p:nvSpPr>
        <p:spPr>
          <a:xfrm>
            <a:off x="6355080" y="4791456"/>
            <a:ext cx="5440680" cy="640080"/>
          </a:xfrm>
          <a:prstGeom prst="roundRect">
            <a:avLst>
              <a:gd name="adj" fmla="val 7143"/>
            </a:avLst>
          </a:prstGeom>
          <a:solidFill>
            <a:srgbClr val="F4EFE4"/>
          </a:solidFill>
          <a:ln/>
        </p:spPr>
      </p:sp>
      <p:pic>
        <p:nvPicPr>
          <p:cNvPr id="27" name="Image 5" descr="/workspace/presentations/eq/ct.png">    </p:cNvPr>
          <p:cNvPicPr>
            <a:picLocks noChangeAspect="1"/>
          </p:cNvPicPr>
          <p:nvPr/>
        </p:nvPicPr>
        <p:blipFill>
          <a:blip r:embed="rId6"/>
          <a:stretch>
            <a:fillRect/>
          </a:stretch>
        </p:blipFill>
        <p:spPr>
          <a:xfrm>
            <a:off x="6483749" y="4828032"/>
            <a:ext cx="5183342" cy="566928"/>
          </a:xfrm>
          <a:prstGeom prst="rect">
            <a:avLst/>
          </a:prstGeom>
        </p:spPr>
      </p:pic>
      <p:sp>
        <p:nvSpPr>
          <p:cNvPr id="28" name="Shape 20"/>
          <p:cNvSpPr/>
          <p:nvPr/>
        </p:nvSpPr>
        <p:spPr>
          <a:xfrm>
            <a:off x="6355080" y="5468112"/>
            <a:ext cx="5440680" cy="493776"/>
          </a:xfrm>
          <a:prstGeom prst="roundRect">
            <a:avLst>
              <a:gd name="adj" fmla="val 9259"/>
            </a:avLst>
          </a:prstGeom>
          <a:solidFill>
            <a:srgbClr val="F4EFE4"/>
          </a:solidFill>
          <a:ln/>
        </p:spPr>
      </p:sp>
      <p:pic>
        <p:nvPicPr>
          <p:cNvPr id="29" name="Image 6" descr="/workspace/presentations/eq/t80.png">    </p:cNvPr>
          <p:cNvPicPr>
            <a:picLocks noChangeAspect="1"/>
          </p:cNvPicPr>
          <p:nvPr/>
        </p:nvPicPr>
        <p:blipFill>
          <a:blip r:embed="rId7"/>
          <a:stretch>
            <a:fillRect/>
          </a:stretch>
        </p:blipFill>
        <p:spPr>
          <a:xfrm>
            <a:off x="7377902" y="5504688"/>
            <a:ext cx="3395037" cy="420624"/>
          </a:xfrm>
          <a:prstGeom prst="rect">
            <a:avLst/>
          </a:prstGeom>
        </p:spPr>
      </p:pic>
      <p:sp>
        <p:nvSpPr>
          <p:cNvPr id="30" name="Text 21"/>
          <p:cNvSpPr/>
          <p:nvPr/>
        </p:nvSpPr>
        <p:spPr>
          <a:xfrm>
            <a:off x="6382512" y="5980176"/>
            <a:ext cx="5394960" cy="310896"/>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Ct: cell-wise decisiveness of occupancy beliefs</a:t>
            </a:r>
            <a:endParaRPr lang="en-US" sz="1200" dirty="0"/>
          </a:p>
        </p:txBody>
      </p:sp>
      <p:sp>
        <p:nvSpPr>
          <p:cNvPr id="31" name="Shape 22"/>
          <p:cNvSpPr/>
          <p:nvPr/>
        </p:nvSpPr>
        <p:spPr>
          <a:xfrm>
            <a:off x="0" y="6784848"/>
            <a:ext cx="12191695" cy="73152"/>
          </a:xfrm>
          <a:prstGeom prst="rect">
            <a:avLst/>
          </a:prstGeom>
          <a:solidFill>
            <a:srgbClr val="2F5597"/>
          </a:solidFill>
          <a:ln/>
        </p:spPr>
      </p:sp>
      <p:sp>
        <p:nvSpPr>
          <p:cNvPr id="32" name="Text 23"/>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3" name="Text 24"/>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2.2 IC-HGAT-MAPPO Framework</a:t>
            </a:r>
            <a:endParaRPr lang="en-US" sz="2000" dirty="0"/>
          </a:p>
        </p:txBody>
      </p:sp>
      <p:pic>
        <p:nvPicPr>
          <p:cNvPr id="6" name="Image 1" descr="/tmp/ppt-work/assets/framework.png">    </p:cNvPr>
          <p:cNvPicPr>
            <a:picLocks noChangeAspect="1"/>
          </p:cNvPicPr>
          <p:nvPr/>
        </p:nvPicPr>
        <p:blipFill>
          <a:blip r:embed="rId2"/>
          <a:stretch>
            <a:fillRect/>
          </a:stretch>
        </p:blipFill>
        <p:spPr>
          <a:xfrm>
            <a:off x="2012041" y="1078992"/>
            <a:ext cx="8174014" cy="2788920"/>
          </a:xfrm>
          <a:prstGeom prst="rect">
            <a:avLst/>
          </a:prstGeom>
        </p:spPr>
      </p:pic>
      <p:sp>
        <p:nvSpPr>
          <p:cNvPr id="7" name="Shape 3"/>
          <p:cNvSpPr/>
          <p:nvPr/>
        </p:nvSpPr>
        <p:spPr>
          <a:xfrm>
            <a:off x="256032"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8" name="Text 4"/>
          <p:cNvSpPr/>
          <p:nvPr/>
        </p:nvSpPr>
        <p:spPr>
          <a:xfrm>
            <a:off x="329184"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1  Observe</a:t>
            </a:r>
            <a:endParaRPr lang="en-US" sz="1300" dirty="0"/>
          </a:p>
        </p:txBody>
      </p:sp>
      <p:sp>
        <p:nvSpPr>
          <p:cNvPr id="9" name="Text 5"/>
          <p:cNvSpPr/>
          <p:nvPr/>
        </p:nvSpPr>
        <p:spPr>
          <a:xfrm>
            <a:off x="329184"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oi,t + link mask A·,t</a:t>
            </a:r>
            <a:endParaRPr lang="en-US" sz="1200" dirty="0"/>
          </a:p>
        </p:txBody>
      </p:sp>
      <p:sp>
        <p:nvSpPr>
          <p:cNvPr id="10" name="Shape 6"/>
          <p:cNvSpPr/>
          <p:nvPr/>
        </p:nvSpPr>
        <p:spPr>
          <a:xfrm>
            <a:off x="2231136"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1" name="Text 7"/>
          <p:cNvSpPr/>
          <p:nvPr/>
        </p:nvSpPr>
        <p:spPr>
          <a:xfrm>
            <a:off x="2304288"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2  Remember</a:t>
            </a:r>
            <a:endParaRPr lang="en-US" sz="1300" dirty="0"/>
          </a:p>
        </p:txBody>
      </p:sp>
      <p:sp>
        <p:nvSpPr>
          <p:cNvPr id="12" name="Text 8"/>
          <p:cNvSpPr/>
          <p:nvPr/>
        </p:nvSpPr>
        <p:spPr>
          <a:xfrm>
            <a:off x="2304288"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update P / E / R fields</a:t>
            </a:r>
            <a:endParaRPr lang="en-US" sz="1200" dirty="0"/>
          </a:p>
        </p:txBody>
      </p:sp>
      <p:sp>
        <p:nvSpPr>
          <p:cNvPr id="13" name="Shape 9"/>
          <p:cNvSpPr/>
          <p:nvPr/>
        </p:nvSpPr>
        <p:spPr>
          <a:xfrm>
            <a:off x="4206240"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4" name="Text 10"/>
          <p:cNvSpPr/>
          <p:nvPr/>
        </p:nvSpPr>
        <p:spPr>
          <a:xfrm>
            <a:off x="4279392"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3  Select</a:t>
            </a:r>
            <a:endParaRPr lang="en-US" sz="1300" dirty="0"/>
          </a:p>
        </p:txBody>
      </p:sp>
      <p:sp>
        <p:nvSpPr>
          <p:cNvPr id="15" name="Text 11"/>
          <p:cNvSpPr/>
          <p:nvPr/>
        </p:nvSpPr>
        <p:spPr>
          <a:xfrm>
            <a:off x="4279392"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one source j⋆ per cell</a:t>
            </a:r>
            <a:endParaRPr lang="en-US" sz="1200" dirty="0"/>
          </a:p>
        </p:txBody>
      </p:sp>
      <p:sp>
        <p:nvSpPr>
          <p:cNvPr id="16" name="Shape 12"/>
          <p:cNvSpPr/>
          <p:nvPr/>
        </p:nvSpPr>
        <p:spPr>
          <a:xfrm>
            <a:off x="6181344"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17" name="Text 13"/>
          <p:cNvSpPr/>
          <p:nvPr/>
        </p:nvSpPr>
        <p:spPr>
          <a:xfrm>
            <a:off x="6254496"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4  Attend</a:t>
            </a:r>
            <a:endParaRPr lang="en-US" sz="1300" dirty="0"/>
          </a:p>
        </p:txBody>
      </p:sp>
      <p:sp>
        <p:nvSpPr>
          <p:cNvPr id="18" name="Text 14"/>
          <p:cNvSpPr/>
          <p:nvPr/>
        </p:nvSpPr>
        <p:spPr>
          <a:xfrm>
            <a:off x="6254496"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HGAT attention  →  embedding</a:t>
            </a:r>
            <a:endParaRPr lang="en-US" sz="1200" dirty="0"/>
          </a:p>
        </p:txBody>
      </p:sp>
      <p:sp>
        <p:nvSpPr>
          <p:cNvPr id="19" name="Shape 15"/>
          <p:cNvSpPr/>
          <p:nvPr/>
        </p:nvSpPr>
        <p:spPr>
          <a:xfrm>
            <a:off x="8156448" y="3931920"/>
            <a:ext cx="1901952" cy="1115568"/>
          </a:xfrm>
          <a:prstGeom prst="roundRect">
            <a:avLst>
              <a:gd name="adj" fmla="val 6557"/>
            </a:avLst>
          </a:prstGeom>
          <a:solidFill>
            <a:srgbClr val="EAF0F8"/>
          </a:solidFill>
          <a:ln/>
          <a:effectLst>
            <a:outerShdw sx="100000" sy="100000" kx="0" ky="0" algn="bl" rotWithShape="0" blurRad="50800" dist="12700" dir="16200000">
              <a:srgbClr val="1F2A44">
                <a:alpha val="12000"/>
              </a:srgbClr>
            </a:outerShdw>
          </a:effectLst>
        </p:spPr>
      </p:sp>
      <p:sp>
        <p:nvSpPr>
          <p:cNvPr id="20" name="Text 16"/>
          <p:cNvSpPr/>
          <p:nvPr/>
        </p:nvSpPr>
        <p:spPr>
          <a:xfrm>
            <a:off x="8229600"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5  Act</a:t>
            </a:r>
            <a:endParaRPr lang="en-US" sz="1300" dirty="0"/>
          </a:p>
        </p:txBody>
      </p:sp>
      <p:sp>
        <p:nvSpPr>
          <p:cNvPr id="21" name="Text 17"/>
          <p:cNvSpPr/>
          <p:nvPr/>
        </p:nvSpPr>
        <p:spPr>
          <a:xfrm>
            <a:off x="8229600"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shared actor  →  safety proj.</a:t>
            </a:r>
            <a:endParaRPr lang="en-US" sz="1200" dirty="0"/>
          </a:p>
        </p:txBody>
      </p:sp>
      <p:sp>
        <p:nvSpPr>
          <p:cNvPr id="22" name="Shape 18"/>
          <p:cNvSpPr/>
          <p:nvPr/>
        </p:nvSpPr>
        <p:spPr>
          <a:xfrm>
            <a:off x="10131552" y="3931920"/>
            <a:ext cx="1901952" cy="1115568"/>
          </a:xfrm>
          <a:prstGeom prst="roundRect">
            <a:avLst>
              <a:gd name="adj" fmla="val 6557"/>
            </a:avLst>
          </a:prstGeom>
          <a:solidFill>
            <a:srgbClr val="FFF3E8"/>
          </a:solidFill>
          <a:ln/>
          <a:effectLst>
            <a:outerShdw sx="100000" sy="100000" kx="0" ky="0" algn="bl" rotWithShape="0" blurRad="50800" dist="12700" dir="16200000">
              <a:srgbClr val="1F2A44">
                <a:alpha val="12000"/>
              </a:srgbClr>
            </a:outerShdw>
          </a:effectLst>
        </p:spPr>
      </p:sp>
      <p:sp>
        <p:nvSpPr>
          <p:cNvPr id="23" name="Text 19"/>
          <p:cNvSpPr/>
          <p:nvPr/>
        </p:nvSpPr>
        <p:spPr>
          <a:xfrm>
            <a:off x="10204704" y="3986784"/>
            <a:ext cx="1755648" cy="329184"/>
          </a:xfrm>
          <a:prstGeom prst="rect">
            <a:avLst/>
          </a:prstGeom>
          <a:noFill/>
          <a:ln/>
        </p:spPr>
        <p:txBody>
          <a:bodyPr wrap="square" lIns="0" tIns="0" rIns="0" bIns="0" rtlCol="0" anchor="ctr"/>
          <a:lstStyle/>
          <a:p>
            <a:pPr indent="0" marL="0">
              <a:buNone/>
            </a:pPr>
            <a:r>
              <a:rPr lang="en-US" sz="1300" b="1" dirty="0">
                <a:solidFill>
                  <a:srgbClr val="1E3F73"/>
                </a:solidFill>
                <a:latin typeface="Times New Roman" pitchFamily="34" charset="0"/>
                <a:ea typeface="Times New Roman" pitchFamily="34" charset="-122"/>
                <a:cs typeface="Times New Roman" pitchFamily="34" charset="-120"/>
              </a:rPr>
              <a:t>6  Train</a:t>
            </a:r>
            <a:endParaRPr lang="en-US" sz="1300" dirty="0"/>
          </a:p>
        </p:txBody>
      </p:sp>
      <p:sp>
        <p:nvSpPr>
          <p:cNvPr id="24" name="Text 20"/>
          <p:cNvSpPr/>
          <p:nvPr/>
        </p:nvSpPr>
        <p:spPr>
          <a:xfrm>
            <a:off x="10204704" y="4315968"/>
            <a:ext cx="1755648" cy="621792"/>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central critic, MAPPO clip</a:t>
            </a:r>
            <a:endParaRPr lang="en-US" sz="1200" dirty="0"/>
          </a:p>
        </p:txBody>
      </p:sp>
      <p:sp>
        <p:nvSpPr>
          <p:cNvPr id="25" name="Shape 21"/>
          <p:cNvSpPr/>
          <p:nvPr/>
        </p:nvSpPr>
        <p:spPr>
          <a:xfrm>
            <a:off x="256032" y="5138928"/>
            <a:ext cx="11686032" cy="1207008"/>
          </a:xfrm>
          <a:prstGeom prst="roundRect">
            <a:avLst>
              <a:gd name="adj" fmla="val 6061"/>
            </a:avLst>
          </a:prstGeom>
          <a:solidFill>
            <a:srgbClr val="F4F6FA"/>
          </a:solidFill>
          <a:ln/>
        </p:spPr>
      </p:sp>
      <p:sp>
        <p:nvSpPr>
          <p:cNvPr id="26" name="Text 22"/>
          <p:cNvSpPr/>
          <p:nvPr/>
        </p:nvSpPr>
        <p:spPr>
          <a:xfrm>
            <a:off x="384048" y="5193792"/>
            <a:ext cx="11430000" cy="292608"/>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CTDE  ·  execution uses local + reachable information only; the critic sees global s only in training.</a:t>
            </a:r>
            <a:endParaRPr lang="en-US" sz="1300" dirty="0"/>
          </a:p>
        </p:txBody>
      </p:sp>
      <p:sp>
        <p:nvSpPr>
          <p:cNvPr id="27" name="Text 23"/>
          <p:cNvSpPr/>
          <p:nvPr/>
        </p:nvSpPr>
        <p:spPr>
          <a:xfrm>
            <a:off x="384048" y="5504688"/>
            <a:ext cx="11430000" cy="731520"/>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Safety projection is shared by Heuristic, QMIX, Local, Homogeneous-Graph, and IC-HGAT-MAPPO — not a contribution and not the source of the gains.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Decentralized execution  ·  communication-aware masking  ·  centralized training with MAPPO.</a:t>
            </a:r>
            <a:endParaRPr lang="en-US" sz="1300" dirty="0"/>
          </a:p>
        </p:txBody>
      </p:sp>
      <p:sp>
        <p:nvSpPr>
          <p:cNvPr id="28" name="Shape 24"/>
          <p:cNvSpPr/>
          <p:nvPr/>
        </p:nvSpPr>
        <p:spPr>
          <a:xfrm>
            <a:off x="0" y="6784848"/>
            <a:ext cx="12191695" cy="73152"/>
          </a:xfrm>
          <a:prstGeom prst="rect">
            <a:avLst/>
          </a:prstGeom>
          <a:solidFill>
            <a:srgbClr val="2F5597"/>
          </a:solidFill>
          <a:ln/>
        </p:spPr>
      </p:sp>
      <p:sp>
        <p:nvSpPr>
          <p:cNvPr id="29" name="Text 25"/>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0" name="Text 26"/>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2.3 Local Belief Maintenance and Information Selection</a:t>
            </a:r>
            <a:endParaRPr lang="en-US" sz="2000" dirty="0"/>
          </a:p>
        </p:txBody>
      </p:sp>
      <p:sp>
        <p:nvSpPr>
          <p:cNvPr id="6" name="Shape 3"/>
          <p:cNvSpPr/>
          <p:nvPr/>
        </p:nvSpPr>
        <p:spPr>
          <a:xfrm>
            <a:off x="256032" y="1078992"/>
            <a:ext cx="5897880" cy="5285232"/>
          </a:xfrm>
          <a:prstGeom prst="roundRect">
            <a:avLst>
              <a:gd name="adj" fmla="val 1384"/>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256032" y="1078992"/>
            <a:ext cx="64008" cy="5285232"/>
          </a:xfrm>
          <a:prstGeom prst="rect">
            <a:avLst/>
          </a:prstGeom>
          <a:solidFill>
            <a:srgbClr val="2F5597"/>
          </a:solidFill>
          <a:ln/>
        </p:spPr>
      </p:sp>
      <p:sp>
        <p:nvSpPr>
          <p:cNvPr id="8" name="Text 5"/>
          <p:cNvSpPr/>
          <p:nvPr/>
        </p:nvSpPr>
        <p:spPr>
          <a:xfrm>
            <a:off x="420624" y="1115568"/>
            <a:ext cx="5577840" cy="310896"/>
          </a:xfrm>
          <a:prstGeom prst="rect">
            <a:avLst/>
          </a:prstGeom>
          <a:noFill/>
          <a:ln/>
        </p:spPr>
        <p:txBody>
          <a:bodyPr wrap="square" lIns="0" tIns="0" rIns="0" bIns="0" rtlCol="0" anchor="ctr"/>
          <a:lstStyle/>
          <a:p>
            <a:pPr indent="0" marL="0">
              <a:buNone/>
            </a:pPr>
            <a:r>
              <a:rPr lang="en-US" sz="1600" b="1" dirty="0">
                <a:solidFill>
                  <a:srgbClr val="2F5597"/>
                </a:solidFill>
                <a:latin typeface="Times New Roman" pitchFamily="34" charset="0"/>
                <a:ea typeface="Times New Roman" pitchFamily="34" charset="-122"/>
                <a:cs typeface="Times New Roman" pitchFamily="34" charset="-120"/>
              </a:rPr>
              <a:t>Revisit-Aware P/E/R Memory</a:t>
            </a:r>
            <a:endParaRPr lang="en-US" sz="1600" dirty="0"/>
          </a:p>
        </p:txBody>
      </p:sp>
      <p:pic>
        <p:nvPicPr>
          <p:cNvPr id="9" name="Image 1" descr="/tmp/ppt-work/assets/per_maps.png">    </p:cNvPr>
          <p:cNvPicPr>
            <a:picLocks noChangeAspect="1"/>
          </p:cNvPicPr>
          <p:nvPr/>
        </p:nvPicPr>
        <p:blipFill>
          <a:blip r:embed="rId2"/>
          <a:stretch>
            <a:fillRect/>
          </a:stretch>
        </p:blipFill>
        <p:spPr>
          <a:xfrm>
            <a:off x="941711" y="1444752"/>
            <a:ext cx="4508233" cy="1572768"/>
          </a:xfrm>
          <a:prstGeom prst="rect">
            <a:avLst/>
          </a:prstGeom>
        </p:spPr>
      </p:pic>
      <p:sp>
        <p:nvSpPr>
          <p:cNvPr id="10" name="Shape 6"/>
          <p:cNvSpPr/>
          <p:nvPr/>
        </p:nvSpPr>
        <p:spPr>
          <a:xfrm>
            <a:off x="384048" y="3072384"/>
            <a:ext cx="5623560" cy="438912"/>
          </a:xfrm>
          <a:prstGeom prst="roundRect">
            <a:avLst>
              <a:gd name="adj" fmla="val 10417"/>
            </a:avLst>
          </a:prstGeom>
          <a:solidFill>
            <a:srgbClr val="F4EFE4"/>
          </a:solidFill>
          <a:ln/>
        </p:spPr>
      </p:sp>
      <p:pic>
        <p:nvPicPr>
          <p:cNvPr id="11" name="Image 2" descr="/workspace/presentations/eq/L.png">    </p:cNvPr>
          <p:cNvPicPr>
            <a:picLocks noChangeAspect="1"/>
          </p:cNvPicPr>
          <p:nvPr/>
        </p:nvPicPr>
        <p:blipFill>
          <a:blip r:embed="rId3"/>
          <a:stretch>
            <a:fillRect/>
          </a:stretch>
        </p:blipFill>
        <p:spPr>
          <a:xfrm>
            <a:off x="1346480" y="3108960"/>
            <a:ext cx="3698697" cy="365760"/>
          </a:xfrm>
          <a:prstGeom prst="rect">
            <a:avLst/>
          </a:prstGeom>
        </p:spPr>
      </p:pic>
      <p:sp>
        <p:nvSpPr>
          <p:cNvPr id="12" name="Shape 7"/>
          <p:cNvSpPr/>
          <p:nvPr/>
        </p:nvSpPr>
        <p:spPr>
          <a:xfrm>
            <a:off x="384048" y="3547872"/>
            <a:ext cx="5623560" cy="438912"/>
          </a:xfrm>
          <a:prstGeom prst="roundRect">
            <a:avLst>
              <a:gd name="adj" fmla="val 10417"/>
            </a:avLst>
          </a:prstGeom>
          <a:solidFill>
            <a:srgbClr val="F4EFE4"/>
          </a:solidFill>
          <a:ln/>
        </p:spPr>
      </p:sp>
      <p:pic>
        <p:nvPicPr>
          <p:cNvPr id="13" name="Image 3" descr="/workspace/presentations/eq/P.png">    </p:cNvPr>
          <p:cNvPicPr>
            <a:picLocks noChangeAspect="1"/>
          </p:cNvPicPr>
          <p:nvPr/>
        </p:nvPicPr>
        <p:blipFill>
          <a:blip r:embed="rId4"/>
          <a:stretch>
            <a:fillRect/>
          </a:stretch>
        </p:blipFill>
        <p:spPr>
          <a:xfrm>
            <a:off x="1690175" y="3584448"/>
            <a:ext cx="3011306" cy="365760"/>
          </a:xfrm>
          <a:prstGeom prst="rect">
            <a:avLst/>
          </a:prstGeom>
        </p:spPr>
      </p:pic>
      <p:sp>
        <p:nvSpPr>
          <p:cNvPr id="14" name="Shape 8"/>
          <p:cNvSpPr/>
          <p:nvPr/>
        </p:nvSpPr>
        <p:spPr>
          <a:xfrm>
            <a:off x="384048" y="4023360"/>
            <a:ext cx="5623560" cy="438912"/>
          </a:xfrm>
          <a:prstGeom prst="roundRect">
            <a:avLst>
              <a:gd name="adj" fmla="val 10417"/>
            </a:avLst>
          </a:prstGeom>
          <a:solidFill>
            <a:srgbClr val="F4EFE4"/>
          </a:solidFill>
          <a:ln/>
        </p:spPr>
      </p:sp>
      <p:pic>
        <p:nvPicPr>
          <p:cNvPr id="15" name="Image 4" descr="/workspace/presentations/eq/E.png">    </p:cNvPr>
          <p:cNvPicPr>
            <a:picLocks noChangeAspect="1"/>
          </p:cNvPicPr>
          <p:nvPr/>
        </p:nvPicPr>
        <p:blipFill>
          <a:blip r:embed="rId5"/>
          <a:stretch>
            <a:fillRect/>
          </a:stretch>
        </p:blipFill>
        <p:spPr>
          <a:xfrm>
            <a:off x="1778016" y="4059936"/>
            <a:ext cx="2835623" cy="365760"/>
          </a:xfrm>
          <a:prstGeom prst="rect">
            <a:avLst/>
          </a:prstGeom>
        </p:spPr>
      </p:pic>
      <p:sp>
        <p:nvSpPr>
          <p:cNvPr id="16" name="Shape 9"/>
          <p:cNvSpPr/>
          <p:nvPr/>
        </p:nvSpPr>
        <p:spPr>
          <a:xfrm>
            <a:off x="384048" y="4498848"/>
            <a:ext cx="5623560" cy="438912"/>
          </a:xfrm>
          <a:prstGeom prst="roundRect">
            <a:avLst>
              <a:gd name="adj" fmla="val 10417"/>
            </a:avLst>
          </a:prstGeom>
          <a:solidFill>
            <a:srgbClr val="F4EFE4"/>
          </a:solidFill>
          <a:ln/>
        </p:spPr>
      </p:sp>
      <p:pic>
        <p:nvPicPr>
          <p:cNvPr id="17" name="Image 5" descr="/workspace/presentations/eq/Rfield.png">    </p:cNvPr>
          <p:cNvPicPr>
            <a:picLocks noChangeAspect="1"/>
          </p:cNvPicPr>
          <p:nvPr/>
        </p:nvPicPr>
        <p:blipFill>
          <a:blip r:embed="rId6"/>
          <a:stretch>
            <a:fillRect/>
          </a:stretch>
        </p:blipFill>
        <p:spPr>
          <a:xfrm>
            <a:off x="773182" y="4535424"/>
            <a:ext cx="4845293" cy="365760"/>
          </a:xfrm>
          <a:prstGeom prst="rect">
            <a:avLst/>
          </a:prstGeom>
        </p:spPr>
      </p:pic>
      <p:sp>
        <p:nvSpPr>
          <p:cNvPr id="18" name="Shape 10"/>
          <p:cNvSpPr/>
          <p:nvPr/>
        </p:nvSpPr>
        <p:spPr>
          <a:xfrm>
            <a:off x="384048" y="4974336"/>
            <a:ext cx="5623560" cy="438912"/>
          </a:xfrm>
          <a:prstGeom prst="roundRect">
            <a:avLst>
              <a:gd name="adj" fmla="val 10417"/>
            </a:avLst>
          </a:prstGeom>
          <a:solidFill>
            <a:srgbClr val="F4EFE4"/>
          </a:solidFill>
          <a:ln/>
        </p:spPr>
      </p:sp>
      <p:pic>
        <p:nvPicPr>
          <p:cNvPr id="19" name="Image 6" descr="/workspace/presentations/eq/front.png">    </p:cNvPr>
          <p:cNvPicPr>
            <a:picLocks noChangeAspect="1"/>
          </p:cNvPicPr>
          <p:nvPr/>
        </p:nvPicPr>
        <p:blipFill>
          <a:blip r:embed="rId7"/>
          <a:stretch>
            <a:fillRect/>
          </a:stretch>
        </p:blipFill>
        <p:spPr>
          <a:xfrm>
            <a:off x="1116882" y="5010912"/>
            <a:ext cx="4157892" cy="365760"/>
          </a:xfrm>
          <a:prstGeom prst="rect">
            <a:avLst/>
          </a:prstGeom>
        </p:spPr>
      </p:pic>
      <p:sp>
        <p:nvSpPr>
          <p:cNvPr id="20" name="Text 11"/>
          <p:cNvSpPr/>
          <p:nvPr/>
        </p:nvSpPr>
        <p:spPr>
          <a:xfrm>
            <a:off x="420624" y="5449824"/>
            <a:ext cx="5577840" cy="80467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Sensed cells: R &lt;- 0.    Unsensed: alpha=0.035 aging, beta=0.08 diffusion.</a:t>
            </a:r>
            <a:endParaRPr lang="en-US" sz="1200" dirty="0"/>
          </a:p>
          <a:p>
            <a:pPr indent="0" marL="0">
              <a:buNone/>
            </a:pPr>
            <a:r>
              <a:rPr lang="en-US" sz="1200" dirty="0">
                <a:solidFill>
                  <a:srgbClr val="5A6A80"/>
                </a:solidFill>
                <a:latin typeface="Times New Roman" pitchFamily="34" charset="0"/>
                <a:ea typeface="Times New Roman" pitchFamily="34" charset="-122"/>
                <a:cs typeface="Times New Roman" pitchFamily="34" charset="-120"/>
              </a:rPr>
              <a:t>Frontier score q nominates task nodes for HGAT.</a:t>
            </a:r>
            <a:endParaRPr lang="en-US" sz="1200" dirty="0"/>
          </a:p>
        </p:txBody>
      </p:sp>
      <p:sp>
        <p:nvSpPr>
          <p:cNvPr id="21" name="Shape 12"/>
          <p:cNvSpPr/>
          <p:nvPr/>
        </p:nvSpPr>
        <p:spPr>
          <a:xfrm>
            <a:off x="6309360" y="1078992"/>
            <a:ext cx="5596128" cy="5285232"/>
          </a:xfrm>
          <a:prstGeom prst="roundRect">
            <a:avLst>
              <a:gd name="adj" fmla="val 1384"/>
            </a:avLst>
          </a:prstGeom>
          <a:solidFill>
            <a:srgbClr val="FFFFFF"/>
          </a:solidFill>
          <a:ln/>
          <a:effectLst>
            <a:outerShdw sx="100000" sy="100000" kx="0" ky="0" algn="bl" rotWithShape="0" blurRad="50800" dist="12700" dir="16200000">
              <a:srgbClr val="1F2A44">
                <a:alpha val="12000"/>
              </a:srgbClr>
            </a:outerShdw>
          </a:effectLst>
        </p:spPr>
      </p:sp>
      <p:sp>
        <p:nvSpPr>
          <p:cNvPr id="22" name="Shape 13"/>
          <p:cNvSpPr/>
          <p:nvPr/>
        </p:nvSpPr>
        <p:spPr>
          <a:xfrm>
            <a:off x="6309360" y="1078992"/>
            <a:ext cx="64008" cy="5285232"/>
          </a:xfrm>
          <a:prstGeom prst="rect">
            <a:avLst/>
          </a:prstGeom>
          <a:solidFill>
            <a:srgbClr val="2F5597"/>
          </a:solidFill>
          <a:ln/>
        </p:spPr>
      </p:sp>
      <p:sp>
        <p:nvSpPr>
          <p:cNvPr id="23" name="Text 14"/>
          <p:cNvSpPr/>
          <p:nvPr/>
        </p:nvSpPr>
        <p:spPr>
          <a:xfrm>
            <a:off x="6473952" y="1115568"/>
            <a:ext cx="5285232" cy="365760"/>
          </a:xfrm>
          <a:prstGeom prst="rect">
            <a:avLst/>
          </a:prstGeom>
          <a:noFill/>
          <a:ln/>
        </p:spPr>
        <p:txBody>
          <a:bodyPr wrap="square" lIns="0" tIns="0" rIns="0" bIns="0" rtlCol="0" anchor="ctr"/>
          <a:lstStyle/>
          <a:p>
            <a:pPr indent="0" marL="0">
              <a:buNone/>
            </a:pPr>
            <a:r>
              <a:rPr lang="en-US" sz="1400" b="1" dirty="0">
                <a:solidFill>
                  <a:srgbClr val="ED7D31"/>
                </a:solidFill>
                <a:latin typeface="Times New Roman" pitchFamily="34" charset="0"/>
                <a:ea typeface="Times New Roman" pitchFamily="34" charset="-122"/>
                <a:cs typeface="Times New Roman" pitchFamily="34" charset="-120"/>
              </a:rPr>
              <a:t>Communication-History-Aware Source Selection</a:t>
            </a:r>
            <a:endParaRPr lang="en-US" sz="1400" dirty="0"/>
          </a:p>
        </p:txBody>
      </p:sp>
      <p:pic>
        <p:nvPicPr>
          <p:cNvPr id="24" name="Image 7" descr="/tmp/ppt-work/assets/source.png">    </p:cNvPr>
          <p:cNvPicPr>
            <a:picLocks noChangeAspect="1"/>
          </p:cNvPicPr>
          <p:nvPr/>
        </p:nvPicPr>
        <p:blipFill>
          <a:blip r:embed="rId8"/>
          <a:stretch>
            <a:fillRect/>
          </a:stretch>
        </p:blipFill>
        <p:spPr>
          <a:xfrm>
            <a:off x="7371117" y="1499616"/>
            <a:ext cx="3454326" cy="1874520"/>
          </a:xfrm>
          <a:prstGeom prst="rect">
            <a:avLst/>
          </a:prstGeom>
        </p:spPr>
      </p:pic>
      <p:sp>
        <p:nvSpPr>
          <p:cNvPr id="25" name="Text 15"/>
          <p:cNvSpPr/>
          <p:nvPr/>
        </p:nvSpPr>
        <p:spPr>
          <a:xfrm>
            <a:off x="6473952" y="3401568"/>
            <a:ext cx="5285232" cy="256032"/>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beta_d = 0.28     ·     delta = 0.82 history decay     ·     g_j,t = outage age</a:t>
            </a:r>
            <a:endParaRPr lang="en-US" sz="1200" dirty="0"/>
          </a:p>
        </p:txBody>
      </p:sp>
      <p:sp>
        <p:nvSpPr>
          <p:cNvPr id="26" name="Shape 16"/>
          <p:cNvSpPr/>
          <p:nvPr/>
        </p:nvSpPr>
        <p:spPr>
          <a:xfrm>
            <a:off x="6446520" y="3675888"/>
            <a:ext cx="5321808" cy="475488"/>
          </a:xfrm>
          <a:prstGeom prst="roundRect">
            <a:avLst>
              <a:gd name="adj" fmla="val 9615"/>
            </a:avLst>
          </a:prstGeom>
          <a:solidFill>
            <a:srgbClr val="F4EFE4"/>
          </a:solidFill>
          <a:ln/>
        </p:spPr>
      </p:sp>
      <p:pic>
        <p:nvPicPr>
          <p:cNvPr id="27" name="Image 8" descr="/workspace/presentations/eq/w.png">    </p:cNvPr>
          <p:cNvPicPr>
            <a:picLocks noChangeAspect="1"/>
          </p:cNvPicPr>
          <p:nvPr/>
        </p:nvPicPr>
        <p:blipFill>
          <a:blip r:embed="rId9"/>
          <a:stretch>
            <a:fillRect/>
          </a:stretch>
        </p:blipFill>
        <p:spPr>
          <a:xfrm>
            <a:off x="7637780" y="3712464"/>
            <a:ext cx="2939288" cy="402336"/>
          </a:xfrm>
          <a:prstGeom prst="rect">
            <a:avLst/>
          </a:prstGeom>
        </p:spPr>
      </p:pic>
      <p:sp>
        <p:nvSpPr>
          <p:cNvPr id="28" name="Shape 17"/>
          <p:cNvSpPr/>
          <p:nvPr/>
        </p:nvSpPr>
        <p:spPr>
          <a:xfrm>
            <a:off x="6446520" y="4187952"/>
            <a:ext cx="5321808" cy="512064"/>
          </a:xfrm>
          <a:prstGeom prst="roundRect">
            <a:avLst>
              <a:gd name="adj" fmla="val 8929"/>
            </a:avLst>
          </a:prstGeom>
          <a:solidFill>
            <a:srgbClr val="F4EFE4"/>
          </a:solidFill>
          <a:ln/>
        </p:spPr>
      </p:sp>
      <p:pic>
        <p:nvPicPr>
          <p:cNvPr id="29" name="Image 9" descr="/workspace/presentations/eq/jstar.png">    </p:cNvPr>
          <p:cNvPicPr>
            <a:picLocks noChangeAspect="1"/>
          </p:cNvPicPr>
          <p:nvPr/>
        </p:nvPicPr>
        <p:blipFill>
          <a:blip r:embed="rId10"/>
          <a:stretch>
            <a:fillRect/>
          </a:stretch>
        </p:blipFill>
        <p:spPr>
          <a:xfrm>
            <a:off x="7875587" y="4224528"/>
            <a:ext cx="2463674" cy="438912"/>
          </a:xfrm>
          <a:prstGeom prst="rect">
            <a:avLst/>
          </a:prstGeom>
        </p:spPr>
      </p:pic>
      <p:sp>
        <p:nvSpPr>
          <p:cNvPr id="30" name="Shape 18"/>
          <p:cNvSpPr/>
          <p:nvPr/>
        </p:nvSpPr>
        <p:spPr>
          <a:xfrm>
            <a:off x="6473952" y="4736592"/>
            <a:ext cx="5266944" cy="1444752"/>
          </a:xfrm>
          <a:prstGeom prst="roundRect">
            <a:avLst>
              <a:gd name="adj" fmla="val 5063"/>
            </a:avLst>
          </a:prstGeom>
          <a:solidFill>
            <a:srgbClr val="FDECEA"/>
          </a:solidFill>
          <a:ln/>
        </p:spPr>
      </p:sp>
      <p:sp>
        <p:nvSpPr>
          <p:cNvPr id="31" name="Text 19"/>
          <p:cNvSpPr/>
          <p:nvPr/>
        </p:nvSpPr>
        <p:spPr>
          <a:xfrm>
            <a:off x="6601968" y="4809744"/>
            <a:ext cx="5010912" cy="329184"/>
          </a:xfrm>
          <a:prstGeom prst="rect">
            <a:avLst/>
          </a:prstGeom>
          <a:noFill/>
          <a:ln/>
        </p:spPr>
        <p:txBody>
          <a:bodyPr wrap="square" lIns="0" tIns="0" rIns="0" bIns="0" rtlCol="0" anchor="ctr"/>
          <a:lstStyle/>
          <a:p>
            <a:pPr indent="0" marL="0">
              <a:buNone/>
            </a:pPr>
            <a:r>
              <a:rPr lang="en-US" sz="1500" b="1" dirty="0">
                <a:solidFill>
                  <a:srgbClr val="C0392B"/>
                </a:solidFill>
                <a:latin typeface="Times New Roman" pitchFamily="34" charset="0"/>
                <a:ea typeface="Times New Roman" pitchFamily="34" charset="-122"/>
                <a:cs typeface="Times New Roman" pitchFamily="34" charset="-120"/>
              </a:rPr>
              <a:t>One reachable source per cell</a:t>
            </a:r>
            <a:endParaRPr lang="en-US" sz="1500" dirty="0"/>
          </a:p>
        </p:txBody>
      </p:sp>
      <p:sp>
        <p:nvSpPr>
          <p:cNvPr id="32" name="Text 20"/>
          <p:cNvSpPr/>
          <p:nvPr/>
        </p:nvSpPr>
        <p:spPr>
          <a:xfrm>
            <a:off x="6601968" y="5138928"/>
            <a:ext cx="5010912" cy="89611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Do not sum correlated log-odds from j and k.</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Winner takes the cell: fuse L from j⋆ only.</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Distance decay + communication history gj,t.</a:t>
            </a:r>
            <a:endParaRPr lang="en-US" sz="1300" dirty="0"/>
          </a:p>
        </p:txBody>
      </p:sp>
      <p:sp>
        <p:nvSpPr>
          <p:cNvPr id="33" name="Shape 21"/>
          <p:cNvSpPr/>
          <p:nvPr/>
        </p:nvSpPr>
        <p:spPr>
          <a:xfrm>
            <a:off x="0" y="6784848"/>
            <a:ext cx="12191695" cy="73152"/>
          </a:xfrm>
          <a:prstGeom prst="rect">
            <a:avLst/>
          </a:prstGeom>
          <a:solidFill>
            <a:srgbClr val="2F5597"/>
          </a:solidFill>
          <a:ln/>
        </p:spPr>
      </p:sp>
      <p:sp>
        <p:nvSpPr>
          <p:cNvPr id="34" name="Text 22"/>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5" name="Text 23"/>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2. Proposed IC-HGAT-MAPPO</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2.4 Heterogeneous Graph Policy and MAPPO Optimization</a:t>
            </a:r>
            <a:endParaRPr lang="en-US" sz="2000" dirty="0"/>
          </a:p>
        </p:txBody>
      </p:sp>
      <p:pic>
        <p:nvPicPr>
          <p:cNvPr id="6" name="Image 1" descr="/tmp/ppt-work/assets/hgat.png">    </p:cNvPr>
          <p:cNvPicPr>
            <a:picLocks noChangeAspect="1"/>
          </p:cNvPicPr>
          <p:nvPr/>
        </p:nvPicPr>
        <p:blipFill>
          <a:blip r:embed="rId2"/>
          <a:stretch>
            <a:fillRect/>
          </a:stretch>
        </p:blipFill>
        <p:spPr>
          <a:xfrm>
            <a:off x="1248325" y="1060704"/>
            <a:ext cx="3684693" cy="2331720"/>
          </a:xfrm>
          <a:prstGeom prst="rect">
            <a:avLst/>
          </a:prstGeom>
        </p:spPr>
      </p:pic>
      <p:sp>
        <p:nvSpPr>
          <p:cNvPr id="7" name="Text 3"/>
          <p:cNvSpPr/>
          <p:nvPr/>
        </p:nvSpPr>
        <p:spPr>
          <a:xfrm>
            <a:off x="201168" y="3401568"/>
            <a:ext cx="5852160" cy="237744"/>
          </a:xfrm>
          <a:prstGeom prst="rect">
            <a:avLst/>
          </a:prstGeom>
          <a:noFill/>
          <a:ln/>
        </p:spPr>
        <p:txBody>
          <a:bodyPr wrap="square" lIns="0" tIns="0" rIns="0" bIns="0" rtlCol="0" anchor="ctr"/>
          <a:lstStyle/>
          <a:p>
            <a:pPr indent="0" marL="0">
              <a:buNone/>
            </a:pPr>
            <a:r>
              <a:rPr lang="en-US" sz="1100" b="1" dirty="0">
                <a:solidFill>
                  <a:srgbClr val="2E8B57"/>
                </a:solidFill>
                <a:latin typeface="Times New Roman" pitchFamily="34" charset="0"/>
                <a:ea typeface="Times New Roman" pitchFamily="34" charset="-122"/>
                <a:cs typeface="Times New Roman" pitchFamily="34" charset="-120"/>
              </a:rPr>
              <a:t>Relation-specific attention  ·  k_peer=1.5, k_task=k_obs=0.7  ·  2 layers, 4 heads</a:t>
            </a:r>
            <a:endParaRPr lang="en-US" sz="1100" dirty="0"/>
          </a:p>
        </p:txBody>
      </p:sp>
      <p:sp>
        <p:nvSpPr>
          <p:cNvPr id="8" name="Shape 4"/>
          <p:cNvSpPr/>
          <p:nvPr/>
        </p:nvSpPr>
        <p:spPr>
          <a:xfrm>
            <a:off x="164592" y="3639312"/>
            <a:ext cx="5897880" cy="475488"/>
          </a:xfrm>
          <a:prstGeom prst="roundRect">
            <a:avLst>
              <a:gd name="adj" fmla="val 9615"/>
            </a:avLst>
          </a:prstGeom>
          <a:solidFill>
            <a:srgbClr val="F4EFE4"/>
          </a:solidFill>
          <a:ln/>
        </p:spPr>
      </p:sp>
      <p:pic>
        <p:nvPicPr>
          <p:cNvPr id="9" name="Image 2" descr="/workspace/presentations/eq/att.png">    </p:cNvPr>
          <p:cNvPicPr>
            <a:picLocks noChangeAspect="1"/>
          </p:cNvPicPr>
          <p:nvPr/>
        </p:nvPicPr>
        <p:blipFill>
          <a:blip r:embed="rId3"/>
          <a:stretch>
            <a:fillRect/>
          </a:stretch>
        </p:blipFill>
        <p:spPr>
          <a:xfrm>
            <a:off x="892947" y="3675888"/>
            <a:ext cx="4441170" cy="402336"/>
          </a:xfrm>
          <a:prstGeom prst="rect">
            <a:avLst/>
          </a:prstGeom>
        </p:spPr>
      </p:pic>
      <p:pic>
        <p:nvPicPr>
          <p:cNvPr id="10" name="Image 3" descr="/tmp/ppt-work/assets/actor_critic.png">    </p:cNvPr>
          <p:cNvPicPr>
            <a:picLocks noChangeAspect="1"/>
          </p:cNvPicPr>
          <p:nvPr/>
        </p:nvPicPr>
        <p:blipFill>
          <a:blip r:embed="rId4"/>
          <a:stretch>
            <a:fillRect/>
          </a:stretch>
        </p:blipFill>
        <p:spPr>
          <a:xfrm>
            <a:off x="7239130" y="1060704"/>
            <a:ext cx="3581140" cy="2331720"/>
          </a:xfrm>
          <a:prstGeom prst="rect">
            <a:avLst/>
          </a:prstGeom>
        </p:spPr>
      </p:pic>
      <p:sp>
        <p:nvSpPr>
          <p:cNvPr id="11" name="Shape 5"/>
          <p:cNvSpPr/>
          <p:nvPr/>
        </p:nvSpPr>
        <p:spPr>
          <a:xfrm>
            <a:off x="6217920" y="3419856"/>
            <a:ext cx="5623560" cy="438912"/>
          </a:xfrm>
          <a:prstGeom prst="roundRect">
            <a:avLst>
              <a:gd name="adj" fmla="val 10417"/>
            </a:avLst>
          </a:prstGeom>
          <a:solidFill>
            <a:srgbClr val="F4EFE4"/>
          </a:solidFill>
          <a:ln/>
        </p:spPr>
      </p:sp>
      <p:pic>
        <p:nvPicPr>
          <p:cNvPr id="12" name="Image 4" descr="/workspace/presentations/eq/reward.png">    </p:cNvPr>
          <p:cNvPicPr>
            <a:picLocks noChangeAspect="1"/>
          </p:cNvPicPr>
          <p:nvPr/>
        </p:nvPicPr>
        <p:blipFill>
          <a:blip r:embed="rId5"/>
          <a:stretch>
            <a:fillRect/>
          </a:stretch>
        </p:blipFill>
        <p:spPr>
          <a:xfrm>
            <a:off x="7393719" y="3456432"/>
            <a:ext cx="3271962" cy="365760"/>
          </a:xfrm>
          <a:prstGeom prst="rect">
            <a:avLst/>
          </a:prstGeom>
        </p:spPr>
      </p:pic>
      <p:sp>
        <p:nvSpPr>
          <p:cNvPr id="13" name="Text 6"/>
          <p:cNvSpPr/>
          <p:nvPr/>
        </p:nvSpPr>
        <p:spPr>
          <a:xfrm>
            <a:off x="6263640" y="3877056"/>
            <a:ext cx="5577840" cy="237744"/>
          </a:xfrm>
          <a:prstGeom prst="rect">
            <a:avLst/>
          </a:prstGeom>
          <a:noFill/>
          <a:ln/>
        </p:spPr>
        <p:txBody>
          <a:bodyPr wrap="square" lIns="0" tIns="0" rIns="0" bIns="0" rtlCol="0" anchor="ctr"/>
          <a:lstStyle/>
          <a:p>
            <a:pPr indent="0" marL="0">
              <a:buNone/>
            </a:pPr>
            <a:r>
              <a:rPr lang="en-US" sz="1200" dirty="0">
                <a:solidFill>
                  <a:srgbClr val="5A6A80"/>
                </a:solidFill>
                <a:latin typeface="Times New Roman" pitchFamily="34" charset="0"/>
                <a:ea typeface="Times New Roman" pitchFamily="34" charset="-122"/>
                <a:cs typeface="Times New Roman" pitchFamily="34" charset="-120"/>
              </a:rPr>
              <a:t>(lambda_D, lambda_C, lambda_safe) = (1.0, 0.30, 0.10)   ·   6 task / 4 obstacle slots</a:t>
            </a:r>
            <a:endParaRPr lang="en-US" sz="1200" dirty="0"/>
          </a:p>
        </p:txBody>
      </p:sp>
      <p:sp>
        <p:nvSpPr>
          <p:cNvPr id="14" name="Shape 7"/>
          <p:cNvSpPr/>
          <p:nvPr/>
        </p:nvSpPr>
        <p:spPr>
          <a:xfrm>
            <a:off x="164592" y="4169664"/>
            <a:ext cx="11887200" cy="2194560"/>
          </a:xfrm>
          <a:prstGeom prst="roundRect">
            <a:avLst>
              <a:gd name="adj" fmla="val 3333"/>
            </a:avLst>
          </a:prstGeom>
          <a:solidFill>
            <a:srgbClr val="FFFFFF"/>
          </a:solidFill>
          <a:ln/>
          <a:effectLst>
            <a:outerShdw sx="100000" sy="100000" kx="0" ky="0" algn="bl" rotWithShape="0" blurRad="50800" dist="12700" dir="16200000">
              <a:srgbClr val="1F2A44">
                <a:alpha val="12000"/>
              </a:srgbClr>
            </a:outerShdw>
          </a:effectLst>
        </p:spPr>
      </p:sp>
      <p:sp>
        <p:nvSpPr>
          <p:cNvPr id="15" name="Text 8"/>
          <p:cNvSpPr/>
          <p:nvPr/>
        </p:nvSpPr>
        <p:spPr>
          <a:xfrm>
            <a:off x="292608" y="4187952"/>
            <a:ext cx="11612880" cy="237744"/>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MAPPO  (CTDE)  ·  clip eps=0.20  ·  GAE lambda=0.95  ·  gamma=0.99  ·  shared actor, one critic</a:t>
            </a:r>
            <a:endParaRPr lang="en-US" sz="1300" dirty="0"/>
          </a:p>
        </p:txBody>
      </p:sp>
      <p:sp>
        <p:nvSpPr>
          <p:cNvPr id="16" name="Shape 9"/>
          <p:cNvSpPr/>
          <p:nvPr/>
        </p:nvSpPr>
        <p:spPr>
          <a:xfrm>
            <a:off x="256032" y="4462272"/>
            <a:ext cx="5806440" cy="475488"/>
          </a:xfrm>
          <a:prstGeom prst="roundRect">
            <a:avLst>
              <a:gd name="adj" fmla="val 9615"/>
            </a:avLst>
          </a:prstGeom>
          <a:solidFill>
            <a:srgbClr val="F4EFE4"/>
          </a:solidFill>
          <a:ln/>
        </p:spPr>
      </p:sp>
      <p:pic>
        <p:nvPicPr>
          <p:cNvPr id="17" name="Image 5" descr="/workspace/presentations/eq/rho.png">    </p:cNvPr>
          <p:cNvPicPr>
            <a:picLocks noChangeAspect="1"/>
          </p:cNvPicPr>
          <p:nvPr/>
        </p:nvPicPr>
        <p:blipFill>
          <a:blip r:embed="rId6"/>
          <a:stretch>
            <a:fillRect/>
          </a:stretch>
        </p:blipFill>
        <p:spPr>
          <a:xfrm>
            <a:off x="1466276" y="4498848"/>
            <a:ext cx="3385951" cy="402336"/>
          </a:xfrm>
          <a:prstGeom prst="rect">
            <a:avLst/>
          </a:prstGeom>
        </p:spPr>
      </p:pic>
      <p:sp>
        <p:nvSpPr>
          <p:cNvPr id="18" name="Shape 10"/>
          <p:cNvSpPr/>
          <p:nvPr/>
        </p:nvSpPr>
        <p:spPr>
          <a:xfrm>
            <a:off x="6144768" y="4462272"/>
            <a:ext cx="5742432" cy="475488"/>
          </a:xfrm>
          <a:prstGeom prst="roundRect">
            <a:avLst>
              <a:gd name="adj" fmla="val 9615"/>
            </a:avLst>
          </a:prstGeom>
          <a:solidFill>
            <a:srgbClr val="F4EFE4"/>
          </a:solidFill>
          <a:ln/>
        </p:spPr>
      </p:sp>
      <p:pic>
        <p:nvPicPr>
          <p:cNvPr id="19" name="Image 6" descr="/workspace/presentations/eq/delta.png">    </p:cNvPr>
          <p:cNvPicPr>
            <a:picLocks noChangeAspect="1"/>
          </p:cNvPicPr>
          <p:nvPr/>
        </p:nvPicPr>
        <p:blipFill>
          <a:blip r:embed="rId7"/>
          <a:stretch>
            <a:fillRect/>
          </a:stretch>
        </p:blipFill>
        <p:spPr>
          <a:xfrm>
            <a:off x="7308451" y="4498848"/>
            <a:ext cx="3415066" cy="402336"/>
          </a:xfrm>
          <a:prstGeom prst="rect">
            <a:avLst/>
          </a:prstGeom>
        </p:spPr>
      </p:pic>
      <p:sp>
        <p:nvSpPr>
          <p:cNvPr id="20" name="Shape 11"/>
          <p:cNvSpPr/>
          <p:nvPr/>
        </p:nvSpPr>
        <p:spPr>
          <a:xfrm>
            <a:off x="256032" y="4974336"/>
            <a:ext cx="5806440" cy="658368"/>
          </a:xfrm>
          <a:prstGeom prst="roundRect">
            <a:avLst>
              <a:gd name="adj" fmla="val 6944"/>
            </a:avLst>
          </a:prstGeom>
          <a:solidFill>
            <a:srgbClr val="F4EFE4"/>
          </a:solidFill>
          <a:ln/>
        </p:spPr>
      </p:sp>
      <p:pic>
        <p:nvPicPr>
          <p:cNvPr id="21" name="Image 7" descr="/workspace/presentations/eq/clip.png">    </p:cNvPr>
          <p:cNvPicPr>
            <a:picLocks noChangeAspect="1"/>
          </p:cNvPicPr>
          <p:nvPr/>
        </p:nvPicPr>
        <p:blipFill>
          <a:blip r:embed="rId8"/>
          <a:stretch>
            <a:fillRect/>
          </a:stretch>
        </p:blipFill>
        <p:spPr>
          <a:xfrm>
            <a:off x="329184" y="5075868"/>
            <a:ext cx="5660136" cy="455303"/>
          </a:xfrm>
          <a:prstGeom prst="rect">
            <a:avLst/>
          </a:prstGeom>
        </p:spPr>
      </p:pic>
      <p:sp>
        <p:nvSpPr>
          <p:cNvPr id="22" name="Shape 12"/>
          <p:cNvSpPr/>
          <p:nvPr/>
        </p:nvSpPr>
        <p:spPr>
          <a:xfrm>
            <a:off x="6144768" y="4974336"/>
            <a:ext cx="5742432" cy="658368"/>
          </a:xfrm>
          <a:prstGeom prst="roundRect">
            <a:avLst>
              <a:gd name="adj" fmla="val 6944"/>
            </a:avLst>
          </a:prstGeom>
          <a:solidFill>
            <a:srgbClr val="F4EFE4"/>
          </a:solidFill>
          <a:ln/>
        </p:spPr>
      </p:sp>
      <p:pic>
        <p:nvPicPr>
          <p:cNvPr id="23" name="Image 8" descr="/workspace/presentations/eq/gae.png">    </p:cNvPr>
          <p:cNvPicPr>
            <a:picLocks noChangeAspect="1"/>
          </p:cNvPicPr>
          <p:nvPr/>
        </p:nvPicPr>
        <p:blipFill>
          <a:blip r:embed="rId9"/>
          <a:stretch>
            <a:fillRect/>
          </a:stretch>
        </p:blipFill>
        <p:spPr>
          <a:xfrm>
            <a:off x="8251178" y="5010912"/>
            <a:ext cx="1529612" cy="585216"/>
          </a:xfrm>
          <a:prstGeom prst="rect">
            <a:avLst/>
          </a:prstGeom>
        </p:spPr>
      </p:pic>
      <p:sp>
        <p:nvSpPr>
          <p:cNvPr id="24" name="Text 13"/>
          <p:cNvSpPr/>
          <p:nvPr/>
        </p:nvSpPr>
        <p:spPr>
          <a:xfrm>
            <a:off x="292608" y="5669280"/>
            <a:ext cx="11612880" cy="585216"/>
          </a:xfrm>
          <a:prstGeom prst="rect">
            <a:avLst/>
          </a:prstGeom>
          <a:noFill/>
          <a:ln/>
        </p:spPr>
        <p:txBody>
          <a:bodyPr wrap="square" lIns="0" tIns="0" rIns="0" bIns="0" rtlCol="0" anchor="ctr"/>
          <a:lstStyle/>
          <a:p>
            <a:pPr indent="0" marL="0">
              <a:buNone/>
            </a:pPr>
            <a:r>
              <a:rPr lang="en-US" sz="1300" i="1" dirty="0">
                <a:solidFill>
                  <a:srgbClr val="5A6A80"/>
                </a:solidFill>
                <a:latin typeface="Times New Roman" pitchFamily="34" charset="0"/>
                <a:ea typeface="Times New Roman" pitchFamily="34" charset="-122"/>
                <a:cs typeface="Times New Roman" pitchFamily="34" charset="-120"/>
              </a:rPr>
              <a:t>Link mask zeros unreachable peer attention.  Critic is removed at execution.</a:t>
            </a:r>
            <a:endParaRPr lang="en-US" sz="1300" dirty="0"/>
          </a:p>
        </p:txBody>
      </p:sp>
      <p:sp>
        <p:nvSpPr>
          <p:cNvPr id="25" name="Shape 14"/>
          <p:cNvSpPr/>
          <p:nvPr/>
        </p:nvSpPr>
        <p:spPr>
          <a:xfrm>
            <a:off x="0" y="6784848"/>
            <a:ext cx="12191695" cy="73152"/>
          </a:xfrm>
          <a:prstGeom prst="rect">
            <a:avLst/>
          </a:prstGeom>
          <a:solidFill>
            <a:srgbClr val="2F5597"/>
          </a:solidFill>
          <a:ln/>
        </p:spPr>
      </p:sp>
      <p:sp>
        <p:nvSpPr>
          <p:cNvPr id="26" name="Text 15"/>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27" name="Text 16"/>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3. Experimental Results</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3.1 Experimental Setup and Main Results</a:t>
            </a:r>
            <a:endParaRPr lang="en-US" sz="2000" dirty="0"/>
          </a:p>
        </p:txBody>
      </p:sp>
      <p:sp>
        <p:nvSpPr>
          <p:cNvPr id="6" name="Shape 3"/>
          <p:cNvSpPr/>
          <p:nvPr/>
        </p:nvSpPr>
        <p:spPr>
          <a:xfrm>
            <a:off x="256032" y="1060704"/>
            <a:ext cx="5029200" cy="2084832"/>
          </a:xfrm>
          <a:prstGeom prst="roundRect">
            <a:avLst>
              <a:gd name="adj" fmla="val 3509"/>
            </a:avLst>
          </a:prstGeom>
          <a:solidFill>
            <a:srgbClr val="F4F6FA"/>
          </a:solidFill>
          <a:ln/>
          <a:effectLst>
            <a:outerShdw sx="100000" sy="100000" kx="0" ky="0" algn="bl" rotWithShape="0" blurRad="50800" dist="12700" dir="16200000">
              <a:srgbClr val="1F2A44">
                <a:alpha val="12000"/>
              </a:srgbClr>
            </a:outerShdw>
          </a:effectLst>
        </p:spPr>
      </p:sp>
      <p:sp>
        <p:nvSpPr>
          <p:cNvPr id="7" name="Text 4"/>
          <p:cNvSpPr/>
          <p:nvPr/>
        </p:nvSpPr>
        <p:spPr>
          <a:xfrm>
            <a:off x="365760" y="1097280"/>
            <a:ext cx="4809744" cy="256032"/>
          </a:xfrm>
          <a:prstGeom prst="rect">
            <a:avLst/>
          </a:prstGeom>
          <a:noFill/>
          <a:ln/>
        </p:spPr>
        <p:txBody>
          <a:bodyPr wrap="square" lIns="0" tIns="0" rIns="0" bIns="0" rtlCol="0" anchor="ctr"/>
          <a:lstStyle/>
          <a:p>
            <a:pPr indent="0" marL="0">
              <a:buNone/>
            </a:pPr>
            <a:r>
              <a:rPr lang="en-US" sz="1400" b="1" dirty="0">
                <a:solidFill>
                  <a:srgbClr val="2F5597"/>
                </a:solidFill>
                <a:latin typeface="Times New Roman" pitchFamily="34" charset="0"/>
                <a:ea typeface="Times New Roman" pitchFamily="34" charset="-122"/>
                <a:cs typeface="Times New Roman" pitchFamily="34" charset="-120"/>
              </a:rPr>
              <a:t>Experiment protocol  (fair comparison)</a:t>
            </a:r>
            <a:endParaRPr lang="en-US" sz="1400" dirty="0"/>
          </a:p>
        </p:txBody>
      </p:sp>
      <p:sp>
        <p:nvSpPr>
          <p:cNvPr id="8" name="Text 5"/>
          <p:cNvSpPr/>
          <p:nvPr/>
        </p:nvSpPr>
        <p:spPr>
          <a:xfrm>
            <a:off x="365760" y="1371600"/>
            <a:ext cx="4809744" cy="117043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6 UAVs · 15 targets · 10 obstacles · 30×30</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Horizon 200  ·  2,000 episodes  ·  5 seeds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30 held-out scenarios   Rs=2, Rc=10 cells</a:t>
            </a:r>
            <a:endParaRPr lang="en-US" sz="1300" dirty="0"/>
          </a:p>
          <a:p>
            <a:pPr indent="0" marL="0">
              <a:buNone/>
            </a:pPr>
            <a:r>
              <a:rPr lang="en-US" sz="1300" dirty="0">
                <a:solidFill>
                  <a:srgbClr val="1F2A44"/>
                </a:solidFill>
                <a:latin typeface="Times New Roman" pitchFamily="34" charset="0"/>
                <a:ea typeface="Times New Roman" pitchFamily="34" charset="-122"/>
                <a:cs typeface="Times New Roman" pitchFamily="34" charset="-120"/>
              </a:rPr>
              <a:t>Same env, reward, action, budget</a:t>
            </a:r>
            <a:endParaRPr lang="en-US" sz="1300" dirty="0"/>
          </a:p>
        </p:txBody>
      </p:sp>
      <p:sp>
        <p:nvSpPr>
          <p:cNvPr id="9" name="Text 6"/>
          <p:cNvSpPr/>
          <p:nvPr/>
        </p:nvSpPr>
        <p:spPr>
          <a:xfrm>
            <a:off x="365760" y="2560320"/>
            <a:ext cx="4809744" cy="475488"/>
          </a:xfrm>
          <a:prstGeom prst="rect">
            <a:avLst/>
          </a:prstGeom>
          <a:noFill/>
          <a:ln/>
        </p:spPr>
        <p:txBody>
          <a:bodyPr wrap="square" lIns="0" tIns="0" rIns="0" bIns="0" rtlCol="0" anchor="ctr"/>
          <a:lstStyle/>
          <a:p>
            <a:pPr indent="0" marL="0">
              <a:buNone/>
            </a:pPr>
            <a:r>
              <a:rPr lang="en-US" sz="1200" i="1" dirty="0">
                <a:solidFill>
                  <a:srgbClr val="5A6A80"/>
                </a:solidFill>
                <a:latin typeface="Times New Roman" pitchFamily="34" charset="0"/>
                <a:ea typeface="Times New Roman" pitchFamily="34" charset="-122"/>
                <a:cs typeface="Times New Roman" pitchFamily="34" charset="-120"/>
              </a:rPr>
              <a:t>Baselines: Heuristic, QMIX, Local MAPPO, Homog. Graph MAPPO</a:t>
            </a:r>
            <a:endParaRPr lang="en-US" sz="1200" dirty="0"/>
          </a:p>
        </p:txBody>
      </p:sp>
      <p:pic>
        <p:nvPicPr>
          <p:cNvPr id="10" name="Image 1" descr="/tmp/ppt-work/assets/fig3.png">    </p:cNvPr>
          <p:cNvPicPr>
            <a:picLocks noChangeAspect="1"/>
          </p:cNvPicPr>
          <p:nvPr/>
        </p:nvPicPr>
        <p:blipFill>
          <a:blip r:embed="rId2"/>
          <a:stretch>
            <a:fillRect/>
          </a:stretch>
        </p:blipFill>
        <p:spPr>
          <a:xfrm>
            <a:off x="631532" y="3200400"/>
            <a:ext cx="4278199" cy="2331720"/>
          </a:xfrm>
          <a:prstGeom prst="rect">
            <a:avLst/>
          </a:prstGeom>
        </p:spPr>
      </p:pic>
      <p:sp>
        <p:nvSpPr>
          <p:cNvPr id="11" name="Text 7"/>
          <p:cNvSpPr/>
          <p:nvPr/>
        </p:nvSpPr>
        <p:spPr>
          <a:xfrm>
            <a:off x="256032" y="5559552"/>
            <a:ext cx="5029200" cy="256032"/>
          </a:xfrm>
          <a:prstGeom prst="rect">
            <a:avLst/>
          </a:prstGeom>
          <a:noFill/>
          <a:ln/>
        </p:spPr>
        <p:txBody>
          <a:bodyPr wrap="square" lIns="0" tIns="0" rIns="0" bIns="0" rtlCol="0" anchor="ctr"/>
          <a:lstStyle/>
          <a:p>
            <a:pPr indent="0" marL="0">
              <a:buNone/>
            </a:pPr>
            <a:r>
              <a:rPr lang="en-US" sz="1100" i="1" dirty="0">
                <a:solidFill>
                  <a:srgbClr val="5A6A80"/>
                </a:solidFill>
                <a:latin typeface="Times New Roman" pitchFamily="34" charset="0"/>
                <a:ea typeface="Times New Roman" pitchFamily="34" charset="-122"/>
                <a:cs typeface="Times New Roman" pitchFamily="34" charset="-120"/>
              </a:rPr>
              <a:t>Trajectories are qualitative; bars below are the evidence.</a:t>
            </a:r>
            <a:endParaRPr lang="en-US" sz="1100" dirty="0"/>
          </a:p>
        </p:txBody>
      </p:sp>
      <p:sp>
        <p:nvSpPr>
          <p:cNvPr id="12" name="Shape 8"/>
          <p:cNvSpPr/>
          <p:nvPr/>
        </p:nvSpPr>
        <p:spPr>
          <a:xfrm>
            <a:off x="256032" y="5833872"/>
            <a:ext cx="5029200" cy="530352"/>
          </a:xfrm>
          <a:prstGeom prst="roundRect">
            <a:avLst>
              <a:gd name="adj" fmla="val 13793"/>
            </a:avLst>
          </a:prstGeom>
          <a:solidFill>
            <a:srgbClr val="EAF0F8"/>
          </a:solidFill>
          <a:ln/>
          <a:effectLst>
            <a:outerShdw sx="100000" sy="100000" kx="0" ky="0" algn="bl" rotWithShape="0" blurRad="50800" dist="12700" dir="16200000">
              <a:srgbClr val="1F2A44">
                <a:alpha val="12000"/>
              </a:srgbClr>
            </a:outerShdw>
          </a:effectLst>
        </p:spPr>
      </p:sp>
      <p:sp>
        <p:nvSpPr>
          <p:cNvPr id="13" name="Text 9"/>
          <p:cNvSpPr/>
          <p:nvPr/>
        </p:nvSpPr>
        <p:spPr>
          <a:xfrm>
            <a:off x="329184" y="5833872"/>
            <a:ext cx="4882896" cy="530352"/>
          </a:xfrm>
          <a:prstGeom prst="rect">
            <a:avLst/>
          </a:prstGeom>
          <a:noFill/>
          <a:ln/>
        </p:spPr>
        <p:txBody>
          <a:bodyPr wrap="square" lIns="0" tIns="0" rIns="0" bIns="0" rtlCol="0" anchor="ctr"/>
          <a:lstStyle/>
          <a:p>
            <a:pPr indent="0" marL="0">
              <a:buNone/>
            </a:pPr>
            <a:r>
              <a:rPr lang="en-US" sz="1100" dirty="0">
                <a:solidFill>
                  <a:srgbClr val="1E3F73"/>
                </a:solidFill>
                <a:latin typeface="Times New Roman" pitchFamily="34" charset="0"/>
                <a:ea typeface="Times New Roman" pitchFamily="34" charset="-122"/>
                <a:cs typeface="Times New Roman" pitchFamily="34" charset="-120"/>
              </a:rPr>
              <a:t>95% CI vs Heuristic Ct: 12.96–21.36 pp   ·   vs QMIX: 28.30–36.01 pp</a:t>
            </a:r>
            <a:endParaRPr lang="en-US" sz="1100" dirty="0"/>
          </a:p>
        </p:txBody>
      </p:sp>
      <p:graphicFrame>
        <p:nvGraphicFramePr>
          <p:cNvPr id="14" name="Chart 0" descr=""/>
          <p:cNvGraphicFramePr/>
          <p:nvPr/>
        </p:nvGraphicFramePr>
        <p:xfrm>
          <a:off x="5440680" y="1051560"/>
          <a:ext cx="3291840" cy="2331720"/>
        </p:xfrm>
        <a:graphic xmlns:a="http://schemas.openxmlformats.org/drawingml/2006/main">
          <a:graphicData uri="http://schemas.openxmlformats.org/drawingml/2006/chart">
            <c:chart xmlns:c="http://schemas.openxmlformats.org/drawingml/2006/chart" r:id="rId3"/>
          </a:graphicData>
        </a:graphic>
      </p:graphicFrame>
      <p:graphicFrame>
        <p:nvGraphicFramePr>
          <p:cNvPr id="15" name="Chart 1" descr=""/>
          <p:cNvGraphicFramePr/>
          <p:nvPr/>
        </p:nvGraphicFramePr>
        <p:xfrm>
          <a:off x="8732520" y="1051560"/>
          <a:ext cx="3200400" cy="2331720"/>
        </p:xfrm>
        <a:graphic xmlns:a="http://schemas.openxmlformats.org/drawingml/2006/main">
          <a:graphicData uri="http://schemas.openxmlformats.org/drawingml/2006/chart">
            <c:chart xmlns:c="http://schemas.openxmlformats.org/drawingml/2006/chart" r:id="rId4"/>
          </a:graphicData>
        </a:graphic>
      </p:graphicFrame>
      <p:sp>
        <p:nvSpPr>
          <p:cNvPr id="16" name="Shape 10"/>
          <p:cNvSpPr/>
          <p:nvPr/>
        </p:nvSpPr>
        <p:spPr>
          <a:xfrm>
            <a:off x="5440680" y="3474720"/>
            <a:ext cx="3200400" cy="1417320"/>
          </a:xfrm>
          <a:prstGeom prst="roundRect">
            <a:avLst>
              <a:gd name="adj" fmla="val 5161"/>
            </a:avLst>
          </a:prstGeom>
          <a:solidFill>
            <a:srgbClr val="FDECEA"/>
          </a:solidFill>
          <a:ln/>
          <a:effectLst>
            <a:outerShdw sx="100000" sy="100000" kx="0" ky="0" algn="bl" rotWithShape="0" blurRad="50800" dist="12700" dir="16200000">
              <a:srgbClr val="1F2A44">
                <a:alpha val="12000"/>
              </a:srgbClr>
            </a:outerShdw>
          </a:effectLst>
        </p:spPr>
      </p:sp>
      <p:sp>
        <p:nvSpPr>
          <p:cNvPr id="17" name="Text 11"/>
          <p:cNvSpPr/>
          <p:nvPr/>
        </p:nvSpPr>
        <p:spPr>
          <a:xfrm>
            <a:off x="5577840" y="3547872"/>
            <a:ext cx="2926080" cy="256032"/>
          </a:xfrm>
          <a:prstGeom prst="rect">
            <a:avLst/>
          </a:prstGeom>
          <a:noFill/>
          <a:ln/>
        </p:spPr>
        <p:txBody>
          <a:bodyPr wrap="square" lIns="0" tIns="0" rIns="0" bIns="0" rtlCol="0" anchor="ctr"/>
          <a:lstStyle/>
          <a:p>
            <a:pPr indent="0" marL="0">
              <a:buNone/>
            </a:pPr>
            <a:r>
              <a:rPr lang="en-US" sz="1200" b="1" dirty="0">
                <a:solidFill>
                  <a:srgbClr val="C0392B"/>
                </a:solidFill>
                <a:latin typeface="Times New Roman" pitchFamily="34" charset="0"/>
                <a:ea typeface="Times New Roman" pitchFamily="34" charset="-122"/>
                <a:cs typeface="Times New Roman" pitchFamily="34" charset="-120"/>
              </a:rPr>
              <a:t>vs. Heuristic</a:t>
            </a:r>
            <a:endParaRPr lang="en-US" sz="1200" dirty="0"/>
          </a:p>
        </p:txBody>
      </p:sp>
      <p:sp>
        <p:nvSpPr>
          <p:cNvPr id="18" name="Text 12"/>
          <p:cNvSpPr/>
          <p:nvPr/>
        </p:nvSpPr>
        <p:spPr>
          <a:xfrm>
            <a:off x="5577840" y="3840480"/>
            <a:ext cx="2926080" cy="868680"/>
          </a:xfrm>
          <a:prstGeom prst="rect">
            <a:avLst/>
          </a:prstGeom>
          <a:noFill/>
          <a:ln/>
        </p:spPr>
        <p:txBody>
          <a:bodyPr wrap="square" lIns="0" tIns="0" rIns="0" bIns="0" rtlCol="0" anchor="ctr"/>
          <a:lstStyle/>
          <a:p>
            <a:pPr indent="0" marL="0">
              <a:buNone/>
            </a:pPr>
            <a:r>
              <a:rPr lang="en-US" sz="1600" b="1" dirty="0">
                <a:solidFill>
                  <a:srgbClr val="1F2A44"/>
                </a:solidFill>
                <a:latin typeface="Times New Roman" pitchFamily="34" charset="0"/>
                <a:ea typeface="Times New Roman" pitchFamily="34" charset="-122"/>
                <a:cs typeface="Times New Roman" pitchFamily="34" charset="-120"/>
              </a:rPr>
              <a:t>+17.16 pp  decisiveness</a:t>
            </a:r>
            <a:endParaRPr lang="en-US" sz="1600" dirty="0"/>
          </a:p>
          <a:p>
            <a:pPr indent="0" marL="0">
              <a:buNone/>
            </a:pPr>
            <a:r>
              <a:rPr lang="en-US" sz="1600" b="1" dirty="0">
                <a:solidFill>
                  <a:srgbClr val="1F2A44"/>
                </a:solidFill>
                <a:latin typeface="Times New Roman" pitchFamily="34" charset="0"/>
                <a:ea typeface="Times New Roman" pitchFamily="34" charset="-122"/>
                <a:cs typeface="Times New Roman" pitchFamily="34" charset="-120"/>
              </a:rPr>
              <a:t>+9.00 pp  discovery</a:t>
            </a:r>
            <a:endParaRPr lang="en-US" sz="1600" dirty="0"/>
          </a:p>
        </p:txBody>
      </p:sp>
      <p:sp>
        <p:nvSpPr>
          <p:cNvPr id="19" name="Shape 13"/>
          <p:cNvSpPr/>
          <p:nvPr/>
        </p:nvSpPr>
        <p:spPr>
          <a:xfrm>
            <a:off x="8732520" y="3474720"/>
            <a:ext cx="3200400" cy="1417320"/>
          </a:xfrm>
          <a:prstGeom prst="roundRect">
            <a:avLst>
              <a:gd name="adj" fmla="val 5161"/>
            </a:avLst>
          </a:prstGeom>
          <a:solidFill>
            <a:srgbClr val="FFF3E8"/>
          </a:solidFill>
          <a:ln/>
          <a:effectLst>
            <a:outerShdw sx="100000" sy="100000" kx="0" ky="0" algn="bl" rotWithShape="0" blurRad="50800" dist="12700" dir="16200000">
              <a:srgbClr val="1F2A44">
                <a:alpha val="12000"/>
              </a:srgbClr>
            </a:outerShdw>
          </a:effectLst>
        </p:spPr>
      </p:sp>
      <p:sp>
        <p:nvSpPr>
          <p:cNvPr id="20" name="Text 14"/>
          <p:cNvSpPr/>
          <p:nvPr/>
        </p:nvSpPr>
        <p:spPr>
          <a:xfrm>
            <a:off x="8869680" y="3547872"/>
            <a:ext cx="2926080" cy="256032"/>
          </a:xfrm>
          <a:prstGeom prst="rect">
            <a:avLst/>
          </a:prstGeom>
          <a:noFill/>
          <a:ln/>
        </p:spPr>
        <p:txBody>
          <a:bodyPr wrap="square" lIns="0" tIns="0" rIns="0" bIns="0" rtlCol="0" anchor="ctr"/>
          <a:lstStyle/>
          <a:p>
            <a:pPr indent="0" marL="0">
              <a:buNone/>
            </a:pPr>
            <a:r>
              <a:rPr lang="en-US" sz="1200" b="1" dirty="0">
                <a:solidFill>
                  <a:srgbClr val="ED7D31"/>
                </a:solidFill>
                <a:latin typeface="Times New Roman" pitchFamily="34" charset="0"/>
                <a:ea typeface="Times New Roman" pitchFamily="34" charset="-122"/>
                <a:cs typeface="Times New Roman" pitchFamily="34" charset="-120"/>
              </a:rPr>
              <a:t>vs. QMIX</a:t>
            </a:r>
            <a:endParaRPr lang="en-US" sz="1200" dirty="0"/>
          </a:p>
        </p:txBody>
      </p:sp>
      <p:sp>
        <p:nvSpPr>
          <p:cNvPr id="21" name="Text 15"/>
          <p:cNvSpPr/>
          <p:nvPr/>
        </p:nvSpPr>
        <p:spPr>
          <a:xfrm>
            <a:off x="8869680" y="3840480"/>
            <a:ext cx="2926080" cy="868680"/>
          </a:xfrm>
          <a:prstGeom prst="rect">
            <a:avLst/>
          </a:prstGeom>
          <a:noFill/>
          <a:ln/>
        </p:spPr>
        <p:txBody>
          <a:bodyPr wrap="square" lIns="0" tIns="0" rIns="0" bIns="0" rtlCol="0" anchor="ctr"/>
          <a:lstStyle/>
          <a:p>
            <a:pPr indent="0" marL="0">
              <a:buNone/>
            </a:pPr>
            <a:r>
              <a:rPr lang="en-US" sz="1600" b="1" dirty="0">
                <a:solidFill>
                  <a:srgbClr val="1F2A44"/>
                </a:solidFill>
                <a:latin typeface="Times New Roman" pitchFamily="34" charset="0"/>
                <a:ea typeface="Times New Roman" pitchFamily="34" charset="-122"/>
                <a:cs typeface="Times New Roman" pitchFamily="34" charset="-120"/>
              </a:rPr>
              <a:t>+32.15 pp  decisiveness</a:t>
            </a:r>
            <a:endParaRPr lang="en-US" sz="1600" dirty="0"/>
          </a:p>
          <a:p>
            <a:pPr indent="0" marL="0">
              <a:buNone/>
            </a:pPr>
            <a:r>
              <a:rPr lang="en-US" sz="1600" b="1" dirty="0">
                <a:solidFill>
                  <a:srgbClr val="1F2A44"/>
                </a:solidFill>
                <a:latin typeface="Times New Roman" pitchFamily="34" charset="0"/>
                <a:ea typeface="Times New Roman" pitchFamily="34" charset="-122"/>
                <a:cs typeface="Times New Roman" pitchFamily="34" charset="-120"/>
              </a:rPr>
              <a:t>+14.67 pp  discovery</a:t>
            </a:r>
            <a:endParaRPr lang="en-US" sz="1600" dirty="0"/>
          </a:p>
        </p:txBody>
      </p:sp>
      <p:sp>
        <p:nvSpPr>
          <p:cNvPr id="22" name="Shape 16"/>
          <p:cNvSpPr/>
          <p:nvPr/>
        </p:nvSpPr>
        <p:spPr>
          <a:xfrm>
            <a:off x="5440680" y="5029200"/>
            <a:ext cx="6492240" cy="1170432"/>
          </a:xfrm>
          <a:prstGeom prst="roundRect">
            <a:avLst>
              <a:gd name="adj" fmla="val 6250"/>
            </a:avLst>
          </a:prstGeom>
          <a:solidFill>
            <a:srgbClr val="2F5597"/>
          </a:solidFill>
          <a:ln/>
        </p:spPr>
      </p:sp>
      <p:sp>
        <p:nvSpPr>
          <p:cNvPr id="23" name="Text 17"/>
          <p:cNvSpPr/>
          <p:nvPr/>
        </p:nvSpPr>
        <p:spPr>
          <a:xfrm>
            <a:off x="5623560" y="5102352"/>
            <a:ext cx="6172200" cy="502920"/>
          </a:xfrm>
          <a:prstGeom prst="rect">
            <a:avLst/>
          </a:prstGeom>
          <a:noFill/>
          <a:ln/>
        </p:spPr>
        <p:txBody>
          <a:bodyPr wrap="square" lIns="0" tIns="0" rIns="0" bIns="0" rtlCol="0" anchor="ctr"/>
          <a:lstStyle/>
          <a:p>
            <a:pPr indent="0" marL="0">
              <a:buNone/>
            </a:pPr>
            <a:r>
              <a:rPr lang="en-US" sz="1600" b="1" dirty="0">
                <a:solidFill>
                  <a:srgbClr val="FFFFFF"/>
                </a:solidFill>
                <a:latin typeface="Times New Roman" pitchFamily="34" charset="0"/>
                <a:ea typeface="Times New Roman" pitchFamily="34" charset="-122"/>
                <a:cs typeface="Times New Roman" pitchFamily="34" charset="-120"/>
              </a:rPr>
              <a:t>T80   ·   82.0% success     ·     88.63 steps conditional on success</a:t>
            </a:r>
            <a:endParaRPr lang="en-US" sz="1600" dirty="0"/>
          </a:p>
        </p:txBody>
      </p:sp>
      <p:sp>
        <p:nvSpPr>
          <p:cNvPr id="24" name="Text 18"/>
          <p:cNvSpPr/>
          <p:nvPr/>
        </p:nvSpPr>
        <p:spPr>
          <a:xfrm>
            <a:off x="5623560" y="5632704"/>
            <a:ext cx="6172200" cy="402336"/>
          </a:xfrm>
          <a:prstGeom prst="rect">
            <a:avLst/>
          </a:prstGeom>
          <a:noFill/>
          <a:ln/>
        </p:spPr>
        <p:txBody>
          <a:bodyPr wrap="square" lIns="0" tIns="0" rIns="0" bIns="0" rtlCol="0" anchor="ctr"/>
          <a:lstStyle/>
          <a:p>
            <a:pPr indent="0" marL="0">
              <a:buNone/>
            </a:pPr>
            <a:r>
              <a:rPr lang="en-US" sz="1300" dirty="0">
                <a:solidFill>
                  <a:srgbClr val="D6E2F5"/>
                </a:solidFill>
                <a:latin typeface="Times New Roman" pitchFamily="34" charset="0"/>
                <a:ea typeface="Times New Roman" pitchFamily="34" charset="-122"/>
                <a:cs typeface="Times New Roman" pitchFamily="34" charset="-120"/>
              </a:rPr>
              <a:t>Safety intervention 0.17%; collision rate comparable to the heuristic (not ranked).</a:t>
            </a:r>
            <a:endParaRPr lang="en-US" sz="1300" dirty="0"/>
          </a:p>
        </p:txBody>
      </p:sp>
      <p:sp>
        <p:nvSpPr>
          <p:cNvPr id="25" name="Shape 19"/>
          <p:cNvSpPr/>
          <p:nvPr/>
        </p:nvSpPr>
        <p:spPr>
          <a:xfrm>
            <a:off x="0" y="6784848"/>
            <a:ext cx="12191695" cy="73152"/>
          </a:xfrm>
          <a:prstGeom prst="rect">
            <a:avLst/>
          </a:prstGeom>
          <a:solidFill>
            <a:srgbClr val="2F5597"/>
          </a:solidFill>
          <a:ln/>
        </p:spPr>
      </p:sp>
      <p:sp>
        <p:nvSpPr>
          <p:cNvPr id="26" name="Text 20"/>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27" name="Text 21"/>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3. Experimental Results</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3.2 Ablation and Sensitivity Analysis</a:t>
            </a:r>
            <a:endParaRPr lang="en-US" sz="2000" dirty="0"/>
          </a:p>
        </p:txBody>
      </p:sp>
      <p:graphicFrame>
        <p:nvGraphicFramePr>
          <p:cNvPr id="6" name="Chart 0" descr=""/>
          <p:cNvGraphicFramePr/>
          <p:nvPr/>
        </p:nvGraphicFramePr>
        <p:xfrm>
          <a:off x="182880" y="1024128"/>
          <a:ext cx="5852160" cy="23317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172200" y="102412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8" name="Shape 4"/>
          <p:cNvSpPr/>
          <p:nvPr/>
        </p:nvSpPr>
        <p:spPr>
          <a:xfrm>
            <a:off x="6172200" y="1024128"/>
            <a:ext cx="64008" cy="713232"/>
          </a:xfrm>
          <a:prstGeom prst="rect">
            <a:avLst/>
          </a:prstGeom>
          <a:solidFill>
            <a:srgbClr val="2F5597"/>
          </a:solidFill>
          <a:ln/>
        </p:spPr>
      </p:sp>
      <p:sp>
        <p:nvSpPr>
          <p:cNvPr id="9" name="Text 5"/>
          <p:cNvSpPr/>
          <p:nvPr/>
        </p:nvSpPr>
        <p:spPr>
          <a:xfrm>
            <a:off x="6355080" y="1060704"/>
            <a:ext cx="5394960" cy="237744"/>
          </a:xfrm>
          <a:prstGeom prst="rect">
            <a:avLst/>
          </a:prstGeom>
          <a:noFill/>
          <a:ln/>
        </p:spPr>
        <p:txBody>
          <a:bodyPr wrap="square" lIns="0" tIns="0" rIns="0" bIns="0" rtlCol="0" anchor="ctr"/>
          <a:lstStyle/>
          <a:p>
            <a:pPr indent="0" marL="0">
              <a:buNone/>
            </a:pPr>
            <a:r>
              <a:rPr lang="en-US" sz="1300" b="1" dirty="0">
                <a:solidFill>
                  <a:srgbClr val="2F5597"/>
                </a:solidFill>
                <a:latin typeface="Times New Roman" pitchFamily="34" charset="0"/>
                <a:ea typeface="Times New Roman" pitchFamily="34" charset="-122"/>
                <a:cs typeface="Times New Roman" pitchFamily="34" charset="-120"/>
              </a:rPr>
              <a:t>Heterogeneous relations</a:t>
            </a:r>
            <a:endParaRPr lang="en-US" sz="1300" dirty="0"/>
          </a:p>
        </p:txBody>
      </p:sp>
      <p:sp>
        <p:nvSpPr>
          <p:cNvPr id="10" name="Text 6"/>
          <p:cNvSpPr/>
          <p:nvPr/>
        </p:nvSpPr>
        <p:spPr>
          <a:xfrm>
            <a:off x="6355080" y="129844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+15.10 pp decisiveness</a:t>
            </a:r>
            <a:endParaRPr lang="en-US" sz="1200" dirty="0"/>
          </a:p>
          <a:p>
            <a:pPr indent="0" marL="0">
              <a:buNone/>
            </a:pPr>
            <a:r>
              <a:rPr lang="en-US" sz="1200" dirty="0">
                <a:solidFill>
                  <a:srgbClr val="1F2A44"/>
                </a:solidFill>
                <a:latin typeface="Times New Roman" pitchFamily="34" charset="0"/>
                <a:ea typeface="Times New Roman" pitchFamily="34" charset="-122"/>
                <a:cs typeface="Times New Roman" pitchFamily="34" charset="-120"/>
              </a:rPr>
              <a:t>vs. Homogeneous Graph MAPPO</a:t>
            </a:r>
            <a:endParaRPr lang="en-US" sz="1200" dirty="0"/>
          </a:p>
        </p:txBody>
      </p:sp>
      <p:sp>
        <p:nvSpPr>
          <p:cNvPr id="11" name="Shape 7"/>
          <p:cNvSpPr/>
          <p:nvPr/>
        </p:nvSpPr>
        <p:spPr>
          <a:xfrm>
            <a:off x="6172200" y="180136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12" name="Shape 8"/>
          <p:cNvSpPr/>
          <p:nvPr/>
        </p:nvSpPr>
        <p:spPr>
          <a:xfrm>
            <a:off x="6172200" y="1801368"/>
            <a:ext cx="64008" cy="713232"/>
          </a:xfrm>
          <a:prstGeom prst="rect">
            <a:avLst/>
          </a:prstGeom>
          <a:solidFill>
            <a:srgbClr val="2F5597"/>
          </a:solidFill>
          <a:ln/>
        </p:spPr>
      </p:sp>
      <p:sp>
        <p:nvSpPr>
          <p:cNvPr id="13" name="Text 9"/>
          <p:cNvSpPr/>
          <p:nvPr/>
        </p:nvSpPr>
        <p:spPr>
          <a:xfrm>
            <a:off x="6355080" y="1837944"/>
            <a:ext cx="5394960" cy="237744"/>
          </a:xfrm>
          <a:prstGeom prst="rect">
            <a:avLst/>
          </a:prstGeom>
          <a:noFill/>
          <a:ln/>
        </p:spPr>
        <p:txBody>
          <a:bodyPr wrap="square" lIns="0" tIns="0" rIns="0" bIns="0" rtlCol="0" anchor="ctr"/>
          <a:lstStyle/>
          <a:p>
            <a:pPr indent="0" marL="0">
              <a:buNone/>
            </a:pPr>
            <a:r>
              <a:rPr lang="en-US" sz="1300" b="1" dirty="0">
                <a:solidFill>
                  <a:srgbClr val="ED7D31"/>
                </a:solidFill>
                <a:latin typeface="Times New Roman" pitchFamily="34" charset="0"/>
                <a:ea typeface="Times New Roman" pitchFamily="34" charset="-122"/>
                <a:cs typeface="Times New Roman" pitchFamily="34" charset="-120"/>
              </a:rPr>
              <a:t>Revisit memory</a:t>
            </a:r>
            <a:endParaRPr lang="en-US" sz="1300" dirty="0"/>
          </a:p>
        </p:txBody>
      </p:sp>
      <p:sp>
        <p:nvSpPr>
          <p:cNvPr id="14" name="Text 10"/>
          <p:cNvSpPr/>
          <p:nvPr/>
        </p:nvSpPr>
        <p:spPr>
          <a:xfrm>
            <a:off x="6355080" y="207568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−16.33 pp decisiveness</a:t>
            </a:r>
            <a:endParaRPr lang="en-US" sz="1200" dirty="0"/>
          </a:p>
          <a:p>
            <a:pPr indent="0" marL="0">
              <a:buNone/>
            </a:pPr>
            <a:r>
              <a:rPr lang="en-US" sz="1200" dirty="0">
                <a:solidFill>
                  <a:srgbClr val="1F2A44"/>
                </a:solidFill>
                <a:latin typeface="Times New Roman" pitchFamily="34" charset="0"/>
                <a:ea typeface="Times New Roman" pitchFamily="34" charset="-122"/>
                <a:cs typeface="Times New Roman" pitchFamily="34" charset="-120"/>
              </a:rPr>
              <a:t>−13.67 pp discovery when removed</a:t>
            </a:r>
            <a:endParaRPr lang="en-US" sz="1200" dirty="0"/>
          </a:p>
        </p:txBody>
      </p:sp>
      <p:sp>
        <p:nvSpPr>
          <p:cNvPr id="15" name="Shape 11"/>
          <p:cNvSpPr/>
          <p:nvPr/>
        </p:nvSpPr>
        <p:spPr>
          <a:xfrm>
            <a:off x="6172200" y="2578608"/>
            <a:ext cx="5715000" cy="713232"/>
          </a:xfrm>
          <a:prstGeom prst="roundRect">
            <a:avLst>
              <a:gd name="adj" fmla="val 10256"/>
            </a:avLst>
          </a:prstGeom>
          <a:solidFill>
            <a:srgbClr val="FFFFFF"/>
          </a:solidFill>
          <a:ln/>
          <a:effectLst>
            <a:outerShdw sx="100000" sy="100000" kx="0" ky="0" algn="bl" rotWithShape="0" blurRad="50800" dist="12700" dir="16200000">
              <a:srgbClr val="1F2A44">
                <a:alpha val="12000"/>
              </a:srgbClr>
            </a:outerShdw>
          </a:effectLst>
        </p:spPr>
      </p:sp>
      <p:sp>
        <p:nvSpPr>
          <p:cNvPr id="16" name="Shape 12"/>
          <p:cNvSpPr/>
          <p:nvPr/>
        </p:nvSpPr>
        <p:spPr>
          <a:xfrm>
            <a:off x="6172200" y="2578608"/>
            <a:ext cx="64008" cy="713232"/>
          </a:xfrm>
          <a:prstGeom prst="rect">
            <a:avLst/>
          </a:prstGeom>
          <a:solidFill>
            <a:srgbClr val="2F5597"/>
          </a:solidFill>
          <a:ln/>
        </p:spPr>
      </p:sp>
      <p:sp>
        <p:nvSpPr>
          <p:cNvPr id="17" name="Text 13"/>
          <p:cNvSpPr/>
          <p:nvPr/>
        </p:nvSpPr>
        <p:spPr>
          <a:xfrm>
            <a:off x="6355080" y="2615184"/>
            <a:ext cx="5394960" cy="237744"/>
          </a:xfrm>
          <a:prstGeom prst="rect">
            <a:avLst/>
          </a:prstGeom>
          <a:noFill/>
          <a:ln/>
        </p:spPr>
        <p:txBody>
          <a:bodyPr wrap="square" lIns="0" tIns="0" rIns="0" bIns="0" rtlCol="0" anchor="ctr"/>
          <a:lstStyle/>
          <a:p>
            <a:pPr indent="0" marL="0">
              <a:buNone/>
            </a:pPr>
            <a:r>
              <a:rPr lang="en-US" sz="1300" b="1" dirty="0">
                <a:solidFill>
                  <a:srgbClr val="C0392B"/>
                </a:solidFill>
                <a:latin typeface="Times New Roman" pitchFamily="34" charset="0"/>
                <a:ea typeface="Times New Roman" pitchFamily="34" charset="-122"/>
                <a:cs typeface="Times New Roman" pitchFamily="34" charset="-120"/>
              </a:rPr>
              <a:t>History weighting</a:t>
            </a:r>
            <a:endParaRPr lang="en-US" sz="1300" dirty="0"/>
          </a:p>
        </p:txBody>
      </p:sp>
      <p:sp>
        <p:nvSpPr>
          <p:cNvPr id="18" name="Text 14"/>
          <p:cNvSpPr/>
          <p:nvPr/>
        </p:nvSpPr>
        <p:spPr>
          <a:xfrm>
            <a:off x="6355080" y="2852928"/>
            <a:ext cx="5394960" cy="384048"/>
          </a:xfrm>
          <a:prstGeom prst="rect">
            <a:avLst/>
          </a:prstGeom>
          <a:noFill/>
          <a:ln/>
        </p:spPr>
        <p:txBody>
          <a:bodyPr wrap="square" lIns="0" tIns="0" rIns="0" bIns="0" rtlCol="0" anchor="ctr"/>
          <a:lstStyle/>
          <a:p>
            <a:pPr indent="0" marL="0">
              <a:buNone/>
            </a:pPr>
            <a:r>
              <a:rPr lang="en-US" sz="1200" dirty="0">
                <a:solidFill>
                  <a:srgbClr val="1F2A44"/>
                </a:solidFill>
                <a:latin typeface="Times New Roman" pitchFamily="34" charset="0"/>
                <a:ea typeface="Times New Roman" pitchFamily="34" charset="-122"/>
                <a:cs typeface="Times New Roman" pitchFamily="34" charset="-120"/>
              </a:rPr>
              <a:t>−8.16 pp decisiveness when removed</a:t>
            </a:r>
            <a:endParaRPr lang="en-US" sz="1200" dirty="0"/>
          </a:p>
          <a:p>
            <a:pPr indent="0" marL="0">
              <a:buNone/>
            </a:pPr>
            <a:r>
              <a:rPr lang="en-US" sz="1200" dirty="0">
                <a:solidFill>
                  <a:srgbClr val="1F2A44"/>
                </a:solidFill>
                <a:latin typeface="Times New Roman" pitchFamily="34" charset="0"/>
                <a:ea typeface="Times New Roman" pitchFamily="34" charset="-122"/>
                <a:cs typeface="Times New Roman" pitchFamily="34" charset="-120"/>
              </a:rPr>
              <a:t>T80 88.63→98.19; success 82.0% vs 86.7%</a:t>
            </a:r>
            <a:endParaRPr lang="en-US" sz="1200" dirty="0"/>
          </a:p>
        </p:txBody>
      </p:sp>
      <p:pic>
        <p:nvPicPr>
          <p:cNvPr id="19" name="Image 1" descr="/tmp/ppt-work/assets/fig4.png">    </p:cNvPr>
          <p:cNvPicPr>
            <a:picLocks noChangeAspect="1"/>
          </p:cNvPicPr>
          <p:nvPr/>
        </p:nvPicPr>
        <p:blipFill>
          <a:blip r:embed="rId3"/>
          <a:stretch>
            <a:fillRect/>
          </a:stretch>
        </p:blipFill>
        <p:spPr>
          <a:xfrm>
            <a:off x="3021904" y="3401568"/>
            <a:ext cx="6117712" cy="2029968"/>
          </a:xfrm>
          <a:prstGeom prst="rect">
            <a:avLst/>
          </a:prstGeom>
        </p:spPr>
      </p:pic>
      <p:sp>
        <p:nvSpPr>
          <p:cNvPr id="20" name="Text 15"/>
          <p:cNvSpPr/>
          <p:nvPr/>
        </p:nvSpPr>
        <p:spPr>
          <a:xfrm>
            <a:off x="274320" y="5449824"/>
            <a:ext cx="11612880" cy="256032"/>
          </a:xfrm>
          <a:prstGeom prst="rect">
            <a:avLst/>
          </a:prstGeom>
          <a:noFill/>
          <a:ln/>
        </p:spPr>
        <p:txBody>
          <a:bodyPr wrap="square" lIns="0" tIns="0" rIns="0" bIns="0" rtlCol="0" anchor="ctr"/>
          <a:lstStyle/>
          <a:p>
            <a:pPr indent="0" marL="0">
              <a:buNone/>
            </a:pPr>
            <a:r>
              <a:rPr lang="en-US" sz="1200" i="1" dirty="0">
                <a:solidFill>
                  <a:srgbClr val="1E3F73"/>
                </a:solidFill>
                <a:latin typeface="Times New Roman" pitchFamily="34" charset="0"/>
                <a:ea typeface="Times New Roman" pitchFamily="34" charset="-122"/>
                <a:cs typeface="Times New Roman" pitchFamily="34" charset="-120"/>
              </a:rPr>
              <a:t>Do not walk all six panels.  Cite target speed and Rc / outage; mean discovery stays higher in the tested ranges.</a:t>
            </a:r>
            <a:endParaRPr lang="en-US" sz="1200" dirty="0"/>
          </a:p>
        </p:txBody>
      </p:sp>
      <p:sp>
        <p:nvSpPr>
          <p:cNvPr id="21" name="Shape 16"/>
          <p:cNvSpPr/>
          <p:nvPr/>
        </p:nvSpPr>
        <p:spPr>
          <a:xfrm>
            <a:off x="256032" y="5742432"/>
            <a:ext cx="11686032" cy="621792"/>
          </a:xfrm>
          <a:prstGeom prst="roundRect">
            <a:avLst>
              <a:gd name="adj" fmla="val 11765"/>
            </a:avLst>
          </a:prstGeom>
          <a:solidFill>
            <a:srgbClr val="EAF0F8"/>
          </a:solidFill>
          <a:ln/>
          <a:effectLst>
            <a:outerShdw sx="100000" sy="100000" kx="0" ky="0" algn="bl" rotWithShape="0" blurRad="50800" dist="12700" dir="16200000">
              <a:srgbClr val="1F2A44">
                <a:alpha val="12000"/>
              </a:srgbClr>
            </a:outerShdw>
          </a:effectLst>
        </p:spPr>
      </p:sp>
      <p:sp>
        <p:nvSpPr>
          <p:cNvPr id="22" name="Text 17"/>
          <p:cNvSpPr/>
          <p:nvPr/>
        </p:nvSpPr>
        <p:spPr>
          <a:xfrm>
            <a:off x="384048" y="5742432"/>
            <a:ext cx="11430000" cy="62179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Trade-off to state: w/o history  T80 success 86.7% vs Full 82.0%, but conditional T80 98.19 vs 88.63 and Ct 53.99 vs 62.15.</a:t>
            </a:r>
            <a:endParaRPr lang="en-US" sz="1300" dirty="0"/>
          </a:p>
        </p:txBody>
      </p:sp>
      <p:sp>
        <p:nvSpPr>
          <p:cNvPr id="23" name="Shape 18"/>
          <p:cNvSpPr/>
          <p:nvPr/>
        </p:nvSpPr>
        <p:spPr>
          <a:xfrm>
            <a:off x="0" y="6784848"/>
            <a:ext cx="12191695" cy="73152"/>
          </a:xfrm>
          <a:prstGeom prst="rect">
            <a:avLst/>
          </a:prstGeom>
          <a:solidFill>
            <a:srgbClr val="2F5597"/>
          </a:solidFill>
          <a:ln/>
        </p:spPr>
      </p:sp>
      <p:sp>
        <p:nvSpPr>
          <p:cNvPr id="24" name="Text 19"/>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25" name="Text 20"/>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37578" y="54864"/>
            <a:ext cx="715196" cy="493776"/>
          </a:xfrm>
          <a:prstGeom prst="rect">
            <a:avLst/>
          </a:prstGeom>
        </p:spPr>
      </p:pic>
      <p:sp>
        <p:nvSpPr>
          <p:cNvPr id="3" name="Text 0"/>
          <p:cNvSpPr/>
          <p:nvPr/>
        </p:nvSpPr>
        <p:spPr>
          <a:xfrm>
            <a:off x="347472" y="73152"/>
            <a:ext cx="10698480" cy="438912"/>
          </a:xfrm>
          <a:prstGeom prst="rect">
            <a:avLst/>
          </a:prstGeom>
          <a:noFill/>
          <a:ln/>
        </p:spPr>
        <p:txBody>
          <a:bodyPr wrap="square" lIns="0" tIns="0" rIns="0" bIns="0" rtlCol="0" anchor="ctr"/>
          <a:lstStyle/>
          <a:p>
            <a:pPr indent="0" marL="0">
              <a:buNone/>
            </a:pPr>
            <a:r>
              <a:rPr lang="en-US" sz="2600" b="1" dirty="0">
                <a:solidFill>
                  <a:srgbClr val="2F5597"/>
                </a:solidFill>
                <a:latin typeface="Times New Roman" pitchFamily="34" charset="0"/>
                <a:ea typeface="Times New Roman" pitchFamily="34" charset="-122"/>
                <a:cs typeface="Times New Roman" pitchFamily="34" charset="-120"/>
              </a:rPr>
              <a:t>4. Summary and Future Plan</a:t>
            </a:r>
            <a:endParaRPr lang="en-US" sz="2600" dirty="0"/>
          </a:p>
        </p:txBody>
      </p:sp>
      <p:sp>
        <p:nvSpPr>
          <p:cNvPr id="4" name="Shape 1"/>
          <p:cNvSpPr/>
          <p:nvPr/>
        </p:nvSpPr>
        <p:spPr>
          <a:xfrm>
            <a:off x="0" y="566928"/>
            <a:ext cx="12191695" cy="475488"/>
          </a:xfrm>
          <a:prstGeom prst="rect">
            <a:avLst/>
          </a:prstGeom>
          <a:solidFill>
            <a:srgbClr val="2F5597"/>
          </a:solidFill>
          <a:ln/>
        </p:spPr>
      </p:sp>
      <p:sp>
        <p:nvSpPr>
          <p:cNvPr id="5" name="Text 2"/>
          <p:cNvSpPr/>
          <p:nvPr/>
        </p:nvSpPr>
        <p:spPr>
          <a:xfrm>
            <a:off x="347472" y="585216"/>
            <a:ext cx="11430000" cy="438912"/>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Contributions, results, and next steps</a:t>
            </a:r>
            <a:endParaRPr lang="en-US" sz="2000" dirty="0"/>
          </a:p>
        </p:txBody>
      </p:sp>
      <p:sp>
        <p:nvSpPr>
          <p:cNvPr id="6" name="Shape 3"/>
          <p:cNvSpPr/>
          <p:nvPr/>
        </p:nvSpPr>
        <p:spPr>
          <a:xfrm>
            <a:off x="320040" y="1078992"/>
            <a:ext cx="11539728" cy="768096"/>
          </a:xfrm>
          <a:prstGeom prst="roundRect">
            <a:avLst>
              <a:gd name="adj" fmla="val 9524"/>
            </a:avLst>
          </a:prstGeom>
          <a:solidFill>
            <a:srgbClr val="EAF0F8"/>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078992"/>
            <a:ext cx="64008" cy="768096"/>
          </a:xfrm>
          <a:prstGeom prst="rect">
            <a:avLst/>
          </a:prstGeom>
          <a:solidFill>
            <a:srgbClr val="2F5597"/>
          </a:solidFill>
          <a:ln/>
        </p:spPr>
      </p:sp>
      <p:sp>
        <p:nvSpPr>
          <p:cNvPr id="8" name="Text 5"/>
          <p:cNvSpPr/>
          <p:nvPr/>
        </p:nvSpPr>
        <p:spPr>
          <a:xfrm>
            <a:off x="502920" y="1115568"/>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1. Communication-Constrained Decision Making</a:t>
            </a:r>
            <a:endParaRPr lang="en-US" sz="1600" dirty="0"/>
          </a:p>
        </p:txBody>
      </p:sp>
      <p:sp>
        <p:nvSpPr>
          <p:cNvPr id="9" name="Text 6"/>
          <p:cNvSpPr/>
          <p:nvPr/>
        </p:nvSpPr>
        <p:spPr>
          <a:xfrm>
            <a:off x="502920" y="1408176"/>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Decentralized policies use only local observations and reachable peer information.</a:t>
            </a:r>
            <a:endParaRPr lang="en-US" sz="1400" dirty="0"/>
          </a:p>
        </p:txBody>
      </p:sp>
      <p:sp>
        <p:nvSpPr>
          <p:cNvPr id="10" name="Shape 7"/>
          <p:cNvSpPr/>
          <p:nvPr/>
        </p:nvSpPr>
        <p:spPr>
          <a:xfrm>
            <a:off x="320040" y="1920240"/>
            <a:ext cx="11539728" cy="768096"/>
          </a:xfrm>
          <a:prstGeom prst="roundRect">
            <a:avLst>
              <a:gd name="adj" fmla="val 9524"/>
            </a:avLst>
          </a:prstGeom>
          <a:solidFill>
            <a:srgbClr val="FFF3E8"/>
          </a:solidFill>
          <a:ln/>
          <a:effectLst>
            <a:outerShdw sx="100000" sy="100000" kx="0" ky="0" algn="bl" rotWithShape="0" blurRad="50800" dist="12700" dir="16200000">
              <a:srgbClr val="1F2A44">
                <a:alpha val="12000"/>
              </a:srgbClr>
            </a:outerShdw>
          </a:effectLst>
        </p:spPr>
      </p:sp>
      <p:sp>
        <p:nvSpPr>
          <p:cNvPr id="11" name="Shape 8"/>
          <p:cNvSpPr/>
          <p:nvPr/>
        </p:nvSpPr>
        <p:spPr>
          <a:xfrm>
            <a:off x="320040" y="1920240"/>
            <a:ext cx="64008" cy="768096"/>
          </a:xfrm>
          <a:prstGeom prst="rect">
            <a:avLst/>
          </a:prstGeom>
          <a:solidFill>
            <a:srgbClr val="2F5597"/>
          </a:solidFill>
          <a:ln/>
        </p:spPr>
      </p:sp>
      <p:sp>
        <p:nvSpPr>
          <p:cNvPr id="12" name="Text 9"/>
          <p:cNvSpPr/>
          <p:nvPr/>
        </p:nvSpPr>
        <p:spPr>
          <a:xfrm>
            <a:off x="502920" y="1956816"/>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2. Belief Management</a:t>
            </a:r>
            <a:endParaRPr lang="en-US" sz="1600" dirty="0"/>
          </a:p>
        </p:txBody>
      </p:sp>
      <p:sp>
        <p:nvSpPr>
          <p:cNvPr id="13" name="Text 10"/>
          <p:cNvSpPr/>
          <p:nvPr/>
        </p:nvSpPr>
        <p:spPr>
          <a:xfrm>
            <a:off x="502920" y="2249424"/>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Revisit-aware P/E/R memory + communication-history-aware source selection.</a:t>
            </a:r>
            <a:endParaRPr lang="en-US" sz="1400" dirty="0"/>
          </a:p>
        </p:txBody>
      </p:sp>
      <p:sp>
        <p:nvSpPr>
          <p:cNvPr id="14" name="Shape 11"/>
          <p:cNvSpPr/>
          <p:nvPr/>
        </p:nvSpPr>
        <p:spPr>
          <a:xfrm>
            <a:off x="320040" y="2761488"/>
            <a:ext cx="11539728" cy="768096"/>
          </a:xfrm>
          <a:prstGeom prst="roundRect">
            <a:avLst>
              <a:gd name="adj" fmla="val 9524"/>
            </a:avLst>
          </a:prstGeom>
          <a:solidFill>
            <a:srgbClr val="EAF0F8"/>
          </a:solidFill>
          <a:ln/>
          <a:effectLst>
            <a:outerShdw sx="100000" sy="100000" kx="0" ky="0" algn="bl" rotWithShape="0" blurRad="50800" dist="12700" dir="16200000">
              <a:srgbClr val="1F2A44">
                <a:alpha val="12000"/>
              </a:srgbClr>
            </a:outerShdw>
          </a:effectLst>
        </p:spPr>
      </p:sp>
      <p:sp>
        <p:nvSpPr>
          <p:cNvPr id="15" name="Shape 12"/>
          <p:cNvSpPr/>
          <p:nvPr/>
        </p:nvSpPr>
        <p:spPr>
          <a:xfrm>
            <a:off x="320040" y="2761488"/>
            <a:ext cx="64008" cy="768096"/>
          </a:xfrm>
          <a:prstGeom prst="rect">
            <a:avLst/>
          </a:prstGeom>
          <a:solidFill>
            <a:srgbClr val="2F5597"/>
          </a:solidFill>
          <a:ln/>
        </p:spPr>
      </p:sp>
      <p:sp>
        <p:nvSpPr>
          <p:cNvPr id="16" name="Text 13"/>
          <p:cNvSpPr/>
          <p:nvPr/>
        </p:nvSpPr>
        <p:spPr>
          <a:xfrm>
            <a:off x="502920" y="2798064"/>
            <a:ext cx="11173968" cy="292608"/>
          </a:xfrm>
          <a:prstGeom prst="rect">
            <a:avLst/>
          </a:prstGeom>
          <a:noFill/>
          <a:ln/>
        </p:spPr>
        <p:txBody>
          <a:bodyPr wrap="square" lIns="0" tIns="0" rIns="0" bIns="0" rtlCol="0" anchor="ctr"/>
          <a:lstStyle/>
          <a:p>
            <a:pPr indent="0" marL="0">
              <a:buNone/>
            </a:pPr>
            <a:r>
              <a:rPr lang="en-US" sz="1600" b="1" dirty="0">
                <a:solidFill>
                  <a:srgbClr val="1E3F73"/>
                </a:solidFill>
                <a:latin typeface="Times New Roman" pitchFamily="34" charset="0"/>
                <a:ea typeface="Times New Roman" pitchFamily="34" charset="-122"/>
                <a:cs typeface="Times New Roman" pitchFamily="34" charset="-120"/>
              </a:rPr>
              <a:t>3. Heterogeneous Relational Encoding</a:t>
            </a:r>
            <a:endParaRPr lang="en-US" sz="1600" dirty="0"/>
          </a:p>
        </p:txBody>
      </p:sp>
      <p:sp>
        <p:nvSpPr>
          <p:cNvPr id="17" name="Text 14"/>
          <p:cNvSpPr/>
          <p:nvPr/>
        </p:nvSpPr>
        <p:spPr>
          <a:xfrm>
            <a:off x="502920" y="3090672"/>
            <a:ext cx="11173968" cy="365760"/>
          </a:xfrm>
          <a:prstGeom prst="rect">
            <a:avLst/>
          </a:prstGeom>
          <a:noFill/>
          <a:ln/>
        </p:spPr>
        <p:txBody>
          <a:bodyPr wrap="square" lIns="0" tIns="0" rIns="0" bIns="0" rtlCol="0" anchor="ctr"/>
          <a:lstStyle/>
          <a:p>
            <a:pPr indent="0" marL="0">
              <a:buNone/>
            </a:pPr>
            <a:r>
              <a:rPr lang="en-US" sz="1400" dirty="0">
                <a:solidFill>
                  <a:srgbClr val="1F2A44"/>
                </a:solidFill>
                <a:latin typeface="Times New Roman" pitchFamily="34" charset="0"/>
                <a:ea typeface="Times New Roman" pitchFamily="34" charset="-122"/>
                <a:cs typeface="Times New Roman" pitchFamily="34" charset="-120"/>
              </a:rPr>
              <a:t>HGAT explicitly models peer, task and obstacle relations within MAPPO.</a:t>
            </a:r>
            <a:endParaRPr lang="en-US" sz="1400" dirty="0"/>
          </a:p>
        </p:txBody>
      </p:sp>
      <p:sp>
        <p:nvSpPr>
          <p:cNvPr id="18" name="Shape 15"/>
          <p:cNvSpPr/>
          <p:nvPr/>
        </p:nvSpPr>
        <p:spPr>
          <a:xfrm>
            <a:off x="320040" y="3639312"/>
            <a:ext cx="11539728" cy="658368"/>
          </a:xfrm>
          <a:prstGeom prst="roundRect">
            <a:avLst>
              <a:gd name="adj" fmla="val 11111"/>
            </a:avLst>
          </a:prstGeom>
          <a:solidFill>
            <a:srgbClr val="2F5597"/>
          </a:solidFill>
          <a:ln/>
        </p:spPr>
      </p:sp>
      <p:sp>
        <p:nvSpPr>
          <p:cNvPr id="19" name="Text 16"/>
          <p:cNvSpPr/>
          <p:nvPr/>
        </p:nvSpPr>
        <p:spPr>
          <a:xfrm>
            <a:off x="457200" y="3639312"/>
            <a:ext cx="11265408" cy="658368"/>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62.15%  Ct     ·     86.78%  Dt     ·     82.0%  T80 success     ·     88.63 steps | success</a:t>
            </a:r>
            <a:endParaRPr lang="en-US" sz="1800" dirty="0"/>
          </a:p>
        </p:txBody>
      </p:sp>
      <p:sp>
        <p:nvSpPr>
          <p:cNvPr id="20" name="Shape 17"/>
          <p:cNvSpPr/>
          <p:nvPr/>
        </p:nvSpPr>
        <p:spPr>
          <a:xfrm>
            <a:off x="320040" y="4389120"/>
            <a:ext cx="5669280" cy="566928"/>
          </a:xfrm>
          <a:prstGeom prst="roundRect">
            <a:avLst>
              <a:gd name="adj" fmla="val 12903"/>
            </a:avLst>
          </a:prstGeom>
          <a:solidFill>
            <a:srgbClr val="F4EFE4"/>
          </a:solidFill>
          <a:ln/>
          <a:effectLst>
            <a:outerShdw sx="100000" sy="100000" kx="0" ky="0" algn="bl" rotWithShape="0" blurRad="50800" dist="12700" dir="16200000">
              <a:srgbClr val="1F2A44">
                <a:alpha val="12000"/>
              </a:srgbClr>
            </a:outerShdw>
          </a:effectLst>
        </p:spPr>
      </p:sp>
      <p:sp>
        <p:nvSpPr>
          <p:cNvPr id="21" name="Shape 18"/>
          <p:cNvSpPr/>
          <p:nvPr/>
        </p:nvSpPr>
        <p:spPr>
          <a:xfrm>
            <a:off x="365760" y="4425696"/>
            <a:ext cx="5577840" cy="493776"/>
          </a:xfrm>
          <a:prstGeom prst="roundRect">
            <a:avLst>
              <a:gd name="adj" fmla="val 9259"/>
            </a:avLst>
          </a:prstGeom>
          <a:solidFill>
            <a:srgbClr val="F4EFE4"/>
          </a:solidFill>
          <a:ln/>
        </p:spPr>
      </p:sp>
      <p:pic>
        <p:nvPicPr>
          <p:cNvPr id="22" name="Image 1" descr="/workspace/presentations/eq/reward.png">    </p:cNvPr>
          <p:cNvPicPr>
            <a:picLocks noChangeAspect="1"/>
          </p:cNvPicPr>
          <p:nvPr/>
        </p:nvPicPr>
        <p:blipFill>
          <a:blip r:embed="rId2"/>
          <a:stretch>
            <a:fillRect/>
          </a:stretch>
        </p:blipFill>
        <p:spPr>
          <a:xfrm>
            <a:off x="1273302" y="4462272"/>
            <a:ext cx="3762756" cy="420624"/>
          </a:xfrm>
          <a:prstGeom prst="rect">
            <a:avLst/>
          </a:prstGeom>
        </p:spPr>
      </p:pic>
      <p:sp>
        <p:nvSpPr>
          <p:cNvPr id="23" name="Shape 19"/>
          <p:cNvSpPr/>
          <p:nvPr/>
        </p:nvSpPr>
        <p:spPr>
          <a:xfrm>
            <a:off x="6126480" y="4389120"/>
            <a:ext cx="5733288" cy="566928"/>
          </a:xfrm>
          <a:prstGeom prst="roundRect">
            <a:avLst>
              <a:gd name="adj" fmla="val 12903"/>
            </a:avLst>
          </a:prstGeom>
          <a:solidFill>
            <a:srgbClr val="F4EFE4"/>
          </a:solidFill>
          <a:ln/>
          <a:effectLst>
            <a:outerShdw sx="100000" sy="100000" kx="0" ky="0" algn="bl" rotWithShape="0" blurRad="50800" dist="12700" dir="16200000">
              <a:srgbClr val="1F2A44">
                <a:alpha val="12000"/>
              </a:srgbClr>
            </a:outerShdw>
          </a:effectLst>
        </p:spPr>
      </p:sp>
      <p:sp>
        <p:nvSpPr>
          <p:cNvPr id="24" name="Shape 20"/>
          <p:cNvSpPr/>
          <p:nvPr/>
        </p:nvSpPr>
        <p:spPr>
          <a:xfrm>
            <a:off x="6172200" y="4425696"/>
            <a:ext cx="5641848" cy="493776"/>
          </a:xfrm>
          <a:prstGeom prst="roundRect">
            <a:avLst>
              <a:gd name="adj" fmla="val 9259"/>
            </a:avLst>
          </a:prstGeom>
          <a:solidFill>
            <a:srgbClr val="F4EFE4"/>
          </a:solidFill>
          <a:ln/>
        </p:spPr>
      </p:sp>
      <p:pic>
        <p:nvPicPr>
          <p:cNvPr id="25" name="Image 2" descr="/workspace/presentations/eq/att.png">    </p:cNvPr>
          <p:cNvPicPr>
            <a:picLocks noChangeAspect="1"/>
          </p:cNvPicPr>
          <p:nvPr/>
        </p:nvPicPr>
        <p:blipFill>
          <a:blip r:embed="rId3"/>
          <a:stretch>
            <a:fillRect/>
          </a:stretch>
        </p:blipFill>
        <p:spPr>
          <a:xfrm>
            <a:off x="6671603" y="4462272"/>
            <a:ext cx="4643042" cy="420624"/>
          </a:xfrm>
          <a:prstGeom prst="rect">
            <a:avLst/>
          </a:prstGeom>
        </p:spPr>
      </p:pic>
      <p:sp>
        <p:nvSpPr>
          <p:cNvPr id="26" name="Text 21"/>
          <p:cNvSpPr/>
          <p:nvPr/>
        </p:nvSpPr>
        <p:spPr>
          <a:xfrm>
            <a:off x="365760" y="5029200"/>
            <a:ext cx="11430000" cy="256032"/>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Future Plan</a:t>
            </a:r>
            <a:endParaRPr lang="en-US" sz="1500" dirty="0"/>
          </a:p>
        </p:txBody>
      </p:sp>
      <p:sp>
        <p:nvSpPr>
          <p:cNvPr id="27" name="Shape 22"/>
          <p:cNvSpPr/>
          <p:nvPr/>
        </p:nvSpPr>
        <p:spPr>
          <a:xfrm>
            <a:off x="320040"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8" name="Text 23"/>
          <p:cNvSpPr/>
          <p:nvPr/>
        </p:nvSpPr>
        <p:spPr>
          <a:xfrm>
            <a:off x="429768"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3D environments</a:t>
            </a:r>
            <a:endParaRPr lang="en-US" sz="1500" dirty="0"/>
          </a:p>
        </p:txBody>
      </p:sp>
      <p:sp>
        <p:nvSpPr>
          <p:cNvPr id="29" name="Text 24"/>
          <p:cNvSpPr/>
          <p:nvPr/>
        </p:nvSpPr>
        <p:spPr>
          <a:xfrm>
            <a:off x="429768"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Extend planar search to 3-D UAV kinematics and occupancy</a:t>
            </a:r>
            <a:endParaRPr lang="en-US" sz="1300" dirty="0"/>
          </a:p>
        </p:txBody>
      </p:sp>
      <p:sp>
        <p:nvSpPr>
          <p:cNvPr id="30" name="Shape 25"/>
          <p:cNvSpPr/>
          <p:nvPr/>
        </p:nvSpPr>
        <p:spPr>
          <a:xfrm>
            <a:off x="4270248"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31" name="Text 26"/>
          <p:cNvSpPr/>
          <p:nvPr/>
        </p:nvSpPr>
        <p:spPr>
          <a:xfrm>
            <a:off x="4379976"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Fully decentralized safety</a:t>
            </a:r>
            <a:endParaRPr lang="en-US" sz="1500" dirty="0"/>
          </a:p>
        </p:txBody>
      </p:sp>
      <p:sp>
        <p:nvSpPr>
          <p:cNvPr id="32" name="Text 27"/>
          <p:cNvSpPr/>
          <p:nvPr/>
        </p:nvSpPr>
        <p:spPr>
          <a:xfrm>
            <a:off x="4379976"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Remove the simulator-level centralized safety supervisor</a:t>
            </a:r>
            <a:endParaRPr lang="en-US" sz="1300" dirty="0"/>
          </a:p>
        </p:txBody>
      </p:sp>
      <p:sp>
        <p:nvSpPr>
          <p:cNvPr id="33" name="Shape 28"/>
          <p:cNvSpPr/>
          <p:nvPr/>
        </p:nvSpPr>
        <p:spPr>
          <a:xfrm>
            <a:off x="8220456"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34" name="Text 29"/>
          <p:cNvSpPr/>
          <p:nvPr/>
        </p:nvSpPr>
        <p:spPr>
          <a:xfrm>
            <a:off x="8330184" y="5504688"/>
            <a:ext cx="3566160" cy="292608"/>
          </a:xfrm>
          <a:prstGeom prst="rect">
            <a:avLst/>
          </a:prstGeom>
          <a:noFill/>
          <a:ln/>
        </p:spPr>
        <p:txBody>
          <a:bodyPr wrap="square" lIns="0" tIns="0" rIns="0" bIns="0" rtlCol="0" anchor="ctr"/>
          <a:lstStyle/>
          <a:p>
            <a:pPr indent="0" marL="0">
              <a:buNone/>
            </a:pPr>
            <a:r>
              <a:rPr lang="en-US" sz="1500" b="1" dirty="0">
                <a:solidFill>
                  <a:srgbClr val="2F5597"/>
                </a:solidFill>
                <a:latin typeface="Times New Roman" pitchFamily="34" charset="0"/>
                <a:ea typeface="Times New Roman" pitchFamily="34" charset="-122"/>
                <a:cs typeface="Times New Roman" pitchFamily="34" charset="-120"/>
              </a:rPr>
              <a:t>Realistic validation</a:t>
            </a:r>
            <a:endParaRPr lang="en-US" sz="1500" dirty="0"/>
          </a:p>
        </p:txBody>
      </p:sp>
      <p:sp>
        <p:nvSpPr>
          <p:cNvPr id="35" name="Text 30"/>
          <p:cNvSpPr/>
          <p:nvPr/>
        </p:nvSpPr>
        <p:spPr>
          <a:xfrm>
            <a:off x="8330184" y="5797296"/>
            <a:ext cx="3566160" cy="438912"/>
          </a:xfrm>
          <a:prstGeom prst="rect">
            <a:avLst/>
          </a:prstGeom>
          <a:noFill/>
          <a:ln/>
        </p:spPr>
        <p:txBody>
          <a:bodyPr wrap="square" lIns="0" tIns="0" rIns="0" bIns="0" rtlCol="0" anchor="ctr"/>
          <a:lstStyle/>
          <a:p>
            <a:pPr indent="0" marL="0">
              <a:buNone/>
            </a:pPr>
            <a:r>
              <a:rPr lang="en-US" sz="1300" dirty="0">
                <a:solidFill>
                  <a:srgbClr val="1F2A44"/>
                </a:solidFill>
                <a:latin typeface="Times New Roman" pitchFamily="34" charset="0"/>
                <a:ea typeface="Times New Roman" pitchFamily="34" charset="-122"/>
                <a:cs typeface="Times New Roman" pitchFamily="34" charset="-120"/>
              </a:rPr>
              <a:t>HIL + real radios; keep search (not pursuit) as the core story</a:t>
            </a:r>
            <a:endParaRPr lang="en-US" sz="1300" dirty="0"/>
          </a:p>
        </p:txBody>
      </p:sp>
      <p:sp>
        <p:nvSpPr>
          <p:cNvPr id="36" name="Shape 31"/>
          <p:cNvSpPr/>
          <p:nvPr/>
        </p:nvSpPr>
        <p:spPr>
          <a:xfrm>
            <a:off x="0" y="6784848"/>
            <a:ext cx="12191695" cy="73152"/>
          </a:xfrm>
          <a:prstGeom prst="rect">
            <a:avLst/>
          </a:prstGeom>
          <a:solidFill>
            <a:srgbClr val="2F5597"/>
          </a:solidFill>
          <a:ln/>
        </p:spPr>
      </p:sp>
      <p:sp>
        <p:nvSpPr>
          <p:cNvPr id="37" name="Text 32"/>
          <p:cNvSpPr/>
          <p:nvPr/>
        </p:nvSpPr>
        <p:spPr>
          <a:xfrm>
            <a:off x="347472" y="6492240"/>
            <a:ext cx="10881360" cy="256032"/>
          </a:xfrm>
          <a:prstGeom prst="rect">
            <a:avLst/>
          </a:prstGeom>
          <a:noFill/>
          <a:ln/>
        </p:spPr>
        <p:txBody>
          <a:bodyPr wrap="square" lIns="0" tIns="0" rIns="0" bIns="0" rtlCol="0" anchor="ctr"/>
          <a:lstStyle/>
          <a:p>
            <a:pPr indent="0" marL="0">
              <a:buNone/>
            </a:pPr>
            <a:r>
              <a:rPr lang="en-US" sz="1100" dirty="0">
                <a:solidFill>
                  <a:srgbClr val="5A6A80"/>
                </a:solidFill>
                <a:latin typeface="Times New Roman" pitchFamily="34" charset="0"/>
                <a:ea typeface="Times New Roman" pitchFamily="34" charset="-122"/>
                <a:cs typeface="Times New Roman" pitchFamily="34" charset="-120"/>
              </a:rPr>
              <a:t>CAC 2026  ·  IC-HGAT-MAPPO  ·  Dec-POMDP / CTDE / HGAT / MAPPO</a:t>
            </a:r>
            <a:endParaRPr lang="en-US" sz="1100" dirty="0"/>
          </a:p>
        </p:txBody>
      </p:sp>
      <p:sp>
        <p:nvSpPr>
          <p:cNvPr id="38" name="Text 33"/>
          <p:cNvSpPr/>
          <p:nvPr/>
        </p:nvSpPr>
        <p:spPr>
          <a:xfrm>
            <a:off x="11338560" y="6473952"/>
            <a:ext cx="640080" cy="274320"/>
          </a:xfrm>
          <a:prstGeom prst="rect">
            <a:avLst/>
          </a:prstGeom>
          <a:noFill/>
          <a:ln/>
        </p:spPr>
        <p:txBody>
          <a:bodyPr wrap="square" lIns="0" tIns="0" rIns="0" bIns="0" rtlCol="0" anchor="ctr"/>
          <a:lstStyle/>
          <a:p>
            <a:pPr algn="r" indent="0" marL="0">
              <a:buNone/>
            </a:pPr>
            <a:r>
              <a:rPr lang="en-US" sz="1300" b="1" dirty="0">
                <a:solidFill>
                  <a:srgbClr val="2F5597"/>
                </a:solidFill>
                <a:latin typeface="Times New Roman" pitchFamily="34" charset="0"/>
                <a:ea typeface="Times New Roman" pitchFamily="34" charset="-122"/>
                <a:cs typeface="Times New Roman"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365760" y="205680"/>
            <a:ext cx="1417320" cy="978528"/>
          </a:xfrm>
          <a:prstGeom prst="rect">
            <a:avLst/>
          </a:prstGeom>
        </p:spPr>
      </p:pic>
      <p:pic>
        <p:nvPicPr>
          <p:cNvPr id="4" name="Image 1" descr="/tmp/ppt-work/assets/caa.png">    </p:cNvPr>
          <p:cNvPicPr>
            <a:picLocks noChangeAspect="1"/>
          </p:cNvPicPr>
          <p:nvPr/>
        </p:nvPicPr>
        <p:blipFill>
          <a:blip r:embed="rId2"/>
          <a:stretch>
            <a:fillRect/>
          </a:stretch>
        </p:blipFill>
        <p:spPr>
          <a:xfrm>
            <a:off x="10168128" y="237744"/>
            <a:ext cx="1563624" cy="960120"/>
          </a:xfrm>
          <a:prstGeom prst="rect">
            <a:avLst/>
          </a:prstGeom>
        </p:spPr>
      </p:pic>
      <p:sp>
        <p:nvSpPr>
          <p:cNvPr id="5" name="Shape 1"/>
          <p:cNvSpPr/>
          <p:nvPr/>
        </p:nvSpPr>
        <p:spPr>
          <a:xfrm>
            <a:off x="0" y="1371600"/>
            <a:ext cx="12191695" cy="2880360"/>
          </a:xfrm>
          <a:prstGeom prst="rect">
            <a:avLst/>
          </a:prstGeom>
          <a:solidFill>
            <a:srgbClr val="2F5597"/>
          </a:solidFill>
          <a:ln/>
        </p:spPr>
      </p:sp>
      <p:sp>
        <p:nvSpPr>
          <p:cNvPr id="6" name="Text 2"/>
          <p:cNvSpPr/>
          <p:nvPr/>
        </p:nvSpPr>
        <p:spPr>
          <a:xfrm>
            <a:off x="457200" y="1874520"/>
            <a:ext cx="1124712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Times New Roman" pitchFamily="34" charset="0"/>
                <a:ea typeface="Times New Roman" pitchFamily="34" charset="-122"/>
                <a:cs typeface="Times New Roman" pitchFamily="34" charset="-120"/>
              </a:rPr>
              <a:t>Thank you for your attention!</a:t>
            </a:r>
            <a:endParaRPr lang="en-US" sz="4000" dirty="0"/>
          </a:p>
        </p:txBody>
      </p:sp>
      <p:sp>
        <p:nvSpPr>
          <p:cNvPr id="7" name="Text 3"/>
          <p:cNvSpPr/>
          <p:nvPr/>
        </p:nvSpPr>
        <p:spPr>
          <a:xfrm>
            <a:off x="640080" y="2999232"/>
            <a:ext cx="10881360" cy="1005840"/>
          </a:xfrm>
          <a:prstGeom prst="rect">
            <a:avLst/>
          </a:prstGeom>
          <a:noFill/>
          <a:ln/>
        </p:spPr>
        <p:txBody>
          <a:bodyPr wrap="square" lIns="0" tIns="0" rIns="0" bIns="0" rtlCol="0" anchor="ctr"/>
          <a:lstStyle/>
          <a:p>
            <a:pPr algn="ctr" indent="0" marL="0">
              <a:buNone/>
            </a:pPr>
            <a:r>
              <a:rPr lang="en-US" sz="1800" dirty="0">
                <a:solidFill>
                  <a:srgbClr val="D6E2F5"/>
                </a:solidFill>
                <a:latin typeface="Times New Roman" pitchFamily="34" charset="0"/>
                <a:ea typeface="Times New Roman" pitchFamily="34" charset="-122"/>
                <a:cs typeface="Times New Roman" pitchFamily="34" charset="-120"/>
              </a:rPr>
              <a:t>A Heterogeneous Graph-Attention MAPPO Algorithm for</a:t>
            </a:r>
            <a:endParaRPr lang="en-US" sz="1800" dirty="0"/>
          </a:p>
          <a:p>
            <a:pPr algn="ctr" indent="0" marL="0">
              <a:buNone/>
            </a:pPr>
            <a:r>
              <a:rPr lang="en-US" sz="1800" dirty="0">
                <a:solidFill>
                  <a:srgbClr val="D6E2F5"/>
                </a:solidFill>
                <a:latin typeface="Times New Roman" pitchFamily="34" charset="0"/>
                <a:ea typeface="Times New Roman" pitchFamily="34" charset="-122"/>
                <a:cs typeface="Times New Roman" pitchFamily="34" charset="-120"/>
              </a:rPr>
              <a:t>Cooperative Multi-UAV Search under Intermittent Communication Constraints</a:t>
            </a:r>
            <a:endParaRPr lang="en-US" sz="1800" dirty="0"/>
          </a:p>
        </p:txBody>
      </p:sp>
      <p:sp>
        <p:nvSpPr>
          <p:cNvPr id="8" name="Text 4"/>
          <p:cNvSpPr/>
          <p:nvPr/>
        </p:nvSpPr>
        <p:spPr>
          <a:xfrm>
            <a:off x="457200" y="4407408"/>
            <a:ext cx="11247120" cy="1051560"/>
          </a:xfrm>
          <a:prstGeom prst="rect">
            <a:avLst/>
          </a:prstGeom>
          <a:noFill/>
          <a:ln/>
        </p:spPr>
        <p:txBody>
          <a:bodyPr wrap="square" lIns="0" tIns="0" rIns="0" bIns="0" rtlCol="0" anchor="ctr"/>
          <a:lstStyle/>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Yinying Kuang</a:t>
            </a:r>
            <a:endParaRPr lang="en-US" sz="1800" dirty="0"/>
          </a:p>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Huazhong University of Science and Technology</a:t>
            </a:r>
            <a:endParaRPr lang="en-US" sz="1800" dirty="0"/>
          </a:p>
          <a:p>
            <a:pPr algn="ctr" indent="0" marL="0">
              <a:buNone/>
            </a:pPr>
            <a:r>
              <a:rPr lang="en-US" sz="1800" dirty="0">
                <a:solidFill>
                  <a:srgbClr val="1F2A44"/>
                </a:solidFill>
                <a:latin typeface="Times New Roman" pitchFamily="34" charset="0"/>
                <a:ea typeface="Times New Roman" pitchFamily="34" charset="-122"/>
                <a:cs typeface="Times New Roman" pitchFamily="34" charset="-120"/>
              </a:rPr>
              <a:t>kuangyinying039@163.com</a:t>
            </a:r>
            <a:endParaRPr lang="en-US" sz="1800" dirty="0"/>
          </a:p>
        </p:txBody>
      </p:sp>
      <p:sp>
        <p:nvSpPr>
          <p:cNvPr id="9" name="Shape 5"/>
          <p:cNvSpPr/>
          <p:nvPr/>
        </p:nvSpPr>
        <p:spPr>
          <a:xfrm>
            <a:off x="347472" y="5559552"/>
            <a:ext cx="2267712" cy="384048"/>
          </a:xfrm>
          <a:prstGeom prst="roundRect">
            <a:avLst>
              <a:gd name="adj" fmla="val 19048"/>
            </a:avLst>
          </a:prstGeom>
          <a:solidFill>
            <a:srgbClr val="EAF0F8"/>
          </a:solidFill>
          <a:ln/>
        </p:spPr>
      </p:sp>
      <p:sp>
        <p:nvSpPr>
          <p:cNvPr id="10" name="Text 6"/>
          <p:cNvSpPr/>
          <p:nvPr/>
        </p:nvSpPr>
        <p:spPr>
          <a:xfrm>
            <a:off x="347472"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Times New Roman" pitchFamily="34" charset="0"/>
                <a:ea typeface="Times New Roman" pitchFamily="34" charset="-122"/>
                <a:cs typeface="Times New Roman" pitchFamily="34" charset="-120"/>
              </a:rPr>
              <a:t>Dec-POMDP / N_i(t)</a:t>
            </a:r>
            <a:endParaRPr lang="en-US" sz="1200" dirty="0"/>
          </a:p>
        </p:txBody>
      </p:sp>
      <p:sp>
        <p:nvSpPr>
          <p:cNvPr id="11" name="Shape 7"/>
          <p:cNvSpPr/>
          <p:nvPr/>
        </p:nvSpPr>
        <p:spPr>
          <a:xfrm>
            <a:off x="2706624" y="5559552"/>
            <a:ext cx="2267712" cy="384048"/>
          </a:xfrm>
          <a:prstGeom prst="roundRect">
            <a:avLst>
              <a:gd name="adj" fmla="val 19048"/>
            </a:avLst>
          </a:prstGeom>
          <a:solidFill>
            <a:srgbClr val="EAF0F8"/>
          </a:solidFill>
          <a:ln/>
        </p:spPr>
      </p:sp>
      <p:sp>
        <p:nvSpPr>
          <p:cNvPr id="12" name="Text 8"/>
          <p:cNvSpPr/>
          <p:nvPr/>
        </p:nvSpPr>
        <p:spPr>
          <a:xfrm>
            <a:off x="2706624"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Times New Roman" pitchFamily="34" charset="0"/>
                <a:ea typeface="Times New Roman" pitchFamily="34" charset="-122"/>
                <a:cs typeface="Times New Roman" pitchFamily="34" charset="-120"/>
              </a:rPr>
              <a:t>Log-odds P, E, R</a:t>
            </a:r>
            <a:endParaRPr lang="en-US" sz="1200" dirty="0"/>
          </a:p>
        </p:txBody>
      </p:sp>
      <p:sp>
        <p:nvSpPr>
          <p:cNvPr id="13" name="Shape 9"/>
          <p:cNvSpPr/>
          <p:nvPr/>
        </p:nvSpPr>
        <p:spPr>
          <a:xfrm>
            <a:off x="5065776" y="5559552"/>
            <a:ext cx="2267712" cy="384048"/>
          </a:xfrm>
          <a:prstGeom prst="roundRect">
            <a:avLst>
              <a:gd name="adj" fmla="val 19048"/>
            </a:avLst>
          </a:prstGeom>
          <a:solidFill>
            <a:srgbClr val="EAF0F8"/>
          </a:solidFill>
          <a:ln/>
        </p:spPr>
      </p:sp>
      <p:sp>
        <p:nvSpPr>
          <p:cNvPr id="14" name="Text 10"/>
          <p:cNvSpPr/>
          <p:nvPr/>
        </p:nvSpPr>
        <p:spPr>
          <a:xfrm>
            <a:off x="5065776"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Times New Roman" pitchFamily="34" charset="0"/>
                <a:ea typeface="Times New Roman" pitchFamily="34" charset="-122"/>
                <a:cs typeface="Times New Roman" pitchFamily="34" charset="-120"/>
              </a:rPr>
              <a:t>Source j*</a:t>
            </a:r>
            <a:endParaRPr lang="en-US" sz="1200" dirty="0"/>
          </a:p>
        </p:txBody>
      </p:sp>
      <p:sp>
        <p:nvSpPr>
          <p:cNvPr id="15" name="Shape 11"/>
          <p:cNvSpPr/>
          <p:nvPr/>
        </p:nvSpPr>
        <p:spPr>
          <a:xfrm>
            <a:off x="7424928" y="5559552"/>
            <a:ext cx="2267712" cy="384048"/>
          </a:xfrm>
          <a:prstGeom prst="roundRect">
            <a:avLst>
              <a:gd name="adj" fmla="val 19048"/>
            </a:avLst>
          </a:prstGeom>
          <a:solidFill>
            <a:srgbClr val="EAF0F8"/>
          </a:solidFill>
          <a:ln/>
        </p:spPr>
      </p:sp>
      <p:sp>
        <p:nvSpPr>
          <p:cNvPr id="16" name="Text 12"/>
          <p:cNvSpPr/>
          <p:nvPr/>
        </p:nvSpPr>
        <p:spPr>
          <a:xfrm>
            <a:off x="7424928"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Times New Roman" pitchFamily="34" charset="0"/>
                <a:ea typeface="Times New Roman" pitchFamily="34" charset="-122"/>
                <a:cs typeface="Times New Roman" pitchFamily="34" charset="-120"/>
              </a:rPr>
              <a:t>HGAT attention</a:t>
            </a:r>
            <a:endParaRPr lang="en-US" sz="1200" dirty="0"/>
          </a:p>
        </p:txBody>
      </p:sp>
      <p:sp>
        <p:nvSpPr>
          <p:cNvPr id="17" name="Shape 13"/>
          <p:cNvSpPr/>
          <p:nvPr/>
        </p:nvSpPr>
        <p:spPr>
          <a:xfrm>
            <a:off x="9784080" y="5559552"/>
            <a:ext cx="2267712" cy="384048"/>
          </a:xfrm>
          <a:prstGeom prst="roundRect">
            <a:avLst>
              <a:gd name="adj" fmla="val 19048"/>
            </a:avLst>
          </a:prstGeom>
          <a:solidFill>
            <a:srgbClr val="EAF0F8"/>
          </a:solidFill>
          <a:ln/>
        </p:spPr>
      </p:sp>
      <p:sp>
        <p:nvSpPr>
          <p:cNvPr id="18" name="Text 14"/>
          <p:cNvSpPr/>
          <p:nvPr/>
        </p:nvSpPr>
        <p:spPr>
          <a:xfrm>
            <a:off x="9784080" y="5559552"/>
            <a:ext cx="2267712" cy="384048"/>
          </a:xfrm>
          <a:prstGeom prst="rect">
            <a:avLst/>
          </a:prstGeom>
          <a:noFill/>
          <a:ln/>
        </p:spPr>
        <p:txBody>
          <a:bodyPr wrap="square" lIns="0" tIns="0" rIns="0" bIns="0" rtlCol="0" anchor="ctr"/>
          <a:lstStyle/>
          <a:p>
            <a:pPr algn="ctr" indent="0" marL="0">
              <a:buNone/>
            </a:pPr>
            <a:r>
              <a:rPr lang="en-US" sz="1200" b="1" dirty="0">
                <a:solidFill>
                  <a:srgbClr val="1E3F73"/>
                </a:solidFill>
                <a:latin typeface="Times New Roman" pitchFamily="34" charset="0"/>
                <a:ea typeface="Times New Roman" pitchFamily="34" charset="-122"/>
                <a:cs typeface="Times New Roman" pitchFamily="34" charset="-120"/>
              </a:rPr>
              <a:t>MAPPO clip + GAE</a:t>
            </a:r>
            <a:endParaRPr lang="en-US" sz="1200" dirty="0"/>
          </a:p>
        </p:txBody>
      </p:sp>
      <p:sp>
        <p:nvSpPr>
          <p:cNvPr id="19" name="Text 15"/>
          <p:cNvSpPr/>
          <p:nvPr/>
        </p:nvSpPr>
        <p:spPr>
          <a:xfrm>
            <a:off x="457200" y="6035040"/>
            <a:ext cx="11247120" cy="365760"/>
          </a:xfrm>
          <a:prstGeom prst="rect">
            <a:avLst/>
          </a:prstGeom>
          <a:noFill/>
          <a:ln/>
        </p:spPr>
        <p:txBody>
          <a:bodyPr wrap="square" lIns="0" tIns="0" rIns="0" bIns="0" rtlCol="0" anchor="ctr"/>
          <a:lstStyle/>
          <a:p>
            <a:pPr algn="ctr" indent="0" marL="0">
              <a:buNone/>
            </a:pPr>
            <a:r>
              <a:rPr lang="en-US" sz="1500" b="1" dirty="0">
                <a:solidFill>
                  <a:srgbClr val="2F5597"/>
                </a:solidFill>
                <a:latin typeface="Times New Roman" pitchFamily="34" charset="0"/>
                <a:ea typeface="Times New Roman" pitchFamily="34" charset="-122"/>
                <a:cs typeface="Times New Roman" pitchFamily="34" charset="-120"/>
              </a:rPr>
              <a:t>CAC 2026  ·  October 2026  ·  Welcome questions on beliefs, source selection, and HGAT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IC-HGAT-MAPPO: Cooperative Multi-UAV Search under Intermittent Communication</dc:title>
  <dc:subject>CAC 2026</dc:subject>
  <dc:creator>Yinying Kuang</dc:creator>
  <cp:lastModifiedBy>Yinying Kuang</cp:lastModifiedBy>
  <cp:revision>1</cp:revision>
  <dcterms:created xsi:type="dcterms:W3CDTF">2026-09-15T10:23:18Z</dcterms:created>
  <dcterms:modified xsi:type="dcterms:W3CDTF">2026-09-15T10:23:18Z</dcterms:modified>
</cp:coreProperties>
</file>