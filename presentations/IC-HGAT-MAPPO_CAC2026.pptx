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A44"/>
                </a:solidFill>
                <a:latin typeface="Calibri"/>
              </a:defRPr>
            </a:pPr>
            <a:r>
              <a:rPr sz="1100" b="0" i="0" u="none" strike="noStrike">
                <a:solidFill>
                  <a:srgbClr val="1F2A44"/>
                </a:solidFill>
                <a:latin typeface="Calibri"/>
              </a:rPr>
              <a:t>Belief Decisiveness (%)</a:t>
            </a:r>
          </a:p>
        </c:rich>
      </c:tx>
      <c:layout/>
      <c:overlay val="0"/>
    </c:title>
    <c:autoTitleDeleted val="0"/>
    <c:plotArea>
      <c:layout/>
      <c:barChart>
        <c:barDir val="col"/>
        <c:grouping val="clustered"/>
        <c:varyColors val="0"/>
        <c:ser>
          <c:idx val="0"/>
          <c:order val="0"/>
          <c:tx>
            <c:strRef>
              <c:f>Sheet1!$B$1</c:f>
              <c:strCache>
                <c:ptCount val="1"/>
                <c:pt idx="0">
                  <c:v>Decisiveness</c:v>
                </c:pt>
              </c:strCache>
            </c:strRef>
          </c:tx>
          <c:spPr>
            <a:solidFill>
              <a:srgbClr val="5B8CC9"/>
            </a:solidFill>
            <a:effectLst/>
          </c:spPr>
          <c:invertIfNegative val="0"/>
          <c:dLbls>
            <c:numFmt formatCode="#,##0" sourceLinked="0"/>
            <c:txPr>
              <a:bodyPr/>
              <a:lstStyle/>
              <a:p>
                <a:pPr>
                  <a:defRPr b="0" i="0" strike="noStrike" sz="900" u="none">
                    <a:solidFill>
                      <a:srgbClr val="1F2A44"/>
                    </a:solidFill>
                    <a:latin typeface="Arial"/>
                  </a:defRPr>
                </a:pPr>
              </a:p>
            </c:txPr>
            <c:dLblPos val="inEnd"/>
            <c:showLegendKey val="0"/>
            <c:showVal val="1"/>
            <c:showCatName val="0"/>
            <c:showSerName val="0"/>
            <c:showPercent val="0"/>
            <c:showBubbleSize val="0"/>
            <c:showLeaderLines val="0"/>
          </c:dLbls>
          <c:dPt>
            <c:idx val="0"/>
            <c:invertIfNegative val="0"/>
            <c:bubble3D val="0"/>
            <c:spPr>
              <a:solidFill>
                <a:srgbClr val="5B8CC9"/>
              </a:solidFill>
              <a:effectLst/>
            </c:spPr>
          </c:dPt>
          <c:dPt>
            <c:idx val="1"/>
            <c:invertIfNegative val="0"/>
            <c:bubble3D val="0"/>
            <c:spPr>
              <a:solidFill>
                <a:srgbClr val="5B8CC9"/>
              </a:solidFill>
              <a:effectLst/>
            </c:spPr>
          </c:dPt>
          <c:dPt>
            <c:idx val="2"/>
            <c:invertIfNegative val="0"/>
            <c:bubble3D val="0"/>
            <c:spPr>
              <a:solidFill>
                <a:srgbClr val="5B8CC9"/>
              </a:solidFill>
              <a:effectLst/>
            </c:spPr>
          </c:dPt>
          <c:dPt>
            <c:idx val="3"/>
            <c:invertIfNegative val="0"/>
            <c:bubble3D val="0"/>
            <c:spPr>
              <a:solidFill>
                <a:srgbClr val="5B8CC9"/>
              </a:solidFill>
              <a:effectLst/>
            </c:spPr>
          </c:dPt>
          <c:dPt>
            <c:idx val="4"/>
            <c:invertIfNegative val="0"/>
            <c:bubble3D val="0"/>
            <c:spPr>
              <a:solidFill>
                <a:srgbClr val="ED7D31"/>
              </a:solidFill>
              <a:effectLst/>
            </c:spPr>
          </c:dPt>
          <c:cat>
            <c:multiLvlStrRef>
              <c:f>Sheet1!$A$2:$A$6</c:f>
              <c:multiLvlStrCache>
                <c:ptCount val="5"/>
                <c:lvl>
                  <c:pt idx="0">
                    <c:v>Heuristic</c:v>
                  </c:pt>
                  <c:pt idx="1">
                    <c:v>QMIX</c:v>
                  </c:pt>
                  <c:pt idx="2">
                    <c:v>Local</c:v>
                  </c:pt>
                  <c:pt idx="3">
                    <c:v>H-Graph</c:v>
                  </c:pt>
                  <c:pt idx="4">
                    <c:v>IC-HGAT</c:v>
                  </c:pt>
                </c:lvl>
              </c:multiLvlStrCache>
            </c:multiLvlStrRef>
          </c:cat>
          <c:val>
            <c:numRef>
              <c:f>Sheet1!$B$2:$B$6</c:f>
              <c:numCache>
                <c:formatCode>General</c:formatCode>
                <c:ptCount val="5"/>
                <c:pt idx="0">
                  <c:v>44.99</c:v>
                </c:pt>
                <c:pt idx="1">
                  <c:v>30</c:v>
                </c:pt>
                <c:pt idx="2">
                  <c:v>41.91</c:v>
                </c:pt>
                <c:pt idx="3">
                  <c:v>47.05</c:v>
                </c:pt>
                <c:pt idx="4">
                  <c:v>62.15</c:v>
                </c:pt>
              </c:numCache>
            </c:numRef>
          </c:val>
        </c:ser>
        <c:dLbls>
          <c:numFmt formatCode="#,##0" sourceLinked="0"/>
          <c:txPr>
            <a:bodyPr/>
            <a:lstStyle/>
            <a:p>
              <a:pPr>
                <a:defRPr b="0" i="0" strike="noStrike" sz="900" u="none">
                  <a:solidFill>
                    <a:srgbClr val="1F2A44"/>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1F2A4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0D7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A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A44"/>
                </a:solidFill>
                <a:latin typeface="Calibri"/>
              </a:defRPr>
            </a:pPr>
            <a:r>
              <a:rPr sz="1100" b="0" i="0" u="none" strike="noStrike">
                <a:solidFill>
                  <a:srgbClr val="1F2A44"/>
                </a:solidFill>
                <a:latin typeface="Calibri"/>
              </a:rPr>
              <a:t>Target Discovery (%)</a:t>
            </a:r>
          </a:p>
        </c:rich>
      </c:tx>
      <c:layout/>
      <c:overlay val="0"/>
    </c:title>
    <c:autoTitleDeleted val="0"/>
    <c:plotArea>
      <c:layout/>
      <c:barChart>
        <c:barDir val="col"/>
        <c:grouping val="clustered"/>
        <c:varyColors val="0"/>
        <c:ser>
          <c:idx val="0"/>
          <c:order val="0"/>
          <c:tx>
            <c:strRef>
              <c:f>Sheet1!$B$1</c:f>
              <c:strCache>
                <c:ptCount val="1"/>
                <c:pt idx="0">
                  <c:v>Discovery</c:v>
                </c:pt>
              </c:strCache>
            </c:strRef>
          </c:tx>
          <c:spPr>
            <a:solidFill>
              <a:srgbClr val="5B8CC9"/>
            </a:solidFill>
            <a:effectLst/>
          </c:spPr>
          <c:invertIfNegative val="0"/>
          <c:dLbls>
            <c:numFmt formatCode="#,##0" sourceLinked="0"/>
            <c:txPr>
              <a:bodyPr/>
              <a:lstStyle/>
              <a:p>
                <a:pPr>
                  <a:defRPr b="0" i="0" strike="noStrike" sz="900" u="none">
                    <a:solidFill>
                      <a:srgbClr val="1F2A44"/>
                    </a:solidFill>
                    <a:latin typeface="Arial"/>
                  </a:defRPr>
                </a:pPr>
              </a:p>
            </c:txPr>
            <c:dLblPos val="inEnd"/>
            <c:showLegendKey val="0"/>
            <c:showVal val="1"/>
            <c:showCatName val="0"/>
            <c:showSerName val="0"/>
            <c:showPercent val="0"/>
            <c:showBubbleSize val="0"/>
            <c:showLeaderLines val="0"/>
          </c:dLbls>
          <c:dPt>
            <c:idx val="0"/>
            <c:invertIfNegative val="0"/>
            <c:bubble3D val="0"/>
            <c:spPr>
              <a:solidFill>
                <a:srgbClr val="5B8CC9"/>
              </a:solidFill>
              <a:effectLst/>
            </c:spPr>
          </c:dPt>
          <c:dPt>
            <c:idx val="1"/>
            <c:invertIfNegative val="0"/>
            <c:bubble3D val="0"/>
            <c:spPr>
              <a:solidFill>
                <a:srgbClr val="5B8CC9"/>
              </a:solidFill>
              <a:effectLst/>
            </c:spPr>
          </c:dPt>
          <c:dPt>
            <c:idx val="2"/>
            <c:invertIfNegative val="0"/>
            <c:bubble3D val="0"/>
            <c:spPr>
              <a:solidFill>
                <a:srgbClr val="5B8CC9"/>
              </a:solidFill>
              <a:effectLst/>
            </c:spPr>
          </c:dPt>
          <c:dPt>
            <c:idx val="3"/>
            <c:invertIfNegative val="0"/>
            <c:bubble3D val="0"/>
            <c:spPr>
              <a:solidFill>
                <a:srgbClr val="5B8CC9"/>
              </a:solidFill>
              <a:effectLst/>
            </c:spPr>
          </c:dPt>
          <c:dPt>
            <c:idx val="4"/>
            <c:invertIfNegative val="0"/>
            <c:bubble3D val="0"/>
            <c:spPr>
              <a:solidFill>
                <a:srgbClr val="ED7D31"/>
              </a:solidFill>
              <a:effectLst/>
            </c:spPr>
          </c:dPt>
          <c:cat>
            <c:multiLvlStrRef>
              <c:f>Sheet1!$A$2:$A$6</c:f>
              <c:multiLvlStrCache>
                <c:ptCount val="5"/>
                <c:lvl>
                  <c:pt idx="0">
                    <c:v>Heuristic</c:v>
                  </c:pt>
                  <c:pt idx="1">
                    <c:v>QMIX</c:v>
                  </c:pt>
                  <c:pt idx="2">
                    <c:v>Local</c:v>
                  </c:pt>
                  <c:pt idx="3">
                    <c:v>H-Graph</c:v>
                  </c:pt>
                  <c:pt idx="4">
                    <c:v>IC-HGAT</c:v>
                  </c:pt>
                </c:lvl>
              </c:multiLvlStrCache>
            </c:multiLvlStrRef>
          </c:cat>
          <c:val>
            <c:numRef>
              <c:f>Sheet1!$B$2:$B$6</c:f>
              <c:numCache>
                <c:formatCode>General</c:formatCode>
                <c:ptCount val="5"/>
                <c:pt idx="0">
                  <c:v>77.78</c:v>
                </c:pt>
                <c:pt idx="1">
                  <c:v>72.11</c:v>
                </c:pt>
                <c:pt idx="2">
                  <c:v>76.22</c:v>
                </c:pt>
                <c:pt idx="3">
                  <c:v>79.78</c:v>
                </c:pt>
                <c:pt idx="4">
                  <c:v>86.78</c:v>
                </c:pt>
              </c:numCache>
            </c:numRef>
          </c:val>
        </c:ser>
        <c:dLbls>
          <c:numFmt formatCode="#,##0" sourceLinked="0"/>
          <c:txPr>
            <a:bodyPr/>
            <a:lstStyle/>
            <a:p>
              <a:pPr>
                <a:defRPr b="0" i="0" strike="noStrike" sz="900" u="none">
                  <a:solidFill>
                    <a:srgbClr val="1F2A44"/>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1F2A4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0D7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A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A44"/>
                </a:solidFill>
                <a:latin typeface="Calibri"/>
              </a:defRPr>
            </a:pPr>
            <a:r>
              <a:rPr sz="1100" b="0" i="0" u="none" strike="noStrike">
                <a:solidFill>
                  <a:srgbClr val="1F2A44"/>
                </a:solidFill>
                <a:latin typeface="Calibri"/>
              </a:rPr>
              <a:t>Ablation  (Decisiveness / Discovery, %)</a:t>
            </a:r>
          </a:p>
        </c:rich>
      </c:tx>
      <c:layout/>
      <c:overlay val="0"/>
    </c:title>
    <c:autoTitleDeleted val="0"/>
    <c:plotArea>
      <c:layout/>
      <c:barChart>
        <c:barDir val="col"/>
        <c:grouping val="clustered"/>
        <c:varyColors val="0"/>
        <c:ser>
          <c:idx val="0"/>
          <c:order val="0"/>
          <c:tx>
            <c:strRef>
              <c:f>Sheet1!$B$1</c:f>
              <c:strCache>
                <c:ptCount val="1"/>
                <c:pt idx="0">
                  <c:v>Decisiveness</c:v>
                </c:pt>
              </c:strCache>
            </c:strRef>
          </c:tx>
          <c:spPr>
            <a:solidFill>
              <a:srgbClr val="2F5597"/>
            </a:solidFill>
            <a:effectLst/>
          </c:spPr>
          <c:invertIfNegative val="0"/>
          <c:dLbls>
            <c:numFmt formatCode="#,##0" sourceLinked="0"/>
            <c:txPr>
              <a:bodyPr/>
              <a:lstStyle/>
              <a:p>
                <a:pPr>
                  <a:defRPr b="0" i="0" strike="noStrike" sz="800" u="none">
                    <a:solidFill>
                      <a:srgbClr val="1F2A44"/>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Full</c:v>
                  </c:pt>
                  <c:pt idx="1">
                    <c:v>w/o Revisit</c:v>
                  </c:pt>
                  <c:pt idx="2">
                    <c:v>w/o History</c:v>
                  </c:pt>
                  <c:pt idx="3">
                    <c:v>Homog. Graph</c:v>
                  </c:pt>
                </c:lvl>
              </c:multiLvlStrCache>
            </c:multiLvlStrRef>
          </c:cat>
          <c:val>
            <c:numRef>
              <c:f>Sheet1!$B$2:$B$5</c:f>
              <c:numCache>
                <c:formatCode>General</c:formatCode>
                <c:ptCount val="4"/>
                <c:pt idx="0">
                  <c:v>62.15</c:v>
                </c:pt>
                <c:pt idx="1">
                  <c:v>45.82</c:v>
                </c:pt>
                <c:pt idx="2">
                  <c:v>53.99</c:v>
                </c:pt>
                <c:pt idx="3">
                  <c:v>47.05</c:v>
                </c:pt>
              </c:numCache>
            </c:numRef>
          </c:val>
        </c:ser>
        <c:ser>
          <c:idx val="1"/>
          <c:order val="1"/>
          <c:tx>
            <c:strRef>
              <c:f>Sheet1!$C$1</c:f>
              <c:strCache>
                <c:ptCount val="1"/>
                <c:pt idx="0">
                  <c:v>Discovery</c:v>
                </c:pt>
              </c:strCache>
            </c:strRef>
          </c:tx>
          <c:spPr>
            <a:solidFill>
              <a:srgbClr val="ED7D31"/>
            </a:solidFill>
            <a:effectLst/>
          </c:spPr>
          <c:invertIfNegative val="0"/>
          <c:dLbls>
            <c:numFmt formatCode="#,##0" sourceLinked="0"/>
            <c:txPr>
              <a:bodyPr/>
              <a:lstStyle/>
              <a:p>
                <a:pPr>
                  <a:defRPr b="0" i="0" strike="noStrike" sz="800" u="none">
                    <a:solidFill>
                      <a:srgbClr val="1F2A44"/>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Full</c:v>
                  </c:pt>
                  <c:pt idx="1">
                    <c:v>w/o Revisit</c:v>
                  </c:pt>
                  <c:pt idx="2">
                    <c:v>w/o History</c:v>
                  </c:pt>
                  <c:pt idx="3">
                    <c:v>Homog. Graph</c:v>
                  </c:pt>
                </c:lvl>
              </c:multiLvlStrCache>
            </c:multiLvlStrRef>
          </c:cat>
          <c:val>
            <c:numRef>
              <c:f>Sheet1!$C$2:$C$5</c:f>
              <c:numCache>
                <c:formatCode>General</c:formatCode>
                <c:ptCount val="4"/>
                <c:pt idx="0">
                  <c:v>86.78</c:v>
                </c:pt>
                <c:pt idx="1">
                  <c:v>73.11</c:v>
                </c:pt>
                <c:pt idx="2">
                  <c:v>85.33</c:v>
                </c:pt>
                <c:pt idx="3">
                  <c:v>79.78</c:v>
                </c:pt>
              </c:numCache>
            </c:numRef>
          </c:val>
        </c:ser>
        <c:dLbls>
          <c:numFmt formatCode="#,##0" sourceLinked="0"/>
          <c:txPr>
            <a:bodyPr/>
            <a:lstStyle/>
            <a:p>
              <a:pPr>
                <a:defRPr b="0" i="0" strike="noStrike" sz="800" u="none">
                  <a:solidFill>
                    <a:srgbClr val="1F2A44"/>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F2A44"/>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0D7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6A80"/>
                </a:solidFill>
                <a:latin typeface="Arial"/>
              </a:defRPr>
            </a:pPr>
            <a:endParaRPr lang="en-US"/>
          </a:p>
        </c:txPr>
        <c:crossAx val="2094734554"/>
        <c:crosses val="autoZero"/>
        <c:crossBetween val="between"/>
      </c:valAx>
      <c:spPr>
        <a:noFill/>
        <a:ln>
          <a:noFill/>
        </a:ln>
        <a:effectLst/>
      </c:spPr>
    </c:plotArea>
    <c:legend>
      <c:legendPos val="r"/>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各位老师、同学，大家好。今天汇报的工作是间歇通信约束下的多无人机协同搜索。请先记住问题本身：不是默认全局信息可共享，而是每架无人机只能使用机载观测，以及当前物理上可达的邻居信息。算法名称 IC-HGAT-MAPPO 后面再给出。
【English】
Good morning. This talk studies cooperative multi-UAV search under intermittent communication. Please keep the problem first: we do not assume a shared global map. Each UAV may use only onboard observations and currently reachable peer messages. The name IC-HGAT-MAPPO comes after the problem is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报告分三部分，大约十几秒带过即可。第一部分讲背景与问题；第二部分讲提出的 IC-HGAT-MAPPO；第三部分给出实验与结论。
【English】
The talk has three parts. I will introduce the problem and motivation, then the proposed IC-HGAT-MAPPO framework, and finally the experimental results. This slide takes about ten to fifteen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多无人机可以并行覆盖震后搜救、林火监测和海上救援等场景。很多 MARL 方法默认通信充分、信息接近全局。但在干扰环境下链路会间歇中断，无人机实际上只能依赖局部观测和当前仍连通的邻居。因此问题不只是“怎么搜索”，而是“信息不完整时如何协同搜索”。左侧是常规设定，中间是更现实的设定，右侧三条研究需求对应后文三个模块。
【English】
Multi-UAV teams can search in earthquake response, wildfire monitoring, and maritime rescue. Many MARL methods assume stable communication and nearly global information. Under interference, links drop, so each UAV has only local observations and currently reachable neighbors. The question is not only how to search, but how to coordinate under incomplete information. The three research needs on the right map to the three designs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间歇通信带来三个核心挑战。第一，没有共享全局地图，可用邻居集合随时间变化，决策必须去中心化。第二，无人机、目标或前沿、障碍物角色不同，不能只用同构 UAV 图。第三，通信恢复后拿到的信念可能过时，不能默认“能连上就可信”。请注意：我们优化的是通信约束下的决策，而不是通信协议本身。
【English】
Three challenges follow. First, there is no shared global map, and the reachable set changes over time, so decisions are decentralized. Second, UAVs, targets or frontiers, and obstacles play different roles, so a homogeneous UAV graph is not enough. Third, beliefs recovered after an outage may be stale, so reachability is not the same as usefulness. Our focus is decision-making under communication constraints, not protocol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这一页完成转折：三个挑战分别由三个机制回答。不完整信念用 revisit-aware P/E/R 记忆；过时邻居信息用通信历史感知的源选择；异构实体用异构图注意力。学习框架是共享 Actor、训练期集中 Critic、MAPPO/CTDE；底部的安全投影是所有方法共用的，不是本文贡献。三个问题汇到 IC-HGAT-MAPPO。
【English】
This slide is the turning point. Incomplete beliefs are handled by revisit-aware P/E/R memory; stale peer information by communication-history-aware source selection; heterogeneous entities by heterogeneous graph attention. Training uses a shared actor, a centralized critic, and MAPPO with CTDE. The safety projection is shared by all methods and is not a contribution. These three questions lead to IC-HGAT-MAPPO.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问题设定对应论文第二节。左侧是搜索场景：局部感知、实线连通、虚线断链、运动目标和动态障碍。仿真是 6 架无人机、15 个目标、10 个障碍、30×30 区域，动作为八方向加悬停。运动是带可行域投影的离散更新。最关键的一句：策略只能使用瞬时可达链路。评价指标三个：发现率 Dt、信念决断度 Ct、到达 80% 发现的时间 T80。Dt、Ct 越高越好，T80 越低越快。
【English】
This is the problem formulation. The figure shows local sensing, live and broken links, moving targets, and dynamic obstacles. The setting has 6 UAVs, 15 targets, 10 obstacles, and a 30 by 30 map, with eight move directions plus hover. Motion is discrete with a feasible-set projection. The key sentence is that only instantaneous reachable links are available. We report discovery Dt, belief decisiveness Ct, and T80. Higher Dt and Ct are better; lower T80 is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请按箭头从左到右讲，不要跳模块。执行时：局部观测与链路掩码进入 P/E/R 记忆，再进入异构图，共享 Actor 给出名义动作，再经安全投影执行。训练时集中 Critic 看到全局状态，MAPPO 更新参数后写回 Actor。执行阶段去掉 Critic。务必说明：安全投影对所有对比方法相同，性能不能记在 safety layer 上。
【English】
Please follow the arrows from left to right. At execution, local observation and the link mask update P/E/R memory, then the heterogeneous graph, then the shared actor, then safety projection. During training, a centralized critic sees global state and MAPPO writes the update back to the actor. The critic is removed at execution. Safety projection is shared by all methods, so it is not the source of the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左栏回答“记什么”。每架无人机维护目标存在信念 P、不确定性 E 和回访陈旧度 R。被感知格子重置为 0，未感知格子随时间老化并向邻域扩散。右栏回答“信谁”。即使 j 和 k 都能通信，也按距离和通信历史加权，每个格子只选一个源，避免把相关 log-odds 简单相加。
【English】
The left column answers what to remember: target-existence P, uncertainty E, and revisit staleness R. Sensed cells reset to zero; unsensed cells age and diffuse. The right column answers whom to trust. Even if both j and k are reachable, weights use distance and communication history, and one source is chosen per cell. We do not add correlated log-odds.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异构图以本机 UAV 为中心，分别连同伴、任务和障碍，再做关系专用注意力与语义融合，得到嵌入。注意力由 QK、关系置信、距离先验和链路掩码共同决定，这是相对普通 GAT 的差别。右侧是共享 Actor 输出 9 个名义动作；单一集中 Critic 只在训练使用。奖励是发现增量加决断度增量，减去安全代价，权重 1.0、0.30、0.10。完整 PPO 公式不必展开。
【English】
The graph is centered on UAV i, with peer, task, and obstacle relations, then relation-specific attention and semantic fusion. Attention uses the QK term, relation confidence, a distance prior, and the link mask. That is the difference from a plain GAT. The shared actor outputs nine nominal actions; one centralized critic is used only in training. The reward is discovery plus decisiveness minus a safety cost, with weights 1.0, 0.30, and 0.10. The full PPO derivation can wait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实验协议公平：同一环境、奖励、动作空间和训练预算；5 个独立策略，30 个保留场景。左下轨迹图只说明系统长什么样，不作为定量证据。主结果请看柱状图而不是表格：决断度 62.15%，发现率 86.78%。相对启发式分别提高 17.16 和 9.00 个百分点，相对 QMIX 提高 32.15 和 14.67 个百分点。T80 成功率为 82.0%，成功条件下 88.63 步。安全干预仅 0.17%，碰撞与启发式相当，不要把安全列说成本文优势。
【English】
The protocol is shared: same environment, reward, action space, and budget; five independently trained policies and thirty held-out scenarios. The trajectory figure shows what a run looks like; it is not the quantitative evidence. Please read the bars, not a table: 62.15 percent decisiveness and 86.78 percent discovery. Versus the heuristic that is plus 17.16 and plus 9.00 points; versus QMIX, plus 32.15 and plus 14.67. T80 succeeds in 82.0 percent of runs at 88.63 steps when successful. Safety intervention is only 0.17 percent, and collision is comparable to the heuristic, so do not rank the method on safety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消融说明三个模块都有用。相对同构图，异构关系带来约 15.10 个百分点决断度。去掉 revisit 记忆，决断度和发现率分别下降 16.33 和 13.67 个百分点。去掉历史加权，决断度下降 8.16，条件 T80 从 88.63 变到 98.19，但阈值成功率从 82.0% 升到 86.7%，这是需要主动承认的权衡。下方敏感性不必六张图逐张讲，举目标速度和通信半径或中断概率两例，然后说在测试扰动范围内平均发现率更高。
【English】
Ablations support all three modules. Heterogeneous relations add about 15.10 points of decisiveness over a homogeneous graph. Removing revisit memory drops decisiveness and discovery by 16.33 and 13.67 points. Removing history weighting drops decisiveness by 8.16 points and slows conditional T80 from 88.63 to 98.19, while threshold success rises from 82.0 to 86.7 percent; that trade-off should be stated. Do not walk through all six sensitivity plots. Mention target speed and communication radius or outage, then conclude that mean discovery stays higher over the tested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总结只留三条：通信约束下的去中心决策、P/E/R 与历史感知选源的信念管理、异构关系编码。请再念一遍核心数字：62.15%、86.78%、82.0%，成功条件下 88.63 步。未来工作按论文来：三维环境、完全去中心安全、以及含真实通信的半实物验证。如果被问到仓库里的围捕代码，只作为口头补充，不要把这篇 search 报告讲成 pursuit。
【English】
Leave three contributions: communication-constrained decentralized decisions; belief management with P/E/R and history-aware selection; and heterogeneous relational encoding. Repeat 62.15 percent, 86.78 percent, 82.0 percent, and 88.63 conditional steps. Future work follows the paper: 3D environments, fully decentralized safety, and hardware-in-the-loop with real communication. If asked about pursuit code in the repo, mention it only as an ongoing extension. Do not turn this search talk into a pursuit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【中文】
谢谢各位。欢迎就间歇通信下的信念维护、源选择和异构图提问。联系邮箱是 kuangyinying039@163.com。
【English】
Thank you for your attention. I welcome questions on belief maintenance, source selection, and heterogeneous graphs under intermittent communication. My email is kuangyinying039@163.com.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chart" Target="../charts/chart3.xml"/><Relationship Id="rId3"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tmp/ppt-work/assets/hust.png">    </p:cNvPr>
          <p:cNvPicPr>
            <a:picLocks noChangeAspect="1"/>
          </p:cNvPicPr>
          <p:nvPr/>
        </p:nvPicPr>
        <p:blipFill>
          <a:blip r:embed="rId1"/>
          <a:stretch>
            <a:fillRect/>
          </a:stretch>
        </p:blipFill>
        <p:spPr>
          <a:xfrm>
            <a:off x="365760" y="204052"/>
            <a:ext cx="1554480" cy="1073224"/>
          </a:xfrm>
          <a:prstGeom prst="rect">
            <a:avLst/>
          </a:prstGeom>
        </p:spPr>
      </p:pic>
      <p:pic>
        <p:nvPicPr>
          <p:cNvPr id="4" name="Image 1" descr="/tmp/ppt-work/assets/caa.png">    </p:cNvPr>
          <p:cNvPicPr>
            <a:picLocks noChangeAspect="1"/>
          </p:cNvPicPr>
          <p:nvPr/>
        </p:nvPicPr>
        <p:blipFill>
          <a:blip r:embed="rId2"/>
          <a:stretch>
            <a:fillRect/>
          </a:stretch>
        </p:blipFill>
        <p:spPr>
          <a:xfrm>
            <a:off x="5147419" y="256032"/>
            <a:ext cx="1638082" cy="1005840"/>
          </a:xfrm>
          <a:prstGeom prst="rect">
            <a:avLst/>
          </a:prstGeom>
        </p:spPr>
      </p:pic>
      <p:sp>
        <p:nvSpPr>
          <p:cNvPr id="5" name="Text 1"/>
          <p:cNvSpPr/>
          <p:nvPr/>
        </p:nvSpPr>
        <p:spPr>
          <a:xfrm>
            <a:off x="6903720" y="384048"/>
            <a:ext cx="4846320" cy="731520"/>
          </a:xfrm>
          <a:prstGeom prst="rect">
            <a:avLst/>
          </a:prstGeom>
          <a:noFill/>
          <a:ln/>
        </p:spPr>
        <p:txBody>
          <a:bodyPr wrap="square" lIns="0" tIns="0" rIns="0" bIns="0" rtlCol="0" anchor="ctr"/>
          <a:lstStyle/>
          <a:p>
            <a:pPr indent="0" marL="0">
              <a:buNone/>
            </a:pPr>
            <a:r>
              <a:rPr lang="en-US" sz="1800" b="1" dirty="0">
                <a:solidFill>
                  <a:srgbClr val="2F5597"/>
                </a:solidFill>
                <a:latin typeface="Calibri" pitchFamily="34" charset="0"/>
                <a:ea typeface="Calibri" pitchFamily="34" charset="-122"/>
                <a:cs typeface="Calibri" pitchFamily="34" charset="-120"/>
              </a:rPr>
              <a:t>Chinese Automation Congress  ·  CAC 2026</a:t>
            </a:r>
            <a:endParaRPr lang="en-US" sz="1800" dirty="0"/>
          </a:p>
        </p:txBody>
      </p:sp>
      <p:sp>
        <p:nvSpPr>
          <p:cNvPr id="6" name="Shape 2"/>
          <p:cNvSpPr/>
          <p:nvPr/>
        </p:nvSpPr>
        <p:spPr>
          <a:xfrm>
            <a:off x="0" y="1417320"/>
            <a:ext cx="12191695" cy="3063240"/>
          </a:xfrm>
          <a:prstGeom prst="rect">
            <a:avLst/>
          </a:prstGeom>
          <a:solidFill>
            <a:srgbClr val="2F5597"/>
          </a:solidFill>
          <a:ln/>
        </p:spPr>
      </p:sp>
      <p:sp>
        <p:nvSpPr>
          <p:cNvPr id="7" name="Text 3"/>
          <p:cNvSpPr/>
          <p:nvPr/>
        </p:nvSpPr>
        <p:spPr>
          <a:xfrm>
            <a:off x="411480" y="1508760"/>
            <a:ext cx="11338560" cy="28803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 Heterogeneous Graph-Attention MAPPO Algorithm</a:t>
            </a:r>
            <a:endParaRPr lang="en-US" sz="3000" dirty="0"/>
          </a:p>
          <a:p>
            <a:pPr algn="ctr" indent="0" marL="0">
              <a:buNone/>
            </a:pPr>
            <a:r>
              <a:rPr lang="en-US" sz="3000" b="1" dirty="0">
                <a:solidFill>
                  <a:srgbClr val="FFFFFF"/>
                </a:solidFill>
                <a:latin typeface="Calibri" pitchFamily="34" charset="0"/>
                <a:ea typeface="Calibri" pitchFamily="34" charset="-122"/>
                <a:cs typeface="Calibri" pitchFamily="34" charset="-120"/>
              </a:rPr>
              <a:t>for Cooperative Multi-UAV Search</a:t>
            </a:r>
            <a:endParaRPr lang="en-US" sz="3000" dirty="0"/>
          </a:p>
          <a:p>
            <a:pPr algn="ctr" indent="0" marL="0">
              <a:buNone/>
            </a:pPr>
            <a:r>
              <a:rPr lang="en-US" sz="3000" b="1" dirty="0">
                <a:solidFill>
                  <a:srgbClr val="FFFFFF"/>
                </a:solidFill>
                <a:latin typeface="Calibri" pitchFamily="34" charset="0"/>
                <a:ea typeface="Calibri" pitchFamily="34" charset="-122"/>
                <a:cs typeface="Calibri" pitchFamily="34" charset="-120"/>
              </a:rPr>
              <a:t>under Intermittent Communication Constraints</a:t>
            </a:r>
            <a:endParaRPr lang="en-US" sz="3000" dirty="0"/>
          </a:p>
        </p:txBody>
      </p:sp>
      <p:sp>
        <p:nvSpPr>
          <p:cNvPr id="8" name="Text 4"/>
          <p:cNvSpPr/>
          <p:nvPr/>
        </p:nvSpPr>
        <p:spPr>
          <a:xfrm>
            <a:off x="457200" y="4617720"/>
            <a:ext cx="11247120" cy="457200"/>
          </a:xfrm>
          <a:prstGeom prst="rect">
            <a:avLst/>
          </a:prstGeom>
          <a:noFill/>
          <a:ln/>
        </p:spPr>
        <p:txBody>
          <a:bodyPr wrap="square" lIns="0" tIns="0" rIns="0" bIns="0" rtlCol="0" anchor="ctr"/>
          <a:lstStyle/>
          <a:p>
            <a:pPr algn="ctr" indent="0" marL="0">
              <a:buNone/>
            </a:pPr>
            <a:r>
              <a:rPr lang="en-US" sz="1800" dirty="0">
                <a:solidFill>
                  <a:srgbClr val="1F2A44"/>
                </a:solidFill>
                <a:latin typeface="Calibri" pitchFamily="34" charset="0"/>
                <a:ea typeface="Calibri" pitchFamily="34" charset="-122"/>
                <a:cs typeface="Calibri" pitchFamily="34" charset="-120"/>
              </a:rPr>
              <a:t>Yinying Kuang, Zhaowei Liang, Yongran Zhi, Huijin Fan*, Lei Liu*, Bo Wang*</a:t>
            </a:r>
            <a:endParaRPr lang="en-US" sz="1800" dirty="0"/>
          </a:p>
        </p:txBody>
      </p:sp>
      <p:sp>
        <p:nvSpPr>
          <p:cNvPr id="9" name="Text 5"/>
          <p:cNvSpPr/>
          <p:nvPr/>
        </p:nvSpPr>
        <p:spPr>
          <a:xfrm>
            <a:off x="457200" y="5074920"/>
            <a:ext cx="11247120" cy="713232"/>
          </a:xfrm>
          <a:prstGeom prst="rect">
            <a:avLst/>
          </a:prstGeom>
          <a:noFill/>
          <a:ln/>
        </p:spPr>
        <p:txBody>
          <a:bodyPr wrap="square" lIns="0" tIns="0" rIns="0" bIns="0" rtlCol="0" anchor="ctr"/>
          <a:lstStyle/>
          <a:p>
            <a:pPr algn="ctr" indent="0" marL="0">
              <a:buNone/>
            </a:pPr>
            <a:r>
              <a:rPr lang="en-US" sz="1700" dirty="0">
                <a:solidFill>
                  <a:srgbClr val="5A6A80"/>
                </a:solidFill>
                <a:latin typeface="Calibri" pitchFamily="34" charset="0"/>
                <a:ea typeface="Calibri" pitchFamily="34" charset="-122"/>
                <a:cs typeface="Calibri" pitchFamily="34" charset="-120"/>
              </a:rPr>
              <a:t>Huazhong University of Science and Technology</a:t>
            </a:r>
            <a:endParaRPr lang="en-US" sz="1700" dirty="0"/>
          </a:p>
          <a:p>
            <a:pPr algn="ctr" indent="0" marL="0">
              <a:buNone/>
            </a:pPr>
            <a:r>
              <a:rPr lang="en-US" sz="1700" dirty="0">
                <a:solidFill>
                  <a:srgbClr val="5A6A80"/>
                </a:solidFill>
                <a:latin typeface="Calibri" pitchFamily="34" charset="0"/>
                <a:ea typeface="Calibri" pitchFamily="34" charset="-122"/>
                <a:cs typeface="Calibri" pitchFamily="34" charset="-120"/>
              </a:rPr>
              <a:t>Wuhan Second Ship Design and Research Institute</a:t>
            </a:r>
            <a:endParaRPr lang="en-US" sz="1700" dirty="0"/>
          </a:p>
        </p:txBody>
      </p:sp>
      <p:sp>
        <p:nvSpPr>
          <p:cNvPr id="10" name="Text 6"/>
          <p:cNvSpPr/>
          <p:nvPr/>
        </p:nvSpPr>
        <p:spPr>
          <a:xfrm>
            <a:off x="457200" y="5852160"/>
            <a:ext cx="11247120" cy="384048"/>
          </a:xfrm>
          <a:prstGeom prst="rect">
            <a:avLst/>
          </a:prstGeom>
          <a:noFill/>
          <a:ln/>
        </p:spPr>
        <p:txBody>
          <a:bodyPr wrap="square" lIns="0" tIns="0" rIns="0" bIns="0" rtlCol="0" anchor="ctr"/>
          <a:lstStyle/>
          <a:p>
            <a:pPr algn="ctr" indent="0" marL="0">
              <a:buNone/>
            </a:pPr>
            <a:r>
              <a:rPr lang="en-US" sz="1800" b="1" dirty="0">
                <a:solidFill>
                  <a:srgbClr val="2F5597"/>
                </a:solidFill>
                <a:latin typeface="Calibri" pitchFamily="34" charset="0"/>
                <a:ea typeface="Calibri" pitchFamily="34" charset="-122"/>
                <a:cs typeface="Calibri" pitchFamily="34" charset="-120"/>
              </a:rPr>
              <a:t>CAC 2026  ·  Beijing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tmp/ppt-work/assets/hust.png">    </p:cNvPr>
          <p:cNvPicPr>
            <a:picLocks noChangeAspect="1"/>
          </p:cNvPicPr>
          <p:nvPr/>
        </p:nvPicPr>
        <p:blipFill>
          <a:blip r:embed="rId1"/>
          <a:stretch>
            <a:fillRect/>
          </a:stretch>
        </p:blipFill>
        <p:spPr>
          <a:xfrm>
            <a:off x="11337578" y="91440"/>
            <a:ext cx="715196" cy="493776"/>
          </a:xfrm>
          <a:prstGeom prst="rect">
            <a:avLst/>
          </a:prstGeom>
        </p:spPr>
      </p:pic>
      <p:sp>
        <p:nvSpPr>
          <p:cNvPr id="3" name="Shape 0"/>
          <p:cNvSpPr/>
          <p:nvPr/>
        </p:nvSpPr>
        <p:spPr>
          <a:xfrm>
            <a:off x="0" y="658368"/>
            <a:ext cx="12191695" cy="128016"/>
          </a:xfrm>
          <a:prstGeom prst="rect">
            <a:avLst/>
          </a:prstGeom>
          <a:solidFill>
            <a:srgbClr val="2F5597"/>
          </a:solidFill>
          <a:ln/>
        </p:spPr>
      </p:sp>
      <p:sp>
        <p:nvSpPr>
          <p:cNvPr id="4" name="Shape 1"/>
          <p:cNvSpPr/>
          <p:nvPr/>
        </p:nvSpPr>
        <p:spPr>
          <a:xfrm>
            <a:off x="-182880" y="2240280"/>
            <a:ext cx="4434840" cy="1874520"/>
          </a:xfrm>
          <a:prstGeom prst="roundRect">
            <a:avLst>
              <a:gd name="adj" fmla="val 46341"/>
            </a:avLst>
          </a:prstGeom>
          <a:solidFill>
            <a:srgbClr val="2F5597"/>
          </a:solidFill>
          <a:ln/>
        </p:spPr>
      </p:sp>
      <p:sp>
        <p:nvSpPr>
          <p:cNvPr id="5" name="Text 2"/>
          <p:cNvSpPr/>
          <p:nvPr/>
        </p:nvSpPr>
        <p:spPr>
          <a:xfrm>
            <a:off x="182880" y="2606040"/>
            <a:ext cx="3794760" cy="1143000"/>
          </a:xfrm>
          <a:prstGeom prst="rect">
            <a:avLst/>
          </a:prstGeom>
          <a:noFill/>
          <a:ln/>
        </p:spPr>
        <p:txBody>
          <a:bodyPr wrap="square" lIns="0" tIns="0" rIns="0" bIns="0" rtlCol="0" anchor="ctr"/>
          <a:lstStyle/>
          <a:p>
            <a:pPr algn="ctr" indent="0" marL="0">
              <a:buNone/>
            </a:pPr>
            <a:r>
              <a:rPr lang="en-US" sz="3600" b="1" dirty="0">
                <a:solidFill>
                  <a:srgbClr val="FFFFFF"/>
                </a:solidFill>
                <a:latin typeface="Calibri" pitchFamily="34" charset="0"/>
                <a:ea typeface="Calibri" pitchFamily="34" charset="-122"/>
                <a:cs typeface="Calibri" pitchFamily="34" charset="-120"/>
              </a:rPr>
              <a:t>CONTENTS</a:t>
            </a:r>
            <a:endParaRPr lang="en-US" sz="3600" dirty="0"/>
          </a:p>
        </p:txBody>
      </p:sp>
      <p:sp>
        <p:nvSpPr>
          <p:cNvPr id="6" name="Shape 3"/>
          <p:cNvSpPr/>
          <p:nvPr/>
        </p:nvSpPr>
        <p:spPr>
          <a:xfrm>
            <a:off x="4617720" y="1554480"/>
            <a:ext cx="64008" cy="3840480"/>
          </a:xfrm>
          <a:prstGeom prst="rect">
            <a:avLst/>
          </a:prstGeom>
          <a:solidFill>
            <a:srgbClr val="2F5597"/>
          </a:solidFill>
          <a:ln/>
        </p:spPr>
      </p:sp>
      <p:sp>
        <p:nvSpPr>
          <p:cNvPr id="7" name="Text 4"/>
          <p:cNvSpPr/>
          <p:nvPr/>
        </p:nvSpPr>
        <p:spPr>
          <a:xfrm>
            <a:off x="4983480" y="1828800"/>
            <a:ext cx="822960" cy="566928"/>
          </a:xfrm>
          <a:prstGeom prst="rect">
            <a:avLst/>
          </a:prstGeom>
          <a:noFill/>
          <a:ln/>
        </p:spPr>
        <p:txBody>
          <a:bodyPr wrap="square" lIns="0" tIns="0" rIns="0" bIns="0" rtlCol="0" anchor="ctr"/>
          <a:lstStyle/>
          <a:p>
            <a:pPr indent="0" marL="0">
              <a:buNone/>
            </a:pPr>
            <a:r>
              <a:rPr lang="en-US" sz="3000" b="1" dirty="0">
                <a:solidFill>
                  <a:srgbClr val="2F5597"/>
                </a:solidFill>
                <a:latin typeface="Calibri" pitchFamily="34" charset="0"/>
                <a:ea typeface="Calibri" pitchFamily="34" charset="-122"/>
                <a:cs typeface="Calibri" pitchFamily="34" charset="-120"/>
              </a:rPr>
              <a:t>01</a:t>
            </a:r>
            <a:endParaRPr lang="en-US" sz="3000" dirty="0"/>
          </a:p>
        </p:txBody>
      </p:sp>
      <p:sp>
        <p:nvSpPr>
          <p:cNvPr id="8" name="Text 5"/>
          <p:cNvSpPr/>
          <p:nvPr/>
        </p:nvSpPr>
        <p:spPr>
          <a:xfrm>
            <a:off x="5852160" y="1828800"/>
            <a:ext cx="5852160" cy="713232"/>
          </a:xfrm>
          <a:prstGeom prst="rect">
            <a:avLst/>
          </a:prstGeom>
          <a:noFill/>
          <a:ln/>
        </p:spPr>
        <p:txBody>
          <a:bodyPr wrap="square" lIns="0" tIns="0" rIns="0" bIns="0" rtlCol="0" anchor="ctr"/>
          <a:lstStyle/>
          <a:p>
            <a:pPr indent="0" marL="0">
              <a:buNone/>
            </a:pPr>
            <a:r>
              <a:rPr lang="en-US" sz="2200" dirty="0">
                <a:solidFill>
                  <a:srgbClr val="1F2A44"/>
                </a:solidFill>
                <a:latin typeface="Calibri" pitchFamily="34" charset="0"/>
                <a:ea typeface="Calibri" pitchFamily="34" charset="-122"/>
                <a:cs typeface="Calibri" pitchFamily="34" charset="-120"/>
              </a:rPr>
              <a:t>Background and Problem Formulation</a:t>
            </a:r>
            <a:endParaRPr lang="en-US" sz="2200" dirty="0"/>
          </a:p>
        </p:txBody>
      </p:sp>
      <p:sp>
        <p:nvSpPr>
          <p:cNvPr id="9" name="Text 6"/>
          <p:cNvSpPr/>
          <p:nvPr/>
        </p:nvSpPr>
        <p:spPr>
          <a:xfrm>
            <a:off x="4983480" y="2880360"/>
            <a:ext cx="822960" cy="566928"/>
          </a:xfrm>
          <a:prstGeom prst="rect">
            <a:avLst/>
          </a:prstGeom>
          <a:noFill/>
          <a:ln/>
        </p:spPr>
        <p:txBody>
          <a:bodyPr wrap="square" lIns="0" tIns="0" rIns="0" bIns="0" rtlCol="0" anchor="ctr"/>
          <a:lstStyle/>
          <a:p>
            <a:pPr indent="0" marL="0">
              <a:buNone/>
            </a:pPr>
            <a:r>
              <a:rPr lang="en-US" sz="3000" b="1" dirty="0">
                <a:solidFill>
                  <a:srgbClr val="2F5597"/>
                </a:solidFill>
                <a:latin typeface="Calibri" pitchFamily="34" charset="0"/>
                <a:ea typeface="Calibri" pitchFamily="34" charset="-122"/>
                <a:cs typeface="Calibri" pitchFamily="34" charset="-120"/>
              </a:rPr>
              <a:t>02</a:t>
            </a:r>
            <a:endParaRPr lang="en-US" sz="3000" dirty="0"/>
          </a:p>
        </p:txBody>
      </p:sp>
      <p:sp>
        <p:nvSpPr>
          <p:cNvPr id="10" name="Text 7"/>
          <p:cNvSpPr/>
          <p:nvPr/>
        </p:nvSpPr>
        <p:spPr>
          <a:xfrm>
            <a:off x="5852160" y="2880360"/>
            <a:ext cx="5852160" cy="713232"/>
          </a:xfrm>
          <a:prstGeom prst="rect">
            <a:avLst/>
          </a:prstGeom>
          <a:noFill/>
          <a:ln/>
        </p:spPr>
        <p:txBody>
          <a:bodyPr wrap="square" lIns="0" tIns="0" rIns="0" bIns="0" rtlCol="0" anchor="ctr"/>
          <a:lstStyle/>
          <a:p>
            <a:pPr indent="0" marL="0">
              <a:buNone/>
            </a:pPr>
            <a:r>
              <a:rPr lang="en-US" sz="2200" dirty="0">
                <a:solidFill>
                  <a:srgbClr val="1F2A44"/>
                </a:solidFill>
                <a:latin typeface="Calibri" pitchFamily="34" charset="0"/>
                <a:ea typeface="Calibri" pitchFamily="34" charset="-122"/>
                <a:cs typeface="Calibri" pitchFamily="34" charset="-120"/>
              </a:rPr>
              <a:t>Proposed IC-HGAT-MAPPO</a:t>
            </a:r>
            <a:endParaRPr lang="en-US" sz="2200" dirty="0"/>
          </a:p>
        </p:txBody>
      </p:sp>
      <p:sp>
        <p:nvSpPr>
          <p:cNvPr id="11" name="Text 8"/>
          <p:cNvSpPr/>
          <p:nvPr/>
        </p:nvSpPr>
        <p:spPr>
          <a:xfrm>
            <a:off x="4983480" y="3931920"/>
            <a:ext cx="822960" cy="566928"/>
          </a:xfrm>
          <a:prstGeom prst="rect">
            <a:avLst/>
          </a:prstGeom>
          <a:noFill/>
          <a:ln/>
        </p:spPr>
        <p:txBody>
          <a:bodyPr wrap="square" lIns="0" tIns="0" rIns="0" bIns="0" rtlCol="0" anchor="ctr"/>
          <a:lstStyle/>
          <a:p>
            <a:pPr indent="0" marL="0">
              <a:buNone/>
            </a:pPr>
            <a:r>
              <a:rPr lang="en-US" sz="3000" b="1" dirty="0">
                <a:solidFill>
                  <a:srgbClr val="2F5597"/>
                </a:solidFill>
                <a:latin typeface="Calibri" pitchFamily="34" charset="0"/>
                <a:ea typeface="Calibri" pitchFamily="34" charset="-122"/>
                <a:cs typeface="Calibri" pitchFamily="34" charset="-120"/>
              </a:rPr>
              <a:t>03</a:t>
            </a:r>
            <a:endParaRPr lang="en-US" sz="3000" dirty="0"/>
          </a:p>
        </p:txBody>
      </p:sp>
      <p:sp>
        <p:nvSpPr>
          <p:cNvPr id="12" name="Text 9"/>
          <p:cNvSpPr/>
          <p:nvPr/>
        </p:nvSpPr>
        <p:spPr>
          <a:xfrm>
            <a:off x="5852160" y="3931920"/>
            <a:ext cx="5852160" cy="713232"/>
          </a:xfrm>
          <a:prstGeom prst="rect">
            <a:avLst/>
          </a:prstGeom>
          <a:noFill/>
          <a:ln/>
        </p:spPr>
        <p:txBody>
          <a:bodyPr wrap="square" lIns="0" tIns="0" rIns="0" bIns="0" rtlCol="0" anchor="ctr"/>
          <a:lstStyle/>
          <a:p>
            <a:pPr indent="0" marL="0">
              <a:buNone/>
            </a:pPr>
            <a:r>
              <a:rPr lang="en-US" sz="2200" dirty="0">
                <a:solidFill>
                  <a:srgbClr val="1F2A44"/>
                </a:solidFill>
                <a:latin typeface="Calibri" pitchFamily="34" charset="0"/>
                <a:ea typeface="Calibri" pitchFamily="34" charset="-122"/>
                <a:cs typeface="Calibri" pitchFamily="34" charset="-120"/>
              </a:rPr>
              <a:t>Experimental Results and Conclusions</a:t>
            </a:r>
            <a:endParaRPr lang="en-US" sz="2200" dirty="0"/>
          </a:p>
        </p:txBody>
      </p:sp>
      <p:sp>
        <p:nvSpPr>
          <p:cNvPr id="13" name="Text 10"/>
          <p:cNvSpPr/>
          <p:nvPr/>
        </p:nvSpPr>
        <p:spPr>
          <a:xfrm>
            <a:off x="11475720" y="6510528"/>
            <a:ext cx="502920" cy="256032"/>
          </a:xfrm>
          <a:prstGeom prst="rect">
            <a:avLst/>
          </a:prstGeom>
          <a:noFill/>
          <a:ln/>
        </p:spPr>
        <p:txBody>
          <a:bodyPr wrap="square" lIns="0" tIns="0" rIns="0" bIns="0" rtlCol="0" anchor="ctr"/>
          <a:lstStyle/>
          <a:p>
            <a:pPr algn="r" indent="0" marL="0">
              <a:buNone/>
            </a:pPr>
            <a:r>
              <a:rPr lang="en-US" sz="1200" dirty="0">
                <a:solidFill>
                  <a:srgbClr val="2F5597"/>
                </a:solidFill>
                <a:latin typeface="Calibri" pitchFamily="34" charset="0"/>
                <a:ea typeface="Calibri" pitchFamily="34" charset="-122"/>
                <a:cs typeface="Calibri"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tmp/ppt-work/assets/hust.png">    </p:cNvPr>
          <p:cNvPicPr>
            <a:picLocks noChangeAspect="1"/>
          </p:cNvPicPr>
          <p:nvPr/>
        </p:nvPicPr>
        <p:blipFill>
          <a:blip r:embed="rId1"/>
          <a:stretch>
            <a:fillRect/>
          </a:stretch>
        </p:blipFill>
        <p:spPr>
          <a:xfrm>
            <a:off x="11337578" y="54864"/>
            <a:ext cx="715196" cy="493776"/>
          </a:xfrm>
          <a:prstGeom prst="rect">
            <a:avLst/>
          </a:prstGeom>
        </p:spPr>
      </p:pic>
      <p:sp>
        <p:nvSpPr>
          <p:cNvPr id="3" name="Text 0"/>
          <p:cNvSpPr/>
          <p:nvPr/>
        </p:nvSpPr>
        <p:spPr>
          <a:xfrm>
            <a:off x="347472" y="73152"/>
            <a:ext cx="10698480" cy="438912"/>
          </a:xfrm>
          <a:prstGeom prst="rect">
            <a:avLst/>
          </a:prstGeom>
          <a:noFill/>
          <a:ln/>
        </p:spPr>
        <p:txBody>
          <a:bodyPr wrap="square" lIns="0" tIns="0" rIns="0" bIns="0" rtlCol="0" anchor="ctr"/>
          <a:lstStyle/>
          <a:p>
            <a:pPr indent="0" marL="0">
              <a:buNone/>
            </a:pPr>
            <a:r>
              <a:rPr lang="en-US" sz="2600" b="1" dirty="0">
                <a:solidFill>
                  <a:srgbClr val="2F5597"/>
                </a:solidFill>
                <a:latin typeface="Calibri" pitchFamily="34" charset="0"/>
                <a:ea typeface="Calibri" pitchFamily="34" charset="-122"/>
                <a:cs typeface="Calibri" pitchFamily="34" charset="-120"/>
              </a:rPr>
              <a:t>1. Background</a:t>
            </a:r>
            <a:endParaRPr lang="en-US" sz="2600" dirty="0"/>
          </a:p>
        </p:txBody>
      </p:sp>
      <p:sp>
        <p:nvSpPr>
          <p:cNvPr id="4" name="Shape 1"/>
          <p:cNvSpPr/>
          <p:nvPr/>
        </p:nvSpPr>
        <p:spPr>
          <a:xfrm>
            <a:off x="0" y="566928"/>
            <a:ext cx="12191695" cy="475488"/>
          </a:xfrm>
          <a:prstGeom prst="rect">
            <a:avLst/>
          </a:prstGeom>
          <a:solidFill>
            <a:srgbClr val="2F5597"/>
          </a:solidFill>
          <a:ln/>
        </p:spPr>
      </p:sp>
      <p:sp>
        <p:nvSpPr>
          <p:cNvPr id="5" name="Text 2"/>
          <p:cNvSpPr/>
          <p:nvPr/>
        </p:nvSpPr>
        <p:spPr>
          <a:xfrm>
            <a:off x="347472" y="585216"/>
            <a:ext cx="11430000" cy="43891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1.1 Cooperative Multi-UAV Search</a:t>
            </a:r>
            <a:endParaRPr lang="en-US" sz="2000" dirty="0"/>
          </a:p>
        </p:txBody>
      </p:sp>
      <p:pic>
        <p:nvPicPr>
          <p:cNvPr id="6" name="Image 1" descr="/tmp/ppt-work/assets/photo_eq.png">    </p:cNvPr>
          <p:cNvPicPr>
            <a:picLocks noChangeAspect="1"/>
          </p:cNvPicPr>
          <p:nvPr/>
        </p:nvPicPr>
        <p:blipFill>
          <a:blip r:embed="rId2"/>
          <a:stretch>
            <a:fillRect/>
          </a:stretch>
        </p:blipFill>
        <p:spPr>
          <a:xfrm>
            <a:off x="365760" y="1170432"/>
            <a:ext cx="3703320" cy="1965960"/>
          </a:xfrm>
          <a:prstGeom prst="rect">
            <a:avLst/>
          </a:prstGeom>
        </p:spPr>
      </p:pic>
      <p:sp>
        <p:nvSpPr>
          <p:cNvPr id="7" name="Text 3"/>
          <p:cNvSpPr/>
          <p:nvPr/>
        </p:nvSpPr>
        <p:spPr>
          <a:xfrm>
            <a:off x="365760" y="3163824"/>
            <a:ext cx="3703320" cy="347472"/>
          </a:xfrm>
          <a:prstGeom prst="rect">
            <a:avLst/>
          </a:prstGeom>
          <a:noFill/>
          <a:ln/>
        </p:spPr>
        <p:txBody>
          <a:bodyPr wrap="square" lIns="0" tIns="0" rIns="0" bIns="0" rtlCol="0" anchor="ctr"/>
          <a:lstStyle/>
          <a:p>
            <a:pPr algn="ctr" indent="0" marL="0">
              <a:buNone/>
            </a:pPr>
            <a:r>
              <a:rPr lang="en-US" sz="1600" b="1" dirty="0">
                <a:solidFill>
                  <a:srgbClr val="1F2A44"/>
                </a:solidFill>
                <a:latin typeface="Calibri" pitchFamily="34" charset="0"/>
                <a:ea typeface="Calibri" pitchFamily="34" charset="-122"/>
                <a:cs typeface="Calibri" pitchFamily="34" charset="-120"/>
              </a:rPr>
              <a:t>Earthquake Response</a:t>
            </a:r>
            <a:endParaRPr lang="en-US" sz="1600" dirty="0"/>
          </a:p>
        </p:txBody>
      </p:sp>
      <p:pic>
        <p:nvPicPr>
          <p:cNvPr id="8" name="Image 2" descr="/tmp/ppt-work/assets/photo_wf.png">    </p:cNvPr>
          <p:cNvPicPr>
            <a:picLocks noChangeAspect="1"/>
          </p:cNvPicPr>
          <p:nvPr/>
        </p:nvPicPr>
        <p:blipFill>
          <a:blip r:embed="rId3"/>
          <a:stretch>
            <a:fillRect/>
          </a:stretch>
        </p:blipFill>
        <p:spPr>
          <a:xfrm>
            <a:off x="4297680" y="1170432"/>
            <a:ext cx="3703320" cy="1965960"/>
          </a:xfrm>
          <a:prstGeom prst="rect">
            <a:avLst/>
          </a:prstGeom>
        </p:spPr>
      </p:pic>
      <p:sp>
        <p:nvSpPr>
          <p:cNvPr id="9" name="Text 4"/>
          <p:cNvSpPr/>
          <p:nvPr/>
        </p:nvSpPr>
        <p:spPr>
          <a:xfrm>
            <a:off x="4297680" y="3163824"/>
            <a:ext cx="3703320" cy="347472"/>
          </a:xfrm>
          <a:prstGeom prst="rect">
            <a:avLst/>
          </a:prstGeom>
          <a:noFill/>
          <a:ln/>
        </p:spPr>
        <p:txBody>
          <a:bodyPr wrap="square" lIns="0" tIns="0" rIns="0" bIns="0" rtlCol="0" anchor="ctr"/>
          <a:lstStyle/>
          <a:p>
            <a:pPr algn="ctr" indent="0" marL="0">
              <a:buNone/>
            </a:pPr>
            <a:r>
              <a:rPr lang="en-US" sz="1600" b="1" dirty="0">
                <a:solidFill>
                  <a:srgbClr val="1F2A44"/>
                </a:solidFill>
                <a:latin typeface="Calibri" pitchFamily="34" charset="0"/>
                <a:ea typeface="Calibri" pitchFamily="34" charset="-122"/>
                <a:cs typeface="Calibri" pitchFamily="34" charset="-120"/>
              </a:rPr>
              <a:t>Wildfire Monitoring</a:t>
            </a:r>
            <a:endParaRPr lang="en-US" sz="1600" dirty="0"/>
          </a:p>
        </p:txBody>
      </p:sp>
      <p:pic>
        <p:nvPicPr>
          <p:cNvPr id="10" name="Image 3" descr="/tmp/ppt-work/assets/photo_mr.png">    </p:cNvPr>
          <p:cNvPicPr>
            <a:picLocks noChangeAspect="1"/>
          </p:cNvPicPr>
          <p:nvPr/>
        </p:nvPicPr>
        <p:blipFill>
          <a:blip r:embed="rId4"/>
          <a:stretch>
            <a:fillRect/>
          </a:stretch>
        </p:blipFill>
        <p:spPr>
          <a:xfrm>
            <a:off x="8229600" y="1170432"/>
            <a:ext cx="3703320" cy="1965960"/>
          </a:xfrm>
          <a:prstGeom prst="rect">
            <a:avLst/>
          </a:prstGeom>
        </p:spPr>
      </p:pic>
      <p:sp>
        <p:nvSpPr>
          <p:cNvPr id="11" name="Text 5"/>
          <p:cNvSpPr/>
          <p:nvPr/>
        </p:nvSpPr>
        <p:spPr>
          <a:xfrm>
            <a:off x="8229600" y="3163824"/>
            <a:ext cx="3703320" cy="347472"/>
          </a:xfrm>
          <a:prstGeom prst="rect">
            <a:avLst/>
          </a:prstGeom>
          <a:noFill/>
          <a:ln/>
        </p:spPr>
        <p:txBody>
          <a:bodyPr wrap="square" lIns="0" tIns="0" rIns="0" bIns="0" rtlCol="0" anchor="ctr"/>
          <a:lstStyle/>
          <a:p>
            <a:pPr algn="ctr" indent="0" marL="0">
              <a:buNone/>
            </a:pPr>
            <a:r>
              <a:rPr lang="en-US" sz="1600" b="1" dirty="0">
                <a:solidFill>
                  <a:srgbClr val="1F2A44"/>
                </a:solidFill>
                <a:latin typeface="Calibri" pitchFamily="34" charset="0"/>
                <a:ea typeface="Calibri" pitchFamily="34" charset="-122"/>
                <a:cs typeface="Calibri" pitchFamily="34" charset="-120"/>
              </a:rPr>
              <a:t>Maritime Rescue</a:t>
            </a:r>
            <a:endParaRPr lang="en-US" sz="1600" dirty="0"/>
          </a:p>
        </p:txBody>
      </p:sp>
      <p:sp>
        <p:nvSpPr>
          <p:cNvPr id="12" name="Shape 6"/>
          <p:cNvSpPr/>
          <p:nvPr/>
        </p:nvSpPr>
        <p:spPr>
          <a:xfrm>
            <a:off x="365760" y="3474720"/>
            <a:ext cx="11475720" cy="438912"/>
          </a:xfrm>
          <a:prstGeom prst="rect">
            <a:avLst/>
          </a:prstGeom>
          <a:solidFill>
            <a:srgbClr val="F4F6FA"/>
          </a:solidFill>
          <a:ln/>
        </p:spPr>
      </p:sp>
      <p:sp>
        <p:nvSpPr>
          <p:cNvPr id="13" name="Text 7"/>
          <p:cNvSpPr/>
          <p:nvPr/>
        </p:nvSpPr>
        <p:spPr>
          <a:xfrm>
            <a:off x="457200" y="3547872"/>
            <a:ext cx="4846320" cy="438912"/>
          </a:xfrm>
          <a:prstGeom prst="rect">
            <a:avLst/>
          </a:prstGeom>
          <a:noFill/>
          <a:ln/>
        </p:spPr>
        <p:txBody>
          <a:bodyPr wrap="square" lIns="0" tIns="0" rIns="0" bIns="0" rtlCol="0" anchor="ctr"/>
          <a:lstStyle/>
          <a:p>
            <a:pPr algn="r" indent="0" marL="0">
              <a:buNone/>
            </a:pPr>
            <a:r>
              <a:rPr lang="en-US" sz="1500" dirty="0">
                <a:solidFill>
                  <a:srgbClr val="5A6A80"/>
                </a:solidFill>
                <a:latin typeface="Calibri" pitchFamily="34" charset="0"/>
                <a:ea typeface="Calibri" pitchFamily="34" charset="-122"/>
                <a:cs typeface="Calibri" pitchFamily="34" charset="-120"/>
              </a:rPr>
              <a:t>Global / Reliable Information</a:t>
            </a:r>
            <a:endParaRPr lang="en-US" sz="1500" dirty="0"/>
          </a:p>
        </p:txBody>
      </p:sp>
      <p:sp>
        <p:nvSpPr>
          <p:cNvPr id="14" name="Text 8"/>
          <p:cNvSpPr/>
          <p:nvPr/>
        </p:nvSpPr>
        <p:spPr>
          <a:xfrm>
            <a:off x="5349240" y="3547872"/>
            <a:ext cx="6400800" cy="438912"/>
          </a:xfrm>
          <a:prstGeom prst="rect">
            <a:avLst/>
          </a:prstGeom>
          <a:noFill/>
          <a:ln/>
        </p:spPr>
        <p:txBody>
          <a:bodyPr wrap="square" lIns="0" tIns="0" rIns="0" bIns="0" rtlCol="0" anchor="ctr"/>
          <a:lstStyle/>
          <a:p>
            <a:pPr indent="0" marL="0">
              <a:buNone/>
            </a:pPr>
            <a:r>
              <a:rPr lang="en-US" sz="1500" b="1" dirty="0">
                <a:solidFill>
                  <a:srgbClr val="C0392B"/>
                </a:solidFill>
                <a:latin typeface="Calibri" pitchFamily="34" charset="0"/>
                <a:ea typeface="Calibri" pitchFamily="34" charset="-122"/>
                <a:cs typeface="Calibri" pitchFamily="34" charset="-120"/>
              </a:rPr>
              <a:t>  →   Local Observation + Intermittent Communication</a:t>
            </a:r>
            <a:endParaRPr lang="en-US" sz="1500" dirty="0"/>
          </a:p>
        </p:txBody>
      </p:sp>
      <p:sp>
        <p:nvSpPr>
          <p:cNvPr id="15" name="Text 9"/>
          <p:cNvSpPr/>
          <p:nvPr/>
        </p:nvSpPr>
        <p:spPr>
          <a:xfrm>
            <a:off x="365760" y="3986784"/>
            <a:ext cx="11475720" cy="292608"/>
          </a:xfrm>
          <a:prstGeom prst="rect">
            <a:avLst/>
          </a:prstGeom>
          <a:noFill/>
          <a:ln/>
        </p:spPr>
        <p:txBody>
          <a:bodyPr wrap="square" lIns="0" tIns="0" rIns="0" bIns="0" rtlCol="0" anchor="ctr"/>
          <a:lstStyle/>
          <a:p>
            <a:pPr algn="ctr" indent="0" marL="0">
              <a:buNone/>
            </a:pPr>
            <a:r>
              <a:rPr lang="en-US" sz="1400" i="1" dirty="0">
                <a:solidFill>
                  <a:srgbClr val="5A6A80"/>
                </a:solidFill>
                <a:latin typeface="Calibri" pitchFamily="34" charset="0"/>
                <a:ea typeface="Calibri" pitchFamily="34" charset="-122"/>
                <a:cs typeface="Calibri" pitchFamily="34" charset="-120"/>
              </a:rPr>
              <a:t>More realistic but more challenging</a:t>
            </a:r>
            <a:endParaRPr lang="en-US" sz="1400" dirty="0"/>
          </a:p>
        </p:txBody>
      </p:sp>
      <p:sp>
        <p:nvSpPr>
          <p:cNvPr id="16" name="Shape 10"/>
          <p:cNvSpPr/>
          <p:nvPr/>
        </p:nvSpPr>
        <p:spPr>
          <a:xfrm>
            <a:off x="365760" y="4224528"/>
            <a:ext cx="3703320" cy="2011680"/>
          </a:xfrm>
          <a:prstGeom prst="roundRect">
            <a:avLst>
              <a:gd name="adj" fmla="val 3636"/>
            </a:avLst>
          </a:prstGeom>
          <a:solidFill>
            <a:srgbClr val="EAF0F8"/>
          </a:solidFill>
          <a:ln/>
          <a:effectLst>
            <a:outerShdw sx="100000" sy="100000" kx="0" ky="0" algn="bl" rotWithShape="0" blurRad="50800" dist="12700" dir="16200000">
              <a:srgbClr val="1F2A44">
                <a:alpha val="12000"/>
              </a:srgbClr>
            </a:outerShdw>
          </a:effectLst>
        </p:spPr>
      </p:sp>
      <p:sp>
        <p:nvSpPr>
          <p:cNvPr id="17" name="Text 11"/>
          <p:cNvSpPr/>
          <p:nvPr/>
        </p:nvSpPr>
        <p:spPr>
          <a:xfrm>
            <a:off x="502920" y="4315968"/>
            <a:ext cx="3429000" cy="384048"/>
          </a:xfrm>
          <a:prstGeom prst="rect">
            <a:avLst/>
          </a:prstGeom>
          <a:noFill/>
          <a:ln/>
        </p:spPr>
        <p:txBody>
          <a:bodyPr wrap="square" lIns="0" tIns="0" rIns="0" bIns="0" rtlCol="0" anchor="ctr"/>
          <a:lstStyle/>
          <a:p>
            <a:pPr indent="0" marL="0">
              <a:buNone/>
            </a:pPr>
            <a:r>
              <a:rPr lang="en-US" sz="1700" b="1" dirty="0">
                <a:solidFill>
                  <a:srgbClr val="2F5597"/>
                </a:solidFill>
                <a:latin typeface="Calibri" pitchFamily="34" charset="0"/>
                <a:ea typeface="Calibri" pitchFamily="34" charset="-122"/>
                <a:cs typeface="Calibri" pitchFamily="34" charset="-120"/>
              </a:rPr>
              <a:t>Conventional Setting</a:t>
            </a:r>
            <a:endParaRPr lang="en-US" sz="1700" dirty="0"/>
          </a:p>
        </p:txBody>
      </p:sp>
      <p:sp>
        <p:nvSpPr>
          <p:cNvPr id="18" name="Text 12"/>
          <p:cNvSpPr/>
          <p:nvPr/>
        </p:nvSpPr>
        <p:spPr>
          <a:xfrm>
            <a:off x="502920" y="4718304"/>
            <a:ext cx="3429000" cy="1371600"/>
          </a:xfrm>
          <a:prstGeom prst="rect">
            <a:avLst/>
          </a:prstGeom>
          <a:noFill/>
          <a:ln/>
        </p:spPr>
        <p:txBody>
          <a:bodyPr wrap="square" lIns="0" tIns="0" rIns="0" bIns="0" rtlCol="0" anchor="ctr"/>
          <a:lstStyle/>
          <a:p>
            <a:pPr indent="0" marL="0">
              <a:buNone/>
            </a:pPr>
            <a:r>
              <a:rPr lang="en-US" sz="1500" dirty="0">
                <a:solidFill>
                  <a:srgbClr val="1F2A44"/>
                </a:solidFill>
                <a:latin typeface="Calibri" pitchFamily="34" charset="0"/>
                <a:ea typeface="Calibri" pitchFamily="34" charset="-122"/>
                <a:cs typeface="Calibri" pitchFamily="34" charset="-120"/>
              </a:rPr>
              <a:t>Stable communication</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Synchronized / global information</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Homogeneous interaction modeling</a:t>
            </a:r>
            <a:endParaRPr lang="en-US" sz="1500" dirty="0"/>
          </a:p>
        </p:txBody>
      </p:sp>
      <p:sp>
        <p:nvSpPr>
          <p:cNvPr id="19" name="Shape 13"/>
          <p:cNvSpPr/>
          <p:nvPr/>
        </p:nvSpPr>
        <p:spPr>
          <a:xfrm>
            <a:off x="4297680" y="4224528"/>
            <a:ext cx="3703320" cy="2011680"/>
          </a:xfrm>
          <a:prstGeom prst="roundRect">
            <a:avLst>
              <a:gd name="adj" fmla="val 3636"/>
            </a:avLst>
          </a:prstGeom>
          <a:solidFill>
            <a:srgbClr val="FFF3E8"/>
          </a:solidFill>
          <a:ln/>
          <a:effectLst>
            <a:outerShdw sx="100000" sy="100000" kx="0" ky="0" algn="bl" rotWithShape="0" blurRad="50800" dist="12700" dir="16200000">
              <a:srgbClr val="1F2A44">
                <a:alpha val="12000"/>
              </a:srgbClr>
            </a:outerShdw>
          </a:effectLst>
        </p:spPr>
      </p:sp>
      <p:sp>
        <p:nvSpPr>
          <p:cNvPr id="20" name="Text 14"/>
          <p:cNvSpPr/>
          <p:nvPr/>
        </p:nvSpPr>
        <p:spPr>
          <a:xfrm>
            <a:off x="4434840" y="4315968"/>
            <a:ext cx="3429000" cy="384048"/>
          </a:xfrm>
          <a:prstGeom prst="rect">
            <a:avLst/>
          </a:prstGeom>
          <a:noFill/>
          <a:ln/>
        </p:spPr>
        <p:txBody>
          <a:bodyPr wrap="square" lIns="0" tIns="0" rIns="0" bIns="0" rtlCol="0" anchor="ctr"/>
          <a:lstStyle/>
          <a:p>
            <a:pPr indent="0" marL="0">
              <a:buNone/>
            </a:pPr>
            <a:r>
              <a:rPr lang="en-US" sz="1700" b="1" dirty="0">
                <a:solidFill>
                  <a:srgbClr val="ED7D31"/>
                </a:solidFill>
                <a:latin typeface="Calibri" pitchFamily="34" charset="0"/>
                <a:ea typeface="Calibri" pitchFamily="34" charset="-122"/>
                <a:cs typeface="Calibri" pitchFamily="34" charset="-120"/>
              </a:rPr>
              <a:t>Practical Setting</a:t>
            </a:r>
            <a:endParaRPr lang="en-US" sz="1700" dirty="0"/>
          </a:p>
        </p:txBody>
      </p:sp>
      <p:sp>
        <p:nvSpPr>
          <p:cNvPr id="21" name="Text 15"/>
          <p:cNvSpPr/>
          <p:nvPr/>
        </p:nvSpPr>
        <p:spPr>
          <a:xfrm>
            <a:off x="4434840" y="4718304"/>
            <a:ext cx="3429000" cy="1371600"/>
          </a:xfrm>
          <a:prstGeom prst="rect">
            <a:avLst/>
          </a:prstGeom>
          <a:noFill/>
          <a:ln/>
        </p:spPr>
        <p:txBody>
          <a:bodyPr wrap="square" lIns="0" tIns="0" rIns="0" bIns="0" rtlCol="0" anchor="ctr"/>
          <a:lstStyle/>
          <a:p>
            <a:pPr indent="0" marL="0">
              <a:buNone/>
            </a:pPr>
            <a:r>
              <a:rPr lang="en-US" sz="1500" dirty="0">
                <a:solidFill>
                  <a:srgbClr val="1F2A44"/>
                </a:solidFill>
                <a:latin typeface="Calibri" pitchFamily="34" charset="0"/>
                <a:ea typeface="Calibri" pitchFamily="34" charset="-122"/>
                <a:cs typeface="Calibri" pitchFamily="34" charset="-120"/>
              </a:rPr>
              <a:t>Intermittent links</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Local and incomplete beliefs</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UAV / target / obstacle interactions</a:t>
            </a:r>
            <a:endParaRPr lang="en-US" sz="1500" dirty="0"/>
          </a:p>
        </p:txBody>
      </p:sp>
      <p:sp>
        <p:nvSpPr>
          <p:cNvPr id="22" name="Shape 16"/>
          <p:cNvSpPr/>
          <p:nvPr/>
        </p:nvSpPr>
        <p:spPr>
          <a:xfrm>
            <a:off x="8229600" y="4224528"/>
            <a:ext cx="3703320" cy="2011680"/>
          </a:xfrm>
          <a:prstGeom prst="roundRect">
            <a:avLst>
              <a:gd name="adj" fmla="val 3636"/>
            </a:avLst>
          </a:prstGeom>
          <a:solidFill>
            <a:srgbClr val="FDECEA"/>
          </a:solidFill>
          <a:ln/>
          <a:effectLst>
            <a:outerShdw sx="100000" sy="100000" kx="0" ky="0" algn="bl" rotWithShape="0" blurRad="50800" dist="12700" dir="16200000">
              <a:srgbClr val="1F2A44">
                <a:alpha val="12000"/>
              </a:srgbClr>
            </a:outerShdw>
          </a:effectLst>
        </p:spPr>
      </p:sp>
      <p:sp>
        <p:nvSpPr>
          <p:cNvPr id="23" name="Text 17"/>
          <p:cNvSpPr/>
          <p:nvPr/>
        </p:nvSpPr>
        <p:spPr>
          <a:xfrm>
            <a:off x="8366760" y="4315968"/>
            <a:ext cx="3429000" cy="384048"/>
          </a:xfrm>
          <a:prstGeom prst="rect">
            <a:avLst/>
          </a:prstGeom>
          <a:noFill/>
          <a:ln/>
        </p:spPr>
        <p:txBody>
          <a:bodyPr wrap="square" lIns="0" tIns="0" rIns="0" bIns="0" rtlCol="0" anchor="ctr"/>
          <a:lstStyle/>
          <a:p>
            <a:pPr indent="0" marL="0">
              <a:buNone/>
            </a:pPr>
            <a:r>
              <a:rPr lang="en-US" sz="1700" b="1" dirty="0">
                <a:solidFill>
                  <a:srgbClr val="C0392B"/>
                </a:solidFill>
                <a:latin typeface="Calibri" pitchFamily="34" charset="0"/>
                <a:ea typeface="Calibri" pitchFamily="34" charset="-122"/>
                <a:cs typeface="Calibri" pitchFamily="34" charset="-120"/>
              </a:rPr>
              <a:t>Research Needs</a:t>
            </a:r>
            <a:endParaRPr lang="en-US" sz="1700" dirty="0"/>
          </a:p>
        </p:txBody>
      </p:sp>
      <p:sp>
        <p:nvSpPr>
          <p:cNvPr id="24" name="Text 18"/>
          <p:cNvSpPr/>
          <p:nvPr/>
        </p:nvSpPr>
        <p:spPr>
          <a:xfrm>
            <a:off x="8366760" y="4718304"/>
            <a:ext cx="3429000" cy="1371600"/>
          </a:xfrm>
          <a:prstGeom prst="rect">
            <a:avLst/>
          </a:prstGeom>
          <a:noFill/>
          <a:ln/>
        </p:spPr>
        <p:txBody>
          <a:bodyPr wrap="square" lIns="0" tIns="0" rIns="0" bIns="0" rtlCol="0" anchor="ctr"/>
          <a:lstStyle/>
          <a:p>
            <a:pPr indent="0" marL="0">
              <a:buNone/>
            </a:pPr>
            <a:r>
              <a:rPr lang="en-US" sz="1500" dirty="0">
                <a:solidFill>
                  <a:srgbClr val="1F2A44"/>
                </a:solidFill>
                <a:latin typeface="Calibri" pitchFamily="34" charset="0"/>
                <a:ea typeface="Calibri" pitchFamily="34" charset="-122"/>
                <a:cs typeface="Calibri" pitchFamily="34" charset="-120"/>
              </a:rPr>
              <a:t>1. Maintain useful local beliefs</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2. Exploit reachable peer information</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3. Model heterogeneous relations</a:t>
            </a:r>
            <a:endParaRPr lang="en-US" sz="1500" dirty="0"/>
          </a:p>
        </p:txBody>
      </p:sp>
      <p:sp>
        <p:nvSpPr>
          <p:cNvPr id="25" name="Text 19"/>
          <p:cNvSpPr/>
          <p:nvPr/>
        </p:nvSpPr>
        <p:spPr>
          <a:xfrm>
            <a:off x="11475720" y="6510528"/>
            <a:ext cx="502920" cy="256032"/>
          </a:xfrm>
          <a:prstGeom prst="rect">
            <a:avLst/>
          </a:prstGeom>
          <a:noFill/>
          <a:ln/>
        </p:spPr>
        <p:txBody>
          <a:bodyPr wrap="square" lIns="0" tIns="0" rIns="0" bIns="0" rtlCol="0" anchor="ctr"/>
          <a:lstStyle/>
          <a:p>
            <a:pPr algn="r" indent="0" marL="0">
              <a:buNone/>
            </a:pPr>
            <a:r>
              <a:rPr lang="en-US" sz="1200" dirty="0">
                <a:solidFill>
                  <a:srgbClr val="2F5597"/>
                </a:solidFill>
                <a:latin typeface="Calibri" pitchFamily="34" charset="0"/>
                <a:ea typeface="Calibri" pitchFamily="34" charset="-122"/>
                <a:cs typeface="Calibri"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tmp/ppt-work/assets/hust.png">    </p:cNvPr>
          <p:cNvPicPr>
            <a:picLocks noChangeAspect="1"/>
          </p:cNvPicPr>
          <p:nvPr/>
        </p:nvPicPr>
        <p:blipFill>
          <a:blip r:embed="rId1"/>
          <a:stretch>
            <a:fillRect/>
          </a:stretch>
        </p:blipFill>
        <p:spPr>
          <a:xfrm>
            <a:off x="11337578" y="54864"/>
            <a:ext cx="715196" cy="493776"/>
          </a:xfrm>
          <a:prstGeom prst="rect">
            <a:avLst/>
          </a:prstGeom>
        </p:spPr>
      </p:pic>
      <p:sp>
        <p:nvSpPr>
          <p:cNvPr id="3" name="Text 0"/>
          <p:cNvSpPr/>
          <p:nvPr/>
        </p:nvSpPr>
        <p:spPr>
          <a:xfrm>
            <a:off x="347472" y="73152"/>
            <a:ext cx="10698480" cy="438912"/>
          </a:xfrm>
          <a:prstGeom prst="rect">
            <a:avLst/>
          </a:prstGeom>
          <a:noFill/>
          <a:ln/>
        </p:spPr>
        <p:txBody>
          <a:bodyPr wrap="square" lIns="0" tIns="0" rIns="0" bIns="0" rtlCol="0" anchor="ctr"/>
          <a:lstStyle/>
          <a:p>
            <a:pPr indent="0" marL="0">
              <a:buNone/>
            </a:pPr>
            <a:r>
              <a:rPr lang="en-US" sz="2600" b="1" dirty="0">
                <a:solidFill>
                  <a:srgbClr val="2F5597"/>
                </a:solidFill>
                <a:latin typeface="Calibri" pitchFamily="34" charset="0"/>
                <a:ea typeface="Calibri" pitchFamily="34" charset="-122"/>
                <a:cs typeface="Calibri" pitchFamily="34" charset="-120"/>
              </a:rPr>
              <a:t>1. Background</a:t>
            </a:r>
            <a:endParaRPr lang="en-US" sz="2600" dirty="0"/>
          </a:p>
        </p:txBody>
      </p:sp>
      <p:sp>
        <p:nvSpPr>
          <p:cNvPr id="4" name="Shape 1"/>
          <p:cNvSpPr/>
          <p:nvPr/>
        </p:nvSpPr>
        <p:spPr>
          <a:xfrm>
            <a:off x="0" y="566928"/>
            <a:ext cx="12191695" cy="475488"/>
          </a:xfrm>
          <a:prstGeom prst="rect">
            <a:avLst/>
          </a:prstGeom>
          <a:solidFill>
            <a:srgbClr val="2F5597"/>
          </a:solidFill>
          <a:ln/>
        </p:spPr>
      </p:sp>
      <p:sp>
        <p:nvSpPr>
          <p:cNvPr id="5" name="Text 2"/>
          <p:cNvSpPr/>
          <p:nvPr/>
        </p:nvSpPr>
        <p:spPr>
          <a:xfrm>
            <a:off x="347472" y="585216"/>
            <a:ext cx="11430000" cy="43891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1.2 Key Challenges under Intermittent Communication</a:t>
            </a:r>
            <a:endParaRPr lang="en-US" sz="2000" dirty="0"/>
          </a:p>
        </p:txBody>
      </p:sp>
      <p:sp>
        <p:nvSpPr>
          <p:cNvPr id="6" name="Shape 3"/>
          <p:cNvSpPr/>
          <p:nvPr/>
        </p:nvSpPr>
        <p:spPr>
          <a:xfrm>
            <a:off x="320040" y="1143000"/>
            <a:ext cx="3794760" cy="4160520"/>
          </a:xfrm>
          <a:prstGeom prst="roundRect">
            <a:avLst>
              <a:gd name="adj" fmla="val 1928"/>
            </a:avLst>
          </a:prstGeom>
          <a:solidFill>
            <a:srgbClr val="FFFFFF"/>
          </a:solidFill>
          <a:ln/>
          <a:effectLst>
            <a:outerShdw sx="100000" sy="100000" kx="0" ky="0" algn="bl" rotWithShape="0" blurRad="50800" dist="12700" dir="16200000">
              <a:srgbClr val="1F2A44">
                <a:alpha val="12000"/>
              </a:srgbClr>
            </a:outerShdw>
          </a:effectLst>
        </p:spPr>
      </p:sp>
      <p:sp>
        <p:nvSpPr>
          <p:cNvPr id="7" name="Shape 4"/>
          <p:cNvSpPr/>
          <p:nvPr/>
        </p:nvSpPr>
        <p:spPr>
          <a:xfrm>
            <a:off x="320040" y="1143000"/>
            <a:ext cx="3794760" cy="420624"/>
          </a:xfrm>
          <a:prstGeom prst="rect">
            <a:avLst/>
          </a:prstGeom>
          <a:solidFill>
            <a:srgbClr val="2F5597"/>
          </a:solidFill>
          <a:ln/>
        </p:spPr>
      </p:sp>
      <p:sp>
        <p:nvSpPr>
          <p:cNvPr id="8" name="Text 5"/>
          <p:cNvSpPr/>
          <p:nvPr/>
        </p:nvSpPr>
        <p:spPr>
          <a:xfrm>
            <a:off x="411480" y="1170432"/>
            <a:ext cx="36118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1  Incomplete Information Exchange</a:t>
            </a:r>
            <a:endParaRPr lang="en-US" sz="1400" dirty="0"/>
          </a:p>
        </p:txBody>
      </p:sp>
      <p:pic>
        <p:nvPicPr>
          <p:cNvPr id="9" name="Image 1" descr="/tmp/ppt-work/assets/chal1.png">    </p:cNvPr>
          <p:cNvPicPr>
            <a:picLocks noChangeAspect="1"/>
          </p:cNvPicPr>
          <p:nvPr/>
        </p:nvPicPr>
        <p:blipFill>
          <a:blip r:embed="rId2"/>
          <a:stretch>
            <a:fillRect/>
          </a:stretch>
        </p:blipFill>
        <p:spPr>
          <a:xfrm>
            <a:off x="702808" y="1627632"/>
            <a:ext cx="3020079" cy="2011680"/>
          </a:xfrm>
          <a:prstGeom prst="rect">
            <a:avLst/>
          </a:prstGeom>
        </p:spPr>
      </p:pic>
      <p:sp>
        <p:nvSpPr>
          <p:cNvPr id="10" name="Text 6"/>
          <p:cNvSpPr/>
          <p:nvPr/>
        </p:nvSpPr>
        <p:spPr>
          <a:xfrm>
            <a:off x="484632" y="3675888"/>
            <a:ext cx="3474720" cy="1463040"/>
          </a:xfrm>
          <a:prstGeom prst="rect">
            <a:avLst/>
          </a:prstGeom>
          <a:noFill/>
          <a:ln/>
        </p:spPr>
        <p:txBody>
          <a:bodyPr wrap="square" lIns="0" tIns="0" rIns="0" bIns="0" rtlCol="0" anchor="ctr"/>
          <a:lstStyle/>
          <a:p>
            <a:pPr indent="0" marL="0">
              <a:buNone/>
            </a:pPr>
            <a:r>
              <a:rPr lang="en-US" sz="1500" dirty="0">
                <a:solidFill>
                  <a:srgbClr val="1F2A44"/>
                </a:solidFill>
                <a:latin typeface="Calibri" pitchFamily="34" charset="0"/>
                <a:ea typeface="Calibri" pitchFamily="34" charset="-122"/>
                <a:cs typeface="Calibri" pitchFamily="34" charset="-120"/>
              </a:rPr>
              <a:t>No shared global map</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Only reachable peer messages</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Decentralized decisions</a:t>
            </a:r>
            <a:endParaRPr lang="en-US" sz="1500" dirty="0"/>
          </a:p>
        </p:txBody>
      </p:sp>
      <p:sp>
        <p:nvSpPr>
          <p:cNvPr id="11" name="Shape 7"/>
          <p:cNvSpPr/>
          <p:nvPr/>
        </p:nvSpPr>
        <p:spPr>
          <a:xfrm>
            <a:off x="4270248" y="1143000"/>
            <a:ext cx="3794760" cy="4160520"/>
          </a:xfrm>
          <a:prstGeom prst="roundRect">
            <a:avLst>
              <a:gd name="adj" fmla="val 1928"/>
            </a:avLst>
          </a:prstGeom>
          <a:solidFill>
            <a:srgbClr val="FFFFFF"/>
          </a:solidFill>
          <a:ln/>
          <a:effectLst>
            <a:outerShdw sx="100000" sy="100000" kx="0" ky="0" algn="bl" rotWithShape="0" blurRad="50800" dist="12700" dir="16200000">
              <a:srgbClr val="1F2A44">
                <a:alpha val="12000"/>
              </a:srgbClr>
            </a:outerShdw>
          </a:effectLst>
        </p:spPr>
      </p:sp>
      <p:sp>
        <p:nvSpPr>
          <p:cNvPr id="12" name="Shape 8"/>
          <p:cNvSpPr/>
          <p:nvPr/>
        </p:nvSpPr>
        <p:spPr>
          <a:xfrm>
            <a:off x="4270248" y="1143000"/>
            <a:ext cx="3794760" cy="420624"/>
          </a:xfrm>
          <a:prstGeom prst="rect">
            <a:avLst/>
          </a:prstGeom>
          <a:solidFill>
            <a:srgbClr val="2F5597"/>
          </a:solidFill>
          <a:ln/>
        </p:spPr>
      </p:sp>
      <p:sp>
        <p:nvSpPr>
          <p:cNvPr id="13" name="Text 9"/>
          <p:cNvSpPr/>
          <p:nvPr/>
        </p:nvSpPr>
        <p:spPr>
          <a:xfrm>
            <a:off x="4361688" y="1170432"/>
            <a:ext cx="36118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  Heterogeneous Interactions</a:t>
            </a:r>
            <a:endParaRPr lang="en-US" sz="1400" dirty="0"/>
          </a:p>
        </p:txBody>
      </p:sp>
      <p:pic>
        <p:nvPicPr>
          <p:cNvPr id="14" name="Image 2" descr="/tmp/ppt-work/assets/chal2.png">    </p:cNvPr>
          <p:cNvPicPr>
            <a:picLocks noChangeAspect="1"/>
          </p:cNvPicPr>
          <p:nvPr/>
        </p:nvPicPr>
        <p:blipFill>
          <a:blip r:embed="rId3"/>
          <a:stretch>
            <a:fillRect/>
          </a:stretch>
        </p:blipFill>
        <p:spPr>
          <a:xfrm>
            <a:off x="4653016" y="1627632"/>
            <a:ext cx="3020079" cy="2011680"/>
          </a:xfrm>
          <a:prstGeom prst="rect">
            <a:avLst/>
          </a:prstGeom>
        </p:spPr>
      </p:pic>
      <p:sp>
        <p:nvSpPr>
          <p:cNvPr id="15" name="Text 10"/>
          <p:cNvSpPr/>
          <p:nvPr/>
        </p:nvSpPr>
        <p:spPr>
          <a:xfrm>
            <a:off x="4434840" y="3675888"/>
            <a:ext cx="3474720" cy="1463040"/>
          </a:xfrm>
          <a:prstGeom prst="rect">
            <a:avLst/>
          </a:prstGeom>
          <a:noFill/>
          <a:ln/>
        </p:spPr>
        <p:txBody>
          <a:bodyPr wrap="square" lIns="0" tIns="0" rIns="0" bIns="0" rtlCol="0" anchor="ctr"/>
          <a:lstStyle/>
          <a:p>
            <a:pPr indent="0" marL="0">
              <a:buNone/>
            </a:pPr>
            <a:r>
              <a:rPr lang="en-US" sz="1500" dirty="0">
                <a:solidFill>
                  <a:srgbClr val="1F2A44"/>
                </a:solidFill>
                <a:latin typeface="Calibri" pitchFamily="34" charset="0"/>
                <a:ea typeface="Calibri" pitchFamily="34" charset="-122"/>
                <a:cs typeface="Calibri" pitchFamily="34" charset="-120"/>
              </a:rPr>
              <a:t>Peer cooperation</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Search utility</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Collision risk</a:t>
            </a:r>
            <a:endParaRPr lang="en-US" sz="1500" dirty="0"/>
          </a:p>
        </p:txBody>
      </p:sp>
      <p:sp>
        <p:nvSpPr>
          <p:cNvPr id="16" name="Shape 11"/>
          <p:cNvSpPr/>
          <p:nvPr/>
        </p:nvSpPr>
        <p:spPr>
          <a:xfrm>
            <a:off x="8220456" y="1143000"/>
            <a:ext cx="3794760" cy="4160520"/>
          </a:xfrm>
          <a:prstGeom prst="roundRect">
            <a:avLst>
              <a:gd name="adj" fmla="val 1928"/>
            </a:avLst>
          </a:prstGeom>
          <a:solidFill>
            <a:srgbClr val="FFFFFF"/>
          </a:solidFill>
          <a:ln/>
          <a:effectLst>
            <a:outerShdw sx="100000" sy="100000" kx="0" ky="0" algn="bl" rotWithShape="0" blurRad="50800" dist="12700" dir="16200000">
              <a:srgbClr val="1F2A44">
                <a:alpha val="12000"/>
              </a:srgbClr>
            </a:outerShdw>
          </a:effectLst>
        </p:spPr>
      </p:sp>
      <p:sp>
        <p:nvSpPr>
          <p:cNvPr id="17" name="Shape 12"/>
          <p:cNvSpPr/>
          <p:nvPr/>
        </p:nvSpPr>
        <p:spPr>
          <a:xfrm>
            <a:off x="8220456" y="1143000"/>
            <a:ext cx="3794760" cy="420624"/>
          </a:xfrm>
          <a:prstGeom prst="rect">
            <a:avLst/>
          </a:prstGeom>
          <a:solidFill>
            <a:srgbClr val="C0392B"/>
          </a:solidFill>
          <a:ln/>
        </p:spPr>
      </p:sp>
      <p:sp>
        <p:nvSpPr>
          <p:cNvPr id="18" name="Text 13"/>
          <p:cNvSpPr/>
          <p:nvPr/>
        </p:nvSpPr>
        <p:spPr>
          <a:xfrm>
            <a:off x="8311896" y="1170432"/>
            <a:ext cx="36118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3  Information Staleness</a:t>
            </a:r>
            <a:endParaRPr lang="en-US" sz="1400" dirty="0"/>
          </a:p>
        </p:txBody>
      </p:sp>
      <p:pic>
        <p:nvPicPr>
          <p:cNvPr id="19" name="Image 3" descr="/tmp/ppt-work/assets/chal3.png">    </p:cNvPr>
          <p:cNvPicPr>
            <a:picLocks noChangeAspect="1"/>
          </p:cNvPicPr>
          <p:nvPr/>
        </p:nvPicPr>
        <p:blipFill>
          <a:blip r:embed="rId4"/>
          <a:stretch>
            <a:fillRect/>
          </a:stretch>
        </p:blipFill>
        <p:spPr>
          <a:xfrm>
            <a:off x="8603224" y="1627632"/>
            <a:ext cx="3020079" cy="2011680"/>
          </a:xfrm>
          <a:prstGeom prst="rect">
            <a:avLst/>
          </a:prstGeom>
        </p:spPr>
      </p:pic>
      <p:sp>
        <p:nvSpPr>
          <p:cNvPr id="20" name="Text 14"/>
          <p:cNvSpPr/>
          <p:nvPr/>
        </p:nvSpPr>
        <p:spPr>
          <a:xfrm>
            <a:off x="8385048" y="3675888"/>
            <a:ext cx="3474720" cy="1463040"/>
          </a:xfrm>
          <a:prstGeom prst="rect">
            <a:avLst/>
          </a:prstGeom>
          <a:noFill/>
          <a:ln/>
        </p:spPr>
        <p:txBody>
          <a:bodyPr wrap="square" lIns="0" tIns="0" rIns="0" bIns="0" rtlCol="0" anchor="ctr"/>
          <a:lstStyle/>
          <a:p>
            <a:pPr indent="0" marL="0">
              <a:buNone/>
            </a:pPr>
            <a:r>
              <a:rPr lang="en-US" sz="1500" dirty="0">
                <a:solidFill>
                  <a:srgbClr val="1F2A44"/>
                </a:solidFill>
                <a:latin typeface="Calibri" pitchFamily="34" charset="0"/>
                <a:ea typeface="Calibri" pitchFamily="34" charset="-122"/>
                <a:cs typeface="Calibri" pitchFamily="34" charset="-120"/>
              </a:rPr>
              <a:t>Recovered information may be outdated</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Not all reachable beliefs are equally useful</a:t>
            </a:r>
            <a:endParaRPr lang="en-US" sz="1500" dirty="0"/>
          </a:p>
          <a:p>
            <a:pPr indent="0" marL="0">
              <a:buNone/>
            </a:pP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Which source should be trusted?</a:t>
            </a:r>
            <a:endParaRPr lang="en-US" sz="1500" dirty="0"/>
          </a:p>
        </p:txBody>
      </p:sp>
      <p:sp>
        <p:nvSpPr>
          <p:cNvPr id="21" name="Shape 15"/>
          <p:cNvSpPr/>
          <p:nvPr/>
        </p:nvSpPr>
        <p:spPr>
          <a:xfrm>
            <a:off x="320040" y="5440680"/>
            <a:ext cx="11539728" cy="868680"/>
          </a:xfrm>
          <a:prstGeom prst="roundRect">
            <a:avLst>
              <a:gd name="adj" fmla="val 8421"/>
            </a:avLst>
          </a:prstGeom>
          <a:solidFill>
            <a:srgbClr val="EAF0F8"/>
          </a:solidFill>
          <a:ln/>
        </p:spPr>
      </p:sp>
      <p:sp>
        <p:nvSpPr>
          <p:cNvPr id="22" name="Text 16"/>
          <p:cNvSpPr/>
          <p:nvPr/>
        </p:nvSpPr>
        <p:spPr>
          <a:xfrm>
            <a:off x="502920" y="5532120"/>
            <a:ext cx="11201400" cy="685800"/>
          </a:xfrm>
          <a:prstGeom prst="rect">
            <a:avLst/>
          </a:prstGeom>
          <a:noFill/>
          <a:ln/>
        </p:spPr>
        <p:txBody>
          <a:bodyPr wrap="square" lIns="0" tIns="0" rIns="0" bIns="0" rtlCol="0" anchor="ctr"/>
          <a:lstStyle/>
          <a:p>
            <a:pPr algn="ctr" indent="0" marL="0">
              <a:buNone/>
            </a:pPr>
            <a:r>
              <a:rPr lang="en-US" sz="1800" b="1" dirty="0">
                <a:solidFill>
                  <a:srgbClr val="1E3F73"/>
                </a:solidFill>
                <a:latin typeface="Calibri" pitchFamily="34" charset="0"/>
                <a:ea typeface="Calibri" pitchFamily="34" charset="-122"/>
                <a:cs typeface="Calibri" pitchFamily="34" charset="-120"/>
              </a:rPr>
              <a:t>Our focus: cooperative decision-making under communication constraints,</a:t>
            </a:r>
            <a:endParaRPr lang="en-US" sz="1800" dirty="0"/>
          </a:p>
          <a:p>
            <a:pPr algn="ctr" indent="0" marL="0">
              <a:buNone/>
            </a:pPr>
            <a:r>
              <a:rPr lang="en-US" sz="1800" b="1" dirty="0">
                <a:solidFill>
                  <a:srgbClr val="1E3F73"/>
                </a:solidFill>
                <a:latin typeface="Calibri" pitchFamily="34" charset="0"/>
                <a:ea typeface="Calibri" pitchFamily="34" charset="-122"/>
                <a:cs typeface="Calibri" pitchFamily="34" charset="-120"/>
              </a:rPr>
              <a:t>rather than communication-protocol optimization.</a:t>
            </a:r>
            <a:endParaRPr lang="en-US" sz="1800" dirty="0"/>
          </a:p>
        </p:txBody>
      </p:sp>
      <p:sp>
        <p:nvSpPr>
          <p:cNvPr id="23" name="Text 17"/>
          <p:cNvSpPr/>
          <p:nvPr/>
        </p:nvSpPr>
        <p:spPr>
          <a:xfrm>
            <a:off x="11475720" y="6510528"/>
            <a:ext cx="502920" cy="256032"/>
          </a:xfrm>
          <a:prstGeom prst="rect">
            <a:avLst/>
          </a:prstGeom>
          <a:noFill/>
          <a:ln/>
        </p:spPr>
        <p:txBody>
          <a:bodyPr wrap="square" lIns="0" tIns="0" rIns="0" bIns="0" rtlCol="0" anchor="ctr"/>
          <a:lstStyle/>
          <a:p>
            <a:pPr algn="r" indent="0" marL="0">
              <a:buNone/>
            </a:pPr>
            <a:r>
              <a:rPr lang="en-US" sz="1200" dirty="0">
                <a:solidFill>
                  <a:srgbClr val="2F5597"/>
                </a:solidFill>
                <a:latin typeface="Calibri" pitchFamily="34" charset="0"/>
                <a:ea typeface="Calibri" pitchFamily="34" charset="-122"/>
                <a:cs typeface="Calibri"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tmp/ppt-work/assets/hust.png">    </p:cNvPr>
          <p:cNvPicPr>
            <a:picLocks noChangeAspect="1"/>
          </p:cNvPicPr>
          <p:nvPr/>
        </p:nvPicPr>
        <p:blipFill>
          <a:blip r:embed="rId1"/>
          <a:stretch>
            <a:fillRect/>
          </a:stretch>
        </p:blipFill>
        <p:spPr>
          <a:xfrm>
            <a:off x="11337578" y="54864"/>
            <a:ext cx="715196" cy="493776"/>
          </a:xfrm>
          <a:prstGeom prst="rect">
            <a:avLst/>
          </a:prstGeom>
        </p:spPr>
      </p:pic>
      <p:sp>
        <p:nvSpPr>
          <p:cNvPr id="3" name="Text 0"/>
          <p:cNvSpPr/>
          <p:nvPr/>
        </p:nvSpPr>
        <p:spPr>
          <a:xfrm>
            <a:off x="347472" y="73152"/>
            <a:ext cx="10698480" cy="438912"/>
          </a:xfrm>
          <a:prstGeom prst="rect">
            <a:avLst/>
          </a:prstGeom>
          <a:noFill/>
          <a:ln/>
        </p:spPr>
        <p:txBody>
          <a:bodyPr wrap="square" lIns="0" tIns="0" rIns="0" bIns="0" rtlCol="0" anchor="ctr"/>
          <a:lstStyle/>
          <a:p>
            <a:pPr indent="0" marL="0">
              <a:buNone/>
            </a:pPr>
            <a:r>
              <a:rPr lang="en-US" sz="2600" b="1" dirty="0">
                <a:solidFill>
                  <a:srgbClr val="2F5597"/>
                </a:solidFill>
                <a:latin typeface="Calibri" pitchFamily="34" charset="0"/>
                <a:ea typeface="Calibri" pitchFamily="34" charset="-122"/>
                <a:cs typeface="Calibri" pitchFamily="34" charset="-120"/>
              </a:rPr>
              <a:t>1. Background</a:t>
            </a:r>
            <a:endParaRPr lang="en-US" sz="2600" dirty="0"/>
          </a:p>
        </p:txBody>
      </p:sp>
      <p:sp>
        <p:nvSpPr>
          <p:cNvPr id="4" name="Shape 1"/>
          <p:cNvSpPr/>
          <p:nvPr/>
        </p:nvSpPr>
        <p:spPr>
          <a:xfrm>
            <a:off x="0" y="566928"/>
            <a:ext cx="12191695" cy="475488"/>
          </a:xfrm>
          <a:prstGeom prst="rect">
            <a:avLst/>
          </a:prstGeom>
          <a:solidFill>
            <a:srgbClr val="2F5597"/>
          </a:solidFill>
          <a:ln/>
        </p:spPr>
      </p:sp>
      <p:sp>
        <p:nvSpPr>
          <p:cNvPr id="5" name="Text 2"/>
          <p:cNvSpPr/>
          <p:nvPr/>
        </p:nvSpPr>
        <p:spPr>
          <a:xfrm>
            <a:off x="347472" y="585216"/>
            <a:ext cx="11430000" cy="43891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1.3 Proposed Solution</a:t>
            </a:r>
            <a:endParaRPr lang="en-US" sz="2000" dirty="0"/>
          </a:p>
        </p:txBody>
      </p:sp>
      <p:sp>
        <p:nvSpPr>
          <p:cNvPr id="6" name="Shape 3"/>
          <p:cNvSpPr/>
          <p:nvPr/>
        </p:nvSpPr>
        <p:spPr>
          <a:xfrm>
            <a:off x="320040" y="1170432"/>
            <a:ext cx="2743200" cy="2606040"/>
          </a:xfrm>
          <a:prstGeom prst="roundRect">
            <a:avLst>
              <a:gd name="adj" fmla="val 2807"/>
            </a:avLst>
          </a:prstGeom>
          <a:solidFill>
            <a:srgbClr val="FFFFFF"/>
          </a:solidFill>
          <a:ln/>
          <a:effectLst>
            <a:outerShdw sx="100000" sy="100000" kx="0" ky="0" algn="bl" rotWithShape="0" blurRad="50800" dist="12700" dir="16200000">
              <a:srgbClr val="1F2A44">
                <a:alpha val="12000"/>
              </a:srgbClr>
            </a:outerShdw>
          </a:effectLst>
        </p:spPr>
      </p:sp>
      <p:sp>
        <p:nvSpPr>
          <p:cNvPr id="7" name="Text 4"/>
          <p:cNvSpPr/>
          <p:nvPr/>
        </p:nvSpPr>
        <p:spPr>
          <a:xfrm>
            <a:off x="320040" y="1261872"/>
            <a:ext cx="2743200" cy="329184"/>
          </a:xfrm>
          <a:prstGeom prst="rect">
            <a:avLst/>
          </a:prstGeom>
          <a:noFill/>
          <a:ln/>
        </p:spPr>
        <p:txBody>
          <a:bodyPr wrap="square" lIns="0" tIns="0" rIns="0" bIns="0" rtlCol="0" anchor="ctr"/>
          <a:lstStyle/>
          <a:p>
            <a:pPr algn="ctr" indent="0" marL="0">
              <a:buNone/>
            </a:pPr>
            <a:r>
              <a:rPr lang="en-US" sz="1400" dirty="0">
                <a:solidFill>
                  <a:srgbClr val="5A6A80"/>
                </a:solidFill>
                <a:latin typeface="Calibri" pitchFamily="34" charset="0"/>
                <a:ea typeface="Calibri" pitchFamily="34" charset="-122"/>
                <a:cs typeface="Calibri" pitchFamily="34" charset="-120"/>
              </a:rPr>
              <a:t>Challenge 1</a:t>
            </a:r>
            <a:endParaRPr lang="en-US" sz="1400" dirty="0"/>
          </a:p>
        </p:txBody>
      </p:sp>
      <p:sp>
        <p:nvSpPr>
          <p:cNvPr id="8" name="Text 5"/>
          <p:cNvSpPr/>
          <p:nvPr/>
        </p:nvSpPr>
        <p:spPr>
          <a:xfrm>
            <a:off x="393192" y="1591056"/>
            <a:ext cx="2596896" cy="530352"/>
          </a:xfrm>
          <a:prstGeom prst="rect">
            <a:avLst/>
          </a:prstGeom>
          <a:noFill/>
          <a:ln/>
        </p:spPr>
        <p:txBody>
          <a:bodyPr wrap="square" lIns="0" tIns="0" rIns="0" bIns="0" rtlCol="0" anchor="ctr"/>
          <a:lstStyle/>
          <a:p>
            <a:pPr algn="ctr" indent="0" marL="0">
              <a:buNone/>
            </a:pPr>
            <a:r>
              <a:rPr lang="en-US" sz="1600" b="1" dirty="0">
                <a:solidFill>
                  <a:srgbClr val="1F2A44"/>
                </a:solidFill>
                <a:latin typeface="Calibri" pitchFamily="34" charset="0"/>
                <a:ea typeface="Calibri" pitchFamily="34" charset="-122"/>
                <a:cs typeface="Calibri" pitchFamily="34" charset="-120"/>
              </a:rPr>
              <a:t>Incomplete beliefs</a:t>
            </a:r>
            <a:endParaRPr lang="en-US" sz="1600" dirty="0"/>
          </a:p>
        </p:txBody>
      </p:sp>
      <p:sp>
        <p:nvSpPr>
          <p:cNvPr id="9" name="Shape 6"/>
          <p:cNvSpPr/>
          <p:nvPr/>
        </p:nvSpPr>
        <p:spPr>
          <a:xfrm>
            <a:off x="1371600" y="2084832"/>
            <a:ext cx="640080" cy="347472"/>
          </a:xfrm>
          <a:prstGeom prst="downArrow">
            <a:avLst/>
          </a:prstGeom>
          <a:solidFill>
            <a:srgbClr val="2F5597"/>
          </a:solidFill>
          <a:ln/>
        </p:spPr>
      </p:sp>
      <p:sp>
        <p:nvSpPr>
          <p:cNvPr id="10" name="Text 7"/>
          <p:cNvSpPr/>
          <p:nvPr/>
        </p:nvSpPr>
        <p:spPr>
          <a:xfrm>
            <a:off x="320040" y="2450592"/>
            <a:ext cx="2743200" cy="256032"/>
          </a:xfrm>
          <a:prstGeom prst="rect">
            <a:avLst/>
          </a:prstGeom>
          <a:noFill/>
          <a:ln/>
        </p:spPr>
        <p:txBody>
          <a:bodyPr wrap="square" lIns="0" tIns="0" rIns="0" bIns="0" rtlCol="0" anchor="ctr"/>
          <a:lstStyle/>
          <a:p>
            <a:pPr algn="ctr" indent="0" marL="0">
              <a:buNone/>
            </a:pPr>
            <a:r>
              <a:rPr lang="en-US" sz="1300" dirty="0">
                <a:solidFill>
                  <a:srgbClr val="5A6A80"/>
                </a:solidFill>
                <a:latin typeface="Calibri" pitchFamily="34" charset="0"/>
                <a:ea typeface="Calibri" pitchFamily="34" charset="-122"/>
                <a:cs typeface="Calibri" pitchFamily="34" charset="-120"/>
              </a:rPr>
              <a:t>Solution</a:t>
            </a:r>
            <a:endParaRPr lang="en-US" sz="1300" dirty="0"/>
          </a:p>
        </p:txBody>
      </p:sp>
      <p:sp>
        <p:nvSpPr>
          <p:cNvPr id="11" name="Text 8"/>
          <p:cNvSpPr/>
          <p:nvPr/>
        </p:nvSpPr>
        <p:spPr>
          <a:xfrm>
            <a:off x="393192" y="2697480"/>
            <a:ext cx="2596896" cy="868680"/>
          </a:xfrm>
          <a:prstGeom prst="rect">
            <a:avLst/>
          </a:prstGeom>
          <a:noFill/>
          <a:ln/>
        </p:spPr>
        <p:txBody>
          <a:bodyPr wrap="square" lIns="0" tIns="0" rIns="0" bIns="0" rtlCol="0" anchor="ctr"/>
          <a:lstStyle/>
          <a:p>
            <a:pPr algn="ctr" indent="0" marL="0">
              <a:buNone/>
            </a:pPr>
            <a:r>
              <a:rPr lang="en-US" sz="1600" b="1" dirty="0">
                <a:solidFill>
                  <a:srgbClr val="2F5597"/>
                </a:solidFill>
                <a:latin typeface="Calibri" pitchFamily="34" charset="0"/>
                <a:ea typeface="Calibri" pitchFamily="34" charset="-122"/>
                <a:cs typeface="Calibri" pitchFamily="34" charset="-120"/>
              </a:rPr>
              <a:t>Revisit-aware</a:t>
            </a:r>
            <a:endParaRPr lang="en-US" sz="1600" dirty="0"/>
          </a:p>
          <a:p>
            <a:pPr algn="ctr" indent="0" marL="0">
              <a:buNone/>
            </a:pPr>
            <a:r>
              <a:rPr lang="en-US" sz="1600" b="1" dirty="0">
                <a:solidFill>
                  <a:srgbClr val="2F5597"/>
                </a:solidFill>
                <a:latin typeface="Calibri" pitchFamily="34" charset="0"/>
                <a:ea typeface="Calibri" pitchFamily="34" charset="-122"/>
                <a:cs typeface="Calibri" pitchFamily="34" charset="-120"/>
              </a:rPr>
              <a:t>P/E/R Memory</a:t>
            </a:r>
            <a:endParaRPr lang="en-US" sz="1600" dirty="0"/>
          </a:p>
        </p:txBody>
      </p:sp>
      <p:sp>
        <p:nvSpPr>
          <p:cNvPr id="12" name="Shape 9"/>
          <p:cNvSpPr/>
          <p:nvPr/>
        </p:nvSpPr>
        <p:spPr>
          <a:xfrm>
            <a:off x="3200400" y="1170432"/>
            <a:ext cx="2743200" cy="2606040"/>
          </a:xfrm>
          <a:prstGeom prst="roundRect">
            <a:avLst>
              <a:gd name="adj" fmla="val 2807"/>
            </a:avLst>
          </a:prstGeom>
          <a:solidFill>
            <a:srgbClr val="FFFFFF"/>
          </a:solidFill>
          <a:ln/>
          <a:effectLst>
            <a:outerShdw sx="100000" sy="100000" kx="0" ky="0" algn="bl" rotWithShape="0" blurRad="50800" dist="12700" dir="16200000">
              <a:srgbClr val="1F2A44">
                <a:alpha val="12000"/>
              </a:srgbClr>
            </a:outerShdw>
          </a:effectLst>
        </p:spPr>
      </p:sp>
      <p:sp>
        <p:nvSpPr>
          <p:cNvPr id="13" name="Text 10"/>
          <p:cNvSpPr/>
          <p:nvPr/>
        </p:nvSpPr>
        <p:spPr>
          <a:xfrm>
            <a:off x="3200400" y="1261872"/>
            <a:ext cx="2743200" cy="329184"/>
          </a:xfrm>
          <a:prstGeom prst="rect">
            <a:avLst/>
          </a:prstGeom>
          <a:noFill/>
          <a:ln/>
        </p:spPr>
        <p:txBody>
          <a:bodyPr wrap="square" lIns="0" tIns="0" rIns="0" bIns="0" rtlCol="0" anchor="ctr"/>
          <a:lstStyle/>
          <a:p>
            <a:pPr algn="ctr" indent="0" marL="0">
              <a:buNone/>
            </a:pPr>
            <a:r>
              <a:rPr lang="en-US" sz="1400" dirty="0">
                <a:solidFill>
                  <a:srgbClr val="5A6A80"/>
                </a:solidFill>
                <a:latin typeface="Calibri" pitchFamily="34" charset="0"/>
                <a:ea typeface="Calibri" pitchFamily="34" charset="-122"/>
                <a:cs typeface="Calibri" pitchFamily="34" charset="-120"/>
              </a:rPr>
              <a:t>Challenge 2</a:t>
            </a:r>
            <a:endParaRPr lang="en-US" sz="1400" dirty="0"/>
          </a:p>
        </p:txBody>
      </p:sp>
      <p:sp>
        <p:nvSpPr>
          <p:cNvPr id="14" name="Text 11"/>
          <p:cNvSpPr/>
          <p:nvPr/>
        </p:nvSpPr>
        <p:spPr>
          <a:xfrm>
            <a:off x="3273552" y="1591056"/>
            <a:ext cx="2596896" cy="530352"/>
          </a:xfrm>
          <a:prstGeom prst="rect">
            <a:avLst/>
          </a:prstGeom>
          <a:noFill/>
          <a:ln/>
        </p:spPr>
        <p:txBody>
          <a:bodyPr wrap="square" lIns="0" tIns="0" rIns="0" bIns="0" rtlCol="0" anchor="ctr"/>
          <a:lstStyle/>
          <a:p>
            <a:pPr algn="ctr" indent="0" marL="0">
              <a:buNone/>
            </a:pPr>
            <a:r>
              <a:rPr lang="en-US" sz="1600" b="1" dirty="0">
                <a:solidFill>
                  <a:srgbClr val="1F2A44"/>
                </a:solidFill>
                <a:latin typeface="Calibri" pitchFamily="34" charset="0"/>
                <a:ea typeface="Calibri" pitchFamily="34" charset="-122"/>
                <a:cs typeface="Calibri" pitchFamily="34" charset="-120"/>
              </a:rPr>
              <a:t>Stale peer information</a:t>
            </a:r>
            <a:endParaRPr lang="en-US" sz="1600" dirty="0"/>
          </a:p>
        </p:txBody>
      </p:sp>
      <p:sp>
        <p:nvSpPr>
          <p:cNvPr id="15" name="Shape 12"/>
          <p:cNvSpPr/>
          <p:nvPr/>
        </p:nvSpPr>
        <p:spPr>
          <a:xfrm>
            <a:off x="4251960" y="2084832"/>
            <a:ext cx="640080" cy="347472"/>
          </a:xfrm>
          <a:prstGeom prst="downArrow">
            <a:avLst/>
          </a:prstGeom>
          <a:solidFill>
            <a:srgbClr val="ED7D31"/>
          </a:solidFill>
          <a:ln/>
        </p:spPr>
      </p:sp>
      <p:sp>
        <p:nvSpPr>
          <p:cNvPr id="16" name="Text 13"/>
          <p:cNvSpPr/>
          <p:nvPr/>
        </p:nvSpPr>
        <p:spPr>
          <a:xfrm>
            <a:off x="3200400" y="2450592"/>
            <a:ext cx="2743200" cy="256032"/>
          </a:xfrm>
          <a:prstGeom prst="rect">
            <a:avLst/>
          </a:prstGeom>
          <a:noFill/>
          <a:ln/>
        </p:spPr>
        <p:txBody>
          <a:bodyPr wrap="square" lIns="0" tIns="0" rIns="0" bIns="0" rtlCol="0" anchor="ctr"/>
          <a:lstStyle/>
          <a:p>
            <a:pPr algn="ctr" indent="0" marL="0">
              <a:buNone/>
            </a:pPr>
            <a:r>
              <a:rPr lang="en-US" sz="1300" dirty="0">
                <a:solidFill>
                  <a:srgbClr val="5A6A80"/>
                </a:solidFill>
                <a:latin typeface="Calibri" pitchFamily="34" charset="0"/>
                <a:ea typeface="Calibri" pitchFamily="34" charset="-122"/>
                <a:cs typeface="Calibri" pitchFamily="34" charset="-120"/>
              </a:rPr>
              <a:t>Solution</a:t>
            </a:r>
            <a:endParaRPr lang="en-US" sz="1300" dirty="0"/>
          </a:p>
        </p:txBody>
      </p:sp>
      <p:sp>
        <p:nvSpPr>
          <p:cNvPr id="17" name="Text 14"/>
          <p:cNvSpPr/>
          <p:nvPr/>
        </p:nvSpPr>
        <p:spPr>
          <a:xfrm>
            <a:off x="3273552" y="2697480"/>
            <a:ext cx="2596896" cy="868680"/>
          </a:xfrm>
          <a:prstGeom prst="rect">
            <a:avLst/>
          </a:prstGeom>
          <a:noFill/>
          <a:ln/>
        </p:spPr>
        <p:txBody>
          <a:bodyPr wrap="square" lIns="0" tIns="0" rIns="0" bIns="0" rtlCol="0" anchor="ctr"/>
          <a:lstStyle/>
          <a:p>
            <a:pPr algn="ctr" indent="0" marL="0">
              <a:buNone/>
            </a:pPr>
            <a:r>
              <a:rPr lang="en-US" sz="1600" b="1" dirty="0">
                <a:solidFill>
                  <a:srgbClr val="ED7D31"/>
                </a:solidFill>
                <a:latin typeface="Calibri" pitchFamily="34" charset="0"/>
                <a:ea typeface="Calibri" pitchFamily="34" charset="-122"/>
                <a:cs typeface="Calibri" pitchFamily="34" charset="-120"/>
              </a:rPr>
              <a:t>Communication-History-</a:t>
            </a:r>
            <a:endParaRPr lang="en-US" sz="1600" dirty="0"/>
          </a:p>
          <a:p>
            <a:pPr algn="ctr" indent="0" marL="0">
              <a:buNone/>
            </a:pPr>
            <a:r>
              <a:rPr lang="en-US" sz="1600" b="1" dirty="0">
                <a:solidFill>
                  <a:srgbClr val="ED7D31"/>
                </a:solidFill>
                <a:latin typeface="Calibri" pitchFamily="34" charset="0"/>
                <a:ea typeface="Calibri" pitchFamily="34" charset="-122"/>
                <a:cs typeface="Calibri" pitchFamily="34" charset="-120"/>
              </a:rPr>
              <a:t>Aware Source Selection</a:t>
            </a:r>
            <a:endParaRPr lang="en-US" sz="1600" dirty="0"/>
          </a:p>
        </p:txBody>
      </p:sp>
      <p:sp>
        <p:nvSpPr>
          <p:cNvPr id="18" name="Shape 15"/>
          <p:cNvSpPr/>
          <p:nvPr/>
        </p:nvSpPr>
        <p:spPr>
          <a:xfrm>
            <a:off x="6080760" y="1170432"/>
            <a:ext cx="2743200" cy="2606040"/>
          </a:xfrm>
          <a:prstGeom prst="roundRect">
            <a:avLst>
              <a:gd name="adj" fmla="val 2807"/>
            </a:avLst>
          </a:prstGeom>
          <a:solidFill>
            <a:srgbClr val="FFFFFF"/>
          </a:solidFill>
          <a:ln/>
          <a:effectLst>
            <a:outerShdw sx="100000" sy="100000" kx="0" ky="0" algn="bl" rotWithShape="0" blurRad="50800" dist="12700" dir="16200000">
              <a:srgbClr val="1F2A44">
                <a:alpha val="12000"/>
              </a:srgbClr>
            </a:outerShdw>
          </a:effectLst>
        </p:spPr>
      </p:sp>
      <p:sp>
        <p:nvSpPr>
          <p:cNvPr id="19" name="Text 16"/>
          <p:cNvSpPr/>
          <p:nvPr/>
        </p:nvSpPr>
        <p:spPr>
          <a:xfrm>
            <a:off x="6080760" y="1261872"/>
            <a:ext cx="2743200" cy="329184"/>
          </a:xfrm>
          <a:prstGeom prst="rect">
            <a:avLst/>
          </a:prstGeom>
          <a:noFill/>
          <a:ln/>
        </p:spPr>
        <p:txBody>
          <a:bodyPr wrap="square" lIns="0" tIns="0" rIns="0" bIns="0" rtlCol="0" anchor="ctr"/>
          <a:lstStyle/>
          <a:p>
            <a:pPr algn="ctr" indent="0" marL="0">
              <a:buNone/>
            </a:pPr>
            <a:r>
              <a:rPr lang="en-US" sz="1400" dirty="0">
                <a:solidFill>
                  <a:srgbClr val="5A6A80"/>
                </a:solidFill>
                <a:latin typeface="Calibri" pitchFamily="34" charset="0"/>
                <a:ea typeface="Calibri" pitchFamily="34" charset="-122"/>
                <a:cs typeface="Calibri" pitchFamily="34" charset="-120"/>
              </a:rPr>
              <a:t>Challenge 3</a:t>
            </a:r>
            <a:endParaRPr lang="en-US" sz="1400" dirty="0"/>
          </a:p>
        </p:txBody>
      </p:sp>
      <p:sp>
        <p:nvSpPr>
          <p:cNvPr id="20" name="Text 17"/>
          <p:cNvSpPr/>
          <p:nvPr/>
        </p:nvSpPr>
        <p:spPr>
          <a:xfrm>
            <a:off x="6153912" y="1591056"/>
            <a:ext cx="2596896" cy="530352"/>
          </a:xfrm>
          <a:prstGeom prst="rect">
            <a:avLst/>
          </a:prstGeom>
          <a:noFill/>
          <a:ln/>
        </p:spPr>
        <p:txBody>
          <a:bodyPr wrap="square" lIns="0" tIns="0" rIns="0" bIns="0" rtlCol="0" anchor="ctr"/>
          <a:lstStyle/>
          <a:p>
            <a:pPr algn="ctr" indent="0" marL="0">
              <a:buNone/>
            </a:pPr>
            <a:r>
              <a:rPr lang="en-US" sz="1600" b="1" dirty="0">
                <a:solidFill>
                  <a:srgbClr val="1F2A44"/>
                </a:solidFill>
                <a:latin typeface="Calibri" pitchFamily="34" charset="0"/>
                <a:ea typeface="Calibri" pitchFamily="34" charset="-122"/>
                <a:cs typeface="Calibri" pitchFamily="34" charset="-120"/>
              </a:rPr>
              <a:t>Heterogeneous entities</a:t>
            </a:r>
            <a:endParaRPr lang="en-US" sz="1600" dirty="0"/>
          </a:p>
        </p:txBody>
      </p:sp>
      <p:sp>
        <p:nvSpPr>
          <p:cNvPr id="21" name="Shape 18"/>
          <p:cNvSpPr/>
          <p:nvPr/>
        </p:nvSpPr>
        <p:spPr>
          <a:xfrm>
            <a:off x="7132320" y="2084832"/>
            <a:ext cx="640080" cy="347472"/>
          </a:xfrm>
          <a:prstGeom prst="downArrow">
            <a:avLst/>
          </a:prstGeom>
          <a:solidFill>
            <a:srgbClr val="2E8B57"/>
          </a:solidFill>
          <a:ln/>
        </p:spPr>
      </p:sp>
      <p:sp>
        <p:nvSpPr>
          <p:cNvPr id="22" name="Text 19"/>
          <p:cNvSpPr/>
          <p:nvPr/>
        </p:nvSpPr>
        <p:spPr>
          <a:xfrm>
            <a:off x="6080760" y="2450592"/>
            <a:ext cx="2743200" cy="256032"/>
          </a:xfrm>
          <a:prstGeom prst="rect">
            <a:avLst/>
          </a:prstGeom>
          <a:noFill/>
          <a:ln/>
        </p:spPr>
        <p:txBody>
          <a:bodyPr wrap="square" lIns="0" tIns="0" rIns="0" bIns="0" rtlCol="0" anchor="ctr"/>
          <a:lstStyle/>
          <a:p>
            <a:pPr algn="ctr" indent="0" marL="0">
              <a:buNone/>
            </a:pPr>
            <a:r>
              <a:rPr lang="en-US" sz="1300" dirty="0">
                <a:solidFill>
                  <a:srgbClr val="5A6A80"/>
                </a:solidFill>
                <a:latin typeface="Calibri" pitchFamily="34" charset="0"/>
                <a:ea typeface="Calibri" pitchFamily="34" charset="-122"/>
                <a:cs typeface="Calibri" pitchFamily="34" charset="-120"/>
              </a:rPr>
              <a:t>Solution</a:t>
            </a:r>
            <a:endParaRPr lang="en-US" sz="1300" dirty="0"/>
          </a:p>
        </p:txBody>
      </p:sp>
      <p:sp>
        <p:nvSpPr>
          <p:cNvPr id="23" name="Text 20"/>
          <p:cNvSpPr/>
          <p:nvPr/>
        </p:nvSpPr>
        <p:spPr>
          <a:xfrm>
            <a:off x="6153912" y="2697480"/>
            <a:ext cx="2596896" cy="868680"/>
          </a:xfrm>
          <a:prstGeom prst="rect">
            <a:avLst/>
          </a:prstGeom>
          <a:noFill/>
          <a:ln/>
        </p:spPr>
        <p:txBody>
          <a:bodyPr wrap="square" lIns="0" tIns="0" rIns="0" bIns="0" rtlCol="0" anchor="ctr"/>
          <a:lstStyle/>
          <a:p>
            <a:pPr algn="ctr" indent="0" marL="0">
              <a:buNone/>
            </a:pPr>
            <a:r>
              <a:rPr lang="en-US" sz="1600" b="1" dirty="0">
                <a:solidFill>
                  <a:srgbClr val="2E8B57"/>
                </a:solidFill>
                <a:latin typeface="Calibri" pitchFamily="34" charset="0"/>
                <a:ea typeface="Calibri" pitchFamily="34" charset="-122"/>
                <a:cs typeface="Calibri" pitchFamily="34" charset="-120"/>
              </a:rPr>
              <a:t>Heterogeneous</a:t>
            </a:r>
            <a:endParaRPr lang="en-US" sz="1600" dirty="0"/>
          </a:p>
          <a:p>
            <a:pPr algn="ctr" indent="0" marL="0">
              <a:buNone/>
            </a:pPr>
            <a:r>
              <a:rPr lang="en-US" sz="1600" b="1" dirty="0">
                <a:solidFill>
                  <a:srgbClr val="2E8B57"/>
                </a:solidFill>
                <a:latin typeface="Calibri" pitchFamily="34" charset="0"/>
                <a:ea typeface="Calibri" pitchFamily="34" charset="-122"/>
                <a:cs typeface="Calibri" pitchFamily="34" charset="-120"/>
              </a:rPr>
              <a:t>Graph Attention</a:t>
            </a:r>
            <a:endParaRPr lang="en-US" sz="1600" dirty="0"/>
          </a:p>
        </p:txBody>
      </p:sp>
      <p:sp>
        <p:nvSpPr>
          <p:cNvPr id="24" name="Shape 21"/>
          <p:cNvSpPr/>
          <p:nvPr/>
        </p:nvSpPr>
        <p:spPr>
          <a:xfrm>
            <a:off x="9006840" y="1170432"/>
            <a:ext cx="2852928" cy="2606040"/>
          </a:xfrm>
          <a:prstGeom prst="roundRect">
            <a:avLst>
              <a:gd name="adj" fmla="val 2807"/>
            </a:avLst>
          </a:prstGeom>
          <a:solidFill>
            <a:srgbClr val="2F5597"/>
          </a:solidFill>
          <a:ln/>
          <a:effectLst>
            <a:outerShdw sx="100000" sy="100000" kx="0" ky="0" algn="bl" rotWithShape="0" blurRad="50800" dist="12700" dir="16200000">
              <a:srgbClr val="1F2A44">
                <a:alpha val="12000"/>
              </a:srgbClr>
            </a:outerShdw>
          </a:effectLst>
        </p:spPr>
      </p:sp>
      <p:sp>
        <p:nvSpPr>
          <p:cNvPr id="25" name="Text 22"/>
          <p:cNvSpPr/>
          <p:nvPr/>
        </p:nvSpPr>
        <p:spPr>
          <a:xfrm>
            <a:off x="9144000" y="1298448"/>
            <a:ext cx="2606040" cy="43891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Learning Framework</a:t>
            </a:r>
            <a:endParaRPr lang="en-US" sz="1600" dirty="0"/>
          </a:p>
        </p:txBody>
      </p:sp>
      <p:sp>
        <p:nvSpPr>
          <p:cNvPr id="26" name="Text 23"/>
          <p:cNvSpPr/>
          <p:nvPr/>
        </p:nvSpPr>
        <p:spPr>
          <a:xfrm>
            <a:off x="9144000" y="1783080"/>
            <a:ext cx="2606040" cy="17830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Shared Actor</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Centralized Critic</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MAPPO / CTDE</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Common Safety Projection</a:t>
            </a:r>
            <a:endParaRPr lang="en-US" sz="1600" dirty="0"/>
          </a:p>
        </p:txBody>
      </p:sp>
      <p:sp>
        <p:nvSpPr>
          <p:cNvPr id="27" name="Shape 24"/>
          <p:cNvSpPr/>
          <p:nvPr/>
        </p:nvSpPr>
        <p:spPr>
          <a:xfrm>
            <a:off x="320040" y="3931920"/>
            <a:ext cx="11539728" cy="2331720"/>
          </a:xfrm>
          <a:prstGeom prst="roundRect">
            <a:avLst>
              <a:gd name="adj" fmla="val 3137"/>
            </a:avLst>
          </a:prstGeom>
          <a:solidFill>
            <a:srgbClr val="EAF0F8"/>
          </a:solidFill>
          <a:ln/>
        </p:spPr>
      </p:sp>
      <p:sp>
        <p:nvSpPr>
          <p:cNvPr id="28" name="Text 25"/>
          <p:cNvSpPr/>
          <p:nvPr/>
        </p:nvSpPr>
        <p:spPr>
          <a:xfrm>
            <a:off x="502920" y="4041648"/>
            <a:ext cx="11173968" cy="402336"/>
          </a:xfrm>
          <a:prstGeom prst="rect">
            <a:avLst/>
          </a:prstGeom>
          <a:noFill/>
          <a:ln/>
        </p:spPr>
        <p:txBody>
          <a:bodyPr wrap="square" lIns="0" tIns="0" rIns="0" bIns="0" rtlCol="0" anchor="ctr"/>
          <a:lstStyle/>
          <a:p>
            <a:pPr indent="0" marL="0">
              <a:buNone/>
            </a:pPr>
            <a:r>
              <a:rPr lang="en-US" sz="1700" b="1" dirty="0">
                <a:solidFill>
                  <a:srgbClr val="1E3F73"/>
                </a:solidFill>
                <a:latin typeface="Calibri" pitchFamily="34" charset="0"/>
                <a:ea typeface="Calibri" pitchFamily="34" charset="-122"/>
                <a:cs typeface="Calibri" pitchFamily="34" charset="-120"/>
              </a:rPr>
              <a:t>Our problem: Cooperative Multi-UAV Search under Intermittent Communication Constraints</a:t>
            </a:r>
            <a:endParaRPr lang="en-US" sz="1700" dirty="0"/>
          </a:p>
        </p:txBody>
      </p:sp>
      <p:sp>
        <p:nvSpPr>
          <p:cNvPr id="29" name="Text 26"/>
          <p:cNvSpPr/>
          <p:nvPr/>
        </p:nvSpPr>
        <p:spPr>
          <a:xfrm>
            <a:off x="548640" y="4462272"/>
            <a:ext cx="7863840" cy="329184"/>
          </a:xfrm>
          <a:prstGeom prst="rect">
            <a:avLst/>
          </a:prstGeom>
          <a:noFill/>
          <a:ln/>
        </p:spPr>
        <p:txBody>
          <a:bodyPr wrap="square" lIns="0" tIns="0" rIns="0" bIns="0"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Q1. How to maintain useful beliefs without global map sharing?</a:t>
            </a:r>
            <a:endParaRPr lang="en-US" sz="1600" dirty="0"/>
          </a:p>
        </p:txBody>
      </p:sp>
      <p:sp>
        <p:nvSpPr>
          <p:cNvPr id="30" name="Text 27"/>
          <p:cNvSpPr/>
          <p:nvPr/>
        </p:nvSpPr>
        <p:spPr>
          <a:xfrm>
            <a:off x="548640" y="4809744"/>
            <a:ext cx="7863840" cy="329184"/>
          </a:xfrm>
          <a:prstGeom prst="rect">
            <a:avLst/>
          </a:prstGeom>
          <a:noFill/>
          <a:ln/>
        </p:spPr>
        <p:txBody>
          <a:bodyPr wrap="square" lIns="0" tIns="0" rIns="0" bIns="0"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Q2. How to select useful information after communication recovery?</a:t>
            </a:r>
            <a:endParaRPr lang="en-US" sz="1600" dirty="0"/>
          </a:p>
        </p:txBody>
      </p:sp>
      <p:sp>
        <p:nvSpPr>
          <p:cNvPr id="31" name="Text 28"/>
          <p:cNvSpPr/>
          <p:nvPr/>
        </p:nvSpPr>
        <p:spPr>
          <a:xfrm>
            <a:off x="548640" y="5157216"/>
            <a:ext cx="7863840" cy="329184"/>
          </a:xfrm>
          <a:prstGeom prst="rect">
            <a:avLst/>
          </a:prstGeom>
          <a:noFill/>
          <a:ln/>
        </p:spPr>
        <p:txBody>
          <a:bodyPr wrap="square" lIns="0" tIns="0" rIns="0" bIns="0"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Q3. How to model UAV, task, and obstacle interactions jointly?</a:t>
            </a:r>
            <a:endParaRPr lang="en-US" sz="1600" dirty="0"/>
          </a:p>
        </p:txBody>
      </p:sp>
      <p:sp>
        <p:nvSpPr>
          <p:cNvPr id="32" name="Shape 29"/>
          <p:cNvSpPr/>
          <p:nvPr/>
        </p:nvSpPr>
        <p:spPr>
          <a:xfrm>
            <a:off x="8549640" y="4892040"/>
            <a:ext cx="502920" cy="292608"/>
          </a:xfrm>
          <a:prstGeom prst="rightArrow">
            <a:avLst/>
          </a:prstGeom>
          <a:solidFill>
            <a:srgbClr val="2F5597"/>
          </a:solidFill>
          <a:ln/>
        </p:spPr>
      </p:sp>
      <p:sp>
        <p:nvSpPr>
          <p:cNvPr id="33" name="Shape 30"/>
          <p:cNvSpPr/>
          <p:nvPr/>
        </p:nvSpPr>
        <p:spPr>
          <a:xfrm>
            <a:off x="9144000" y="4617720"/>
            <a:ext cx="2514600" cy="1051560"/>
          </a:xfrm>
          <a:prstGeom prst="roundRect">
            <a:avLst>
              <a:gd name="adj" fmla="val 6957"/>
            </a:avLst>
          </a:prstGeom>
          <a:solidFill>
            <a:srgbClr val="2F5597"/>
          </a:solidFill>
          <a:ln/>
        </p:spPr>
      </p:sp>
      <p:sp>
        <p:nvSpPr>
          <p:cNvPr id="34" name="Text 31"/>
          <p:cNvSpPr/>
          <p:nvPr/>
        </p:nvSpPr>
        <p:spPr>
          <a:xfrm>
            <a:off x="9189720" y="4709160"/>
            <a:ext cx="2423160"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IC-HGAT-</a:t>
            </a:r>
            <a:endParaRPr lang="en-US" sz="1800" dirty="0"/>
          </a:p>
          <a:p>
            <a:pPr algn="ctr" indent="0" marL="0">
              <a:buNone/>
            </a:pPr>
            <a:r>
              <a:rPr lang="en-US" sz="1800" b="1" dirty="0">
                <a:solidFill>
                  <a:srgbClr val="FFFFFF"/>
                </a:solidFill>
                <a:latin typeface="Calibri" pitchFamily="34" charset="0"/>
                <a:ea typeface="Calibri" pitchFamily="34" charset="-122"/>
                <a:cs typeface="Calibri" pitchFamily="34" charset="-120"/>
              </a:rPr>
              <a:t>MAPPO</a:t>
            </a:r>
            <a:endParaRPr lang="en-US" sz="1800" dirty="0"/>
          </a:p>
        </p:txBody>
      </p:sp>
      <p:sp>
        <p:nvSpPr>
          <p:cNvPr id="35" name="Text 32"/>
          <p:cNvSpPr/>
          <p:nvPr/>
        </p:nvSpPr>
        <p:spPr>
          <a:xfrm>
            <a:off x="11475720" y="6510528"/>
            <a:ext cx="502920" cy="256032"/>
          </a:xfrm>
          <a:prstGeom prst="rect">
            <a:avLst/>
          </a:prstGeom>
          <a:noFill/>
          <a:ln/>
        </p:spPr>
        <p:txBody>
          <a:bodyPr wrap="square" lIns="0" tIns="0" rIns="0" bIns="0" rtlCol="0" anchor="ctr"/>
          <a:lstStyle/>
          <a:p>
            <a:pPr algn="r" indent="0" marL="0">
              <a:buNone/>
            </a:pPr>
            <a:r>
              <a:rPr lang="en-US" sz="1200" dirty="0">
                <a:solidFill>
                  <a:srgbClr val="2F5597"/>
                </a:solidFill>
                <a:latin typeface="Calibri" pitchFamily="34" charset="0"/>
                <a:ea typeface="Calibri" pitchFamily="34" charset="-122"/>
                <a:cs typeface="Calibri"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mp/ppt-work/assets/hust.png">    </p:cNvPr>
          <p:cNvPicPr>
            <a:picLocks noChangeAspect="1"/>
          </p:cNvPicPr>
          <p:nvPr/>
        </p:nvPicPr>
        <p:blipFill>
          <a:blip r:embed="rId1"/>
          <a:stretch>
            <a:fillRect/>
          </a:stretch>
        </p:blipFill>
        <p:spPr>
          <a:xfrm>
            <a:off x="11337578" y="54864"/>
            <a:ext cx="715196" cy="493776"/>
          </a:xfrm>
          <a:prstGeom prst="rect">
            <a:avLst/>
          </a:prstGeom>
        </p:spPr>
      </p:pic>
      <p:sp>
        <p:nvSpPr>
          <p:cNvPr id="3" name="Text 0"/>
          <p:cNvSpPr/>
          <p:nvPr/>
        </p:nvSpPr>
        <p:spPr>
          <a:xfrm>
            <a:off x="347472" y="73152"/>
            <a:ext cx="10698480" cy="438912"/>
          </a:xfrm>
          <a:prstGeom prst="rect">
            <a:avLst/>
          </a:prstGeom>
          <a:noFill/>
          <a:ln/>
        </p:spPr>
        <p:txBody>
          <a:bodyPr wrap="square" lIns="0" tIns="0" rIns="0" bIns="0" rtlCol="0" anchor="ctr"/>
          <a:lstStyle/>
          <a:p>
            <a:pPr indent="0" marL="0">
              <a:buNone/>
            </a:pPr>
            <a:r>
              <a:rPr lang="en-US" sz="2600" b="1" dirty="0">
                <a:solidFill>
                  <a:srgbClr val="2F5597"/>
                </a:solidFill>
                <a:latin typeface="Calibri" pitchFamily="34" charset="0"/>
                <a:ea typeface="Calibri" pitchFamily="34" charset="-122"/>
                <a:cs typeface="Calibri" pitchFamily="34" charset="-120"/>
              </a:rPr>
              <a:t>2. Proposed IC-HGAT-MAPPO</a:t>
            </a:r>
            <a:endParaRPr lang="en-US" sz="2600" dirty="0"/>
          </a:p>
        </p:txBody>
      </p:sp>
      <p:sp>
        <p:nvSpPr>
          <p:cNvPr id="4" name="Shape 1"/>
          <p:cNvSpPr/>
          <p:nvPr/>
        </p:nvSpPr>
        <p:spPr>
          <a:xfrm>
            <a:off x="0" y="566928"/>
            <a:ext cx="12191695" cy="475488"/>
          </a:xfrm>
          <a:prstGeom prst="rect">
            <a:avLst/>
          </a:prstGeom>
          <a:solidFill>
            <a:srgbClr val="2F5597"/>
          </a:solidFill>
          <a:ln/>
        </p:spPr>
      </p:sp>
      <p:sp>
        <p:nvSpPr>
          <p:cNvPr id="5" name="Text 2"/>
          <p:cNvSpPr/>
          <p:nvPr/>
        </p:nvSpPr>
        <p:spPr>
          <a:xfrm>
            <a:off x="347472" y="585216"/>
            <a:ext cx="11430000" cy="43891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2.1 Problem Formulation</a:t>
            </a:r>
            <a:endParaRPr lang="en-US" sz="2000" dirty="0"/>
          </a:p>
        </p:txBody>
      </p:sp>
      <p:pic>
        <p:nvPicPr>
          <p:cNvPr id="6" name="Image 1" descr="/tmp/ppt-work/assets/fig1.png">    </p:cNvPr>
          <p:cNvPicPr>
            <a:picLocks noChangeAspect="1"/>
          </p:cNvPicPr>
          <p:nvPr/>
        </p:nvPicPr>
        <p:blipFill>
          <a:blip r:embed="rId2"/>
          <a:stretch>
            <a:fillRect/>
          </a:stretch>
        </p:blipFill>
        <p:spPr>
          <a:xfrm>
            <a:off x="931667" y="1170432"/>
            <a:ext cx="4674626" cy="3246120"/>
          </a:xfrm>
          <a:prstGeom prst="rect">
            <a:avLst/>
          </a:prstGeom>
        </p:spPr>
      </p:pic>
      <p:sp>
        <p:nvSpPr>
          <p:cNvPr id="7" name="Text 3"/>
          <p:cNvSpPr/>
          <p:nvPr/>
        </p:nvSpPr>
        <p:spPr>
          <a:xfrm>
            <a:off x="274320" y="4462272"/>
            <a:ext cx="5989320" cy="292608"/>
          </a:xfrm>
          <a:prstGeom prst="rect">
            <a:avLst/>
          </a:prstGeom>
          <a:noFill/>
          <a:ln/>
        </p:spPr>
        <p:txBody>
          <a:bodyPr wrap="square" lIns="0" tIns="0" rIns="0" bIns="0" rtlCol="0" anchor="ctr"/>
          <a:lstStyle/>
          <a:p>
            <a:pPr indent="0" marL="0">
              <a:buNone/>
            </a:pPr>
            <a:r>
              <a:rPr lang="en-US" sz="1200" i="1" dirty="0">
                <a:solidFill>
                  <a:srgbClr val="5A6A80"/>
                </a:solidFill>
                <a:latin typeface="Calibri" pitchFamily="34" charset="0"/>
                <a:ea typeface="Calibri" pitchFamily="34" charset="-122"/>
                <a:cs typeface="Calibri" pitchFamily="34" charset="-120"/>
              </a:rPr>
              <a:t>Fig. 1  Local sensing, intermittent links, moving targets, dynamic obstacles</a:t>
            </a:r>
            <a:endParaRPr lang="en-US" sz="1200" dirty="0"/>
          </a:p>
        </p:txBody>
      </p:sp>
      <p:sp>
        <p:nvSpPr>
          <p:cNvPr id="8" name="Shape 4"/>
          <p:cNvSpPr/>
          <p:nvPr/>
        </p:nvSpPr>
        <p:spPr>
          <a:xfrm>
            <a:off x="274320" y="4828032"/>
            <a:ext cx="5989320" cy="1417320"/>
          </a:xfrm>
          <a:prstGeom prst="roundRect">
            <a:avLst>
              <a:gd name="adj" fmla="val 5161"/>
            </a:avLst>
          </a:prstGeom>
          <a:solidFill>
            <a:srgbClr val="F4F6FA"/>
          </a:solidFill>
          <a:ln/>
          <a:effectLst>
            <a:outerShdw sx="100000" sy="100000" kx="0" ky="0" algn="bl" rotWithShape="0" blurRad="50800" dist="12700" dir="16200000">
              <a:srgbClr val="1F2A44">
                <a:alpha val="12000"/>
              </a:srgbClr>
            </a:outerShdw>
          </a:effectLst>
        </p:spPr>
      </p:sp>
      <p:sp>
        <p:nvSpPr>
          <p:cNvPr id="9" name="Text 5"/>
          <p:cNvSpPr/>
          <p:nvPr/>
        </p:nvSpPr>
        <p:spPr>
          <a:xfrm>
            <a:off x="411480" y="4882896"/>
            <a:ext cx="5715000" cy="292608"/>
          </a:xfrm>
          <a:prstGeom prst="rect">
            <a:avLst/>
          </a:prstGeom>
          <a:noFill/>
          <a:ln/>
        </p:spPr>
        <p:txBody>
          <a:bodyPr wrap="square" lIns="0" tIns="0" rIns="0" bIns="0" rtlCol="0" anchor="ctr"/>
          <a:lstStyle/>
          <a:p>
            <a:pPr indent="0" marL="0">
              <a:buNone/>
            </a:pPr>
            <a:r>
              <a:rPr lang="en-US" sz="1600" b="1" dirty="0">
                <a:solidFill>
                  <a:srgbClr val="2F5597"/>
                </a:solidFill>
                <a:latin typeface="Calibri" pitchFamily="34" charset="0"/>
                <a:ea typeface="Calibri" pitchFamily="34" charset="-122"/>
                <a:cs typeface="Calibri" pitchFamily="34" charset="-120"/>
              </a:rPr>
              <a:t>Scenario</a:t>
            </a:r>
            <a:endParaRPr lang="en-US" sz="1600" dirty="0"/>
          </a:p>
        </p:txBody>
      </p:sp>
      <p:sp>
        <p:nvSpPr>
          <p:cNvPr id="10" name="Text 6"/>
          <p:cNvSpPr/>
          <p:nvPr/>
        </p:nvSpPr>
        <p:spPr>
          <a:xfrm>
            <a:off x="411480" y="5175504"/>
            <a:ext cx="5715000" cy="960120"/>
          </a:xfrm>
          <a:prstGeom prst="rect">
            <a:avLst/>
          </a:prstGeom>
          <a:noFill/>
          <a:ln/>
        </p:spPr>
        <p:txBody>
          <a:bodyPr wrap="square" lIns="0" tIns="0" rIns="0" bIns="0" rtlCol="0" anchor="ctr"/>
          <a:lstStyle/>
          <a:p>
            <a:pPr indent="0" marL="0">
              <a:buNone/>
            </a:pPr>
            <a:r>
              <a:rPr lang="en-US" sz="1500" dirty="0">
                <a:solidFill>
                  <a:srgbClr val="1F2A44"/>
                </a:solidFill>
                <a:latin typeface="Calibri" pitchFamily="34" charset="0"/>
                <a:ea typeface="Calibri" pitchFamily="34" charset="-122"/>
                <a:cs typeface="Calibri" pitchFamily="34" charset="-120"/>
              </a:rPr>
              <a:t>6 UAVs · 15 targets · 10 obstacles · 30×30 area</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Local sensing + intermittent links</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Action: 8 directions + hover</a:t>
            </a:r>
            <a:endParaRPr lang="en-US" sz="1500" dirty="0"/>
          </a:p>
        </p:txBody>
      </p:sp>
      <p:sp>
        <p:nvSpPr>
          <p:cNvPr id="11" name="Shape 7"/>
          <p:cNvSpPr/>
          <p:nvPr/>
        </p:nvSpPr>
        <p:spPr>
          <a:xfrm>
            <a:off x="6446520" y="1115568"/>
            <a:ext cx="5440680" cy="1417320"/>
          </a:xfrm>
          <a:prstGeom prst="roundRect">
            <a:avLst>
              <a:gd name="adj" fmla="val 5161"/>
            </a:avLst>
          </a:prstGeom>
          <a:solidFill>
            <a:srgbClr val="FFFFFF"/>
          </a:solidFill>
          <a:ln/>
          <a:effectLst>
            <a:outerShdw sx="100000" sy="100000" kx="0" ky="0" algn="bl" rotWithShape="0" blurRad="50800" dist="12700" dir="16200000">
              <a:srgbClr val="1F2A44">
                <a:alpha val="12000"/>
              </a:srgbClr>
            </a:outerShdw>
          </a:effectLst>
        </p:spPr>
      </p:sp>
      <p:sp>
        <p:nvSpPr>
          <p:cNvPr id="12" name="Text 8"/>
          <p:cNvSpPr/>
          <p:nvPr/>
        </p:nvSpPr>
        <p:spPr>
          <a:xfrm>
            <a:off x="6583680" y="1170432"/>
            <a:ext cx="5166360" cy="292608"/>
          </a:xfrm>
          <a:prstGeom prst="rect">
            <a:avLst/>
          </a:prstGeom>
          <a:noFill/>
          <a:ln/>
        </p:spPr>
        <p:txBody>
          <a:bodyPr wrap="square" lIns="0" tIns="0" rIns="0" bIns="0" rtlCol="0" anchor="ctr"/>
          <a:lstStyle/>
          <a:p>
            <a:pPr indent="0" marL="0">
              <a:buNone/>
            </a:pPr>
            <a:r>
              <a:rPr lang="en-US" sz="1600" b="1" dirty="0">
                <a:solidFill>
                  <a:srgbClr val="2F5597"/>
                </a:solidFill>
                <a:latin typeface="Calibri" pitchFamily="34" charset="0"/>
                <a:ea typeface="Calibri" pitchFamily="34" charset="-122"/>
                <a:cs typeface="Calibri" pitchFamily="34" charset="-120"/>
              </a:rPr>
              <a:t>Motion model</a:t>
            </a:r>
            <a:endParaRPr lang="en-US" sz="1600" dirty="0"/>
          </a:p>
        </p:txBody>
      </p:sp>
      <p:sp>
        <p:nvSpPr>
          <p:cNvPr id="13" name="Text 9"/>
          <p:cNvSpPr/>
          <p:nvPr/>
        </p:nvSpPr>
        <p:spPr>
          <a:xfrm>
            <a:off x="6510528" y="1444752"/>
            <a:ext cx="5285232" cy="640080"/>
          </a:xfrm>
          <a:prstGeom prst="rect">
            <a:avLst/>
          </a:prstGeom>
          <a:noFill/>
          <a:ln/>
        </p:spPr>
        <p:txBody>
          <a:bodyPr wrap="square" lIns="0" tIns="0" rIns="0" bIns="0" rtlCol="0" anchor="ctr"/>
          <a:lstStyle/>
          <a:p>
            <a:pPr algn="ctr" indent="0" marL="0">
              <a:buNone/>
            </a:pPr>
            <m:oMathPara xmlns:m="http://schemas.openxmlformats.org/officeDocument/2006/math">
              <m:oMathParaPr>
                <m:jc m:val="center"/>
              </m:oMathParaPr>
              <m:oMath>
                <m:sSub>
                  <m:e>
                    <m:r>
                      <m:rPr>
                        <m:sty m:val="i"/>
                      </m:rPr>
                      <m:t>p</m:t>
                    </m:r>
                  </m:e>
                  <m:sub>
                    <m:r>
                      <m:rPr>
                        <m:sty m:val="i"/>
                      </m:rPr>
                      <m:t>i</m:t>
                    </m:r>
                    <m:r>
                      <m:rPr>
                        <m:sty m:val="p"/>
                      </m:rPr>
                      <m:t>,</m:t>
                    </m:r>
                    <m:r>
                      <m:rPr>
                        <m:sty m:val="i"/>
                      </m:rPr>
                      <m:t>t</m:t>
                    </m:r>
                    <m:r>
                      <m:rPr>
                        <m:sty m:val="p"/>
                      </m:rPr>
                      <m:t>+</m:t>
                    </m:r>
                    <m:r>
                      <m:rPr>
                        <m:sty m:val="p"/>
                      </m:rPr>
                      <m:t>1</m:t>
                    </m:r>
                  </m:sub>
                </m:sSub>
                <m:r>
                  <m:rPr>
                    <m:sty m:val="p"/>
                  </m:rPr>
                  <m:t xml:space="preserve"> = </m:t>
                </m:r>
                <m:sSub>
                  <m:e>
                    <m:r>
                      <m:rPr>
                        <m:sty m:val="p"/>
                      </m:rPr>
                      <m:t>Π</m:t>
                    </m:r>
                  </m:e>
                  <m:sub>
                    <m:r>
                      <m:rPr>
                        <m:sty m:val="i"/>
                      </m:rPr>
                      <m:t>Ω</m:t>
                    </m:r>
                  </m:sub>
                </m:sSub>
                <m:d>
                  <m:dPr>
                    <m:begChr m:val="("/>
                    <m:endChr m:val=")"/>
                  </m:dPr>
                  <m:e>
                    <m:sSub>
                      <m:e>
                        <m:r>
                          <m:rPr>
                            <m:sty m:val="i"/>
                          </m:rPr>
                          <m:t>p</m:t>
                        </m:r>
                      </m:e>
                      <m:sub>
                        <m:r>
                          <m:rPr>
                            <m:sty m:val="i"/>
                          </m:rPr>
                          <m:t>i</m:t>
                        </m:r>
                        <m:r>
                          <m:rPr>
                            <m:sty m:val="p"/>
                          </m:rPr>
                          <m:t>,</m:t>
                        </m:r>
                        <m:r>
                          <m:rPr>
                            <m:sty m:val="i"/>
                          </m:rPr>
                          <m:t>t</m:t>
                        </m:r>
                      </m:sub>
                    </m:sSub>
                    <m:r>
                      <m:rPr>
                        <m:sty m:val="p"/>
                      </m:rPr>
                      <m:t xml:space="preserve"> + </m:t>
                    </m:r>
                    <m:r>
                      <m:rPr>
                        <m:sty m:val="i"/>
                      </m:rPr>
                      <m:t>v</m:t>
                    </m:r>
                    <m:sSub>
                      <m:e>
                        <m:r>
                          <m:rPr>
                            <m:sty m:val="i"/>
                          </m:rPr>
                          <m:t>Δt</m:t>
                        </m:r>
                      </m:e>
                      <m:sub>
                        <m:r>
                          <m:rPr>
                            <m:sty m:val="i"/>
                          </m:rPr>
                          <m:t>t</m:t>
                        </m:r>
                      </m:sub>
                    </m:sSub>
                    <m:r>
                      <m:rPr>
                        <m:sty m:val="p"/>
                      </m:rPr>
                      <m:t xml:space="preserve"> </m:t>
                    </m:r>
                    <m:r>
                      <m:rPr>
                        <m:sty m:val="i"/>
                      </m:rPr>
                      <m:t>d</m:t>
                    </m:r>
                    <m:d>
                      <m:dPr>
                        <m:begChr m:val="("/>
                        <m:endChr m:val=")"/>
                      </m:dPr>
                      <m:e>
                        <m:sSub>
                          <m:e>
                            <m:r>
                              <m:rPr>
                                <m:sty m:val="i"/>
                              </m:rPr>
                              <m:t>a</m:t>
                            </m:r>
                          </m:e>
                          <m:sub>
                            <m:r>
                              <m:rPr>
                                <m:sty m:val="i"/>
                              </m:rPr>
                              <m:t>i</m:t>
                            </m:r>
                            <m:r>
                              <m:rPr>
                                <m:sty m:val="p"/>
                              </m:rPr>
                              <m:t>,</m:t>
                            </m:r>
                            <m:r>
                              <m:rPr>
                                <m:sty m:val="i"/>
                              </m:rPr>
                              <m:t>t</m:t>
                            </m:r>
                          </m:sub>
                        </m:sSub>
                      </m:e>
                    </m:d>
                  </m:e>
                </m:d>
              </m:oMath>
            </m:oMathPara>
          </a:p>
        </p:txBody>
      </p:sp>
      <p:sp>
        <p:nvSpPr>
          <p:cNvPr id="14" name="Text 10"/>
          <p:cNvSpPr/>
          <p:nvPr/>
        </p:nvSpPr>
        <p:spPr>
          <a:xfrm>
            <a:off x="6583680" y="2084832"/>
            <a:ext cx="5166360" cy="329184"/>
          </a:xfrm>
          <a:prstGeom prst="rect">
            <a:avLst/>
          </a:prstGeom>
          <a:noFill/>
          <a:ln/>
        </p:spPr>
        <p:txBody>
          <a:bodyPr wrap="square" lIns="0" tIns="0" rIns="0" bIns="0" rtlCol="0" anchor="ctr"/>
          <a:lstStyle/>
          <a:p>
            <a:pPr indent="0" marL="0">
              <a:buNone/>
            </a:pPr>
            <a:r>
              <a:rPr lang="en-US" sz="1400" i="1" dirty="0">
                <a:solidFill>
                  <a:srgbClr val="5A6A80"/>
                </a:solidFill>
                <a:latin typeface="Calibri" pitchFamily="34" charset="0"/>
                <a:ea typeface="Calibri" pitchFamily="34" charset="-122"/>
                <a:cs typeface="Calibri" pitchFamily="34" charset="-120"/>
              </a:rPr>
              <a:t>Discrete motion with adaptive decision interval</a:t>
            </a:r>
            <a:endParaRPr lang="en-US" sz="1400" dirty="0"/>
          </a:p>
        </p:txBody>
      </p:sp>
      <p:sp>
        <p:nvSpPr>
          <p:cNvPr id="15" name="Shape 11"/>
          <p:cNvSpPr/>
          <p:nvPr/>
        </p:nvSpPr>
        <p:spPr>
          <a:xfrm>
            <a:off x="6446520" y="2651760"/>
            <a:ext cx="5440680" cy="1691640"/>
          </a:xfrm>
          <a:prstGeom prst="roundRect">
            <a:avLst>
              <a:gd name="adj" fmla="val 4324"/>
            </a:avLst>
          </a:prstGeom>
          <a:solidFill>
            <a:srgbClr val="FFFFFF"/>
          </a:solidFill>
          <a:ln/>
          <a:effectLst>
            <a:outerShdw sx="100000" sy="100000" kx="0" ky="0" algn="bl" rotWithShape="0" blurRad="50800" dist="12700" dir="16200000">
              <a:srgbClr val="1F2A44">
                <a:alpha val="12000"/>
              </a:srgbClr>
            </a:outerShdw>
          </a:effectLst>
        </p:spPr>
      </p:sp>
      <p:sp>
        <p:nvSpPr>
          <p:cNvPr id="16" name="Text 12"/>
          <p:cNvSpPr/>
          <p:nvPr/>
        </p:nvSpPr>
        <p:spPr>
          <a:xfrm>
            <a:off x="6583680" y="2706624"/>
            <a:ext cx="5166360" cy="292608"/>
          </a:xfrm>
          <a:prstGeom prst="rect">
            <a:avLst/>
          </a:prstGeom>
          <a:noFill/>
          <a:ln/>
        </p:spPr>
        <p:txBody>
          <a:bodyPr wrap="square" lIns="0" tIns="0" rIns="0" bIns="0" rtlCol="0" anchor="ctr"/>
          <a:lstStyle/>
          <a:p>
            <a:pPr indent="0" marL="0">
              <a:buNone/>
            </a:pPr>
            <a:r>
              <a:rPr lang="en-US" sz="1600" b="1" dirty="0">
                <a:solidFill>
                  <a:srgbClr val="2F5597"/>
                </a:solidFill>
                <a:latin typeface="Calibri" pitchFamily="34" charset="0"/>
                <a:ea typeface="Calibri" pitchFamily="34" charset="-122"/>
                <a:cs typeface="Calibri" pitchFamily="34" charset="-120"/>
              </a:rPr>
              <a:t>Communication constraint</a:t>
            </a:r>
            <a:endParaRPr lang="en-US" sz="1600" dirty="0"/>
          </a:p>
        </p:txBody>
      </p:sp>
      <p:sp>
        <p:nvSpPr>
          <p:cNvPr id="17" name="Text 13"/>
          <p:cNvSpPr/>
          <p:nvPr/>
        </p:nvSpPr>
        <p:spPr>
          <a:xfrm>
            <a:off x="6473952" y="2980944"/>
            <a:ext cx="5349240" cy="658368"/>
          </a:xfrm>
          <a:prstGeom prst="rect">
            <a:avLst/>
          </a:prstGeom>
          <a:noFill/>
          <a:ln/>
        </p:spPr>
        <p:txBody>
          <a:bodyPr wrap="square" lIns="0" tIns="0" rIns="0" bIns="0" rtlCol="0" anchor="ctr"/>
          <a:lstStyle/>
          <a:p>
            <a:pPr algn="ctr" indent="0" marL="0">
              <a:buNone/>
            </a:pPr>
            <m:oMathPara xmlns:m="http://schemas.openxmlformats.org/officeDocument/2006/math">
              <m:oMathParaPr>
                <m:jc m:val="center"/>
              </m:oMathParaPr>
              <m:oMath>
                <m:sSub>
                  <m:e>
                    <m:r>
                      <m:rPr>
                        <m:sty m:val="i"/>
                      </m:rPr>
                      <m:t>A</m:t>
                    </m:r>
                  </m:e>
                  <m:sub>
                    <m:r>
                      <m:rPr>
                        <m:sty m:val="i"/>
                      </m:rPr>
                      <m:t>i</m:t>
                    </m:r>
                    <m:r>
                      <m:rPr>
                        <m:sty m:val="p"/>
                      </m:rPr>
                      <m:t>,</m:t>
                    </m:r>
                    <m:r>
                      <m:rPr>
                        <m:sty m:val="i"/>
                      </m:rPr>
                      <m:t>j</m:t>
                    </m:r>
                    <m:r>
                      <m:rPr>
                        <m:sty m:val="p"/>
                      </m:rPr>
                      <m:t>,</m:t>
                    </m:r>
                    <m:r>
                      <m:rPr>
                        <m:sty m:val="i"/>
                      </m:rPr>
                      <m:t>t</m:t>
                    </m:r>
                  </m:sub>
                </m:sSub>
                <m:r>
                  <m:rPr>
                    <m:sty m:val="p"/>
                  </m:rPr>
                  <m:t xml:space="preserve"> = </m:t>
                </m:r>
                <m:r>
                  <m:rPr>
                    <m:sty m:val="p"/>
                  </m:rPr>
                  <m:t>1</m:t>
                </m:r>
                <m:d>
                  <m:dPr>
                    <m:begChr m:val="("/>
                    <m:endChr m:val=")"/>
                  </m:dPr>
                  <m:e>
                    <m:r>
                      <m:rPr>
                        <m:sty m:val="p"/>
                      </m:rPr>
                      <m:t>∥</m:t>
                    </m:r>
                    <m:sSub>
                      <m:e>
                        <m:r>
                          <m:rPr>
                            <m:sty m:val="i"/>
                          </m:rPr>
                          <m:t>p</m:t>
                        </m:r>
                      </m:e>
                      <m:sub>
                        <m:r>
                          <m:rPr>
                            <m:sty m:val="i"/>
                          </m:rPr>
                          <m:t>i</m:t>
                        </m:r>
                        <m:r>
                          <m:rPr>
                            <m:sty m:val="p"/>
                          </m:rPr>
                          <m:t>,</m:t>
                        </m:r>
                        <m:r>
                          <m:rPr>
                            <m:sty m:val="i"/>
                          </m:rPr>
                          <m:t>t</m:t>
                        </m:r>
                      </m:sub>
                    </m:sSub>
                    <m:r>
                      <m:rPr>
                        <m:sty m:val="p"/>
                      </m:rPr>
                      <m:t xml:space="preserve"> − </m:t>
                    </m:r>
                    <m:sSub>
                      <m:e>
                        <m:r>
                          <m:rPr>
                            <m:sty m:val="i"/>
                          </m:rPr>
                          <m:t>p</m:t>
                        </m:r>
                      </m:e>
                      <m:sub>
                        <m:r>
                          <m:rPr>
                            <m:sty m:val="i"/>
                          </m:rPr>
                          <m:t>j</m:t>
                        </m:r>
                        <m:r>
                          <m:rPr>
                            <m:sty m:val="p"/>
                          </m:rPr>
                          <m:t>,</m:t>
                        </m:r>
                        <m:r>
                          <m:rPr>
                            <m:sty m:val="i"/>
                          </m:rPr>
                          <m:t>t</m:t>
                        </m:r>
                      </m:sub>
                    </m:sSub>
                    <m:r>
                      <m:rPr>
                        <m:sty m:val="p"/>
                      </m:rPr>
                      <m:t>∥</m:t>
                    </m:r>
                    <m:r>
                      <m:rPr>
                        <m:sty m:val="p"/>
                      </m:rPr>
                      <m:t xml:space="preserve"> ≤ </m:t>
                    </m:r>
                    <m:sSub>
                      <m:e>
                        <m:r>
                          <m:rPr>
                            <m:sty m:val="i"/>
                          </m:rPr>
                          <m:t>R</m:t>
                        </m:r>
                      </m:e>
                      <m:sub>
                        <m:r>
                          <m:rPr>
                            <m:sty m:val="i"/>
                          </m:rPr>
                          <m:t>c</m:t>
                        </m:r>
                      </m:sub>
                    </m:sSub>
                  </m:e>
                </m:d>
                <m:r>
                  <m:rPr>
                    <m:sty m:val="p"/>
                  </m:rPr>
                  <m:t xml:space="preserve"> </m:t>
                </m:r>
                <m:sSub>
                  <m:e>
                    <m:r>
                      <m:rPr>
                        <m:sty m:val="i"/>
                      </m:rPr>
                      <m:t>z</m:t>
                    </m:r>
                  </m:e>
                  <m:sub>
                    <m:r>
                      <m:rPr>
                        <m:sty m:val="i"/>
                      </m:rPr>
                      <m:t>i</m:t>
                    </m:r>
                    <m:r>
                      <m:rPr>
                        <m:sty m:val="p"/>
                      </m:rPr>
                      <m:t>,</m:t>
                    </m:r>
                    <m:r>
                      <m:rPr>
                        <m:sty m:val="i"/>
                      </m:rPr>
                      <m:t>t</m:t>
                    </m:r>
                  </m:sub>
                </m:sSub>
                <m:sSub>
                  <m:e>
                    <m:r>
                      <m:rPr>
                        <m:sty m:val="i"/>
                      </m:rPr>
                      <m:t>z</m:t>
                    </m:r>
                  </m:e>
                  <m:sub>
                    <m:r>
                      <m:rPr>
                        <m:sty m:val="i"/>
                      </m:rPr>
                      <m:t>j</m:t>
                    </m:r>
                    <m:r>
                      <m:rPr>
                        <m:sty m:val="p"/>
                      </m:rPr>
                      <m:t>,</m:t>
                    </m:r>
                    <m:r>
                      <m:rPr>
                        <m:sty m:val="i"/>
                      </m:rPr>
                      <m:t>t</m:t>
                    </m:r>
                  </m:sub>
                </m:sSub>
                <m:sSub>
                  <m:e>
                    <m:r>
                      <m:rPr>
                        <m:sty m:val="i"/>
                      </m:rPr>
                      <m:t>u</m:t>
                    </m:r>
                  </m:e>
                  <m:sub>
                    <m:r>
                      <m:rPr>
                        <m:sty m:val="i"/>
                      </m:rPr>
                      <m:t>i</m:t>
                    </m:r>
                    <m:r>
                      <m:rPr>
                        <m:sty m:val="p"/>
                      </m:rPr>
                      <m:t>,</m:t>
                    </m:r>
                    <m:r>
                      <m:rPr>
                        <m:sty m:val="i"/>
                      </m:rPr>
                      <m:t>t</m:t>
                    </m:r>
                  </m:sub>
                </m:sSub>
                <m:sSub>
                  <m:e>
                    <m:r>
                      <m:rPr>
                        <m:sty m:val="i"/>
                      </m:rPr>
                      <m:t>u</m:t>
                    </m:r>
                  </m:e>
                  <m:sub>
                    <m:r>
                      <m:rPr>
                        <m:sty m:val="i"/>
                      </m:rPr>
                      <m:t>j</m:t>
                    </m:r>
                    <m:r>
                      <m:rPr>
                        <m:sty m:val="p"/>
                      </m:rPr>
                      <m:t>,</m:t>
                    </m:r>
                    <m:r>
                      <m:rPr>
                        <m:sty m:val="i"/>
                      </m:rPr>
                      <m:t>t</m:t>
                    </m:r>
                  </m:sub>
                </m:sSub>
              </m:oMath>
            </m:oMathPara>
          </a:p>
        </p:txBody>
      </p:sp>
      <p:sp>
        <p:nvSpPr>
          <p:cNvPr id="18" name="Text 14"/>
          <p:cNvSpPr/>
          <p:nvPr/>
        </p:nvSpPr>
        <p:spPr>
          <a:xfrm>
            <a:off x="6583680" y="3657600"/>
            <a:ext cx="5166360" cy="530352"/>
          </a:xfrm>
          <a:prstGeom prst="rect">
            <a:avLst/>
          </a:prstGeom>
          <a:noFill/>
          <a:ln/>
        </p:spPr>
        <p:txBody>
          <a:bodyPr wrap="square" lIns="0" tIns="0" rIns="0" bIns="0"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Only instantaneous reachable links are available</a:t>
            </a:r>
            <a:endParaRPr lang="en-US" sz="1600" dirty="0"/>
          </a:p>
        </p:txBody>
      </p:sp>
      <p:sp>
        <p:nvSpPr>
          <p:cNvPr id="19" name="Shape 15"/>
          <p:cNvSpPr/>
          <p:nvPr/>
        </p:nvSpPr>
        <p:spPr>
          <a:xfrm>
            <a:off x="6446520" y="4480560"/>
            <a:ext cx="5440680" cy="1755648"/>
          </a:xfrm>
          <a:prstGeom prst="roundRect">
            <a:avLst>
              <a:gd name="adj" fmla="val 4167"/>
            </a:avLst>
          </a:prstGeom>
          <a:solidFill>
            <a:srgbClr val="EAF0F8"/>
          </a:solidFill>
          <a:ln/>
          <a:effectLst>
            <a:outerShdw sx="100000" sy="100000" kx="0" ky="0" algn="bl" rotWithShape="0" blurRad="50800" dist="12700" dir="16200000">
              <a:srgbClr val="1F2A44">
                <a:alpha val="12000"/>
              </a:srgbClr>
            </a:outerShdw>
          </a:effectLst>
        </p:spPr>
      </p:sp>
      <p:sp>
        <p:nvSpPr>
          <p:cNvPr id="20" name="Text 16"/>
          <p:cNvSpPr/>
          <p:nvPr/>
        </p:nvSpPr>
        <p:spPr>
          <a:xfrm>
            <a:off x="6583680" y="4553712"/>
            <a:ext cx="5166360" cy="292608"/>
          </a:xfrm>
          <a:prstGeom prst="rect">
            <a:avLst/>
          </a:prstGeom>
          <a:noFill/>
          <a:ln/>
        </p:spPr>
        <p:txBody>
          <a:bodyPr wrap="square" lIns="0" tIns="0" rIns="0" bIns="0" rtlCol="0" anchor="ctr"/>
          <a:lstStyle/>
          <a:p>
            <a:pPr indent="0" marL="0">
              <a:buNone/>
            </a:pPr>
            <a:r>
              <a:rPr lang="en-US" sz="1600" b="1" dirty="0">
                <a:solidFill>
                  <a:srgbClr val="2F5597"/>
                </a:solidFill>
                <a:latin typeface="Calibri" pitchFamily="34" charset="0"/>
                <a:ea typeface="Calibri" pitchFamily="34" charset="-122"/>
                <a:cs typeface="Calibri" pitchFamily="34" charset="-120"/>
              </a:rPr>
              <a:t>Evaluation objectives</a:t>
            </a:r>
            <a:endParaRPr lang="en-US" sz="1600" dirty="0"/>
          </a:p>
        </p:txBody>
      </p:sp>
      <p:sp>
        <p:nvSpPr>
          <p:cNvPr id="21" name="Text 17"/>
          <p:cNvSpPr/>
          <p:nvPr/>
        </p:nvSpPr>
        <p:spPr>
          <a:xfrm>
            <a:off x="6583680" y="4864608"/>
            <a:ext cx="5166360" cy="384048"/>
          </a:xfrm>
          <a:prstGeom prst="rect">
            <a:avLst/>
          </a:prstGeom>
          <a:noFill/>
          <a:ln/>
        </p:spPr>
        <p:txBody>
          <a:bodyPr wrap="square" lIns="0" tIns="0" rIns="0" bIns="0" rtlCol="0" anchor="ctr"/>
          <a:lstStyle/>
          <a:p>
            <a:pPr indent="0" marL="0">
              <a:buNone/>
            </a:pPr>
            <a:r>
              <a:rPr lang="en-US" sz="1500" dirty="0">
                <a:solidFill>
                  <a:srgbClr val="1F2A44"/>
                </a:solidFill>
                <a:latin typeface="Calibri" pitchFamily="34" charset="0"/>
                <a:ea typeface="Calibri" pitchFamily="34" charset="-122"/>
                <a:cs typeface="Calibri" pitchFamily="34" charset="-120"/>
              </a:rPr>
              <a:t>Target discovery Dt     Belief decisiveness Ct     Speed T80</a:t>
            </a:r>
            <a:endParaRPr lang="en-US" sz="1500" dirty="0"/>
          </a:p>
        </p:txBody>
      </p:sp>
      <p:sp>
        <p:nvSpPr>
          <p:cNvPr id="22" name="Text 18"/>
          <p:cNvSpPr/>
          <p:nvPr/>
        </p:nvSpPr>
        <p:spPr>
          <a:xfrm>
            <a:off x="6583680" y="5303520"/>
            <a:ext cx="5166360" cy="640080"/>
          </a:xfrm>
          <a:prstGeom prst="rect">
            <a:avLst/>
          </a:prstGeom>
          <a:noFill/>
          <a:ln/>
        </p:spPr>
        <p:txBody>
          <a:bodyPr wrap="square" lIns="0" tIns="0" rIns="0" bIns="0" rtlCol="0" anchor="ctr"/>
          <a:lstStyle/>
          <a:p>
            <a:pPr indent="0" marL="0">
              <a:buNone/>
            </a:pPr>
            <a:r>
              <a:rPr lang="en-US" sz="1600" b="1" dirty="0">
                <a:solidFill>
                  <a:srgbClr val="1E3F73"/>
                </a:solidFill>
                <a:latin typeface="Calibri" pitchFamily="34" charset="0"/>
                <a:ea typeface="Calibri" pitchFamily="34" charset="-122"/>
                <a:cs typeface="Calibri" pitchFamily="34" charset="-120"/>
              </a:rPr>
              <a:t>Higher Dt, Ct  →  better     ·     Lower T80  →  faster</a:t>
            </a:r>
            <a:endParaRPr lang="en-US" sz="1600" dirty="0"/>
          </a:p>
        </p:txBody>
      </p:sp>
      <p:sp>
        <p:nvSpPr>
          <p:cNvPr id="23" name="Text 19"/>
          <p:cNvSpPr/>
          <p:nvPr/>
        </p:nvSpPr>
        <p:spPr>
          <a:xfrm>
            <a:off x="11475720" y="6510528"/>
            <a:ext cx="502920" cy="256032"/>
          </a:xfrm>
          <a:prstGeom prst="rect">
            <a:avLst/>
          </a:prstGeom>
          <a:noFill/>
          <a:ln/>
        </p:spPr>
        <p:txBody>
          <a:bodyPr wrap="square" lIns="0" tIns="0" rIns="0" bIns="0" rtlCol="0" anchor="ctr"/>
          <a:lstStyle/>
          <a:p>
            <a:pPr algn="r" indent="0" marL="0">
              <a:buNone/>
            </a:pPr>
            <a:r>
              <a:rPr lang="en-US" sz="1200" dirty="0">
                <a:solidFill>
                  <a:srgbClr val="2F5597"/>
                </a:solidFill>
                <a:latin typeface="Calibri" pitchFamily="34" charset="0"/>
                <a:ea typeface="Calibri" pitchFamily="34" charset="-122"/>
                <a:cs typeface="Calibri"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tmp/ppt-work/assets/hust.png">    </p:cNvPr>
          <p:cNvPicPr>
            <a:picLocks noChangeAspect="1"/>
          </p:cNvPicPr>
          <p:nvPr/>
        </p:nvPicPr>
        <p:blipFill>
          <a:blip r:embed="rId1"/>
          <a:stretch>
            <a:fillRect/>
          </a:stretch>
        </p:blipFill>
        <p:spPr>
          <a:xfrm>
            <a:off x="11337578" y="54864"/>
            <a:ext cx="715196" cy="493776"/>
          </a:xfrm>
          <a:prstGeom prst="rect">
            <a:avLst/>
          </a:prstGeom>
        </p:spPr>
      </p:pic>
      <p:sp>
        <p:nvSpPr>
          <p:cNvPr id="3" name="Text 0"/>
          <p:cNvSpPr/>
          <p:nvPr/>
        </p:nvSpPr>
        <p:spPr>
          <a:xfrm>
            <a:off x="347472" y="73152"/>
            <a:ext cx="10698480" cy="438912"/>
          </a:xfrm>
          <a:prstGeom prst="rect">
            <a:avLst/>
          </a:prstGeom>
          <a:noFill/>
          <a:ln/>
        </p:spPr>
        <p:txBody>
          <a:bodyPr wrap="square" lIns="0" tIns="0" rIns="0" bIns="0" rtlCol="0" anchor="ctr"/>
          <a:lstStyle/>
          <a:p>
            <a:pPr indent="0" marL="0">
              <a:buNone/>
            </a:pPr>
            <a:r>
              <a:rPr lang="en-US" sz="2600" b="1" dirty="0">
                <a:solidFill>
                  <a:srgbClr val="2F5597"/>
                </a:solidFill>
                <a:latin typeface="Calibri" pitchFamily="34" charset="0"/>
                <a:ea typeface="Calibri" pitchFamily="34" charset="-122"/>
                <a:cs typeface="Calibri" pitchFamily="34" charset="-120"/>
              </a:rPr>
              <a:t>2. Proposed IC-HGAT-MAPPO</a:t>
            </a:r>
            <a:endParaRPr lang="en-US" sz="2600" dirty="0"/>
          </a:p>
        </p:txBody>
      </p:sp>
      <p:sp>
        <p:nvSpPr>
          <p:cNvPr id="4" name="Shape 1"/>
          <p:cNvSpPr/>
          <p:nvPr/>
        </p:nvSpPr>
        <p:spPr>
          <a:xfrm>
            <a:off x="0" y="566928"/>
            <a:ext cx="12191695" cy="475488"/>
          </a:xfrm>
          <a:prstGeom prst="rect">
            <a:avLst/>
          </a:prstGeom>
          <a:solidFill>
            <a:srgbClr val="2F5597"/>
          </a:solidFill>
          <a:ln/>
        </p:spPr>
      </p:sp>
      <p:sp>
        <p:nvSpPr>
          <p:cNvPr id="5" name="Text 2"/>
          <p:cNvSpPr/>
          <p:nvPr/>
        </p:nvSpPr>
        <p:spPr>
          <a:xfrm>
            <a:off x="347472" y="585216"/>
            <a:ext cx="11430000" cy="43891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2.2 IC-HGAT-MAPPO Framework</a:t>
            </a:r>
            <a:endParaRPr lang="en-US" sz="2000" dirty="0"/>
          </a:p>
        </p:txBody>
      </p:sp>
      <p:pic>
        <p:nvPicPr>
          <p:cNvPr id="6" name="Image 1" descr="/tmp/ppt-work/assets/framework.png">    </p:cNvPr>
          <p:cNvPicPr>
            <a:picLocks noChangeAspect="1"/>
          </p:cNvPicPr>
          <p:nvPr/>
        </p:nvPicPr>
        <p:blipFill>
          <a:blip r:embed="rId2"/>
          <a:stretch>
            <a:fillRect/>
          </a:stretch>
        </p:blipFill>
        <p:spPr>
          <a:xfrm>
            <a:off x="1145612" y="1152144"/>
            <a:ext cx="9916017" cy="3383280"/>
          </a:xfrm>
          <a:prstGeom prst="rect">
            <a:avLst/>
          </a:prstGeom>
        </p:spPr>
      </p:pic>
      <p:sp>
        <p:nvSpPr>
          <p:cNvPr id="7" name="Shape 3"/>
          <p:cNvSpPr/>
          <p:nvPr/>
        </p:nvSpPr>
        <p:spPr>
          <a:xfrm>
            <a:off x="320040" y="4681728"/>
            <a:ext cx="3794760" cy="960120"/>
          </a:xfrm>
          <a:prstGeom prst="roundRect">
            <a:avLst>
              <a:gd name="adj" fmla="val 7619"/>
            </a:avLst>
          </a:prstGeom>
          <a:solidFill>
            <a:srgbClr val="EAF0F8"/>
          </a:solidFill>
          <a:ln/>
          <a:effectLst>
            <a:outerShdw sx="100000" sy="100000" kx="0" ky="0" algn="bl" rotWithShape="0" blurRad="50800" dist="12700" dir="16200000">
              <a:srgbClr val="1F2A44">
                <a:alpha val="12000"/>
              </a:srgbClr>
            </a:outerShdw>
          </a:effectLst>
        </p:spPr>
      </p:sp>
      <p:sp>
        <p:nvSpPr>
          <p:cNvPr id="8" name="Text 4"/>
          <p:cNvSpPr/>
          <p:nvPr/>
        </p:nvSpPr>
        <p:spPr>
          <a:xfrm>
            <a:off x="457200" y="4736592"/>
            <a:ext cx="3520440" cy="329184"/>
          </a:xfrm>
          <a:prstGeom prst="rect">
            <a:avLst/>
          </a:prstGeom>
          <a:noFill/>
          <a:ln/>
        </p:spPr>
        <p:txBody>
          <a:bodyPr wrap="square" lIns="0" tIns="0" rIns="0" bIns="0" rtlCol="0" anchor="ctr"/>
          <a:lstStyle/>
          <a:p>
            <a:pPr indent="0" marL="0">
              <a:buNone/>
            </a:pPr>
            <a:r>
              <a:rPr lang="en-US" sz="1600" b="1" dirty="0">
                <a:solidFill>
                  <a:srgbClr val="1E3F73"/>
                </a:solidFill>
                <a:latin typeface="Calibri" pitchFamily="34" charset="0"/>
                <a:ea typeface="Calibri" pitchFamily="34" charset="-122"/>
                <a:cs typeface="Calibri" pitchFamily="34" charset="-120"/>
              </a:rPr>
              <a:t>Decentralized</a:t>
            </a:r>
            <a:endParaRPr lang="en-US" sz="1600" dirty="0"/>
          </a:p>
        </p:txBody>
      </p:sp>
      <p:sp>
        <p:nvSpPr>
          <p:cNvPr id="9" name="Text 5"/>
          <p:cNvSpPr/>
          <p:nvPr/>
        </p:nvSpPr>
        <p:spPr>
          <a:xfrm>
            <a:off x="457200" y="5047488"/>
            <a:ext cx="3520440" cy="475488"/>
          </a:xfrm>
          <a:prstGeom prst="rect">
            <a:avLst/>
          </a:prstGeom>
          <a:noFill/>
          <a:ln/>
        </p:spPr>
        <p:txBody>
          <a:bodyPr wrap="square" lIns="0" tIns="0" rIns="0" bIns="0" rtlCol="0" anchor="ctr"/>
          <a:lstStyle/>
          <a:p>
            <a:pPr indent="0" marL="0">
              <a:buNone/>
            </a:pPr>
            <a:r>
              <a:rPr lang="en-US" sz="1400" dirty="0">
                <a:solidFill>
                  <a:srgbClr val="1F2A44"/>
                </a:solidFill>
                <a:latin typeface="Calibri" pitchFamily="34" charset="0"/>
                <a:ea typeface="Calibri" pitchFamily="34" charset="-122"/>
                <a:cs typeface="Calibri" pitchFamily="34" charset="-120"/>
              </a:rPr>
              <a:t>local + reachable information only</a:t>
            </a:r>
            <a:endParaRPr lang="en-US" sz="1400" dirty="0"/>
          </a:p>
        </p:txBody>
      </p:sp>
      <p:sp>
        <p:nvSpPr>
          <p:cNvPr id="10" name="Shape 6"/>
          <p:cNvSpPr/>
          <p:nvPr/>
        </p:nvSpPr>
        <p:spPr>
          <a:xfrm>
            <a:off x="4270248" y="4681728"/>
            <a:ext cx="3794760" cy="960120"/>
          </a:xfrm>
          <a:prstGeom prst="roundRect">
            <a:avLst>
              <a:gd name="adj" fmla="val 7619"/>
            </a:avLst>
          </a:prstGeom>
          <a:solidFill>
            <a:srgbClr val="FFF3E8"/>
          </a:solidFill>
          <a:ln/>
          <a:effectLst>
            <a:outerShdw sx="100000" sy="100000" kx="0" ky="0" algn="bl" rotWithShape="0" blurRad="50800" dist="12700" dir="16200000">
              <a:srgbClr val="1F2A44">
                <a:alpha val="12000"/>
              </a:srgbClr>
            </a:outerShdw>
          </a:effectLst>
        </p:spPr>
      </p:sp>
      <p:sp>
        <p:nvSpPr>
          <p:cNvPr id="11" name="Text 7"/>
          <p:cNvSpPr/>
          <p:nvPr/>
        </p:nvSpPr>
        <p:spPr>
          <a:xfrm>
            <a:off x="4407408" y="4736592"/>
            <a:ext cx="3520440" cy="329184"/>
          </a:xfrm>
          <a:prstGeom prst="rect">
            <a:avLst/>
          </a:prstGeom>
          <a:noFill/>
          <a:ln/>
        </p:spPr>
        <p:txBody>
          <a:bodyPr wrap="square" lIns="0" tIns="0" rIns="0" bIns="0" rtlCol="0" anchor="ctr"/>
          <a:lstStyle/>
          <a:p>
            <a:pPr indent="0" marL="0">
              <a:buNone/>
            </a:pPr>
            <a:r>
              <a:rPr lang="en-US" sz="1600" b="1" dirty="0">
                <a:solidFill>
                  <a:srgbClr val="1E3F73"/>
                </a:solidFill>
                <a:latin typeface="Calibri" pitchFamily="34" charset="0"/>
                <a:ea typeface="Calibri" pitchFamily="34" charset="-122"/>
                <a:cs typeface="Calibri" pitchFamily="34" charset="-120"/>
              </a:rPr>
              <a:t>Communication-aware</a:t>
            </a:r>
            <a:endParaRPr lang="en-US" sz="1600" dirty="0"/>
          </a:p>
        </p:txBody>
      </p:sp>
      <p:sp>
        <p:nvSpPr>
          <p:cNvPr id="12" name="Text 8"/>
          <p:cNvSpPr/>
          <p:nvPr/>
        </p:nvSpPr>
        <p:spPr>
          <a:xfrm>
            <a:off x="4407408" y="5047488"/>
            <a:ext cx="3520440" cy="475488"/>
          </a:xfrm>
          <a:prstGeom prst="rect">
            <a:avLst/>
          </a:prstGeom>
          <a:noFill/>
          <a:ln/>
        </p:spPr>
        <p:txBody>
          <a:bodyPr wrap="square" lIns="0" tIns="0" rIns="0" bIns="0" rtlCol="0" anchor="ctr"/>
          <a:lstStyle/>
          <a:p>
            <a:pPr indent="0" marL="0">
              <a:buNone/>
            </a:pPr>
            <a:r>
              <a:rPr lang="en-US" sz="1400" dirty="0">
                <a:solidFill>
                  <a:srgbClr val="1F2A44"/>
                </a:solidFill>
                <a:latin typeface="Calibri" pitchFamily="34" charset="0"/>
                <a:ea typeface="Calibri" pitchFamily="34" charset="-122"/>
                <a:cs typeface="Calibri" pitchFamily="34" charset="-120"/>
              </a:rPr>
              <a:t>instantaneous link masking</a:t>
            </a:r>
            <a:endParaRPr lang="en-US" sz="1400" dirty="0"/>
          </a:p>
        </p:txBody>
      </p:sp>
      <p:sp>
        <p:nvSpPr>
          <p:cNvPr id="13" name="Shape 9"/>
          <p:cNvSpPr/>
          <p:nvPr/>
        </p:nvSpPr>
        <p:spPr>
          <a:xfrm>
            <a:off x="8220456" y="4681728"/>
            <a:ext cx="3794760" cy="960120"/>
          </a:xfrm>
          <a:prstGeom prst="roundRect">
            <a:avLst>
              <a:gd name="adj" fmla="val 7619"/>
            </a:avLst>
          </a:prstGeom>
          <a:solidFill>
            <a:srgbClr val="EAF0F8"/>
          </a:solidFill>
          <a:ln/>
          <a:effectLst>
            <a:outerShdw sx="100000" sy="100000" kx="0" ky="0" algn="bl" rotWithShape="0" blurRad="50800" dist="12700" dir="16200000">
              <a:srgbClr val="1F2A44">
                <a:alpha val="12000"/>
              </a:srgbClr>
            </a:outerShdw>
          </a:effectLst>
        </p:spPr>
      </p:sp>
      <p:sp>
        <p:nvSpPr>
          <p:cNvPr id="14" name="Text 10"/>
          <p:cNvSpPr/>
          <p:nvPr/>
        </p:nvSpPr>
        <p:spPr>
          <a:xfrm>
            <a:off x="8357616" y="4736592"/>
            <a:ext cx="3520440" cy="329184"/>
          </a:xfrm>
          <a:prstGeom prst="rect">
            <a:avLst/>
          </a:prstGeom>
          <a:noFill/>
          <a:ln/>
        </p:spPr>
        <p:txBody>
          <a:bodyPr wrap="square" lIns="0" tIns="0" rIns="0" bIns="0" rtlCol="0" anchor="ctr"/>
          <a:lstStyle/>
          <a:p>
            <a:pPr indent="0" marL="0">
              <a:buNone/>
            </a:pPr>
            <a:r>
              <a:rPr lang="en-US" sz="1600" b="1" dirty="0">
                <a:solidFill>
                  <a:srgbClr val="1E3F73"/>
                </a:solidFill>
                <a:latin typeface="Calibri" pitchFamily="34" charset="0"/>
                <a:ea typeface="Calibri" pitchFamily="34" charset="-122"/>
                <a:cs typeface="Calibri" pitchFamily="34" charset="-120"/>
              </a:rPr>
              <a:t>CTDE</a:t>
            </a:r>
            <a:endParaRPr lang="en-US" sz="1600" dirty="0"/>
          </a:p>
        </p:txBody>
      </p:sp>
      <p:sp>
        <p:nvSpPr>
          <p:cNvPr id="15" name="Text 11"/>
          <p:cNvSpPr/>
          <p:nvPr/>
        </p:nvSpPr>
        <p:spPr>
          <a:xfrm>
            <a:off x="8357616" y="5047488"/>
            <a:ext cx="3520440" cy="475488"/>
          </a:xfrm>
          <a:prstGeom prst="rect">
            <a:avLst/>
          </a:prstGeom>
          <a:noFill/>
          <a:ln/>
        </p:spPr>
        <p:txBody>
          <a:bodyPr wrap="square" lIns="0" tIns="0" rIns="0" bIns="0" rtlCol="0" anchor="ctr"/>
          <a:lstStyle/>
          <a:p>
            <a:pPr indent="0" marL="0">
              <a:buNone/>
            </a:pPr>
            <a:r>
              <a:rPr lang="en-US" sz="1400" dirty="0">
                <a:solidFill>
                  <a:srgbClr val="1F2A44"/>
                </a:solidFill>
                <a:latin typeface="Calibri" pitchFamily="34" charset="0"/>
                <a:ea typeface="Calibri" pitchFamily="34" charset="-122"/>
                <a:cs typeface="Calibri" pitchFamily="34" charset="-120"/>
              </a:rPr>
              <a:t>global state only used during training</a:t>
            </a:r>
            <a:endParaRPr lang="en-US" sz="1400" dirty="0"/>
          </a:p>
        </p:txBody>
      </p:sp>
      <p:sp>
        <p:nvSpPr>
          <p:cNvPr id="16" name="Text 12"/>
          <p:cNvSpPr/>
          <p:nvPr/>
        </p:nvSpPr>
        <p:spPr>
          <a:xfrm>
            <a:off x="320040" y="5742432"/>
            <a:ext cx="11521440" cy="329184"/>
          </a:xfrm>
          <a:prstGeom prst="rect">
            <a:avLst/>
          </a:prstGeom>
          <a:noFill/>
          <a:ln/>
        </p:spPr>
        <p:txBody>
          <a:bodyPr wrap="square" lIns="0" tIns="0" rIns="0" bIns="0" rtlCol="0" anchor="ctr"/>
          <a:lstStyle/>
          <a:p>
            <a:pPr indent="0" marL="0">
              <a:buNone/>
            </a:pPr>
            <a:r>
              <a:rPr lang="en-US" sz="1400" i="1" dirty="0">
                <a:solidFill>
                  <a:srgbClr val="5A6A80"/>
                </a:solidFill>
                <a:latin typeface="Calibri" pitchFamily="34" charset="0"/>
                <a:ea typeface="Calibri" pitchFamily="34" charset="-122"/>
                <a:cs typeface="Calibri" pitchFamily="34" charset="-120"/>
              </a:rPr>
              <a:t>Safety projection is shared by all methods and is not a contribution.</a:t>
            </a:r>
            <a:endParaRPr lang="en-US" sz="1400" dirty="0"/>
          </a:p>
        </p:txBody>
      </p:sp>
      <p:sp>
        <p:nvSpPr>
          <p:cNvPr id="17" name="Text 13"/>
          <p:cNvSpPr/>
          <p:nvPr/>
        </p:nvSpPr>
        <p:spPr>
          <a:xfrm>
            <a:off x="11475720" y="6510528"/>
            <a:ext cx="502920" cy="256032"/>
          </a:xfrm>
          <a:prstGeom prst="rect">
            <a:avLst/>
          </a:prstGeom>
          <a:noFill/>
          <a:ln/>
        </p:spPr>
        <p:txBody>
          <a:bodyPr wrap="square" lIns="0" tIns="0" rIns="0" bIns="0" rtlCol="0" anchor="ctr"/>
          <a:lstStyle/>
          <a:p>
            <a:pPr algn="r" indent="0" marL="0">
              <a:buNone/>
            </a:pPr>
            <a:r>
              <a:rPr lang="en-US" sz="1200" dirty="0">
                <a:solidFill>
                  <a:srgbClr val="2F5597"/>
                </a:solidFill>
                <a:latin typeface="Calibri" pitchFamily="34" charset="0"/>
                <a:ea typeface="Calibri" pitchFamily="34" charset="-122"/>
                <a:cs typeface="Calibri"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tmp/ppt-work/assets/hust.png">    </p:cNvPr>
          <p:cNvPicPr>
            <a:picLocks noChangeAspect="1"/>
          </p:cNvPicPr>
          <p:nvPr/>
        </p:nvPicPr>
        <p:blipFill>
          <a:blip r:embed="rId1"/>
          <a:stretch>
            <a:fillRect/>
          </a:stretch>
        </p:blipFill>
        <p:spPr>
          <a:xfrm>
            <a:off x="11337578" y="54864"/>
            <a:ext cx="715196" cy="493776"/>
          </a:xfrm>
          <a:prstGeom prst="rect">
            <a:avLst/>
          </a:prstGeom>
        </p:spPr>
      </p:pic>
      <p:sp>
        <p:nvSpPr>
          <p:cNvPr id="3" name="Text 0"/>
          <p:cNvSpPr/>
          <p:nvPr/>
        </p:nvSpPr>
        <p:spPr>
          <a:xfrm>
            <a:off x="347472" y="73152"/>
            <a:ext cx="10698480" cy="438912"/>
          </a:xfrm>
          <a:prstGeom prst="rect">
            <a:avLst/>
          </a:prstGeom>
          <a:noFill/>
          <a:ln/>
        </p:spPr>
        <p:txBody>
          <a:bodyPr wrap="square" lIns="0" tIns="0" rIns="0" bIns="0" rtlCol="0" anchor="ctr"/>
          <a:lstStyle/>
          <a:p>
            <a:pPr indent="0" marL="0">
              <a:buNone/>
            </a:pPr>
            <a:r>
              <a:rPr lang="en-US" sz="2600" b="1" dirty="0">
                <a:solidFill>
                  <a:srgbClr val="2F5597"/>
                </a:solidFill>
                <a:latin typeface="Calibri" pitchFamily="34" charset="0"/>
                <a:ea typeface="Calibri" pitchFamily="34" charset="-122"/>
                <a:cs typeface="Calibri" pitchFamily="34" charset="-120"/>
              </a:rPr>
              <a:t>2. Proposed IC-HGAT-MAPPO</a:t>
            </a:r>
            <a:endParaRPr lang="en-US" sz="2600" dirty="0"/>
          </a:p>
        </p:txBody>
      </p:sp>
      <p:sp>
        <p:nvSpPr>
          <p:cNvPr id="4" name="Shape 1"/>
          <p:cNvSpPr/>
          <p:nvPr/>
        </p:nvSpPr>
        <p:spPr>
          <a:xfrm>
            <a:off x="0" y="566928"/>
            <a:ext cx="12191695" cy="475488"/>
          </a:xfrm>
          <a:prstGeom prst="rect">
            <a:avLst/>
          </a:prstGeom>
          <a:solidFill>
            <a:srgbClr val="2F5597"/>
          </a:solidFill>
          <a:ln/>
        </p:spPr>
      </p:sp>
      <p:sp>
        <p:nvSpPr>
          <p:cNvPr id="5" name="Text 2"/>
          <p:cNvSpPr/>
          <p:nvPr/>
        </p:nvSpPr>
        <p:spPr>
          <a:xfrm>
            <a:off x="347472" y="585216"/>
            <a:ext cx="11430000" cy="43891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2.3 Local Belief Maintenance and Information Selection</a:t>
            </a:r>
            <a:endParaRPr lang="en-US" sz="2000" dirty="0"/>
          </a:p>
        </p:txBody>
      </p:sp>
      <p:sp>
        <p:nvSpPr>
          <p:cNvPr id="6" name="Shape 3"/>
          <p:cNvSpPr/>
          <p:nvPr/>
        </p:nvSpPr>
        <p:spPr>
          <a:xfrm>
            <a:off x="256032" y="1097280"/>
            <a:ext cx="5897880" cy="5074920"/>
          </a:xfrm>
          <a:prstGeom prst="roundRect">
            <a:avLst>
              <a:gd name="adj" fmla="val 1441"/>
            </a:avLst>
          </a:prstGeom>
          <a:solidFill>
            <a:srgbClr val="FFFFFF"/>
          </a:solidFill>
          <a:ln/>
          <a:effectLst>
            <a:outerShdw sx="100000" sy="100000" kx="0" ky="0" algn="bl" rotWithShape="0" blurRad="50800" dist="12700" dir="16200000">
              <a:srgbClr val="1F2A44">
                <a:alpha val="12000"/>
              </a:srgbClr>
            </a:outerShdw>
          </a:effectLst>
        </p:spPr>
      </p:sp>
      <p:sp>
        <p:nvSpPr>
          <p:cNvPr id="7" name="Text 4"/>
          <p:cNvSpPr/>
          <p:nvPr/>
        </p:nvSpPr>
        <p:spPr>
          <a:xfrm>
            <a:off x="384048" y="1170432"/>
            <a:ext cx="5623560" cy="384048"/>
          </a:xfrm>
          <a:prstGeom prst="rect">
            <a:avLst/>
          </a:prstGeom>
          <a:noFill/>
          <a:ln/>
        </p:spPr>
        <p:txBody>
          <a:bodyPr wrap="square" lIns="0" tIns="0" rIns="0" bIns="0" rtlCol="0" anchor="ctr"/>
          <a:lstStyle/>
          <a:p>
            <a:pPr indent="0" marL="0">
              <a:buNone/>
            </a:pPr>
            <a:r>
              <a:rPr lang="en-US" sz="1800" b="1" dirty="0">
                <a:solidFill>
                  <a:srgbClr val="2F5597"/>
                </a:solidFill>
                <a:latin typeface="Calibri" pitchFamily="34" charset="0"/>
                <a:ea typeface="Calibri" pitchFamily="34" charset="-122"/>
                <a:cs typeface="Calibri" pitchFamily="34" charset="-120"/>
              </a:rPr>
              <a:t>Revisit-Aware P/E/R Memory</a:t>
            </a:r>
            <a:endParaRPr lang="en-US" sz="1800" dirty="0"/>
          </a:p>
        </p:txBody>
      </p:sp>
      <p:pic>
        <p:nvPicPr>
          <p:cNvPr id="8" name="Image 1" descr="/tmp/ppt-work/assets/per_maps.png">    </p:cNvPr>
          <p:cNvPicPr>
            <a:picLocks noChangeAspect="1"/>
          </p:cNvPicPr>
          <p:nvPr/>
        </p:nvPicPr>
        <p:blipFill>
          <a:blip r:embed="rId2"/>
          <a:stretch>
            <a:fillRect/>
          </a:stretch>
        </p:blipFill>
        <p:spPr>
          <a:xfrm>
            <a:off x="513808" y="1572768"/>
            <a:ext cx="5373185" cy="1874520"/>
          </a:xfrm>
          <a:prstGeom prst="rect">
            <a:avLst/>
          </a:prstGeom>
        </p:spPr>
      </p:pic>
      <p:sp>
        <p:nvSpPr>
          <p:cNvPr id="9" name="Text 5"/>
          <p:cNvSpPr/>
          <p:nvPr/>
        </p:nvSpPr>
        <p:spPr>
          <a:xfrm>
            <a:off x="365760" y="3474720"/>
            <a:ext cx="5623560" cy="658368"/>
          </a:xfrm>
          <a:prstGeom prst="rect">
            <a:avLst/>
          </a:prstGeom>
          <a:noFill/>
          <a:ln/>
        </p:spPr>
        <p:txBody>
          <a:bodyPr wrap="square" lIns="0" tIns="0" rIns="0" bIns="0" rtlCol="0" anchor="ctr"/>
          <a:lstStyle/>
          <a:p>
            <a:pPr algn="ctr" indent="0" marL="0">
              <a:buNone/>
            </a:pPr>
            <m:oMathPara xmlns:m="http://schemas.openxmlformats.org/officeDocument/2006/math">
              <m:oMathParaPr>
                <m:jc m:val="center"/>
              </m:oMathParaPr>
              <m:oMath>
                <m:sSub>
                  <m:e>
                    <m:r>
                      <m:rPr>
                        <m:sty m:val="i"/>
                      </m:rPr>
                      <m:t>P</m:t>
                    </m:r>
                  </m:e>
                  <m:sub>
                    <m:r>
                      <m:rPr>
                        <m:sty m:val="i"/>
                      </m:rPr>
                      <m:t>i</m:t>
                    </m:r>
                    <m:r>
                      <m:rPr>
                        <m:sty m:val="p"/>
                      </m:rPr>
                      <m:t>,</m:t>
                    </m:r>
                    <m:r>
                      <m:rPr>
                        <m:sty m:val="i"/>
                      </m:rPr>
                      <m:t>t</m:t>
                    </m:r>
                  </m:sub>
                </m:sSub>
                <m:r>
                  <m:rPr>
                    <m:sty m:val="p"/>
                  </m:rPr>
                  <m:t>(x)</m:t>
                </m:r>
                <m:r>
                  <m:rPr>
                    <m:sty m:val="p"/>
                  </m:rPr>
                  <m:t xml:space="preserve"> = </m:t>
                </m:r>
                <m:f>
                  <m:fPr/>
                  <m:num>
                    <m:r>
                      <m:rPr>
                        <m:sty m:val="p"/>
                      </m:rPr>
                      <m:t>1</m:t>
                    </m:r>
                  </m:num>
                  <m:den>
                    <m:r>
                      <m:rPr>
                        <m:sty m:val="p"/>
                      </m:rPr>
                      <m:t>1</m:t>
                    </m:r>
                    <m:r>
                      <m:rPr>
                        <m:sty m:val="p"/>
                      </m:rPr>
                      <m:t xml:space="preserve"> + </m:t>
                    </m:r>
                    <m:func>
                      <m:funcPr/>
                      <m:fName>
                        <m:e>
                          <m:r>
                            <m:rPr>
                              <m:sty m:val="p"/>
                            </m:rPr>
                            <m:t>exp</m:t>
                          </m:r>
                        </m:e>
                      </m:fName>
                      <m:e>
                        <m:r>
                          <m:rPr>
                            <m:sty m:val="p"/>
                          </m:rPr>
                          <m:t>−</m:t>
                        </m:r>
                        <m:sSub>
                          <m:e>
                            <m:r>
                              <m:rPr>
                                <m:sty m:val="i"/>
                              </m:rPr>
                              <m:t>L</m:t>
                            </m:r>
                          </m:e>
                          <m:sub>
                            <m:r>
                              <m:rPr>
                                <m:sty m:val="i"/>
                              </m:rPr>
                              <m:t>i</m:t>
                            </m:r>
                            <m:r>
                              <m:rPr>
                                <m:sty m:val="p"/>
                              </m:rPr>
                              <m:t>,</m:t>
                            </m:r>
                            <m:r>
                              <m:rPr>
                                <m:sty m:val="i"/>
                              </m:rPr>
                              <m:t>t</m:t>
                            </m:r>
                          </m:sub>
                        </m:sSub>
                        <m:r>
                          <m:rPr>
                            <m:sty m:val="p"/>
                          </m:rPr>
                          <m:t>(x)</m:t>
                        </m:r>
                      </m:e>
                    </m:func>
                  </m:den>
                </m:f>
              </m:oMath>
            </m:oMathPara>
          </a:p>
        </p:txBody>
      </p:sp>
      <p:sp>
        <p:nvSpPr>
          <p:cNvPr id="10" name="Text 6"/>
          <p:cNvSpPr/>
          <p:nvPr/>
        </p:nvSpPr>
        <p:spPr>
          <a:xfrm>
            <a:off x="457200" y="4151376"/>
            <a:ext cx="5532120" cy="365760"/>
          </a:xfrm>
          <a:prstGeom prst="rect">
            <a:avLst/>
          </a:prstGeom>
          <a:noFill/>
          <a:ln/>
        </p:spPr>
        <p:txBody>
          <a:bodyPr wrap="square" lIns="0" tIns="0" rIns="0" bIns="0" rtlCol="0" anchor="ctr"/>
          <a:lstStyle/>
          <a:p>
            <a:pPr indent="0" marL="0">
              <a:buNone/>
            </a:pPr>
            <a:r>
              <a:rPr lang="en-US" sz="1700" dirty="0">
                <a:solidFill>
                  <a:srgbClr val="1F2A44"/>
                </a:solidFill>
                <a:latin typeface="Calibri" pitchFamily="34" charset="0"/>
                <a:ea typeface="Calibri" pitchFamily="34" charset="-122"/>
                <a:cs typeface="Calibri" pitchFamily="34" charset="-120"/>
              </a:rPr>
              <a:t>R  ←  aging  +  spatial diffusion</a:t>
            </a:r>
            <a:endParaRPr lang="en-US" sz="1700" dirty="0"/>
          </a:p>
        </p:txBody>
      </p:sp>
      <p:sp>
        <p:nvSpPr>
          <p:cNvPr id="11" name="Text 7"/>
          <p:cNvSpPr/>
          <p:nvPr/>
        </p:nvSpPr>
        <p:spPr>
          <a:xfrm>
            <a:off x="457200" y="4553712"/>
            <a:ext cx="5532120" cy="1325880"/>
          </a:xfrm>
          <a:prstGeom prst="rect">
            <a:avLst/>
          </a:prstGeom>
          <a:noFill/>
          <a:ln/>
        </p:spPr>
        <p:txBody>
          <a:bodyPr wrap="square" lIns="0" tIns="0" rIns="0" bIns="0" rtlCol="0" anchor="ctr"/>
          <a:lstStyle/>
          <a:p>
            <a:pPr indent="0" marL="0">
              <a:buNone/>
            </a:pPr>
            <a:r>
              <a:rPr lang="en-US" sz="1600" dirty="0">
                <a:solidFill>
                  <a:srgbClr val="5A6A80"/>
                </a:solidFill>
                <a:latin typeface="Calibri" pitchFamily="34" charset="0"/>
                <a:ea typeface="Calibri" pitchFamily="34" charset="-122"/>
                <a:cs typeface="Calibri" pitchFamily="34" charset="-120"/>
              </a:rPr>
              <a:t>sensed cells  →  reset to 0</a:t>
            </a:r>
            <a:endParaRPr lang="en-US" sz="1600" dirty="0"/>
          </a:p>
          <a:p>
            <a:pPr indent="0" marL="0">
              <a:buNone/>
            </a:pPr>
            <a:r>
              <a:rPr lang="en-US" sz="1600" dirty="0">
                <a:solidFill>
                  <a:srgbClr val="5A6A80"/>
                </a:solidFill>
                <a:latin typeface="Calibri" pitchFamily="34" charset="0"/>
                <a:ea typeface="Calibri" pitchFamily="34" charset="-122"/>
                <a:cs typeface="Calibri" pitchFamily="34" charset="-120"/>
              </a:rPr>
              <a:t>unsensed cells  →  gradually become stale</a:t>
            </a:r>
            <a:endParaRPr lang="en-US" sz="1600" dirty="0"/>
          </a:p>
        </p:txBody>
      </p:sp>
      <p:sp>
        <p:nvSpPr>
          <p:cNvPr id="12" name="Shape 8"/>
          <p:cNvSpPr/>
          <p:nvPr/>
        </p:nvSpPr>
        <p:spPr>
          <a:xfrm>
            <a:off x="6309360" y="1097280"/>
            <a:ext cx="5596128" cy="5074920"/>
          </a:xfrm>
          <a:prstGeom prst="roundRect">
            <a:avLst>
              <a:gd name="adj" fmla="val 1441"/>
            </a:avLst>
          </a:prstGeom>
          <a:solidFill>
            <a:srgbClr val="FFFFFF"/>
          </a:solidFill>
          <a:ln/>
          <a:effectLst>
            <a:outerShdw sx="100000" sy="100000" kx="0" ky="0" algn="bl" rotWithShape="0" blurRad="50800" dist="12700" dir="16200000">
              <a:srgbClr val="1F2A44">
                <a:alpha val="12000"/>
              </a:srgbClr>
            </a:outerShdw>
          </a:effectLst>
        </p:spPr>
      </p:sp>
      <p:sp>
        <p:nvSpPr>
          <p:cNvPr id="13" name="Text 9"/>
          <p:cNvSpPr/>
          <p:nvPr/>
        </p:nvSpPr>
        <p:spPr>
          <a:xfrm>
            <a:off x="6446520" y="1170432"/>
            <a:ext cx="5321808" cy="438912"/>
          </a:xfrm>
          <a:prstGeom prst="rect">
            <a:avLst/>
          </a:prstGeom>
          <a:noFill/>
          <a:ln/>
        </p:spPr>
        <p:txBody>
          <a:bodyPr wrap="square" lIns="0" tIns="0" rIns="0" bIns="0" rtlCol="0" anchor="ctr"/>
          <a:lstStyle/>
          <a:p>
            <a:pPr indent="0" marL="0">
              <a:buNone/>
            </a:pPr>
            <a:r>
              <a:rPr lang="en-US" sz="1600" b="1" dirty="0">
                <a:solidFill>
                  <a:srgbClr val="ED7D31"/>
                </a:solidFill>
                <a:latin typeface="Calibri" pitchFamily="34" charset="0"/>
                <a:ea typeface="Calibri" pitchFamily="34" charset="-122"/>
                <a:cs typeface="Calibri" pitchFamily="34" charset="-120"/>
              </a:rPr>
              <a:t>Communication-History-Aware Source Selection</a:t>
            </a:r>
            <a:endParaRPr lang="en-US" sz="1600" dirty="0"/>
          </a:p>
        </p:txBody>
      </p:sp>
      <p:pic>
        <p:nvPicPr>
          <p:cNvPr id="14" name="Image 2" descr="/tmp/ppt-work/assets/source.png">    </p:cNvPr>
          <p:cNvPicPr>
            <a:picLocks noChangeAspect="1"/>
          </p:cNvPicPr>
          <p:nvPr/>
        </p:nvPicPr>
        <p:blipFill>
          <a:blip r:embed="rId3"/>
          <a:stretch>
            <a:fillRect/>
          </a:stretch>
        </p:blipFill>
        <p:spPr>
          <a:xfrm>
            <a:off x="7244739" y="1627632"/>
            <a:ext cx="3707081" cy="2011680"/>
          </a:xfrm>
          <a:prstGeom prst="rect">
            <a:avLst/>
          </a:prstGeom>
        </p:spPr>
      </p:pic>
      <p:sp>
        <p:nvSpPr>
          <p:cNvPr id="15" name="Text 10"/>
          <p:cNvSpPr/>
          <p:nvPr/>
        </p:nvSpPr>
        <p:spPr>
          <a:xfrm>
            <a:off x="6400800" y="3675888"/>
            <a:ext cx="5349240" cy="530352"/>
          </a:xfrm>
          <a:prstGeom prst="rect">
            <a:avLst/>
          </a:prstGeom>
          <a:noFill/>
          <a:ln/>
        </p:spPr>
        <p:txBody>
          <a:bodyPr wrap="square" lIns="0" tIns="0" rIns="0" bIns="0" rtlCol="0" anchor="ctr"/>
          <a:lstStyle/>
          <a:p>
            <a:pPr algn="ctr" indent="0" marL="0">
              <a:buNone/>
            </a:pPr>
            <m:oMathPara xmlns:m="http://schemas.openxmlformats.org/officeDocument/2006/math">
              <m:oMathParaPr>
                <m:jc m:val="center"/>
              </m:oMathParaPr>
              <m:oMath>
                <m:sSub>
                  <m:e>
                    <m:r>
                      <m:rPr>
                        <m:sty m:val="i"/>
                      </m:rPr>
                      <m:t>w</m:t>
                    </m:r>
                  </m:e>
                  <m:sub>
                    <m:r>
                      <m:rPr>
                        <m:sty m:val="i"/>
                      </m:rPr>
                      <m:t>i</m:t>
                    </m:r>
                    <m:r>
                      <m:rPr>
                        <m:sty m:val="p"/>
                      </m:rPr>
                      <m:t>,</m:t>
                    </m:r>
                    <m:r>
                      <m:rPr>
                        <m:sty m:val="i"/>
                      </m:rPr>
                      <m:t>j</m:t>
                    </m:r>
                    <m:r>
                      <m:rPr>
                        <m:sty m:val="p"/>
                      </m:rPr>
                      <m:t>,</m:t>
                    </m:r>
                    <m:r>
                      <m:rPr>
                        <m:sty m:val="i"/>
                      </m:rPr>
                      <m:t>t</m:t>
                    </m:r>
                  </m:sub>
                </m:sSub>
                <m:r>
                  <m:rPr>
                    <m:sty m:val="p"/>
                  </m:rPr>
                  <m:t xml:space="preserve"> = </m:t>
                </m:r>
                <m:f>
                  <m:fPr/>
                  <m:num>
                    <m:sSup>
                      <m:e>
                        <m:r>
                          <m:rPr>
                            <m:sty m:val="i"/>
                          </m:rPr>
                          <m:t>e</m:t>
                        </m:r>
                      </m:e>
                      <m:sup>
                        <m:r>
                          <m:rPr>
                            <m:sty m:val="p"/>
                          </m:rPr>
                          <m:t>−</m:t>
                        </m:r>
                        <m:sSub>
                          <m:e>
                            <m:r>
                              <m:rPr>
                                <m:sty m:val="i"/>
                              </m:rPr>
                              <m:t>β</m:t>
                            </m:r>
                          </m:e>
                          <m:sub>
                            <m:r>
                              <m:rPr>
                                <m:sty m:val="i"/>
                              </m:rPr>
                              <m:t>d</m:t>
                            </m:r>
                          </m:sub>
                        </m:sSub>
                        <m:r>
                          <m:rPr>
                            <m:sty m:val="p"/>
                          </m:rPr>
                          <m:t>∥</m:t>
                        </m:r>
                        <m:sSub>
                          <m:e>
                            <m:r>
                              <m:rPr>
                                <m:sty m:val="i"/>
                              </m:rPr>
                              <m:t>p</m:t>
                            </m:r>
                          </m:e>
                          <m:sub>
                            <m:r>
                              <m:rPr>
                                <m:sty m:val="i"/>
                              </m:rPr>
                              <m:t>i</m:t>
                            </m:r>
                          </m:sub>
                        </m:sSub>
                        <m:r>
                          <m:rPr>
                            <m:sty m:val="p"/>
                          </m:rPr>
                          <m:t xml:space="preserve"> − </m:t>
                        </m:r>
                        <m:sSub>
                          <m:e>
                            <m:r>
                              <m:rPr>
                                <m:sty m:val="i"/>
                              </m:rPr>
                              <m:t>p</m:t>
                            </m:r>
                          </m:e>
                          <m:sub>
                            <m:r>
                              <m:rPr>
                                <m:sty m:val="i"/>
                              </m:rPr>
                              <m:t>j</m:t>
                            </m:r>
                          </m:sub>
                        </m:sSub>
                        <m:r>
                          <m:rPr>
                            <m:sty m:val="p"/>
                          </m:rPr>
                          <m:t>∥</m:t>
                        </m:r>
                      </m:sup>
                    </m:sSup>
                  </m:num>
                  <m:den>
                    <m:r>
                      <m:rPr>
                        <m:sty m:val="p"/>
                      </m:rPr>
                      <m:t>1</m:t>
                    </m:r>
                    <m:r>
                      <m:rPr>
                        <m:sty m:val="p"/>
                      </m:rPr>
                      <m:t xml:space="preserve"> + </m:t>
                    </m:r>
                    <m:sSub>
                      <m:e>
                        <m:r>
                          <m:rPr>
                            <m:sty m:val="i"/>
                          </m:rPr>
                          <m:t>g</m:t>
                        </m:r>
                      </m:e>
                      <m:sub>
                        <m:r>
                          <m:rPr>
                            <m:sty m:val="i"/>
                          </m:rPr>
                          <m:t>j</m:t>
                        </m:r>
                        <m:r>
                          <m:rPr>
                            <m:sty m:val="p"/>
                          </m:rPr>
                          <m:t>,</m:t>
                        </m:r>
                        <m:r>
                          <m:rPr>
                            <m:sty m:val="i"/>
                          </m:rPr>
                          <m:t>t</m:t>
                        </m:r>
                      </m:sub>
                    </m:sSub>
                  </m:den>
                </m:f>
              </m:oMath>
            </m:oMathPara>
          </a:p>
        </p:txBody>
      </p:sp>
      <p:sp>
        <p:nvSpPr>
          <p:cNvPr id="16" name="Text 11"/>
          <p:cNvSpPr/>
          <p:nvPr/>
        </p:nvSpPr>
        <p:spPr>
          <a:xfrm>
            <a:off x="6400800" y="4187952"/>
            <a:ext cx="5349240" cy="502920"/>
          </a:xfrm>
          <a:prstGeom prst="rect">
            <a:avLst/>
          </a:prstGeom>
          <a:noFill/>
          <a:ln/>
        </p:spPr>
        <p:txBody>
          <a:bodyPr wrap="square" lIns="0" tIns="0" rIns="0" bIns="0" rtlCol="0" anchor="ctr"/>
          <a:lstStyle/>
          <a:p>
            <a:pPr algn="ctr" indent="0" marL="0">
              <a:buNone/>
            </a:pPr>
            <m:oMathPara xmlns:m="http://schemas.openxmlformats.org/officeDocument/2006/math">
              <m:oMathParaPr>
                <m:jc m:val="center"/>
              </m:oMathParaPr>
              <m:oMath>
                <m:sSup>
                  <m:e>
                    <m:r>
                      <m:rPr>
                        <m:sty m:val="i"/>
                      </m:rPr>
                      <m:t>j</m:t>
                    </m:r>
                  </m:e>
                  <m:sup>
                    <m:r>
                      <m:rPr>
                        <m:sty m:val="p"/>
                      </m:rPr>
                      <m:t>⋆</m:t>
                    </m:r>
                  </m:sup>
                </m:sSup>
                <m:r>
                  <m:rPr>
                    <m:sty m:val="p"/>
                  </m:rPr>
                  <m:t xml:space="preserve"> = </m:t>
                </m:r>
                <m:r>
                  <m:rPr>
                    <m:sty m:val="p"/>
                  </m:rPr>
                  <m:t>arg</m:t>
                </m:r>
                <m:r>
                  <m:rPr>
                    <m:sty m:val="p"/>
                  </m:rPr>
                  <m:t xml:space="preserve"> max</m:t>
                </m:r>
                <m:sSub>
                  <m:e>
                    <m:r>
                      <m:rPr>
                        <m:sty m:val="i"/>
                      </m:rPr>
                      <m:t/>
                    </m:r>
                  </m:e>
                  <m:sub>
                    <m:r>
                      <m:rPr>
                        <m:sty m:val="i"/>
                      </m:rPr>
                      <m:t>j</m:t>
                    </m:r>
                  </m:sub>
                </m:sSub>
                <m:r>
                  <m:rPr>
                    <m:sty m:val="p"/>
                  </m:rPr>
                  <m:t xml:space="preserve"> </m:t>
                </m:r>
                <m:sSub>
                  <m:e>
                    <m:r>
                      <m:rPr>
                        <m:sty m:val="i"/>
                      </m:rPr>
                      <m:t>w</m:t>
                    </m:r>
                  </m:e>
                  <m:sub>
                    <m:r>
                      <m:rPr>
                        <m:sty m:val="i"/>
                      </m:rPr>
                      <m:t>i</m:t>
                    </m:r>
                    <m:r>
                      <m:rPr>
                        <m:sty m:val="p"/>
                      </m:rPr>
                      <m:t>,</m:t>
                    </m:r>
                    <m:r>
                      <m:rPr>
                        <m:sty m:val="i"/>
                      </m:rPr>
                      <m:t>j</m:t>
                    </m:r>
                    <m:r>
                      <m:rPr>
                        <m:sty m:val="p"/>
                      </m:rPr>
                      <m:t>,</m:t>
                    </m:r>
                    <m:r>
                      <m:rPr>
                        <m:sty m:val="i"/>
                      </m:rPr>
                      <m:t>t</m:t>
                    </m:r>
                  </m:sub>
                </m:sSub>
                <m:r>
                  <m:rPr>
                    <m:sty m:val="p"/>
                  </m:rPr>
                  <m:t xml:space="preserve"> |</m:t>
                </m:r>
                <m:sSub>
                  <m:e>
                    <m:r>
                      <m:rPr>
                        <m:sty m:val="i"/>
                      </m:rPr>
                      <m:t>L</m:t>
                    </m:r>
                  </m:e>
                  <m:sub>
                    <m:r>
                      <m:rPr>
                        <m:sty m:val="i"/>
                      </m:rPr>
                      <m:t>j</m:t>
                    </m:r>
                    <m:r>
                      <m:rPr>
                        <m:sty m:val="p"/>
                      </m:rPr>
                      <m:t>,</m:t>
                    </m:r>
                    <m:r>
                      <m:rPr>
                        <m:sty m:val="i"/>
                      </m:rPr>
                      <m:t>t</m:t>
                    </m:r>
                  </m:sub>
                </m:sSub>
                <m:r>
                  <m:rPr>
                    <m:sty m:val="p"/>
                  </m:rPr>
                  <m:t>(x)|</m:t>
                </m:r>
              </m:oMath>
            </m:oMathPara>
          </a:p>
        </p:txBody>
      </p:sp>
      <p:sp>
        <p:nvSpPr>
          <p:cNvPr id="17" name="Shape 12"/>
          <p:cNvSpPr/>
          <p:nvPr/>
        </p:nvSpPr>
        <p:spPr>
          <a:xfrm>
            <a:off x="6492240" y="4846320"/>
            <a:ext cx="5212080" cy="1097280"/>
          </a:xfrm>
          <a:prstGeom prst="roundRect">
            <a:avLst>
              <a:gd name="adj" fmla="val 6667"/>
            </a:avLst>
          </a:prstGeom>
          <a:solidFill>
            <a:srgbClr val="FDECEA"/>
          </a:solidFill>
          <a:ln/>
        </p:spPr>
      </p:sp>
      <p:sp>
        <p:nvSpPr>
          <p:cNvPr id="18" name="Text 13"/>
          <p:cNvSpPr/>
          <p:nvPr/>
        </p:nvSpPr>
        <p:spPr>
          <a:xfrm>
            <a:off x="6629400" y="4919472"/>
            <a:ext cx="4937760" cy="420624"/>
          </a:xfrm>
          <a:prstGeom prst="rect">
            <a:avLst/>
          </a:prstGeom>
          <a:noFill/>
          <a:ln/>
        </p:spPr>
        <p:txBody>
          <a:bodyPr wrap="square" lIns="0" tIns="0" rIns="0" bIns="0" rtlCol="0" anchor="ctr"/>
          <a:lstStyle/>
          <a:p>
            <a:pPr indent="0" marL="0">
              <a:buNone/>
            </a:pPr>
            <a:r>
              <a:rPr lang="en-US" sz="1600" b="1" dirty="0">
                <a:solidFill>
                  <a:srgbClr val="C0392B"/>
                </a:solidFill>
                <a:latin typeface="Calibri" pitchFamily="34" charset="0"/>
                <a:ea typeface="Calibri" pitchFamily="34" charset="-122"/>
                <a:cs typeface="Calibri" pitchFamily="34" charset="-120"/>
              </a:rPr>
              <a:t>One reachable source is selected per cell</a:t>
            </a:r>
            <a:endParaRPr lang="en-US" sz="1600" dirty="0"/>
          </a:p>
        </p:txBody>
      </p:sp>
      <p:sp>
        <p:nvSpPr>
          <p:cNvPr id="19" name="Text 14"/>
          <p:cNvSpPr/>
          <p:nvPr/>
        </p:nvSpPr>
        <p:spPr>
          <a:xfrm>
            <a:off x="6629400" y="5340096"/>
            <a:ext cx="4937760" cy="457200"/>
          </a:xfrm>
          <a:prstGeom prst="rect">
            <a:avLst/>
          </a:prstGeom>
          <a:noFill/>
          <a:ln/>
        </p:spPr>
        <p:txBody>
          <a:bodyPr wrap="square" lIns="0" tIns="0" rIns="0" bIns="0" rtlCol="0" anchor="ctr"/>
          <a:lstStyle/>
          <a:p>
            <a:pPr indent="0" marL="0">
              <a:buNone/>
            </a:pPr>
            <a:r>
              <a:rPr lang="en-US" sz="1500" dirty="0">
                <a:solidFill>
                  <a:srgbClr val="1F2A44"/>
                </a:solidFill>
                <a:latin typeface="Calibri" pitchFamily="34" charset="0"/>
                <a:ea typeface="Calibri" pitchFamily="34" charset="-122"/>
                <a:cs typeface="Calibri" pitchFamily="34" charset="-120"/>
              </a:rPr>
              <a:t>Avoid correlated evidence accumulation</a:t>
            </a:r>
            <a:endParaRPr lang="en-US" sz="1500" dirty="0"/>
          </a:p>
        </p:txBody>
      </p:sp>
      <p:sp>
        <p:nvSpPr>
          <p:cNvPr id="20" name="Text 15"/>
          <p:cNvSpPr/>
          <p:nvPr/>
        </p:nvSpPr>
        <p:spPr>
          <a:xfrm>
            <a:off x="11475720" y="6510528"/>
            <a:ext cx="502920" cy="256032"/>
          </a:xfrm>
          <a:prstGeom prst="rect">
            <a:avLst/>
          </a:prstGeom>
          <a:noFill/>
          <a:ln/>
        </p:spPr>
        <p:txBody>
          <a:bodyPr wrap="square" lIns="0" tIns="0" rIns="0" bIns="0" rtlCol="0" anchor="ctr"/>
          <a:lstStyle/>
          <a:p>
            <a:pPr algn="r" indent="0" marL="0">
              <a:buNone/>
            </a:pPr>
            <a:r>
              <a:rPr lang="en-US" sz="1200" dirty="0">
                <a:solidFill>
                  <a:srgbClr val="2F5597"/>
                </a:solidFill>
                <a:latin typeface="Calibri" pitchFamily="34" charset="0"/>
                <a:ea typeface="Calibri" pitchFamily="34" charset="-122"/>
                <a:cs typeface="Calibri"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tmp/ppt-work/assets/hust.png">    </p:cNvPr>
          <p:cNvPicPr>
            <a:picLocks noChangeAspect="1"/>
          </p:cNvPicPr>
          <p:nvPr/>
        </p:nvPicPr>
        <p:blipFill>
          <a:blip r:embed="rId1"/>
          <a:stretch>
            <a:fillRect/>
          </a:stretch>
        </p:blipFill>
        <p:spPr>
          <a:xfrm>
            <a:off x="11337578" y="54864"/>
            <a:ext cx="715196" cy="493776"/>
          </a:xfrm>
          <a:prstGeom prst="rect">
            <a:avLst/>
          </a:prstGeom>
        </p:spPr>
      </p:pic>
      <p:sp>
        <p:nvSpPr>
          <p:cNvPr id="3" name="Text 0"/>
          <p:cNvSpPr/>
          <p:nvPr/>
        </p:nvSpPr>
        <p:spPr>
          <a:xfrm>
            <a:off x="347472" y="73152"/>
            <a:ext cx="10698480" cy="438912"/>
          </a:xfrm>
          <a:prstGeom prst="rect">
            <a:avLst/>
          </a:prstGeom>
          <a:noFill/>
          <a:ln/>
        </p:spPr>
        <p:txBody>
          <a:bodyPr wrap="square" lIns="0" tIns="0" rIns="0" bIns="0" rtlCol="0" anchor="ctr"/>
          <a:lstStyle/>
          <a:p>
            <a:pPr indent="0" marL="0">
              <a:buNone/>
            </a:pPr>
            <a:r>
              <a:rPr lang="en-US" sz="2600" b="1" dirty="0">
                <a:solidFill>
                  <a:srgbClr val="2F5597"/>
                </a:solidFill>
                <a:latin typeface="Calibri" pitchFamily="34" charset="0"/>
                <a:ea typeface="Calibri" pitchFamily="34" charset="-122"/>
                <a:cs typeface="Calibri" pitchFamily="34" charset="-120"/>
              </a:rPr>
              <a:t>2. Proposed IC-HGAT-MAPPO</a:t>
            </a:r>
            <a:endParaRPr lang="en-US" sz="2600" dirty="0"/>
          </a:p>
        </p:txBody>
      </p:sp>
      <p:sp>
        <p:nvSpPr>
          <p:cNvPr id="4" name="Shape 1"/>
          <p:cNvSpPr/>
          <p:nvPr/>
        </p:nvSpPr>
        <p:spPr>
          <a:xfrm>
            <a:off x="0" y="566928"/>
            <a:ext cx="12191695" cy="475488"/>
          </a:xfrm>
          <a:prstGeom prst="rect">
            <a:avLst/>
          </a:prstGeom>
          <a:solidFill>
            <a:srgbClr val="2F5597"/>
          </a:solidFill>
          <a:ln/>
        </p:spPr>
      </p:sp>
      <p:sp>
        <p:nvSpPr>
          <p:cNvPr id="5" name="Text 2"/>
          <p:cNvSpPr/>
          <p:nvPr/>
        </p:nvSpPr>
        <p:spPr>
          <a:xfrm>
            <a:off x="347472" y="585216"/>
            <a:ext cx="11430000" cy="43891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2.4 Heterogeneous Graph Policy and MAPPO Optimization</a:t>
            </a:r>
            <a:endParaRPr lang="en-US" sz="2000" dirty="0"/>
          </a:p>
        </p:txBody>
      </p:sp>
      <p:pic>
        <p:nvPicPr>
          <p:cNvPr id="6" name="Image 1" descr="/tmp/ppt-work/assets/hgat.png">    </p:cNvPr>
          <p:cNvPicPr>
            <a:picLocks noChangeAspect="1"/>
          </p:cNvPicPr>
          <p:nvPr/>
        </p:nvPicPr>
        <p:blipFill>
          <a:blip r:embed="rId2"/>
          <a:stretch>
            <a:fillRect/>
          </a:stretch>
        </p:blipFill>
        <p:spPr>
          <a:xfrm>
            <a:off x="757202" y="1152144"/>
            <a:ext cx="4840676" cy="3063240"/>
          </a:xfrm>
          <a:prstGeom prst="rect">
            <a:avLst/>
          </a:prstGeom>
        </p:spPr>
      </p:pic>
      <p:sp>
        <p:nvSpPr>
          <p:cNvPr id="7" name="Text 3"/>
          <p:cNvSpPr/>
          <p:nvPr/>
        </p:nvSpPr>
        <p:spPr>
          <a:xfrm>
            <a:off x="182880" y="4224528"/>
            <a:ext cx="5989320" cy="713232"/>
          </a:xfrm>
          <a:prstGeom prst="rect">
            <a:avLst/>
          </a:prstGeom>
          <a:noFill/>
          <a:ln/>
        </p:spPr>
        <p:txBody>
          <a:bodyPr wrap="square" lIns="0" tIns="0" rIns="0" bIns="0" rtlCol="0" anchor="ctr"/>
          <a:lstStyle/>
          <a:p>
            <a:pPr algn="ctr" indent="0" marL="0">
              <a:buNone/>
            </a:pPr>
            <m:oMathPara xmlns:m="http://schemas.openxmlformats.org/officeDocument/2006/math">
              <m:oMathParaPr>
                <m:jc m:val="center"/>
              </m:oMathParaPr>
              <m:oMath>
                <m:sSub>
                  <m:e>
                    <m:r>
                      <m:rPr>
                        <m:sty m:val="i"/>
                      </m:rPr>
                      <m:t>α</m:t>
                    </m:r>
                  </m:e>
                  <m:sub>
                    <m:r>
                      <m:rPr>
                        <m:sty m:val="i"/>
                      </m:rPr>
                      <m:t>r</m:t>
                    </m:r>
                    <m:r>
                      <m:rPr>
                        <m:sty m:val="p"/>
                      </m:rPr>
                      <m:t>,</m:t>
                    </m:r>
                    <m:r>
                      <m:rPr>
                        <m:sty m:val="i"/>
                      </m:rPr>
                      <m:t>i</m:t>
                    </m:r>
                    <m:r>
                      <m:rPr>
                        <m:sty m:val="p"/>
                      </m:rPr>
                      <m:t>,</m:t>
                    </m:r>
                    <m:r>
                      <m:rPr>
                        <m:sty m:val="i"/>
                      </m:rPr>
                      <m:t>k</m:t>
                    </m:r>
                  </m:sub>
                </m:sSub>
                <m:r>
                  <m:rPr>
                    <m:sty m:val="p"/>
                  </m:rPr>
                  <m:t xml:space="preserve"> = </m:t>
                </m:r>
                <m:func>
                  <m:funcPr/>
                  <m:fName>
                    <m:e>
                      <m:r>
                        <m:rPr>
                          <m:sty m:val="p"/>
                        </m:rPr>
                        <m:t>softmax</m:t>
                      </m:r>
                    </m:e>
                  </m:fName>
                  <m:e>
                    <m:d>
                      <m:dPr>
                        <m:begChr m:val="("/>
                        <m:endChr m:val=")"/>
                      </m:dPr>
                      <m:e>
                        <m:f>
                          <m:fPr/>
                          <m:num>
                            <m:sSub>
                              <m:e>
                                <m:r>
                                  <m:rPr>
                                    <m:sty m:val="i"/>
                                  </m:rPr>
                                  <m:t>Q</m:t>
                                </m:r>
                              </m:e>
                              <m:sub>
                                <m:r>
                                  <m:rPr>
                                    <m:sty m:val="i"/>
                                  </m:rPr>
                                  <m:t>i</m:t>
                                </m:r>
                              </m:sub>
                            </m:sSub>
                            <m:sSup>
                              <m:e>
                                <m:sSub>
                                  <m:e>
                                    <m:r>
                                      <m:rPr>
                                        <m:sty m:val="i"/>
                                      </m:rPr>
                                      <m:t>K</m:t>
                                    </m:r>
                                  </m:e>
                                  <m:sub>
                                    <m:r>
                                      <m:rPr>
                                        <m:sty m:val="i"/>
                                      </m:rPr>
                                      <m:t>k</m:t>
                                    </m:r>
                                  </m:sub>
                                </m:sSub>
                              </m:e>
                              <m:sup>
                                <m:r>
                                  <m:rPr>
                                    <m:sty m:val="p"/>
                                  </m:rPr>
                                  <m:t>⊤</m:t>
                                </m:r>
                              </m:sup>
                            </m:sSup>
                          </m:num>
                          <m:den>
                            <m:r>
                              <m:rPr>
                                <m:sty m:val="p"/>
                              </m:rPr>
                              <m:t>√</m:t>
                            </m:r>
                            <m:r>
                              <m:rPr>
                                <m:sty m:val="i"/>
                              </m:rPr>
                              <m:t>d</m:t>
                            </m:r>
                          </m:den>
                        </m:f>
                        <m:r>
                          <m:rPr>
                            <m:sty m:val="p"/>
                          </m:rPr>
                          <m:t xml:space="preserve"> + </m:t>
                        </m:r>
                        <m:func>
                          <m:funcPr/>
                          <m:fName>
                            <m:e>
                              <m:r>
                                <m:rPr>
                                  <m:sty m:val="p"/>
                                </m:rPr>
                                <m:t>log</m:t>
                              </m:r>
                            </m:e>
                          </m:fName>
                          <m:e>
                            <m:sSub>
                              <m:e>
                                <m:r>
                                  <m:rPr>
                                    <m:sty m:val="i"/>
                                  </m:rPr>
                                  <m:t>χ</m:t>
                                </m:r>
                              </m:e>
                              <m:sub>
                                <m:r>
                                  <m:rPr>
                                    <m:sty m:val="i"/>
                                  </m:rPr>
                                  <m:t>r</m:t>
                                </m:r>
                                <m:r>
                                  <m:rPr>
                                    <m:sty m:val="p"/>
                                  </m:rPr>
                                  <m:t>,</m:t>
                                </m:r>
                                <m:r>
                                  <m:rPr>
                                    <m:sty m:val="i"/>
                                  </m:rPr>
                                  <m:t>i</m:t>
                                </m:r>
                                <m:r>
                                  <m:rPr>
                                    <m:sty m:val="p"/>
                                  </m:rPr>
                                  <m:t>,</m:t>
                                </m:r>
                                <m:r>
                                  <m:rPr>
                                    <m:sty m:val="i"/>
                                  </m:rPr>
                                  <m:t>k</m:t>
                                </m:r>
                              </m:sub>
                            </m:sSub>
                          </m:e>
                        </m:func>
                        <m:r>
                          <m:rPr>
                            <m:sty m:val="p"/>
                          </m:rPr>
                          <m:t xml:space="preserve"> − </m:t>
                        </m:r>
                        <m:sSub>
                          <m:e>
                            <m:r>
                              <m:rPr>
                                <m:sty m:val="i"/>
                              </m:rPr>
                              <m:t>κ</m:t>
                            </m:r>
                          </m:e>
                          <m:sub>
                            <m:r>
                              <m:rPr>
                                <m:sty m:val="i"/>
                              </m:rPr>
                              <m:t>r</m:t>
                            </m:r>
                          </m:sub>
                        </m:sSub>
                        <m:sSub>
                          <m:e>
                            <m:r>
                              <m:rPr>
                                <m:sty m:val="i"/>
                              </m:rPr>
                              <m:t>d</m:t>
                            </m:r>
                          </m:e>
                          <m:sub>
                            <m:r>
                              <m:rPr>
                                <m:sty m:val="i"/>
                              </m:rPr>
                              <m:t>i</m:t>
                            </m:r>
                            <m:r>
                              <m:rPr>
                                <m:sty m:val="i"/>
                              </m:rPr>
                              <m:t>k</m:t>
                            </m:r>
                          </m:sub>
                        </m:sSub>
                      </m:e>
                    </m:d>
                  </m:e>
                </m:func>
              </m:oMath>
            </m:oMathPara>
          </a:p>
        </p:txBody>
      </p:sp>
      <p:sp>
        <p:nvSpPr>
          <p:cNvPr id="8" name="Text 4"/>
          <p:cNvSpPr/>
          <p:nvPr/>
        </p:nvSpPr>
        <p:spPr>
          <a:xfrm>
            <a:off x="256032" y="4956048"/>
            <a:ext cx="5897880" cy="347472"/>
          </a:xfrm>
          <a:prstGeom prst="rect">
            <a:avLst/>
          </a:prstGeom>
          <a:noFill/>
          <a:ln/>
        </p:spPr>
        <p:txBody>
          <a:bodyPr wrap="square" lIns="0" tIns="0" rIns="0" bIns="0" rtlCol="0" anchor="ctr"/>
          <a:lstStyle/>
          <a:p>
            <a:pPr indent="0" marL="0">
              <a:buNone/>
            </a:pPr>
            <a:r>
              <a:rPr lang="en-US" sz="1400" b="1" dirty="0">
                <a:solidFill>
                  <a:srgbClr val="2F5597"/>
                </a:solidFill>
                <a:latin typeface="Calibri" pitchFamily="34" charset="0"/>
                <a:ea typeface="Calibri" pitchFamily="34" charset="-122"/>
                <a:cs typeface="Calibri" pitchFamily="34" charset="-120"/>
              </a:rPr>
              <a:t>Relation confidence     ·     Distance prior     ·     Link mask</a:t>
            </a:r>
            <a:endParaRPr lang="en-US" sz="1400" dirty="0"/>
          </a:p>
        </p:txBody>
      </p:sp>
      <p:pic>
        <p:nvPicPr>
          <p:cNvPr id="9" name="Image 2" descr="/tmp/ppt-work/assets/actor_critic.png">    </p:cNvPr>
          <p:cNvPicPr>
            <a:picLocks noChangeAspect="1"/>
          </p:cNvPicPr>
          <p:nvPr/>
        </p:nvPicPr>
        <p:blipFill>
          <a:blip r:embed="rId3"/>
          <a:stretch>
            <a:fillRect/>
          </a:stretch>
        </p:blipFill>
        <p:spPr>
          <a:xfrm>
            <a:off x="6723103" y="1152144"/>
            <a:ext cx="4704635" cy="3063240"/>
          </a:xfrm>
          <a:prstGeom prst="rect">
            <a:avLst/>
          </a:prstGeom>
        </p:spPr>
      </p:pic>
      <p:sp>
        <p:nvSpPr>
          <p:cNvPr id="10" name="Text 5"/>
          <p:cNvSpPr/>
          <p:nvPr/>
        </p:nvSpPr>
        <p:spPr>
          <a:xfrm>
            <a:off x="6309360" y="4224528"/>
            <a:ext cx="5577840" cy="713232"/>
          </a:xfrm>
          <a:prstGeom prst="rect">
            <a:avLst/>
          </a:prstGeom>
          <a:noFill/>
          <a:ln/>
        </p:spPr>
        <p:txBody>
          <a:bodyPr wrap="square" lIns="0" tIns="0" rIns="0" bIns="0" rtlCol="0" anchor="ctr"/>
          <a:lstStyle/>
          <a:p>
            <a:pPr algn="ctr" indent="0" marL="0">
              <a:buNone/>
            </a:pPr>
            <m:oMathPara xmlns:m="http://schemas.openxmlformats.org/officeDocument/2006/math">
              <m:oMathParaPr>
                <m:jc m:val="center"/>
              </m:oMathParaPr>
              <m:oMath>
                <m:sSub>
                  <m:e>
                    <m:r>
                      <m:rPr>
                        <m:sty m:val="i"/>
                      </m:rPr>
                      <m:t>r</m:t>
                    </m:r>
                  </m:e>
                  <m:sub>
                    <m:r>
                      <m:rPr>
                        <m:sty m:val="i"/>
                      </m:rPr>
                      <m:t>t</m:t>
                    </m:r>
                  </m:sub>
                </m:sSub>
                <m:r>
                  <m:rPr>
                    <m:sty m:val="p"/>
                  </m:rPr>
                  <m:t xml:space="preserve"> = </m:t>
                </m:r>
                <m:sSub>
                  <m:e>
                    <m:r>
                      <m:rPr>
                        <m:sty m:val="i"/>
                      </m:rPr>
                      <m:t>λ</m:t>
                    </m:r>
                  </m:e>
                  <m:sub>
                    <m:r>
                      <m:rPr>
                        <m:sty m:val="i"/>
                      </m:rPr>
                      <m:t>D</m:t>
                    </m:r>
                  </m:sub>
                </m:sSub>
                <m:sSub>
                  <m:e>
                    <m:r>
                      <m:rPr>
                        <m:sty m:val="i"/>
                      </m:rPr>
                      <m:t>ΔD</m:t>
                    </m:r>
                  </m:e>
                  <m:sub>
                    <m:r>
                      <m:rPr>
                        <m:sty m:val="i"/>
                      </m:rPr>
                      <m:t>t</m:t>
                    </m:r>
                  </m:sub>
                </m:sSub>
                <m:r>
                  <m:rPr>
                    <m:sty m:val="p"/>
                  </m:rPr>
                  <m:t xml:space="preserve"> + </m:t>
                </m:r>
                <m:sSub>
                  <m:e>
                    <m:r>
                      <m:rPr>
                        <m:sty m:val="i"/>
                      </m:rPr>
                      <m:t>λ</m:t>
                    </m:r>
                  </m:e>
                  <m:sub>
                    <m:r>
                      <m:rPr>
                        <m:sty m:val="i"/>
                      </m:rPr>
                      <m:t>C</m:t>
                    </m:r>
                  </m:sub>
                </m:sSub>
                <m:sSub>
                  <m:e>
                    <m:r>
                      <m:rPr>
                        <m:sty m:val="i"/>
                      </m:rPr>
                      <m:t>ΔC</m:t>
                    </m:r>
                  </m:e>
                  <m:sub>
                    <m:r>
                      <m:rPr>
                        <m:sty m:val="i"/>
                      </m:rPr>
                      <m:t>t</m:t>
                    </m:r>
                  </m:sub>
                </m:sSub>
                <m:r>
                  <m:rPr>
                    <m:sty m:val="p"/>
                  </m:rPr>
                  <m:t xml:space="preserve"> − </m:t>
                </m:r>
                <m:sSub>
                  <m:e>
                    <m:r>
                      <m:rPr>
                        <m:sty m:val="i"/>
                      </m:rPr>
                      <m:t>λ</m:t>
                    </m:r>
                  </m:e>
                  <m:sub>
                    <m:r>
                      <m:rPr>
                        <m:sty m:val="p"/>
                      </m:rPr>
                      <m:t>safe</m:t>
                    </m:r>
                  </m:sub>
                </m:sSub>
                <m:sSub>
                  <m:e>
                    <m:r>
                      <m:rPr>
                        <m:sty m:val="i"/>
                      </m:rPr>
                      <m:t>c</m:t>
                    </m:r>
                  </m:e>
                  <m:sub>
                    <m:r>
                      <m:rPr>
                        <m:sty m:val="i"/>
                      </m:rPr>
                      <m:t>t</m:t>
                    </m:r>
                  </m:sub>
                </m:sSub>
              </m:oMath>
            </m:oMathPara>
          </a:p>
        </p:txBody>
      </p:sp>
      <p:sp>
        <p:nvSpPr>
          <p:cNvPr id="11" name="Text 6"/>
          <p:cNvSpPr/>
          <p:nvPr/>
        </p:nvSpPr>
        <p:spPr>
          <a:xfrm>
            <a:off x="6355080" y="4956048"/>
            <a:ext cx="5532120" cy="384048"/>
          </a:xfrm>
          <a:prstGeom prst="rect">
            <a:avLst/>
          </a:prstGeom>
          <a:noFill/>
          <a:ln/>
        </p:spPr>
        <p:txBody>
          <a:bodyPr wrap="square" lIns="0" tIns="0" rIns="0" bIns="0" rtlCol="0" anchor="ctr"/>
          <a:lstStyle/>
          <a:p>
            <a:pPr indent="0" marL="0">
              <a:buNone/>
            </a:pPr>
            <a:r>
              <a:rPr lang="en-US" sz="1300" dirty="0">
                <a:solidFill>
                  <a:srgbClr val="1F2A44"/>
                </a:solidFill>
                <a:latin typeface="Calibri" pitchFamily="34" charset="0"/>
                <a:ea typeface="Calibri" pitchFamily="34" charset="-122"/>
                <a:cs typeface="Calibri" pitchFamily="34" charset="-120"/>
              </a:rPr>
              <a:t>(λD, λC, λsafe) = (1.0, 0.30, 0.10)     ·     MAPPO: PPO clipping + GAE</a:t>
            </a:r>
            <a:endParaRPr lang="en-US" sz="1300" dirty="0"/>
          </a:p>
        </p:txBody>
      </p:sp>
      <p:sp>
        <p:nvSpPr>
          <p:cNvPr id="12" name="Text 7"/>
          <p:cNvSpPr/>
          <p:nvPr/>
        </p:nvSpPr>
        <p:spPr>
          <a:xfrm>
            <a:off x="256032" y="5376672"/>
            <a:ext cx="5852160" cy="384048"/>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Heterogeneous Graph Attention</a:t>
            </a:r>
            <a:endParaRPr lang="en-US" sz="1800" dirty="0"/>
          </a:p>
        </p:txBody>
      </p:sp>
      <p:sp>
        <p:nvSpPr>
          <p:cNvPr id="13" name="Text 8"/>
          <p:cNvSpPr/>
          <p:nvPr/>
        </p:nvSpPr>
        <p:spPr>
          <a:xfrm>
            <a:off x="11475720" y="6510528"/>
            <a:ext cx="502920" cy="256032"/>
          </a:xfrm>
          <a:prstGeom prst="rect">
            <a:avLst/>
          </a:prstGeom>
          <a:noFill/>
          <a:ln/>
        </p:spPr>
        <p:txBody>
          <a:bodyPr wrap="square" lIns="0" tIns="0" rIns="0" bIns="0" rtlCol="0" anchor="ctr"/>
          <a:lstStyle/>
          <a:p>
            <a:pPr algn="r" indent="0" marL="0">
              <a:buNone/>
            </a:pPr>
            <a:r>
              <a:rPr lang="en-US" sz="1200" dirty="0">
                <a:solidFill>
                  <a:srgbClr val="2F5597"/>
                </a:solidFill>
                <a:latin typeface="Calibri" pitchFamily="34" charset="0"/>
                <a:ea typeface="Calibri" pitchFamily="34" charset="-122"/>
                <a:cs typeface="Calibri"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tmp/ppt-work/assets/hust.png">    </p:cNvPr>
          <p:cNvPicPr>
            <a:picLocks noChangeAspect="1"/>
          </p:cNvPicPr>
          <p:nvPr/>
        </p:nvPicPr>
        <p:blipFill>
          <a:blip r:embed="rId1"/>
          <a:stretch>
            <a:fillRect/>
          </a:stretch>
        </p:blipFill>
        <p:spPr>
          <a:xfrm>
            <a:off x="11337578" y="54864"/>
            <a:ext cx="715196" cy="493776"/>
          </a:xfrm>
          <a:prstGeom prst="rect">
            <a:avLst/>
          </a:prstGeom>
        </p:spPr>
      </p:pic>
      <p:sp>
        <p:nvSpPr>
          <p:cNvPr id="3" name="Text 0"/>
          <p:cNvSpPr/>
          <p:nvPr/>
        </p:nvSpPr>
        <p:spPr>
          <a:xfrm>
            <a:off x="347472" y="73152"/>
            <a:ext cx="10698480" cy="438912"/>
          </a:xfrm>
          <a:prstGeom prst="rect">
            <a:avLst/>
          </a:prstGeom>
          <a:noFill/>
          <a:ln/>
        </p:spPr>
        <p:txBody>
          <a:bodyPr wrap="square" lIns="0" tIns="0" rIns="0" bIns="0" rtlCol="0" anchor="ctr"/>
          <a:lstStyle/>
          <a:p>
            <a:pPr indent="0" marL="0">
              <a:buNone/>
            </a:pPr>
            <a:r>
              <a:rPr lang="en-US" sz="2600" b="1" dirty="0">
                <a:solidFill>
                  <a:srgbClr val="2F5597"/>
                </a:solidFill>
                <a:latin typeface="Calibri" pitchFamily="34" charset="0"/>
                <a:ea typeface="Calibri" pitchFamily="34" charset="-122"/>
                <a:cs typeface="Calibri" pitchFamily="34" charset="-120"/>
              </a:rPr>
              <a:t>3. Experimental Results</a:t>
            </a:r>
            <a:endParaRPr lang="en-US" sz="2600" dirty="0"/>
          </a:p>
        </p:txBody>
      </p:sp>
      <p:sp>
        <p:nvSpPr>
          <p:cNvPr id="4" name="Shape 1"/>
          <p:cNvSpPr/>
          <p:nvPr/>
        </p:nvSpPr>
        <p:spPr>
          <a:xfrm>
            <a:off x="0" y="566928"/>
            <a:ext cx="12191695" cy="475488"/>
          </a:xfrm>
          <a:prstGeom prst="rect">
            <a:avLst/>
          </a:prstGeom>
          <a:solidFill>
            <a:srgbClr val="2F5597"/>
          </a:solidFill>
          <a:ln/>
        </p:spPr>
      </p:sp>
      <p:sp>
        <p:nvSpPr>
          <p:cNvPr id="5" name="Text 2"/>
          <p:cNvSpPr/>
          <p:nvPr/>
        </p:nvSpPr>
        <p:spPr>
          <a:xfrm>
            <a:off x="347472" y="585216"/>
            <a:ext cx="11430000" cy="43891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3.1 Experimental Setup and Main Results</a:t>
            </a:r>
            <a:endParaRPr lang="en-US" sz="2000" dirty="0"/>
          </a:p>
        </p:txBody>
      </p:sp>
      <p:sp>
        <p:nvSpPr>
          <p:cNvPr id="6" name="Shape 3"/>
          <p:cNvSpPr/>
          <p:nvPr/>
        </p:nvSpPr>
        <p:spPr>
          <a:xfrm>
            <a:off x="256032" y="1078992"/>
            <a:ext cx="5074920" cy="1965960"/>
          </a:xfrm>
          <a:prstGeom prst="roundRect">
            <a:avLst>
              <a:gd name="adj" fmla="val 3721"/>
            </a:avLst>
          </a:prstGeom>
          <a:solidFill>
            <a:srgbClr val="F4F6FA"/>
          </a:solidFill>
          <a:ln/>
          <a:effectLst>
            <a:outerShdw sx="100000" sy="100000" kx="0" ky="0" algn="bl" rotWithShape="0" blurRad="50800" dist="12700" dir="16200000">
              <a:srgbClr val="1F2A44">
                <a:alpha val="12000"/>
              </a:srgbClr>
            </a:outerShdw>
          </a:effectLst>
        </p:spPr>
      </p:sp>
      <p:sp>
        <p:nvSpPr>
          <p:cNvPr id="7" name="Text 4"/>
          <p:cNvSpPr/>
          <p:nvPr/>
        </p:nvSpPr>
        <p:spPr>
          <a:xfrm>
            <a:off x="384048" y="1133856"/>
            <a:ext cx="4800600" cy="310896"/>
          </a:xfrm>
          <a:prstGeom prst="rect">
            <a:avLst/>
          </a:prstGeom>
          <a:noFill/>
          <a:ln/>
        </p:spPr>
        <p:txBody>
          <a:bodyPr wrap="square" lIns="0" tIns="0" rIns="0" bIns="0" rtlCol="0" anchor="ctr"/>
          <a:lstStyle/>
          <a:p>
            <a:pPr indent="0" marL="0">
              <a:buNone/>
            </a:pPr>
            <a:r>
              <a:rPr lang="en-US" sz="1600" b="1" dirty="0">
                <a:solidFill>
                  <a:srgbClr val="2F5597"/>
                </a:solidFill>
                <a:latin typeface="Calibri" pitchFamily="34" charset="0"/>
                <a:ea typeface="Calibri" pitchFamily="34" charset="-122"/>
                <a:cs typeface="Calibri" pitchFamily="34" charset="-120"/>
              </a:rPr>
              <a:t>Experiment setup</a:t>
            </a:r>
            <a:endParaRPr lang="en-US" sz="1600" dirty="0"/>
          </a:p>
        </p:txBody>
      </p:sp>
      <p:sp>
        <p:nvSpPr>
          <p:cNvPr id="8" name="Text 5"/>
          <p:cNvSpPr/>
          <p:nvPr/>
        </p:nvSpPr>
        <p:spPr>
          <a:xfrm>
            <a:off x="384048" y="1444752"/>
            <a:ext cx="4800600" cy="1097280"/>
          </a:xfrm>
          <a:prstGeom prst="rect">
            <a:avLst/>
          </a:prstGeom>
          <a:noFill/>
          <a:ln/>
        </p:spPr>
        <p:txBody>
          <a:bodyPr wrap="square" lIns="0" tIns="0" rIns="0" bIns="0" rtlCol="0" anchor="ctr"/>
          <a:lstStyle/>
          <a:p>
            <a:pPr indent="0" marL="0">
              <a:buNone/>
            </a:pPr>
            <a:r>
              <a:rPr lang="en-US" sz="1500" dirty="0">
                <a:solidFill>
                  <a:srgbClr val="1F2A44"/>
                </a:solidFill>
                <a:latin typeface="Calibri" pitchFamily="34" charset="0"/>
                <a:ea typeface="Calibri" pitchFamily="34" charset="-122"/>
                <a:cs typeface="Calibri" pitchFamily="34" charset="-120"/>
              </a:rPr>
              <a:t>6 UAVs  ·  15 targets  ·  10 obstacles  ·  30×30 grid</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Horizon = 200     ·     2,000 training episodes</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5 independently trained policies</a:t>
            </a:r>
            <a:endParaRPr lang="en-US" sz="1500" dirty="0"/>
          </a:p>
          <a:p>
            <a:pPr indent="0" marL="0">
              <a:buNone/>
            </a:pPr>
            <a:r>
              <a:rPr lang="en-US" sz="1500" dirty="0">
                <a:solidFill>
                  <a:srgbClr val="1F2A44"/>
                </a:solidFill>
                <a:latin typeface="Calibri" pitchFamily="34" charset="0"/>
                <a:ea typeface="Calibri" pitchFamily="34" charset="-122"/>
                <a:cs typeface="Calibri" pitchFamily="34" charset="-120"/>
              </a:rPr>
              <a:t>30 held-out scenarios</a:t>
            </a:r>
            <a:endParaRPr lang="en-US" sz="1500" dirty="0"/>
          </a:p>
        </p:txBody>
      </p:sp>
      <p:sp>
        <p:nvSpPr>
          <p:cNvPr id="9" name="Text 6"/>
          <p:cNvSpPr/>
          <p:nvPr/>
        </p:nvSpPr>
        <p:spPr>
          <a:xfrm>
            <a:off x="384048" y="2578608"/>
            <a:ext cx="4800600" cy="365760"/>
          </a:xfrm>
          <a:prstGeom prst="rect">
            <a:avLst/>
          </a:prstGeom>
          <a:noFill/>
          <a:ln/>
        </p:spPr>
        <p:txBody>
          <a:bodyPr wrap="square" lIns="0" tIns="0" rIns="0" bIns="0" rtlCol="0" anchor="ctr"/>
          <a:lstStyle/>
          <a:p>
            <a:pPr indent="0" marL="0">
              <a:buNone/>
            </a:pPr>
            <a:r>
              <a:rPr lang="en-US" sz="1300" i="1" dirty="0">
                <a:solidFill>
                  <a:srgbClr val="5A6A80"/>
                </a:solidFill>
                <a:latin typeface="Calibri" pitchFamily="34" charset="0"/>
                <a:ea typeface="Calibri" pitchFamily="34" charset="-122"/>
                <a:cs typeface="Calibri" pitchFamily="34" charset="-120"/>
              </a:rPr>
              <a:t>Common environment, reward, action space and training budget</a:t>
            </a:r>
            <a:endParaRPr lang="en-US" sz="1300" dirty="0"/>
          </a:p>
        </p:txBody>
      </p:sp>
      <p:pic>
        <p:nvPicPr>
          <p:cNvPr id="10" name="Image 1" descr="/tmp/ppt-work/assets/fig3.png">    </p:cNvPr>
          <p:cNvPicPr>
            <a:picLocks noChangeAspect="1"/>
          </p:cNvPicPr>
          <p:nvPr/>
        </p:nvPicPr>
        <p:blipFill>
          <a:blip r:embed="rId2"/>
          <a:stretch>
            <a:fillRect/>
          </a:stretch>
        </p:blipFill>
        <p:spPr>
          <a:xfrm>
            <a:off x="360790" y="3108960"/>
            <a:ext cx="4865403" cy="2651760"/>
          </a:xfrm>
          <a:prstGeom prst="rect">
            <a:avLst/>
          </a:prstGeom>
        </p:spPr>
      </p:pic>
      <p:sp>
        <p:nvSpPr>
          <p:cNvPr id="11" name="Text 7"/>
          <p:cNvSpPr/>
          <p:nvPr/>
        </p:nvSpPr>
        <p:spPr>
          <a:xfrm>
            <a:off x="256032" y="5779008"/>
            <a:ext cx="5074920" cy="292608"/>
          </a:xfrm>
          <a:prstGeom prst="rect">
            <a:avLst/>
          </a:prstGeom>
          <a:noFill/>
          <a:ln/>
        </p:spPr>
        <p:txBody>
          <a:bodyPr wrap="square" lIns="0" tIns="0" rIns="0" bIns="0" rtlCol="0" anchor="ctr"/>
          <a:lstStyle/>
          <a:p>
            <a:pPr indent="0" marL="0">
              <a:buNone/>
            </a:pPr>
            <a:r>
              <a:rPr lang="en-US" sz="1200" i="1" dirty="0">
                <a:solidFill>
                  <a:srgbClr val="5A6A80"/>
                </a:solidFill>
                <a:latin typeface="Calibri" pitchFamily="34" charset="0"/>
                <a:ea typeface="Calibri" pitchFamily="34" charset="-122"/>
                <a:cs typeface="Calibri" pitchFamily="34" charset="-120"/>
              </a:rPr>
              <a:t>UAV trajectories  ·  discovered / undiscovered targets  ·  dynamic obstacles</a:t>
            </a:r>
            <a:endParaRPr lang="en-US" sz="1200" dirty="0"/>
          </a:p>
        </p:txBody>
      </p:sp>
      <p:graphicFrame>
        <p:nvGraphicFramePr>
          <p:cNvPr id="12" name="Chart 0" descr=""/>
          <p:cNvGraphicFramePr/>
          <p:nvPr/>
        </p:nvGraphicFramePr>
        <p:xfrm>
          <a:off x="5440680" y="1051560"/>
          <a:ext cx="3291840" cy="2331720"/>
        </p:xfrm>
        <a:graphic xmlns:a="http://schemas.openxmlformats.org/drawingml/2006/main">
          <a:graphicData uri="http://schemas.openxmlformats.org/drawingml/2006/chart">
            <c:chart xmlns:c="http://schemas.openxmlformats.org/drawingml/2006/chart" r:id="rId3"/>
          </a:graphicData>
        </a:graphic>
      </p:graphicFrame>
      <p:graphicFrame>
        <p:nvGraphicFramePr>
          <p:cNvPr id="13" name="Chart 1" descr=""/>
          <p:cNvGraphicFramePr/>
          <p:nvPr/>
        </p:nvGraphicFramePr>
        <p:xfrm>
          <a:off x="8732520" y="1051560"/>
          <a:ext cx="3200400" cy="2331720"/>
        </p:xfrm>
        <a:graphic xmlns:a="http://schemas.openxmlformats.org/drawingml/2006/main">
          <a:graphicData uri="http://schemas.openxmlformats.org/drawingml/2006/chart">
            <c:chart xmlns:c="http://schemas.openxmlformats.org/drawingml/2006/chart" r:id="rId4"/>
          </a:graphicData>
        </a:graphic>
      </p:graphicFrame>
      <p:sp>
        <p:nvSpPr>
          <p:cNvPr id="14" name="Shape 8"/>
          <p:cNvSpPr/>
          <p:nvPr/>
        </p:nvSpPr>
        <p:spPr>
          <a:xfrm>
            <a:off x="5440680" y="3474720"/>
            <a:ext cx="3200400" cy="1417320"/>
          </a:xfrm>
          <a:prstGeom prst="roundRect">
            <a:avLst>
              <a:gd name="adj" fmla="val 5161"/>
            </a:avLst>
          </a:prstGeom>
          <a:solidFill>
            <a:srgbClr val="FDECEA"/>
          </a:solidFill>
          <a:ln/>
          <a:effectLst>
            <a:outerShdw sx="100000" sy="100000" kx="0" ky="0" algn="bl" rotWithShape="0" blurRad="50800" dist="12700" dir="16200000">
              <a:srgbClr val="1F2A44">
                <a:alpha val="12000"/>
              </a:srgbClr>
            </a:outerShdw>
          </a:effectLst>
        </p:spPr>
      </p:sp>
      <p:sp>
        <p:nvSpPr>
          <p:cNvPr id="15" name="Text 9"/>
          <p:cNvSpPr/>
          <p:nvPr/>
        </p:nvSpPr>
        <p:spPr>
          <a:xfrm>
            <a:off x="5577840" y="3547872"/>
            <a:ext cx="2926080" cy="256032"/>
          </a:xfrm>
          <a:prstGeom prst="rect">
            <a:avLst/>
          </a:prstGeom>
          <a:noFill/>
          <a:ln/>
        </p:spPr>
        <p:txBody>
          <a:bodyPr wrap="square" lIns="0" tIns="0" rIns="0" bIns="0"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vs. Heuristic</a:t>
            </a:r>
            <a:endParaRPr lang="en-US" sz="1200" dirty="0"/>
          </a:p>
        </p:txBody>
      </p:sp>
      <p:sp>
        <p:nvSpPr>
          <p:cNvPr id="16" name="Text 10"/>
          <p:cNvSpPr/>
          <p:nvPr/>
        </p:nvSpPr>
        <p:spPr>
          <a:xfrm>
            <a:off x="5577840" y="3840480"/>
            <a:ext cx="2926080" cy="868680"/>
          </a:xfrm>
          <a:prstGeom prst="rect">
            <a:avLst/>
          </a:prstGeom>
          <a:noFill/>
          <a:ln/>
        </p:spPr>
        <p:txBody>
          <a:bodyPr wrap="square" lIns="0" tIns="0" rIns="0" bIns="0" rtlCol="0" anchor="ctr"/>
          <a:lstStyle/>
          <a:p>
            <a:pPr indent="0" marL="0">
              <a:buNone/>
            </a:pPr>
            <a:r>
              <a:rPr lang="en-US" sz="1600" b="1" dirty="0">
                <a:solidFill>
                  <a:srgbClr val="1F2A44"/>
                </a:solidFill>
                <a:latin typeface="Calibri" pitchFamily="34" charset="0"/>
                <a:ea typeface="Calibri" pitchFamily="34" charset="-122"/>
                <a:cs typeface="Calibri" pitchFamily="34" charset="-120"/>
              </a:rPr>
              <a:t>+17.16 pp  decisiveness</a:t>
            </a:r>
            <a:endParaRPr lang="en-US" sz="1600" dirty="0"/>
          </a:p>
          <a:p>
            <a:pPr indent="0" marL="0">
              <a:buNone/>
            </a:pPr>
            <a:r>
              <a:rPr lang="en-US" sz="1600" b="1" dirty="0">
                <a:solidFill>
                  <a:srgbClr val="1F2A44"/>
                </a:solidFill>
                <a:latin typeface="Calibri" pitchFamily="34" charset="0"/>
                <a:ea typeface="Calibri" pitchFamily="34" charset="-122"/>
                <a:cs typeface="Calibri" pitchFamily="34" charset="-120"/>
              </a:rPr>
              <a:t>+9.00 pp  discovery</a:t>
            </a:r>
            <a:endParaRPr lang="en-US" sz="1600" dirty="0"/>
          </a:p>
        </p:txBody>
      </p:sp>
      <p:sp>
        <p:nvSpPr>
          <p:cNvPr id="17" name="Shape 11"/>
          <p:cNvSpPr/>
          <p:nvPr/>
        </p:nvSpPr>
        <p:spPr>
          <a:xfrm>
            <a:off x="8732520" y="3474720"/>
            <a:ext cx="3200400" cy="1417320"/>
          </a:xfrm>
          <a:prstGeom prst="roundRect">
            <a:avLst>
              <a:gd name="adj" fmla="val 5161"/>
            </a:avLst>
          </a:prstGeom>
          <a:solidFill>
            <a:srgbClr val="FFF3E8"/>
          </a:solidFill>
          <a:ln/>
          <a:effectLst>
            <a:outerShdw sx="100000" sy="100000" kx="0" ky="0" algn="bl" rotWithShape="0" blurRad="50800" dist="12700" dir="16200000">
              <a:srgbClr val="1F2A44">
                <a:alpha val="12000"/>
              </a:srgbClr>
            </a:outerShdw>
          </a:effectLst>
        </p:spPr>
      </p:sp>
      <p:sp>
        <p:nvSpPr>
          <p:cNvPr id="18" name="Text 12"/>
          <p:cNvSpPr/>
          <p:nvPr/>
        </p:nvSpPr>
        <p:spPr>
          <a:xfrm>
            <a:off x="8869680" y="3547872"/>
            <a:ext cx="2926080" cy="256032"/>
          </a:xfrm>
          <a:prstGeom prst="rect">
            <a:avLst/>
          </a:prstGeom>
          <a:noFill/>
          <a:ln/>
        </p:spPr>
        <p:txBody>
          <a:bodyPr wrap="square" lIns="0" tIns="0" rIns="0" bIns="0" rtlCol="0" anchor="ctr"/>
          <a:lstStyle/>
          <a:p>
            <a:pPr indent="0" marL="0">
              <a:buNone/>
            </a:pPr>
            <a:r>
              <a:rPr lang="en-US" sz="1200" b="1" dirty="0">
                <a:solidFill>
                  <a:srgbClr val="ED7D31"/>
                </a:solidFill>
                <a:latin typeface="Calibri" pitchFamily="34" charset="0"/>
                <a:ea typeface="Calibri" pitchFamily="34" charset="-122"/>
                <a:cs typeface="Calibri" pitchFamily="34" charset="-120"/>
              </a:rPr>
              <a:t>vs. QMIX</a:t>
            </a:r>
            <a:endParaRPr lang="en-US" sz="1200" dirty="0"/>
          </a:p>
        </p:txBody>
      </p:sp>
      <p:sp>
        <p:nvSpPr>
          <p:cNvPr id="19" name="Text 13"/>
          <p:cNvSpPr/>
          <p:nvPr/>
        </p:nvSpPr>
        <p:spPr>
          <a:xfrm>
            <a:off x="8869680" y="3840480"/>
            <a:ext cx="2926080" cy="868680"/>
          </a:xfrm>
          <a:prstGeom prst="rect">
            <a:avLst/>
          </a:prstGeom>
          <a:noFill/>
          <a:ln/>
        </p:spPr>
        <p:txBody>
          <a:bodyPr wrap="square" lIns="0" tIns="0" rIns="0" bIns="0" rtlCol="0" anchor="ctr"/>
          <a:lstStyle/>
          <a:p>
            <a:pPr indent="0" marL="0">
              <a:buNone/>
            </a:pPr>
            <a:r>
              <a:rPr lang="en-US" sz="1600" b="1" dirty="0">
                <a:solidFill>
                  <a:srgbClr val="1F2A44"/>
                </a:solidFill>
                <a:latin typeface="Calibri" pitchFamily="34" charset="0"/>
                <a:ea typeface="Calibri" pitchFamily="34" charset="-122"/>
                <a:cs typeface="Calibri" pitchFamily="34" charset="-120"/>
              </a:rPr>
              <a:t>+32.15 pp  decisiveness</a:t>
            </a:r>
            <a:endParaRPr lang="en-US" sz="1600" dirty="0"/>
          </a:p>
          <a:p>
            <a:pPr indent="0" marL="0">
              <a:buNone/>
            </a:pPr>
            <a:r>
              <a:rPr lang="en-US" sz="1600" b="1" dirty="0">
                <a:solidFill>
                  <a:srgbClr val="1F2A44"/>
                </a:solidFill>
                <a:latin typeface="Calibri" pitchFamily="34" charset="0"/>
                <a:ea typeface="Calibri" pitchFamily="34" charset="-122"/>
                <a:cs typeface="Calibri" pitchFamily="34" charset="-120"/>
              </a:rPr>
              <a:t>+14.67 pp  discovery</a:t>
            </a:r>
            <a:endParaRPr lang="en-US" sz="1600" dirty="0"/>
          </a:p>
        </p:txBody>
      </p:sp>
      <p:sp>
        <p:nvSpPr>
          <p:cNvPr id="20" name="Shape 14"/>
          <p:cNvSpPr/>
          <p:nvPr/>
        </p:nvSpPr>
        <p:spPr>
          <a:xfrm>
            <a:off x="5440680" y="5029200"/>
            <a:ext cx="6492240" cy="1170432"/>
          </a:xfrm>
          <a:prstGeom prst="roundRect">
            <a:avLst>
              <a:gd name="adj" fmla="val 6250"/>
            </a:avLst>
          </a:prstGeom>
          <a:solidFill>
            <a:srgbClr val="2F5597"/>
          </a:solidFill>
          <a:ln/>
        </p:spPr>
      </p:sp>
      <p:sp>
        <p:nvSpPr>
          <p:cNvPr id="21" name="Text 15"/>
          <p:cNvSpPr/>
          <p:nvPr/>
        </p:nvSpPr>
        <p:spPr>
          <a:xfrm>
            <a:off x="5623560" y="5102352"/>
            <a:ext cx="6172200" cy="50292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T80   ·   82.0% success     ·     88.63 steps conditional on success</a:t>
            </a:r>
            <a:endParaRPr lang="en-US" sz="1600" dirty="0"/>
          </a:p>
        </p:txBody>
      </p:sp>
      <p:sp>
        <p:nvSpPr>
          <p:cNvPr id="22" name="Text 16"/>
          <p:cNvSpPr/>
          <p:nvPr/>
        </p:nvSpPr>
        <p:spPr>
          <a:xfrm>
            <a:off x="5623560" y="5632704"/>
            <a:ext cx="6172200" cy="402336"/>
          </a:xfrm>
          <a:prstGeom prst="rect">
            <a:avLst/>
          </a:prstGeom>
          <a:noFill/>
          <a:ln/>
        </p:spPr>
        <p:txBody>
          <a:bodyPr wrap="square" lIns="0" tIns="0" rIns="0" bIns="0" rtlCol="0" anchor="ctr"/>
          <a:lstStyle/>
          <a:p>
            <a:pPr indent="0" marL="0">
              <a:buNone/>
            </a:pPr>
            <a:r>
              <a:rPr lang="en-US" sz="1300" dirty="0">
                <a:solidFill>
                  <a:srgbClr val="D6E2F5"/>
                </a:solidFill>
                <a:latin typeface="Calibri" pitchFamily="34" charset="0"/>
                <a:ea typeface="Calibri" pitchFamily="34" charset="-122"/>
                <a:cs typeface="Calibri" pitchFamily="34" charset="-120"/>
              </a:rPr>
              <a:t>Safety intervention 0.17%; collision rate comparable to the heuristic (not ranked).</a:t>
            </a:r>
            <a:endParaRPr lang="en-US" sz="1300" dirty="0"/>
          </a:p>
        </p:txBody>
      </p:sp>
      <p:sp>
        <p:nvSpPr>
          <p:cNvPr id="23" name="Text 17"/>
          <p:cNvSpPr/>
          <p:nvPr/>
        </p:nvSpPr>
        <p:spPr>
          <a:xfrm>
            <a:off x="11475720" y="6510528"/>
            <a:ext cx="502920" cy="256032"/>
          </a:xfrm>
          <a:prstGeom prst="rect">
            <a:avLst/>
          </a:prstGeom>
          <a:noFill/>
          <a:ln/>
        </p:spPr>
        <p:txBody>
          <a:bodyPr wrap="square" lIns="0" tIns="0" rIns="0" bIns="0" rtlCol="0" anchor="ctr"/>
          <a:lstStyle/>
          <a:p>
            <a:pPr algn="r" indent="0" marL="0">
              <a:buNone/>
            </a:pPr>
            <a:r>
              <a:rPr lang="en-US" sz="1200" dirty="0">
                <a:solidFill>
                  <a:srgbClr val="2F5597"/>
                </a:solidFill>
                <a:latin typeface="Calibri" pitchFamily="34" charset="0"/>
                <a:ea typeface="Calibri" pitchFamily="34" charset="-122"/>
                <a:cs typeface="Calibri"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tmp/ppt-work/assets/hust.png">    </p:cNvPr>
          <p:cNvPicPr>
            <a:picLocks noChangeAspect="1"/>
          </p:cNvPicPr>
          <p:nvPr/>
        </p:nvPicPr>
        <p:blipFill>
          <a:blip r:embed="rId1"/>
          <a:stretch>
            <a:fillRect/>
          </a:stretch>
        </p:blipFill>
        <p:spPr>
          <a:xfrm>
            <a:off x="11337578" y="54864"/>
            <a:ext cx="715196" cy="493776"/>
          </a:xfrm>
          <a:prstGeom prst="rect">
            <a:avLst/>
          </a:prstGeom>
        </p:spPr>
      </p:pic>
      <p:sp>
        <p:nvSpPr>
          <p:cNvPr id="3" name="Text 0"/>
          <p:cNvSpPr/>
          <p:nvPr/>
        </p:nvSpPr>
        <p:spPr>
          <a:xfrm>
            <a:off x="347472" y="73152"/>
            <a:ext cx="10698480" cy="438912"/>
          </a:xfrm>
          <a:prstGeom prst="rect">
            <a:avLst/>
          </a:prstGeom>
          <a:noFill/>
          <a:ln/>
        </p:spPr>
        <p:txBody>
          <a:bodyPr wrap="square" lIns="0" tIns="0" rIns="0" bIns="0" rtlCol="0" anchor="ctr"/>
          <a:lstStyle/>
          <a:p>
            <a:pPr indent="0" marL="0">
              <a:buNone/>
            </a:pPr>
            <a:r>
              <a:rPr lang="en-US" sz="2600" b="1" dirty="0">
                <a:solidFill>
                  <a:srgbClr val="2F5597"/>
                </a:solidFill>
                <a:latin typeface="Calibri" pitchFamily="34" charset="0"/>
                <a:ea typeface="Calibri" pitchFamily="34" charset="-122"/>
                <a:cs typeface="Calibri" pitchFamily="34" charset="-120"/>
              </a:rPr>
              <a:t>3. Experimental Results</a:t>
            </a:r>
            <a:endParaRPr lang="en-US" sz="2600" dirty="0"/>
          </a:p>
        </p:txBody>
      </p:sp>
      <p:sp>
        <p:nvSpPr>
          <p:cNvPr id="4" name="Shape 1"/>
          <p:cNvSpPr/>
          <p:nvPr/>
        </p:nvSpPr>
        <p:spPr>
          <a:xfrm>
            <a:off x="0" y="566928"/>
            <a:ext cx="12191695" cy="475488"/>
          </a:xfrm>
          <a:prstGeom prst="rect">
            <a:avLst/>
          </a:prstGeom>
          <a:solidFill>
            <a:srgbClr val="2F5597"/>
          </a:solidFill>
          <a:ln/>
        </p:spPr>
      </p:sp>
      <p:sp>
        <p:nvSpPr>
          <p:cNvPr id="5" name="Text 2"/>
          <p:cNvSpPr/>
          <p:nvPr/>
        </p:nvSpPr>
        <p:spPr>
          <a:xfrm>
            <a:off x="347472" y="585216"/>
            <a:ext cx="11430000" cy="43891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3.2 Ablation and Sensitivity Analysis</a:t>
            </a:r>
            <a:endParaRPr lang="en-US" sz="2000" dirty="0"/>
          </a:p>
        </p:txBody>
      </p:sp>
      <p:graphicFrame>
        <p:nvGraphicFramePr>
          <p:cNvPr id="6" name="Chart 0" descr=""/>
          <p:cNvGraphicFramePr/>
          <p:nvPr/>
        </p:nvGraphicFramePr>
        <p:xfrm>
          <a:off x="182880" y="1024128"/>
          <a:ext cx="5989320" cy="260604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6309360" y="1024128"/>
            <a:ext cx="5577840" cy="804672"/>
          </a:xfrm>
          <a:prstGeom prst="roundRect">
            <a:avLst>
              <a:gd name="adj" fmla="val 9091"/>
            </a:avLst>
          </a:prstGeom>
          <a:solidFill>
            <a:srgbClr val="FFFFFF"/>
          </a:solidFill>
          <a:ln/>
          <a:effectLst>
            <a:outerShdw sx="100000" sy="100000" kx="0" ky="0" algn="bl" rotWithShape="0" blurRad="50800" dist="12700" dir="16200000">
              <a:srgbClr val="1F2A44">
                <a:alpha val="12000"/>
              </a:srgbClr>
            </a:outerShdw>
          </a:effectLst>
        </p:spPr>
      </p:sp>
      <p:sp>
        <p:nvSpPr>
          <p:cNvPr id="8" name="Text 4"/>
          <p:cNvSpPr/>
          <p:nvPr/>
        </p:nvSpPr>
        <p:spPr>
          <a:xfrm>
            <a:off x="6473952" y="1078992"/>
            <a:ext cx="5257800" cy="256032"/>
          </a:xfrm>
          <a:prstGeom prst="rect">
            <a:avLst/>
          </a:prstGeom>
          <a:noFill/>
          <a:ln/>
        </p:spPr>
        <p:txBody>
          <a:bodyPr wrap="square" lIns="0" tIns="0" rIns="0" bIns="0" rtlCol="0" anchor="ctr"/>
          <a:lstStyle/>
          <a:p>
            <a:pPr indent="0" marL="0">
              <a:buNone/>
            </a:pPr>
            <a:r>
              <a:rPr lang="en-US" sz="1300" b="1" dirty="0">
                <a:solidFill>
                  <a:srgbClr val="2F5597"/>
                </a:solidFill>
                <a:latin typeface="Calibri" pitchFamily="34" charset="0"/>
                <a:ea typeface="Calibri" pitchFamily="34" charset="-122"/>
                <a:cs typeface="Calibri" pitchFamily="34" charset="-120"/>
              </a:rPr>
              <a:t>Heterogeneous relations</a:t>
            </a:r>
            <a:endParaRPr lang="en-US" sz="1300" dirty="0"/>
          </a:p>
        </p:txBody>
      </p:sp>
      <p:sp>
        <p:nvSpPr>
          <p:cNvPr id="9" name="Text 5"/>
          <p:cNvSpPr/>
          <p:nvPr/>
        </p:nvSpPr>
        <p:spPr>
          <a:xfrm>
            <a:off x="6473952" y="1335024"/>
            <a:ext cx="5257800" cy="438912"/>
          </a:xfrm>
          <a:prstGeom prst="rect">
            <a:avLst/>
          </a:prstGeom>
          <a:noFill/>
          <a:ln/>
        </p:spPr>
        <p:txBody>
          <a:bodyPr wrap="square" lIns="0" tIns="0" rIns="0" bIns="0" rtlCol="0" anchor="ctr"/>
          <a:lstStyle/>
          <a:p>
            <a:pPr indent="0" marL="0">
              <a:buNone/>
            </a:pPr>
            <a:r>
              <a:rPr lang="en-US" sz="1200" dirty="0">
                <a:solidFill>
                  <a:srgbClr val="1F2A44"/>
                </a:solidFill>
                <a:latin typeface="Calibri" pitchFamily="34" charset="0"/>
                <a:ea typeface="Calibri" pitchFamily="34" charset="-122"/>
                <a:cs typeface="Calibri" pitchFamily="34" charset="-120"/>
              </a:rPr>
              <a:t>+15.10 pp decisiveness</a:t>
            </a:r>
            <a:endParaRPr lang="en-US" sz="1200" dirty="0"/>
          </a:p>
          <a:p>
            <a:pPr indent="0" marL="0">
              <a:buNone/>
            </a:pPr>
            <a:r>
              <a:rPr lang="en-US" sz="1200" dirty="0">
                <a:solidFill>
                  <a:srgbClr val="1F2A44"/>
                </a:solidFill>
                <a:latin typeface="Calibri" pitchFamily="34" charset="0"/>
                <a:ea typeface="Calibri" pitchFamily="34" charset="-122"/>
                <a:cs typeface="Calibri" pitchFamily="34" charset="-120"/>
              </a:rPr>
              <a:t>vs. Homogeneous Graph MAPPO</a:t>
            </a:r>
            <a:endParaRPr lang="en-US" sz="1200" dirty="0"/>
          </a:p>
        </p:txBody>
      </p:sp>
      <p:sp>
        <p:nvSpPr>
          <p:cNvPr id="10" name="Shape 6"/>
          <p:cNvSpPr/>
          <p:nvPr/>
        </p:nvSpPr>
        <p:spPr>
          <a:xfrm>
            <a:off x="6309360" y="1892808"/>
            <a:ext cx="5577840" cy="804672"/>
          </a:xfrm>
          <a:prstGeom prst="roundRect">
            <a:avLst>
              <a:gd name="adj" fmla="val 9091"/>
            </a:avLst>
          </a:prstGeom>
          <a:solidFill>
            <a:srgbClr val="FFFFFF"/>
          </a:solidFill>
          <a:ln/>
          <a:effectLst>
            <a:outerShdw sx="100000" sy="100000" kx="0" ky="0" algn="bl" rotWithShape="0" blurRad="50800" dist="12700" dir="16200000">
              <a:srgbClr val="1F2A44">
                <a:alpha val="12000"/>
              </a:srgbClr>
            </a:outerShdw>
          </a:effectLst>
        </p:spPr>
      </p:sp>
      <p:sp>
        <p:nvSpPr>
          <p:cNvPr id="11" name="Text 7"/>
          <p:cNvSpPr/>
          <p:nvPr/>
        </p:nvSpPr>
        <p:spPr>
          <a:xfrm>
            <a:off x="6473952" y="1947672"/>
            <a:ext cx="5257800" cy="256032"/>
          </a:xfrm>
          <a:prstGeom prst="rect">
            <a:avLst/>
          </a:prstGeom>
          <a:noFill/>
          <a:ln/>
        </p:spPr>
        <p:txBody>
          <a:bodyPr wrap="square" lIns="0" tIns="0" rIns="0" bIns="0" rtlCol="0" anchor="ctr"/>
          <a:lstStyle/>
          <a:p>
            <a:pPr indent="0" marL="0">
              <a:buNone/>
            </a:pPr>
            <a:r>
              <a:rPr lang="en-US" sz="1300" b="1" dirty="0">
                <a:solidFill>
                  <a:srgbClr val="ED7D31"/>
                </a:solidFill>
                <a:latin typeface="Calibri" pitchFamily="34" charset="0"/>
                <a:ea typeface="Calibri" pitchFamily="34" charset="-122"/>
                <a:cs typeface="Calibri" pitchFamily="34" charset="-120"/>
              </a:rPr>
              <a:t>Revisit memory</a:t>
            </a:r>
            <a:endParaRPr lang="en-US" sz="1300" dirty="0"/>
          </a:p>
        </p:txBody>
      </p:sp>
      <p:sp>
        <p:nvSpPr>
          <p:cNvPr id="12" name="Text 8"/>
          <p:cNvSpPr/>
          <p:nvPr/>
        </p:nvSpPr>
        <p:spPr>
          <a:xfrm>
            <a:off x="6473952" y="2203704"/>
            <a:ext cx="5257800" cy="438912"/>
          </a:xfrm>
          <a:prstGeom prst="rect">
            <a:avLst/>
          </a:prstGeom>
          <a:noFill/>
          <a:ln/>
        </p:spPr>
        <p:txBody>
          <a:bodyPr wrap="square" lIns="0" tIns="0" rIns="0" bIns="0" rtlCol="0" anchor="ctr"/>
          <a:lstStyle/>
          <a:p>
            <a:pPr indent="0" marL="0">
              <a:buNone/>
            </a:pPr>
            <a:r>
              <a:rPr lang="en-US" sz="1200" dirty="0">
                <a:solidFill>
                  <a:srgbClr val="1F2A44"/>
                </a:solidFill>
                <a:latin typeface="Calibri" pitchFamily="34" charset="0"/>
                <a:ea typeface="Calibri" pitchFamily="34" charset="-122"/>
                <a:cs typeface="Calibri" pitchFamily="34" charset="-120"/>
              </a:rPr>
              <a:t>−16.33 pp decisiveness</a:t>
            </a:r>
            <a:endParaRPr lang="en-US" sz="1200" dirty="0"/>
          </a:p>
          <a:p>
            <a:pPr indent="0" marL="0">
              <a:buNone/>
            </a:pPr>
            <a:r>
              <a:rPr lang="en-US" sz="1200" dirty="0">
                <a:solidFill>
                  <a:srgbClr val="1F2A44"/>
                </a:solidFill>
                <a:latin typeface="Calibri" pitchFamily="34" charset="0"/>
                <a:ea typeface="Calibri" pitchFamily="34" charset="-122"/>
                <a:cs typeface="Calibri" pitchFamily="34" charset="-120"/>
              </a:rPr>
              <a:t>−13.67 pp discovery when removed</a:t>
            </a:r>
            <a:endParaRPr lang="en-US" sz="1200" dirty="0"/>
          </a:p>
        </p:txBody>
      </p:sp>
      <p:sp>
        <p:nvSpPr>
          <p:cNvPr id="13" name="Shape 9"/>
          <p:cNvSpPr/>
          <p:nvPr/>
        </p:nvSpPr>
        <p:spPr>
          <a:xfrm>
            <a:off x="6309360" y="2761488"/>
            <a:ext cx="5577840" cy="804672"/>
          </a:xfrm>
          <a:prstGeom prst="roundRect">
            <a:avLst>
              <a:gd name="adj" fmla="val 9091"/>
            </a:avLst>
          </a:prstGeom>
          <a:solidFill>
            <a:srgbClr val="FFFFFF"/>
          </a:solidFill>
          <a:ln/>
          <a:effectLst>
            <a:outerShdw sx="100000" sy="100000" kx="0" ky="0" algn="bl" rotWithShape="0" blurRad="50800" dist="12700" dir="16200000">
              <a:srgbClr val="1F2A44">
                <a:alpha val="12000"/>
              </a:srgbClr>
            </a:outerShdw>
          </a:effectLst>
        </p:spPr>
      </p:sp>
      <p:sp>
        <p:nvSpPr>
          <p:cNvPr id="14" name="Text 10"/>
          <p:cNvSpPr/>
          <p:nvPr/>
        </p:nvSpPr>
        <p:spPr>
          <a:xfrm>
            <a:off x="6473952" y="2816352"/>
            <a:ext cx="5257800" cy="256032"/>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History weighting</a:t>
            </a:r>
            <a:endParaRPr lang="en-US" sz="1300" dirty="0"/>
          </a:p>
        </p:txBody>
      </p:sp>
      <p:sp>
        <p:nvSpPr>
          <p:cNvPr id="15" name="Text 11"/>
          <p:cNvSpPr/>
          <p:nvPr/>
        </p:nvSpPr>
        <p:spPr>
          <a:xfrm>
            <a:off x="6473952" y="3072384"/>
            <a:ext cx="5257800" cy="438912"/>
          </a:xfrm>
          <a:prstGeom prst="rect">
            <a:avLst/>
          </a:prstGeom>
          <a:noFill/>
          <a:ln/>
        </p:spPr>
        <p:txBody>
          <a:bodyPr wrap="square" lIns="0" tIns="0" rIns="0" bIns="0" rtlCol="0" anchor="ctr"/>
          <a:lstStyle/>
          <a:p>
            <a:pPr indent="0" marL="0">
              <a:buNone/>
            </a:pPr>
            <a:r>
              <a:rPr lang="en-US" sz="1200" dirty="0">
                <a:solidFill>
                  <a:srgbClr val="1F2A44"/>
                </a:solidFill>
                <a:latin typeface="Calibri" pitchFamily="34" charset="0"/>
                <a:ea typeface="Calibri" pitchFamily="34" charset="-122"/>
                <a:cs typeface="Calibri" pitchFamily="34" charset="-120"/>
              </a:rPr>
              <a:t>−8.16 pp decisiveness when removed</a:t>
            </a:r>
            <a:endParaRPr lang="en-US" sz="1200" dirty="0"/>
          </a:p>
          <a:p>
            <a:pPr indent="0" marL="0">
              <a:buNone/>
            </a:pPr>
            <a:r>
              <a:rPr lang="en-US" sz="1200" dirty="0">
                <a:solidFill>
                  <a:srgbClr val="1F2A44"/>
                </a:solidFill>
                <a:latin typeface="Calibri" pitchFamily="34" charset="0"/>
                <a:ea typeface="Calibri" pitchFamily="34" charset="-122"/>
                <a:cs typeface="Calibri" pitchFamily="34" charset="-120"/>
              </a:rPr>
              <a:t>T80 88.63→98.19; success 82.0% vs 86.7%</a:t>
            </a:r>
            <a:endParaRPr lang="en-US" sz="1200" dirty="0"/>
          </a:p>
        </p:txBody>
      </p:sp>
      <p:pic>
        <p:nvPicPr>
          <p:cNvPr id="16" name="Image 1" descr="/tmp/ppt-work/assets/fig4.png">    </p:cNvPr>
          <p:cNvPicPr>
            <a:picLocks noChangeAspect="1"/>
          </p:cNvPicPr>
          <p:nvPr/>
        </p:nvPicPr>
        <p:blipFill>
          <a:blip r:embed="rId3"/>
          <a:stretch>
            <a:fillRect/>
          </a:stretch>
        </p:blipFill>
        <p:spPr>
          <a:xfrm>
            <a:off x="2663660" y="3794760"/>
            <a:ext cx="6834201" cy="2267712"/>
          </a:xfrm>
          <a:prstGeom prst="rect">
            <a:avLst/>
          </a:prstGeom>
        </p:spPr>
      </p:pic>
      <p:sp>
        <p:nvSpPr>
          <p:cNvPr id="17" name="Text 12"/>
          <p:cNvSpPr/>
          <p:nvPr/>
        </p:nvSpPr>
        <p:spPr>
          <a:xfrm>
            <a:off x="274320" y="6089904"/>
            <a:ext cx="11612880" cy="292608"/>
          </a:xfrm>
          <a:prstGeom prst="rect">
            <a:avLst/>
          </a:prstGeom>
          <a:noFill/>
          <a:ln/>
        </p:spPr>
        <p:txBody>
          <a:bodyPr wrap="square" lIns="0" tIns="0" rIns="0" bIns="0" rtlCol="0" anchor="ctr"/>
          <a:lstStyle/>
          <a:p>
            <a:pPr indent="0" marL="0">
              <a:buNone/>
            </a:pPr>
            <a:r>
              <a:rPr lang="en-US" sz="1400" i="1" dirty="0">
                <a:solidFill>
                  <a:srgbClr val="1E3F73"/>
                </a:solidFill>
                <a:latin typeface="Calibri" pitchFamily="34" charset="0"/>
                <a:ea typeface="Calibri" pitchFamily="34" charset="-122"/>
                <a:cs typeface="Calibri" pitchFamily="34" charset="-120"/>
              </a:rPr>
              <a:t>IC-HGAT-MAPPO maintains higher mean discovery across the tested perturbation ranges.</a:t>
            </a:r>
            <a:endParaRPr lang="en-US" sz="1400" dirty="0"/>
          </a:p>
        </p:txBody>
      </p:sp>
      <p:sp>
        <p:nvSpPr>
          <p:cNvPr id="18" name="Text 13"/>
          <p:cNvSpPr/>
          <p:nvPr/>
        </p:nvSpPr>
        <p:spPr>
          <a:xfrm>
            <a:off x="11475720" y="6510528"/>
            <a:ext cx="502920" cy="256032"/>
          </a:xfrm>
          <a:prstGeom prst="rect">
            <a:avLst/>
          </a:prstGeom>
          <a:noFill/>
          <a:ln/>
        </p:spPr>
        <p:txBody>
          <a:bodyPr wrap="square" lIns="0" tIns="0" rIns="0" bIns="0" rtlCol="0" anchor="ctr"/>
          <a:lstStyle/>
          <a:p>
            <a:pPr algn="r" indent="0" marL="0">
              <a:buNone/>
            </a:pPr>
            <a:r>
              <a:rPr lang="en-US" sz="1200" dirty="0">
                <a:solidFill>
                  <a:srgbClr val="2F5597"/>
                </a:solidFill>
                <a:latin typeface="Calibri" pitchFamily="34" charset="0"/>
                <a:ea typeface="Calibri" pitchFamily="34" charset="-122"/>
                <a:cs typeface="Calibri"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tmp/ppt-work/assets/hust.png">    </p:cNvPr>
          <p:cNvPicPr>
            <a:picLocks noChangeAspect="1"/>
          </p:cNvPicPr>
          <p:nvPr/>
        </p:nvPicPr>
        <p:blipFill>
          <a:blip r:embed="rId1"/>
          <a:stretch>
            <a:fillRect/>
          </a:stretch>
        </p:blipFill>
        <p:spPr>
          <a:xfrm>
            <a:off x="11337578" y="54864"/>
            <a:ext cx="715196" cy="493776"/>
          </a:xfrm>
          <a:prstGeom prst="rect">
            <a:avLst/>
          </a:prstGeom>
        </p:spPr>
      </p:pic>
      <p:sp>
        <p:nvSpPr>
          <p:cNvPr id="3" name="Text 0"/>
          <p:cNvSpPr/>
          <p:nvPr/>
        </p:nvSpPr>
        <p:spPr>
          <a:xfrm>
            <a:off x="347472" y="73152"/>
            <a:ext cx="10698480" cy="438912"/>
          </a:xfrm>
          <a:prstGeom prst="rect">
            <a:avLst/>
          </a:prstGeom>
          <a:noFill/>
          <a:ln/>
        </p:spPr>
        <p:txBody>
          <a:bodyPr wrap="square" lIns="0" tIns="0" rIns="0" bIns="0" rtlCol="0" anchor="ctr"/>
          <a:lstStyle/>
          <a:p>
            <a:pPr indent="0" marL="0">
              <a:buNone/>
            </a:pPr>
            <a:r>
              <a:rPr lang="en-US" sz="2600" b="1" dirty="0">
                <a:solidFill>
                  <a:srgbClr val="2F5597"/>
                </a:solidFill>
                <a:latin typeface="Calibri" pitchFamily="34" charset="0"/>
                <a:ea typeface="Calibri" pitchFamily="34" charset="-122"/>
                <a:cs typeface="Calibri" pitchFamily="34" charset="-120"/>
              </a:rPr>
              <a:t>4. Summary and Future Plan</a:t>
            </a:r>
            <a:endParaRPr lang="en-US" sz="2600" dirty="0"/>
          </a:p>
        </p:txBody>
      </p:sp>
      <p:sp>
        <p:nvSpPr>
          <p:cNvPr id="4" name="Shape 1"/>
          <p:cNvSpPr/>
          <p:nvPr/>
        </p:nvSpPr>
        <p:spPr>
          <a:xfrm>
            <a:off x="0" y="566928"/>
            <a:ext cx="12191695" cy="475488"/>
          </a:xfrm>
          <a:prstGeom prst="rect">
            <a:avLst/>
          </a:prstGeom>
          <a:solidFill>
            <a:srgbClr val="2F5597"/>
          </a:solidFill>
          <a:ln/>
        </p:spPr>
      </p:sp>
      <p:sp>
        <p:nvSpPr>
          <p:cNvPr id="5" name="Text 2"/>
          <p:cNvSpPr/>
          <p:nvPr/>
        </p:nvSpPr>
        <p:spPr>
          <a:xfrm>
            <a:off x="347472" y="585216"/>
            <a:ext cx="11430000" cy="438912"/>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Contributions, results, and next steps</a:t>
            </a:r>
            <a:endParaRPr lang="en-US" sz="2000" dirty="0"/>
          </a:p>
        </p:txBody>
      </p:sp>
      <p:sp>
        <p:nvSpPr>
          <p:cNvPr id="6" name="Shape 3"/>
          <p:cNvSpPr/>
          <p:nvPr/>
        </p:nvSpPr>
        <p:spPr>
          <a:xfrm>
            <a:off x="320040" y="1115568"/>
            <a:ext cx="11539728" cy="868680"/>
          </a:xfrm>
          <a:prstGeom prst="roundRect">
            <a:avLst>
              <a:gd name="adj" fmla="val 8421"/>
            </a:avLst>
          </a:prstGeom>
          <a:solidFill>
            <a:srgbClr val="EAF0F8"/>
          </a:solidFill>
          <a:ln/>
          <a:effectLst>
            <a:outerShdw sx="100000" sy="100000" kx="0" ky="0" algn="bl" rotWithShape="0" blurRad="50800" dist="12700" dir="16200000">
              <a:srgbClr val="1F2A44">
                <a:alpha val="12000"/>
              </a:srgbClr>
            </a:outerShdw>
          </a:effectLst>
        </p:spPr>
      </p:sp>
      <p:sp>
        <p:nvSpPr>
          <p:cNvPr id="7" name="Text 4"/>
          <p:cNvSpPr/>
          <p:nvPr/>
        </p:nvSpPr>
        <p:spPr>
          <a:xfrm>
            <a:off x="502920" y="1188720"/>
            <a:ext cx="11173968" cy="329184"/>
          </a:xfrm>
          <a:prstGeom prst="rect">
            <a:avLst/>
          </a:prstGeom>
          <a:noFill/>
          <a:ln/>
        </p:spPr>
        <p:txBody>
          <a:bodyPr wrap="square" lIns="0" tIns="0" rIns="0" bIns="0" rtlCol="0" anchor="ctr"/>
          <a:lstStyle/>
          <a:p>
            <a:pPr indent="0" marL="0">
              <a:buNone/>
            </a:pPr>
            <a:r>
              <a:rPr lang="en-US" sz="1700" b="1" dirty="0">
                <a:solidFill>
                  <a:srgbClr val="1E3F73"/>
                </a:solidFill>
                <a:latin typeface="Calibri" pitchFamily="34" charset="0"/>
                <a:ea typeface="Calibri" pitchFamily="34" charset="-122"/>
                <a:cs typeface="Calibri" pitchFamily="34" charset="-120"/>
              </a:rPr>
              <a:t>1. Communication-Constrained Decision Making</a:t>
            </a:r>
            <a:endParaRPr lang="en-US" sz="1700" dirty="0"/>
          </a:p>
        </p:txBody>
      </p:sp>
      <p:sp>
        <p:nvSpPr>
          <p:cNvPr id="8" name="Text 5"/>
          <p:cNvSpPr/>
          <p:nvPr/>
        </p:nvSpPr>
        <p:spPr>
          <a:xfrm>
            <a:off x="502920" y="1517904"/>
            <a:ext cx="11173968" cy="384048"/>
          </a:xfrm>
          <a:prstGeom prst="rect">
            <a:avLst/>
          </a:prstGeom>
          <a:noFill/>
          <a:ln/>
        </p:spPr>
        <p:txBody>
          <a:bodyPr wrap="square" lIns="0" tIns="0" rIns="0" bIns="0" rtlCol="0" anchor="ctr"/>
          <a:lstStyle/>
          <a:p>
            <a:pPr indent="0" marL="0">
              <a:buNone/>
            </a:pPr>
            <a:r>
              <a:rPr lang="en-US" sz="1600" dirty="0">
                <a:solidFill>
                  <a:srgbClr val="1F2A44"/>
                </a:solidFill>
                <a:latin typeface="Calibri" pitchFamily="34" charset="0"/>
                <a:ea typeface="Calibri" pitchFamily="34" charset="-122"/>
                <a:cs typeface="Calibri" pitchFamily="34" charset="-120"/>
              </a:rPr>
              <a:t>Decentralized policies use only local observations and reachable peer information.</a:t>
            </a:r>
            <a:endParaRPr lang="en-US" sz="1600" dirty="0"/>
          </a:p>
        </p:txBody>
      </p:sp>
      <p:sp>
        <p:nvSpPr>
          <p:cNvPr id="9" name="Shape 6"/>
          <p:cNvSpPr/>
          <p:nvPr/>
        </p:nvSpPr>
        <p:spPr>
          <a:xfrm>
            <a:off x="320040" y="2075688"/>
            <a:ext cx="11539728" cy="868680"/>
          </a:xfrm>
          <a:prstGeom prst="roundRect">
            <a:avLst>
              <a:gd name="adj" fmla="val 8421"/>
            </a:avLst>
          </a:prstGeom>
          <a:solidFill>
            <a:srgbClr val="FFF3E8"/>
          </a:solidFill>
          <a:ln/>
          <a:effectLst>
            <a:outerShdw sx="100000" sy="100000" kx="0" ky="0" algn="bl" rotWithShape="0" blurRad="50800" dist="12700" dir="16200000">
              <a:srgbClr val="1F2A44">
                <a:alpha val="12000"/>
              </a:srgbClr>
            </a:outerShdw>
          </a:effectLst>
        </p:spPr>
      </p:sp>
      <p:sp>
        <p:nvSpPr>
          <p:cNvPr id="10" name="Text 7"/>
          <p:cNvSpPr/>
          <p:nvPr/>
        </p:nvSpPr>
        <p:spPr>
          <a:xfrm>
            <a:off x="502920" y="2148840"/>
            <a:ext cx="11173968" cy="329184"/>
          </a:xfrm>
          <a:prstGeom prst="rect">
            <a:avLst/>
          </a:prstGeom>
          <a:noFill/>
          <a:ln/>
        </p:spPr>
        <p:txBody>
          <a:bodyPr wrap="square" lIns="0" tIns="0" rIns="0" bIns="0" rtlCol="0" anchor="ctr"/>
          <a:lstStyle/>
          <a:p>
            <a:pPr indent="0" marL="0">
              <a:buNone/>
            </a:pPr>
            <a:r>
              <a:rPr lang="en-US" sz="1700" b="1" dirty="0">
                <a:solidFill>
                  <a:srgbClr val="1E3F73"/>
                </a:solidFill>
                <a:latin typeface="Calibri" pitchFamily="34" charset="0"/>
                <a:ea typeface="Calibri" pitchFamily="34" charset="-122"/>
                <a:cs typeface="Calibri" pitchFamily="34" charset="-120"/>
              </a:rPr>
              <a:t>2. Belief Management</a:t>
            </a:r>
            <a:endParaRPr lang="en-US" sz="1700" dirty="0"/>
          </a:p>
        </p:txBody>
      </p:sp>
      <p:sp>
        <p:nvSpPr>
          <p:cNvPr id="11" name="Text 8"/>
          <p:cNvSpPr/>
          <p:nvPr/>
        </p:nvSpPr>
        <p:spPr>
          <a:xfrm>
            <a:off x="502920" y="2478024"/>
            <a:ext cx="11173968" cy="384048"/>
          </a:xfrm>
          <a:prstGeom prst="rect">
            <a:avLst/>
          </a:prstGeom>
          <a:noFill/>
          <a:ln/>
        </p:spPr>
        <p:txBody>
          <a:bodyPr wrap="square" lIns="0" tIns="0" rIns="0" bIns="0" rtlCol="0" anchor="ctr"/>
          <a:lstStyle/>
          <a:p>
            <a:pPr indent="0" marL="0">
              <a:buNone/>
            </a:pPr>
            <a:r>
              <a:rPr lang="en-US" sz="1600" dirty="0">
                <a:solidFill>
                  <a:srgbClr val="1F2A44"/>
                </a:solidFill>
                <a:latin typeface="Calibri" pitchFamily="34" charset="0"/>
                <a:ea typeface="Calibri" pitchFamily="34" charset="-122"/>
                <a:cs typeface="Calibri" pitchFamily="34" charset="-120"/>
              </a:rPr>
              <a:t>Revisit-aware P/E/R memory + communication-history-aware source selection.</a:t>
            </a:r>
            <a:endParaRPr lang="en-US" sz="1600" dirty="0"/>
          </a:p>
        </p:txBody>
      </p:sp>
      <p:sp>
        <p:nvSpPr>
          <p:cNvPr id="12" name="Shape 9"/>
          <p:cNvSpPr/>
          <p:nvPr/>
        </p:nvSpPr>
        <p:spPr>
          <a:xfrm>
            <a:off x="320040" y="3035808"/>
            <a:ext cx="11539728" cy="868680"/>
          </a:xfrm>
          <a:prstGeom prst="roundRect">
            <a:avLst>
              <a:gd name="adj" fmla="val 8421"/>
            </a:avLst>
          </a:prstGeom>
          <a:solidFill>
            <a:srgbClr val="EAF0F8"/>
          </a:solidFill>
          <a:ln/>
          <a:effectLst>
            <a:outerShdw sx="100000" sy="100000" kx="0" ky="0" algn="bl" rotWithShape="0" blurRad="50800" dist="12700" dir="16200000">
              <a:srgbClr val="1F2A44">
                <a:alpha val="12000"/>
              </a:srgbClr>
            </a:outerShdw>
          </a:effectLst>
        </p:spPr>
      </p:sp>
      <p:sp>
        <p:nvSpPr>
          <p:cNvPr id="13" name="Text 10"/>
          <p:cNvSpPr/>
          <p:nvPr/>
        </p:nvSpPr>
        <p:spPr>
          <a:xfrm>
            <a:off x="502920" y="3108960"/>
            <a:ext cx="11173968" cy="329184"/>
          </a:xfrm>
          <a:prstGeom prst="rect">
            <a:avLst/>
          </a:prstGeom>
          <a:noFill/>
          <a:ln/>
        </p:spPr>
        <p:txBody>
          <a:bodyPr wrap="square" lIns="0" tIns="0" rIns="0" bIns="0" rtlCol="0" anchor="ctr"/>
          <a:lstStyle/>
          <a:p>
            <a:pPr indent="0" marL="0">
              <a:buNone/>
            </a:pPr>
            <a:r>
              <a:rPr lang="en-US" sz="1700" b="1" dirty="0">
                <a:solidFill>
                  <a:srgbClr val="1E3F73"/>
                </a:solidFill>
                <a:latin typeface="Calibri" pitchFamily="34" charset="0"/>
                <a:ea typeface="Calibri" pitchFamily="34" charset="-122"/>
                <a:cs typeface="Calibri" pitchFamily="34" charset="-120"/>
              </a:rPr>
              <a:t>3. Heterogeneous Relational Encoding</a:t>
            </a:r>
            <a:endParaRPr lang="en-US" sz="1700" dirty="0"/>
          </a:p>
        </p:txBody>
      </p:sp>
      <p:sp>
        <p:nvSpPr>
          <p:cNvPr id="14" name="Text 11"/>
          <p:cNvSpPr/>
          <p:nvPr/>
        </p:nvSpPr>
        <p:spPr>
          <a:xfrm>
            <a:off x="502920" y="3438144"/>
            <a:ext cx="11173968" cy="384048"/>
          </a:xfrm>
          <a:prstGeom prst="rect">
            <a:avLst/>
          </a:prstGeom>
          <a:noFill/>
          <a:ln/>
        </p:spPr>
        <p:txBody>
          <a:bodyPr wrap="square" lIns="0" tIns="0" rIns="0" bIns="0" rtlCol="0" anchor="ctr"/>
          <a:lstStyle/>
          <a:p>
            <a:pPr indent="0" marL="0">
              <a:buNone/>
            </a:pPr>
            <a:r>
              <a:rPr lang="en-US" sz="1600" dirty="0">
                <a:solidFill>
                  <a:srgbClr val="1F2A44"/>
                </a:solidFill>
                <a:latin typeface="Calibri" pitchFamily="34" charset="0"/>
                <a:ea typeface="Calibri" pitchFamily="34" charset="-122"/>
                <a:cs typeface="Calibri" pitchFamily="34" charset="-120"/>
              </a:rPr>
              <a:t>HGAT explicitly models peer, task and obstacle relations within MAPPO.</a:t>
            </a:r>
            <a:endParaRPr lang="en-US" sz="1600" dirty="0"/>
          </a:p>
        </p:txBody>
      </p:sp>
      <p:sp>
        <p:nvSpPr>
          <p:cNvPr id="15" name="Shape 12"/>
          <p:cNvSpPr/>
          <p:nvPr/>
        </p:nvSpPr>
        <p:spPr>
          <a:xfrm>
            <a:off x="320040" y="4041648"/>
            <a:ext cx="11539728" cy="960120"/>
          </a:xfrm>
          <a:prstGeom prst="roundRect">
            <a:avLst>
              <a:gd name="adj" fmla="val 7619"/>
            </a:avLst>
          </a:prstGeom>
          <a:solidFill>
            <a:srgbClr val="2F5597"/>
          </a:solidFill>
          <a:ln/>
        </p:spPr>
      </p:sp>
      <p:sp>
        <p:nvSpPr>
          <p:cNvPr id="16" name="Text 13"/>
          <p:cNvSpPr/>
          <p:nvPr/>
        </p:nvSpPr>
        <p:spPr>
          <a:xfrm>
            <a:off x="457200" y="4096512"/>
            <a:ext cx="11265408"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62.15% belief decisiveness   |   86.78% discovery   |   82.0% T80 success</a:t>
            </a:r>
            <a:endParaRPr lang="en-US" sz="2000" dirty="0"/>
          </a:p>
        </p:txBody>
      </p:sp>
      <p:sp>
        <p:nvSpPr>
          <p:cNvPr id="17" name="Text 14"/>
          <p:cNvSpPr/>
          <p:nvPr/>
        </p:nvSpPr>
        <p:spPr>
          <a:xfrm>
            <a:off x="457200" y="4526280"/>
            <a:ext cx="11265408" cy="365760"/>
          </a:xfrm>
          <a:prstGeom prst="rect">
            <a:avLst/>
          </a:prstGeom>
          <a:noFill/>
          <a:ln/>
        </p:spPr>
        <p:txBody>
          <a:bodyPr wrap="square" lIns="0" tIns="0" rIns="0" bIns="0" rtlCol="0" anchor="ctr"/>
          <a:lstStyle/>
          <a:p>
            <a:pPr algn="ctr" indent="0" marL="0">
              <a:buNone/>
            </a:pPr>
            <a:r>
              <a:rPr lang="en-US" sz="1600" dirty="0">
                <a:solidFill>
                  <a:srgbClr val="D6E2F5"/>
                </a:solidFill>
                <a:latin typeface="Calibri" pitchFamily="34" charset="0"/>
                <a:ea typeface="Calibri" pitchFamily="34" charset="-122"/>
                <a:cs typeface="Calibri" pitchFamily="34" charset="-120"/>
              </a:rPr>
              <a:t>88.63 steps conditional T80</a:t>
            </a:r>
            <a:endParaRPr lang="en-US" sz="1600" dirty="0"/>
          </a:p>
        </p:txBody>
      </p:sp>
      <p:sp>
        <p:nvSpPr>
          <p:cNvPr id="18" name="Text 15"/>
          <p:cNvSpPr/>
          <p:nvPr/>
        </p:nvSpPr>
        <p:spPr>
          <a:xfrm>
            <a:off x="365760" y="5102352"/>
            <a:ext cx="11430000" cy="292608"/>
          </a:xfrm>
          <a:prstGeom prst="rect">
            <a:avLst/>
          </a:prstGeom>
          <a:noFill/>
          <a:ln/>
        </p:spPr>
        <p:txBody>
          <a:bodyPr wrap="square" lIns="0" tIns="0" rIns="0" bIns="0" rtlCol="0" anchor="ctr"/>
          <a:lstStyle/>
          <a:p>
            <a:pPr indent="0" marL="0">
              <a:buNone/>
            </a:pPr>
            <a:r>
              <a:rPr lang="en-US" sz="1600" b="1" dirty="0">
                <a:solidFill>
                  <a:srgbClr val="2F5597"/>
                </a:solidFill>
                <a:latin typeface="Calibri" pitchFamily="34" charset="0"/>
                <a:ea typeface="Calibri" pitchFamily="34" charset="-122"/>
                <a:cs typeface="Calibri" pitchFamily="34" charset="-120"/>
              </a:rPr>
              <a:t>Future Plan</a:t>
            </a:r>
            <a:endParaRPr lang="en-US" sz="1600" dirty="0"/>
          </a:p>
        </p:txBody>
      </p:sp>
      <p:sp>
        <p:nvSpPr>
          <p:cNvPr id="19" name="Shape 16"/>
          <p:cNvSpPr/>
          <p:nvPr/>
        </p:nvSpPr>
        <p:spPr>
          <a:xfrm>
            <a:off x="320040" y="5440680"/>
            <a:ext cx="3794760" cy="868680"/>
          </a:xfrm>
          <a:prstGeom prst="roundRect">
            <a:avLst>
              <a:gd name="adj" fmla="val 8421"/>
            </a:avLst>
          </a:prstGeom>
          <a:solidFill>
            <a:srgbClr val="F4F6FA"/>
          </a:solidFill>
          <a:ln/>
          <a:effectLst>
            <a:outerShdw sx="100000" sy="100000" kx="0" ky="0" algn="bl" rotWithShape="0" blurRad="50800" dist="12700" dir="16200000">
              <a:srgbClr val="1F2A44">
                <a:alpha val="12000"/>
              </a:srgbClr>
            </a:outerShdw>
          </a:effectLst>
        </p:spPr>
      </p:sp>
      <p:sp>
        <p:nvSpPr>
          <p:cNvPr id="20" name="Text 17"/>
          <p:cNvSpPr/>
          <p:nvPr/>
        </p:nvSpPr>
        <p:spPr>
          <a:xfrm>
            <a:off x="429768" y="5504688"/>
            <a:ext cx="3566160" cy="292608"/>
          </a:xfrm>
          <a:prstGeom prst="rect">
            <a:avLst/>
          </a:prstGeom>
          <a:noFill/>
          <a:ln/>
        </p:spPr>
        <p:txBody>
          <a:bodyPr wrap="square" lIns="0" tIns="0" rIns="0" bIns="0" rtlCol="0" anchor="ctr"/>
          <a:lstStyle/>
          <a:p>
            <a:pPr indent="0" marL="0">
              <a:buNone/>
            </a:pPr>
            <a:r>
              <a:rPr lang="en-US" sz="1500" b="1" dirty="0">
                <a:solidFill>
                  <a:srgbClr val="2F5597"/>
                </a:solidFill>
                <a:latin typeface="Calibri" pitchFamily="34" charset="0"/>
                <a:ea typeface="Calibri" pitchFamily="34" charset="-122"/>
                <a:cs typeface="Calibri" pitchFamily="34" charset="-120"/>
              </a:rPr>
              <a:t>3D environments</a:t>
            </a:r>
            <a:endParaRPr lang="en-US" sz="1500" dirty="0"/>
          </a:p>
        </p:txBody>
      </p:sp>
      <p:sp>
        <p:nvSpPr>
          <p:cNvPr id="21" name="Text 18"/>
          <p:cNvSpPr/>
          <p:nvPr/>
        </p:nvSpPr>
        <p:spPr>
          <a:xfrm>
            <a:off x="429768" y="5797296"/>
            <a:ext cx="3566160" cy="438912"/>
          </a:xfrm>
          <a:prstGeom prst="rect">
            <a:avLst/>
          </a:prstGeom>
          <a:noFill/>
          <a:ln/>
        </p:spPr>
        <p:txBody>
          <a:bodyPr wrap="square" lIns="0" tIns="0" rIns="0" bIns="0" rtlCol="0" anchor="ctr"/>
          <a:lstStyle/>
          <a:p>
            <a:pPr indent="0" marL="0">
              <a:buNone/>
            </a:pPr>
            <a:r>
              <a:rPr lang="en-US" sz="1300" dirty="0">
                <a:solidFill>
                  <a:srgbClr val="1F2A44"/>
                </a:solidFill>
                <a:latin typeface="Calibri" pitchFamily="34" charset="0"/>
                <a:ea typeface="Calibri" pitchFamily="34" charset="-122"/>
                <a:cs typeface="Calibri" pitchFamily="34" charset="-120"/>
              </a:rPr>
              <a:t>Extend planar search to three-dimensional UAV scenarios</a:t>
            </a:r>
            <a:endParaRPr lang="en-US" sz="1300" dirty="0"/>
          </a:p>
        </p:txBody>
      </p:sp>
      <p:sp>
        <p:nvSpPr>
          <p:cNvPr id="22" name="Shape 19"/>
          <p:cNvSpPr/>
          <p:nvPr/>
        </p:nvSpPr>
        <p:spPr>
          <a:xfrm>
            <a:off x="4270248" y="5440680"/>
            <a:ext cx="3794760" cy="868680"/>
          </a:xfrm>
          <a:prstGeom prst="roundRect">
            <a:avLst>
              <a:gd name="adj" fmla="val 8421"/>
            </a:avLst>
          </a:prstGeom>
          <a:solidFill>
            <a:srgbClr val="F4F6FA"/>
          </a:solidFill>
          <a:ln/>
          <a:effectLst>
            <a:outerShdw sx="100000" sy="100000" kx="0" ky="0" algn="bl" rotWithShape="0" blurRad="50800" dist="12700" dir="16200000">
              <a:srgbClr val="1F2A44">
                <a:alpha val="12000"/>
              </a:srgbClr>
            </a:outerShdw>
          </a:effectLst>
        </p:spPr>
      </p:sp>
      <p:sp>
        <p:nvSpPr>
          <p:cNvPr id="23" name="Text 20"/>
          <p:cNvSpPr/>
          <p:nvPr/>
        </p:nvSpPr>
        <p:spPr>
          <a:xfrm>
            <a:off x="4379976" y="5504688"/>
            <a:ext cx="3566160" cy="292608"/>
          </a:xfrm>
          <a:prstGeom prst="rect">
            <a:avLst/>
          </a:prstGeom>
          <a:noFill/>
          <a:ln/>
        </p:spPr>
        <p:txBody>
          <a:bodyPr wrap="square" lIns="0" tIns="0" rIns="0" bIns="0" rtlCol="0" anchor="ctr"/>
          <a:lstStyle/>
          <a:p>
            <a:pPr indent="0" marL="0">
              <a:buNone/>
            </a:pPr>
            <a:r>
              <a:rPr lang="en-US" sz="1500" b="1" dirty="0">
                <a:solidFill>
                  <a:srgbClr val="2F5597"/>
                </a:solidFill>
                <a:latin typeface="Calibri" pitchFamily="34" charset="0"/>
                <a:ea typeface="Calibri" pitchFamily="34" charset="-122"/>
                <a:cs typeface="Calibri" pitchFamily="34" charset="-120"/>
              </a:rPr>
              <a:t>Fully decentralized safety</a:t>
            </a:r>
            <a:endParaRPr lang="en-US" sz="1500" dirty="0"/>
          </a:p>
        </p:txBody>
      </p:sp>
      <p:sp>
        <p:nvSpPr>
          <p:cNvPr id="24" name="Text 21"/>
          <p:cNvSpPr/>
          <p:nvPr/>
        </p:nvSpPr>
        <p:spPr>
          <a:xfrm>
            <a:off x="4379976" y="5797296"/>
            <a:ext cx="3566160" cy="438912"/>
          </a:xfrm>
          <a:prstGeom prst="rect">
            <a:avLst/>
          </a:prstGeom>
          <a:noFill/>
          <a:ln/>
        </p:spPr>
        <p:txBody>
          <a:bodyPr wrap="square" lIns="0" tIns="0" rIns="0" bIns="0" rtlCol="0" anchor="ctr"/>
          <a:lstStyle/>
          <a:p>
            <a:pPr indent="0" marL="0">
              <a:buNone/>
            </a:pPr>
            <a:r>
              <a:rPr lang="en-US" sz="1300" dirty="0">
                <a:solidFill>
                  <a:srgbClr val="1F2A44"/>
                </a:solidFill>
                <a:latin typeface="Calibri" pitchFamily="34" charset="0"/>
                <a:ea typeface="Calibri" pitchFamily="34" charset="-122"/>
                <a:cs typeface="Calibri" pitchFamily="34" charset="-120"/>
              </a:rPr>
              <a:t>Remove the simulator-level centralized safety supervisor</a:t>
            </a:r>
            <a:endParaRPr lang="en-US" sz="1300" dirty="0"/>
          </a:p>
        </p:txBody>
      </p:sp>
      <p:sp>
        <p:nvSpPr>
          <p:cNvPr id="25" name="Shape 22"/>
          <p:cNvSpPr/>
          <p:nvPr/>
        </p:nvSpPr>
        <p:spPr>
          <a:xfrm>
            <a:off x="8220456" y="5440680"/>
            <a:ext cx="3794760" cy="868680"/>
          </a:xfrm>
          <a:prstGeom prst="roundRect">
            <a:avLst>
              <a:gd name="adj" fmla="val 8421"/>
            </a:avLst>
          </a:prstGeom>
          <a:solidFill>
            <a:srgbClr val="F4F6FA"/>
          </a:solidFill>
          <a:ln/>
          <a:effectLst>
            <a:outerShdw sx="100000" sy="100000" kx="0" ky="0" algn="bl" rotWithShape="0" blurRad="50800" dist="12700" dir="16200000">
              <a:srgbClr val="1F2A44">
                <a:alpha val="12000"/>
              </a:srgbClr>
            </a:outerShdw>
          </a:effectLst>
        </p:spPr>
      </p:sp>
      <p:sp>
        <p:nvSpPr>
          <p:cNvPr id="26" name="Text 23"/>
          <p:cNvSpPr/>
          <p:nvPr/>
        </p:nvSpPr>
        <p:spPr>
          <a:xfrm>
            <a:off x="8330184" y="5504688"/>
            <a:ext cx="3566160" cy="292608"/>
          </a:xfrm>
          <a:prstGeom prst="rect">
            <a:avLst/>
          </a:prstGeom>
          <a:noFill/>
          <a:ln/>
        </p:spPr>
        <p:txBody>
          <a:bodyPr wrap="square" lIns="0" tIns="0" rIns="0" bIns="0" rtlCol="0" anchor="ctr"/>
          <a:lstStyle/>
          <a:p>
            <a:pPr indent="0" marL="0">
              <a:buNone/>
            </a:pPr>
            <a:r>
              <a:rPr lang="en-US" sz="1500" b="1" dirty="0">
                <a:solidFill>
                  <a:srgbClr val="2F5597"/>
                </a:solidFill>
                <a:latin typeface="Calibri" pitchFamily="34" charset="0"/>
                <a:ea typeface="Calibri" pitchFamily="34" charset="-122"/>
                <a:cs typeface="Calibri" pitchFamily="34" charset="-120"/>
              </a:rPr>
              <a:t>Realistic validation</a:t>
            </a:r>
            <a:endParaRPr lang="en-US" sz="1500" dirty="0"/>
          </a:p>
        </p:txBody>
      </p:sp>
      <p:sp>
        <p:nvSpPr>
          <p:cNvPr id="27" name="Text 24"/>
          <p:cNvSpPr/>
          <p:nvPr/>
        </p:nvSpPr>
        <p:spPr>
          <a:xfrm>
            <a:off x="8330184" y="5797296"/>
            <a:ext cx="3566160" cy="438912"/>
          </a:xfrm>
          <a:prstGeom prst="rect">
            <a:avLst/>
          </a:prstGeom>
          <a:noFill/>
          <a:ln/>
        </p:spPr>
        <p:txBody>
          <a:bodyPr wrap="square" lIns="0" tIns="0" rIns="0" bIns="0" rtlCol="0" anchor="ctr"/>
          <a:lstStyle/>
          <a:p>
            <a:pPr indent="0" marL="0">
              <a:buNone/>
            </a:pPr>
            <a:r>
              <a:rPr lang="en-US" sz="1300" dirty="0">
                <a:solidFill>
                  <a:srgbClr val="1F2A44"/>
                </a:solidFill>
                <a:latin typeface="Calibri" pitchFamily="34" charset="0"/>
                <a:ea typeface="Calibri" pitchFamily="34" charset="-122"/>
                <a:cs typeface="Calibri" pitchFamily="34" charset="-120"/>
              </a:rPr>
              <a:t>Hardware-in-the-loop and real communication systems</a:t>
            </a:r>
            <a:endParaRPr lang="en-US" sz="1300" dirty="0"/>
          </a:p>
        </p:txBody>
      </p:sp>
      <p:sp>
        <p:nvSpPr>
          <p:cNvPr id="28" name="Text 25"/>
          <p:cNvSpPr/>
          <p:nvPr/>
        </p:nvSpPr>
        <p:spPr>
          <a:xfrm>
            <a:off x="11475720" y="6510528"/>
            <a:ext cx="502920" cy="256032"/>
          </a:xfrm>
          <a:prstGeom prst="rect">
            <a:avLst/>
          </a:prstGeom>
          <a:noFill/>
          <a:ln/>
        </p:spPr>
        <p:txBody>
          <a:bodyPr wrap="square" lIns="0" tIns="0" rIns="0" bIns="0" rtlCol="0" anchor="ctr"/>
          <a:lstStyle/>
          <a:p>
            <a:pPr algn="r" indent="0" marL="0">
              <a:buNone/>
            </a:pPr>
            <a:r>
              <a:rPr lang="en-US" sz="1200" dirty="0">
                <a:solidFill>
                  <a:srgbClr val="2F5597"/>
                </a:solidFill>
                <a:latin typeface="Calibri" pitchFamily="34" charset="0"/>
                <a:ea typeface="Calibri" pitchFamily="34" charset="-122"/>
                <a:cs typeface="Calibri"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pic>
        <p:nvPicPr>
          <p:cNvPr id="3" name="Image 0" descr="/tmp/ppt-work/assets/hust.png">    </p:cNvPr>
          <p:cNvPicPr>
            <a:picLocks noChangeAspect="1"/>
          </p:cNvPicPr>
          <p:nvPr/>
        </p:nvPicPr>
        <p:blipFill>
          <a:blip r:embed="rId1"/>
          <a:stretch>
            <a:fillRect/>
          </a:stretch>
        </p:blipFill>
        <p:spPr>
          <a:xfrm>
            <a:off x="365760" y="205680"/>
            <a:ext cx="1417320" cy="978528"/>
          </a:xfrm>
          <a:prstGeom prst="rect">
            <a:avLst/>
          </a:prstGeom>
        </p:spPr>
      </p:pic>
      <p:pic>
        <p:nvPicPr>
          <p:cNvPr id="4" name="Image 1" descr="/tmp/ppt-work/assets/caa.png">    </p:cNvPr>
          <p:cNvPicPr>
            <a:picLocks noChangeAspect="1"/>
          </p:cNvPicPr>
          <p:nvPr/>
        </p:nvPicPr>
        <p:blipFill>
          <a:blip r:embed="rId2"/>
          <a:stretch>
            <a:fillRect/>
          </a:stretch>
        </p:blipFill>
        <p:spPr>
          <a:xfrm>
            <a:off x="10168128" y="237744"/>
            <a:ext cx="1563624" cy="960120"/>
          </a:xfrm>
          <a:prstGeom prst="rect">
            <a:avLst/>
          </a:prstGeom>
        </p:spPr>
      </p:pic>
      <p:sp>
        <p:nvSpPr>
          <p:cNvPr id="5" name="Shape 1"/>
          <p:cNvSpPr/>
          <p:nvPr/>
        </p:nvSpPr>
        <p:spPr>
          <a:xfrm>
            <a:off x="0" y="1371600"/>
            <a:ext cx="12191695" cy="2880360"/>
          </a:xfrm>
          <a:prstGeom prst="rect">
            <a:avLst/>
          </a:prstGeom>
          <a:solidFill>
            <a:srgbClr val="2F5597"/>
          </a:solidFill>
          <a:ln/>
        </p:spPr>
      </p:sp>
      <p:sp>
        <p:nvSpPr>
          <p:cNvPr id="6" name="Text 2"/>
          <p:cNvSpPr/>
          <p:nvPr/>
        </p:nvSpPr>
        <p:spPr>
          <a:xfrm>
            <a:off x="457200" y="1874520"/>
            <a:ext cx="11247120" cy="109728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Thank you for your attention!</a:t>
            </a:r>
            <a:endParaRPr lang="en-US" sz="4000" dirty="0"/>
          </a:p>
        </p:txBody>
      </p:sp>
      <p:sp>
        <p:nvSpPr>
          <p:cNvPr id="7" name="Text 3"/>
          <p:cNvSpPr/>
          <p:nvPr/>
        </p:nvSpPr>
        <p:spPr>
          <a:xfrm>
            <a:off x="640080" y="2999232"/>
            <a:ext cx="10881360" cy="1005840"/>
          </a:xfrm>
          <a:prstGeom prst="rect">
            <a:avLst/>
          </a:prstGeom>
          <a:noFill/>
          <a:ln/>
        </p:spPr>
        <p:txBody>
          <a:bodyPr wrap="square" lIns="0" tIns="0" rIns="0" bIns="0" rtlCol="0" anchor="ctr"/>
          <a:lstStyle/>
          <a:p>
            <a:pPr algn="ctr" indent="0" marL="0">
              <a:buNone/>
            </a:pPr>
            <a:r>
              <a:rPr lang="en-US" sz="1800" dirty="0">
                <a:solidFill>
                  <a:srgbClr val="D6E2F5"/>
                </a:solidFill>
                <a:latin typeface="Calibri" pitchFamily="34" charset="0"/>
                <a:ea typeface="Calibri" pitchFamily="34" charset="-122"/>
                <a:cs typeface="Calibri" pitchFamily="34" charset="-120"/>
              </a:rPr>
              <a:t>A Heterogeneous Graph-Attention MAPPO Algorithm for</a:t>
            </a:r>
            <a:endParaRPr lang="en-US" sz="1800" dirty="0"/>
          </a:p>
          <a:p>
            <a:pPr algn="ctr" indent="0" marL="0">
              <a:buNone/>
            </a:pPr>
            <a:r>
              <a:rPr lang="en-US" sz="1800" dirty="0">
                <a:solidFill>
                  <a:srgbClr val="D6E2F5"/>
                </a:solidFill>
                <a:latin typeface="Calibri" pitchFamily="34" charset="0"/>
                <a:ea typeface="Calibri" pitchFamily="34" charset="-122"/>
                <a:cs typeface="Calibri" pitchFamily="34" charset="-120"/>
              </a:rPr>
              <a:t>Cooperative Multi-UAV Search under Intermittent Communication Constraints</a:t>
            </a:r>
            <a:endParaRPr lang="en-US" sz="1800" dirty="0"/>
          </a:p>
        </p:txBody>
      </p:sp>
      <p:sp>
        <p:nvSpPr>
          <p:cNvPr id="8" name="Text 4"/>
          <p:cNvSpPr/>
          <p:nvPr/>
        </p:nvSpPr>
        <p:spPr>
          <a:xfrm>
            <a:off x="457200" y="4572000"/>
            <a:ext cx="11247120" cy="1234440"/>
          </a:xfrm>
          <a:prstGeom prst="rect">
            <a:avLst/>
          </a:prstGeom>
          <a:noFill/>
          <a:ln/>
        </p:spPr>
        <p:txBody>
          <a:bodyPr wrap="square" lIns="0" tIns="0" rIns="0" bIns="0" rtlCol="0" anchor="ctr"/>
          <a:lstStyle/>
          <a:p>
            <a:pPr algn="ctr" indent="0" marL="0">
              <a:buNone/>
            </a:pPr>
            <a:r>
              <a:rPr lang="en-US" sz="1800" dirty="0">
                <a:solidFill>
                  <a:srgbClr val="1F2A44"/>
                </a:solidFill>
                <a:latin typeface="Calibri" pitchFamily="34" charset="0"/>
                <a:ea typeface="Calibri" pitchFamily="34" charset="-122"/>
                <a:cs typeface="Calibri" pitchFamily="34" charset="-120"/>
              </a:rPr>
              <a:t>Yinying Kuang</a:t>
            </a:r>
            <a:endParaRPr lang="en-US" sz="1800" dirty="0"/>
          </a:p>
          <a:p>
            <a:pPr algn="ctr" indent="0" marL="0">
              <a:buNone/>
            </a:pPr>
            <a:r>
              <a:rPr lang="en-US" sz="1800" dirty="0">
                <a:solidFill>
                  <a:srgbClr val="1F2A44"/>
                </a:solidFill>
                <a:latin typeface="Calibri" pitchFamily="34" charset="0"/>
                <a:ea typeface="Calibri" pitchFamily="34" charset="-122"/>
                <a:cs typeface="Calibri" pitchFamily="34" charset="-120"/>
              </a:rPr>
              <a:t>Huazhong University of Science and Technology</a:t>
            </a:r>
            <a:endParaRPr lang="en-US" sz="1800" dirty="0"/>
          </a:p>
          <a:p>
            <a:pPr algn="ctr" indent="0" marL="0">
              <a:buNone/>
            </a:pPr>
            <a:r>
              <a:rPr lang="en-US" sz="1800" dirty="0">
                <a:solidFill>
                  <a:srgbClr val="1F2A44"/>
                </a:solidFill>
                <a:latin typeface="Calibri" pitchFamily="34" charset="0"/>
                <a:ea typeface="Calibri" pitchFamily="34" charset="-122"/>
                <a:cs typeface="Calibri" pitchFamily="34" charset="-120"/>
              </a:rPr>
              <a:t>kuangyinying039@163.com</a:t>
            </a:r>
            <a:endParaRPr lang="en-US" sz="1800" dirty="0"/>
          </a:p>
        </p:txBody>
      </p:sp>
      <p:sp>
        <p:nvSpPr>
          <p:cNvPr id="9" name="Text 5"/>
          <p:cNvSpPr/>
          <p:nvPr/>
        </p:nvSpPr>
        <p:spPr>
          <a:xfrm>
            <a:off x="457200" y="5870448"/>
            <a:ext cx="11247120" cy="365760"/>
          </a:xfrm>
          <a:prstGeom prst="rect">
            <a:avLst/>
          </a:prstGeom>
          <a:noFill/>
          <a:ln/>
        </p:spPr>
        <p:txBody>
          <a:bodyPr wrap="square" lIns="0" tIns="0" rIns="0" bIns="0" rtlCol="0" anchor="ctr"/>
          <a:lstStyle/>
          <a:p>
            <a:pPr algn="ctr" indent="0" marL="0">
              <a:buNone/>
            </a:pPr>
            <a:r>
              <a:rPr lang="en-US" sz="1600" b="1" dirty="0">
                <a:solidFill>
                  <a:srgbClr val="2F5597"/>
                </a:solidFill>
                <a:latin typeface="Calibri" pitchFamily="34" charset="0"/>
                <a:ea typeface="Calibri" pitchFamily="34" charset="-122"/>
                <a:cs typeface="Calibri" pitchFamily="34" charset="-120"/>
              </a:rPr>
              <a:t>CAC 2026  ·  October 2026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IC-HGAT-MAPPO: Cooperative Multi-UAV Search under Intermittent Communication</dc:title>
  <dc:subject>CAC 2026</dc:subject>
  <dc:creator>Yinying Kuang</dc:creator>
  <cp:lastModifiedBy>Yinying Kuang</cp:lastModifiedBy>
  <cp:revision>1</cp:revision>
  <dcterms:created xsi:type="dcterms:W3CDTF">2026-09-15T06:23:32Z</dcterms:created>
  <dcterms:modified xsi:type="dcterms:W3CDTF">2026-09-15T06:23:32Z</dcterms:modified>
</cp:coreProperties>
</file>