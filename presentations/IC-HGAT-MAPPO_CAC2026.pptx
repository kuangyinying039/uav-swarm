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A44"/>
                </a:solidFill>
                <a:latin typeface="Calibri"/>
              </a:defRPr>
            </a:pPr>
            <a:r>
              <a:rPr sz="1100" b="0" i="0" u="none" strike="noStrike">
                <a:solidFill>
                  <a:srgbClr val="1F2A44"/>
                </a:solidFill>
                <a:latin typeface="Calibri"/>
              </a:rPr>
              <a:t>Belief Decisiveness (%)</a:t>
            </a:r>
          </a:p>
        </c:rich>
      </c:tx>
      <c:layout/>
      <c:overlay val="0"/>
    </c:title>
    <c:autoTitleDeleted val="0"/>
    <c:plotArea>
      <c:layout/>
      <c:barChart>
        <c:barDir val="col"/>
        <c:grouping val="clustered"/>
        <c:varyColors val="0"/>
        <c:ser>
          <c:idx val="0"/>
          <c:order val="0"/>
          <c:tx>
            <c:strRef>
              <c:f>Sheet1!$B$1</c:f>
              <c:strCache>
                <c:ptCount val="1"/>
                <c:pt idx="0">
                  <c:v>Decisiveness</c:v>
                </c:pt>
              </c:strCache>
            </c:strRef>
          </c:tx>
          <c:spPr>
            <a:solidFill>
              <a:srgbClr val="5B8CC9"/>
            </a:solidFill>
            <a:effectLst/>
          </c:spPr>
          <c:invertIfNegative val="0"/>
          <c:dLbls>
            <c:numFmt formatCode="#,##0" sourceLinked="0"/>
            <c:txPr>
              <a:bodyPr/>
              <a:lstStyle/>
              <a:p>
                <a:pPr>
                  <a:defRPr b="0" i="0" strike="noStrike" sz="900" u="none">
                    <a:solidFill>
                      <a:srgbClr val="1F2A44"/>
                    </a:solidFill>
                    <a:latin typeface="Arial"/>
                  </a:defRPr>
                </a:pPr>
              </a:p>
            </c:txPr>
            <c:dLblPos val="inEnd"/>
            <c:showLegendKey val="0"/>
            <c:showVal val="1"/>
            <c:showCatName val="0"/>
            <c:showSerName val="0"/>
            <c:showPercent val="0"/>
            <c:showBubbleSize val="0"/>
            <c:showLeaderLines val="0"/>
          </c:dLbls>
          <c:dPt>
            <c:idx val="0"/>
            <c:invertIfNegative val="0"/>
            <c:bubble3D val="0"/>
            <c:spPr>
              <a:solidFill>
                <a:srgbClr val="5B8CC9"/>
              </a:solidFill>
              <a:effectLst/>
            </c:spPr>
          </c:dPt>
          <c:dPt>
            <c:idx val="1"/>
            <c:invertIfNegative val="0"/>
            <c:bubble3D val="0"/>
            <c:spPr>
              <a:solidFill>
                <a:srgbClr val="5B8CC9"/>
              </a:solidFill>
              <a:effectLst/>
            </c:spPr>
          </c:dPt>
          <c:dPt>
            <c:idx val="2"/>
            <c:invertIfNegative val="0"/>
            <c:bubble3D val="0"/>
            <c:spPr>
              <a:solidFill>
                <a:srgbClr val="5B8CC9"/>
              </a:solidFill>
              <a:effectLst/>
            </c:spPr>
          </c:dPt>
          <c:dPt>
            <c:idx val="3"/>
            <c:invertIfNegative val="0"/>
            <c:bubble3D val="0"/>
            <c:spPr>
              <a:solidFill>
                <a:srgbClr val="5B8CC9"/>
              </a:solidFill>
              <a:effectLst/>
            </c:spPr>
          </c:dPt>
          <c:dPt>
            <c:idx val="4"/>
            <c:invertIfNegative val="0"/>
            <c:bubble3D val="0"/>
            <c:spPr>
              <a:solidFill>
                <a:srgbClr val="ED7D31"/>
              </a:solidFill>
              <a:effectLst/>
            </c:spPr>
          </c:dPt>
          <c:cat>
            <c:multiLvlStrRef>
              <c:f>Sheet1!$A$2:$A$6</c:f>
              <c:multiLvlStrCache>
                <c:ptCount val="5"/>
                <c:lvl>
                  <c:pt idx="0">
                    <c:v>Heuristic</c:v>
                  </c:pt>
                  <c:pt idx="1">
                    <c:v>QMIX</c:v>
                  </c:pt>
                  <c:pt idx="2">
                    <c:v>Local</c:v>
                  </c:pt>
                  <c:pt idx="3">
                    <c:v>H-Graph</c:v>
                  </c:pt>
                  <c:pt idx="4">
                    <c:v>IC-HGAT</c:v>
                  </c:pt>
                </c:lvl>
              </c:multiLvlStrCache>
            </c:multiLvlStrRef>
          </c:cat>
          <c:val>
            <c:numRef>
              <c:f>Sheet1!$B$2:$B$6</c:f>
              <c:numCache>
                <c:formatCode>General</c:formatCode>
                <c:ptCount val="5"/>
                <c:pt idx="0">
                  <c:v>44.99</c:v>
                </c:pt>
                <c:pt idx="1">
                  <c:v>30</c:v>
                </c:pt>
                <c:pt idx="2">
                  <c:v>41.91</c:v>
                </c:pt>
                <c:pt idx="3">
                  <c:v>47.05</c:v>
                </c:pt>
                <c:pt idx="4">
                  <c:v>62.15</c:v>
                </c:pt>
              </c:numCache>
            </c:numRef>
          </c:val>
        </c:ser>
        <c:dLbls>
          <c:numFmt formatCode="#,##0" sourceLinked="0"/>
          <c:txPr>
            <a:bodyPr/>
            <a:lstStyle/>
            <a:p>
              <a:pPr>
                <a:defRPr b="0" i="0" strike="noStrike" sz="900" u="none">
                  <a:solidFill>
                    <a:srgbClr val="1F2A44"/>
                  </a:solidFill>
                  <a:latin typeface="Arial"/>
                </a:defRPr>
              </a:pPr>
            </a:p>
          </c:txPr>
          <c:dLblPos val="inEnd"/>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F2A44"/>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0D7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A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A44"/>
                </a:solidFill>
                <a:latin typeface="Calibri"/>
              </a:defRPr>
            </a:pPr>
            <a:r>
              <a:rPr sz="1100" b="0" i="0" u="none" strike="noStrike">
                <a:solidFill>
                  <a:srgbClr val="1F2A44"/>
                </a:solidFill>
                <a:latin typeface="Calibri"/>
              </a:rPr>
              <a:t>Target Discovery (%)</a:t>
            </a:r>
          </a:p>
        </c:rich>
      </c:tx>
      <c:layout/>
      <c:overlay val="0"/>
    </c:title>
    <c:autoTitleDeleted val="0"/>
    <c:plotArea>
      <c:layout/>
      <c:barChart>
        <c:barDir val="col"/>
        <c:grouping val="clustered"/>
        <c:varyColors val="0"/>
        <c:ser>
          <c:idx val="0"/>
          <c:order val="0"/>
          <c:tx>
            <c:strRef>
              <c:f>Sheet1!$B$1</c:f>
              <c:strCache>
                <c:ptCount val="1"/>
                <c:pt idx="0">
                  <c:v>Discovery</c:v>
                </c:pt>
              </c:strCache>
            </c:strRef>
          </c:tx>
          <c:spPr>
            <a:solidFill>
              <a:srgbClr val="5B8CC9"/>
            </a:solidFill>
            <a:effectLst/>
          </c:spPr>
          <c:invertIfNegative val="0"/>
          <c:dLbls>
            <c:numFmt formatCode="#,##0" sourceLinked="0"/>
            <c:txPr>
              <a:bodyPr/>
              <a:lstStyle/>
              <a:p>
                <a:pPr>
                  <a:defRPr b="0" i="0" strike="noStrike" sz="900" u="none">
                    <a:solidFill>
                      <a:srgbClr val="1F2A44"/>
                    </a:solidFill>
                    <a:latin typeface="Arial"/>
                  </a:defRPr>
                </a:pPr>
              </a:p>
            </c:txPr>
            <c:dLblPos val="inEnd"/>
            <c:showLegendKey val="0"/>
            <c:showVal val="1"/>
            <c:showCatName val="0"/>
            <c:showSerName val="0"/>
            <c:showPercent val="0"/>
            <c:showBubbleSize val="0"/>
            <c:showLeaderLines val="0"/>
          </c:dLbls>
          <c:dPt>
            <c:idx val="0"/>
            <c:invertIfNegative val="0"/>
            <c:bubble3D val="0"/>
            <c:spPr>
              <a:solidFill>
                <a:srgbClr val="5B8CC9"/>
              </a:solidFill>
              <a:effectLst/>
            </c:spPr>
          </c:dPt>
          <c:dPt>
            <c:idx val="1"/>
            <c:invertIfNegative val="0"/>
            <c:bubble3D val="0"/>
            <c:spPr>
              <a:solidFill>
                <a:srgbClr val="5B8CC9"/>
              </a:solidFill>
              <a:effectLst/>
            </c:spPr>
          </c:dPt>
          <c:dPt>
            <c:idx val="2"/>
            <c:invertIfNegative val="0"/>
            <c:bubble3D val="0"/>
            <c:spPr>
              <a:solidFill>
                <a:srgbClr val="5B8CC9"/>
              </a:solidFill>
              <a:effectLst/>
            </c:spPr>
          </c:dPt>
          <c:dPt>
            <c:idx val="3"/>
            <c:invertIfNegative val="0"/>
            <c:bubble3D val="0"/>
            <c:spPr>
              <a:solidFill>
                <a:srgbClr val="5B8CC9"/>
              </a:solidFill>
              <a:effectLst/>
            </c:spPr>
          </c:dPt>
          <c:dPt>
            <c:idx val="4"/>
            <c:invertIfNegative val="0"/>
            <c:bubble3D val="0"/>
            <c:spPr>
              <a:solidFill>
                <a:srgbClr val="ED7D31"/>
              </a:solidFill>
              <a:effectLst/>
            </c:spPr>
          </c:dPt>
          <c:cat>
            <c:multiLvlStrRef>
              <c:f>Sheet1!$A$2:$A$6</c:f>
              <c:multiLvlStrCache>
                <c:ptCount val="5"/>
                <c:lvl>
                  <c:pt idx="0">
                    <c:v>Heuristic</c:v>
                  </c:pt>
                  <c:pt idx="1">
                    <c:v>QMIX</c:v>
                  </c:pt>
                  <c:pt idx="2">
                    <c:v>Local</c:v>
                  </c:pt>
                  <c:pt idx="3">
                    <c:v>H-Graph</c:v>
                  </c:pt>
                  <c:pt idx="4">
                    <c:v>IC-HGAT</c:v>
                  </c:pt>
                </c:lvl>
              </c:multiLvlStrCache>
            </c:multiLvlStrRef>
          </c:cat>
          <c:val>
            <c:numRef>
              <c:f>Sheet1!$B$2:$B$6</c:f>
              <c:numCache>
                <c:formatCode>General</c:formatCode>
                <c:ptCount val="5"/>
                <c:pt idx="0">
                  <c:v>77.78</c:v>
                </c:pt>
                <c:pt idx="1">
                  <c:v>72.11</c:v>
                </c:pt>
                <c:pt idx="2">
                  <c:v>76.22</c:v>
                </c:pt>
                <c:pt idx="3">
                  <c:v>79.78</c:v>
                </c:pt>
                <c:pt idx="4">
                  <c:v>86.78</c:v>
                </c:pt>
              </c:numCache>
            </c:numRef>
          </c:val>
        </c:ser>
        <c:dLbls>
          <c:numFmt formatCode="#,##0" sourceLinked="0"/>
          <c:txPr>
            <a:bodyPr/>
            <a:lstStyle/>
            <a:p>
              <a:pPr>
                <a:defRPr b="0" i="0" strike="noStrike" sz="900" u="none">
                  <a:solidFill>
                    <a:srgbClr val="1F2A44"/>
                  </a:solidFill>
                  <a:latin typeface="Arial"/>
                </a:defRPr>
              </a:pPr>
            </a:p>
          </c:txPr>
          <c:dLblPos val="inEnd"/>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F2A44"/>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0D7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A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A44"/>
                </a:solidFill>
                <a:latin typeface="Calibri"/>
              </a:defRPr>
            </a:pPr>
            <a:r>
              <a:rPr sz="1100" b="0" i="0" u="none" strike="noStrike">
                <a:solidFill>
                  <a:srgbClr val="1F2A44"/>
                </a:solidFill>
                <a:latin typeface="Calibri"/>
              </a:rPr>
              <a:t>Ablation  (Decisiveness / Discovery, %)</a:t>
            </a:r>
          </a:p>
        </c:rich>
      </c:tx>
      <c:layout/>
      <c:overlay val="0"/>
    </c:title>
    <c:autoTitleDeleted val="0"/>
    <c:plotArea>
      <c:layout/>
      <c:barChart>
        <c:barDir val="col"/>
        <c:grouping val="clustered"/>
        <c:varyColors val="0"/>
        <c:ser>
          <c:idx val="0"/>
          <c:order val="0"/>
          <c:tx>
            <c:strRef>
              <c:f>Sheet1!$B$1</c:f>
              <c:strCache>
                <c:ptCount val="1"/>
                <c:pt idx="0">
                  <c:v>Decisiveness</c:v>
                </c:pt>
              </c:strCache>
            </c:strRef>
          </c:tx>
          <c:spPr>
            <a:solidFill>
              <a:srgbClr val="2F5597"/>
            </a:solidFill>
            <a:effectLst/>
          </c:spPr>
          <c:invertIfNegative val="0"/>
          <c:dLbls>
            <c:numFmt formatCode="#,##0" sourceLinked="0"/>
            <c:txPr>
              <a:bodyPr/>
              <a:lstStyle/>
              <a:p>
                <a:pPr>
                  <a:defRPr b="0" i="0" strike="noStrike" sz="800" u="none">
                    <a:solidFill>
                      <a:srgbClr val="1F2A44"/>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Full</c:v>
                  </c:pt>
                  <c:pt idx="1">
                    <c:v>w/o Revisit</c:v>
                  </c:pt>
                  <c:pt idx="2">
                    <c:v>w/o History</c:v>
                  </c:pt>
                  <c:pt idx="3">
                    <c:v>Homog. Graph</c:v>
                  </c:pt>
                </c:lvl>
              </c:multiLvlStrCache>
            </c:multiLvlStrRef>
          </c:cat>
          <c:val>
            <c:numRef>
              <c:f>Sheet1!$B$2:$B$5</c:f>
              <c:numCache>
                <c:formatCode>General</c:formatCode>
                <c:ptCount val="4"/>
                <c:pt idx="0">
                  <c:v>62.15</c:v>
                </c:pt>
                <c:pt idx="1">
                  <c:v>45.82</c:v>
                </c:pt>
                <c:pt idx="2">
                  <c:v>53.99</c:v>
                </c:pt>
                <c:pt idx="3">
                  <c:v>47.05</c:v>
                </c:pt>
              </c:numCache>
            </c:numRef>
          </c:val>
        </c:ser>
        <c:ser>
          <c:idx val="1"/>
          <c:order val="1"/>
          <c:tx>
            <c:strRef>
              <c:f>Sheet1!$C$1</c:f>
              <c:strCache>
                <c:ptCount val="1"/>
                <c:pt idx="0">
                  <c:v>Discovery</c:v>
                </c:pt>
              </c:strCache>
            </c:strRef>
          </c:tx>
          <c:spPr>
            <a:solidFill>
              <a:srgbClr val="ED7D31"/>
            </a:solidFill>
            <a:effectLst/>
          </c:spPr>
          <c:invertIfNegative val="0"/>
          <c:dLbls>
            <c:numFmt formatCode="#,##0" sourceLinked="0"/>
            <c:txPr>
              <a:bodyPr/>
              <a:lstStyle/>
              <a:p>
                <a:pPr>
                  <a:defRPr b="0" i="0" strike="noStrike" sz="800" u="none">
                    <a:solidFill>
                      <a:srgbClr val="1F2A44"/>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Full</c:v>
                  </c:pt>
                  <c:pt idx="1">
                    <c:v>w/o Revisit</c:v>
                  </c:pt>
                  <c:pt idx="2">
                    <c:v>w/o History</c:v>
                  </c:pt>
                  <c:pt idx="3">
                    <c:v>Homog. Graph</c:v>
                  </c:pt>
                </c:lvl>
              </c:multiLvlStrCache>
            </c:multiLvlStrRef>
          </c:cat>
          <c:val>
            <c:numRef>
              <c:f>Sheet1!$C$2:$C$5</c:f>
              <c:numCache>
                <c:formatCode>General</c:formatCode>
                <c:ptCount val="4"/>
                <c:pt idx="0">
                  <c:v>86.78</c:v>
                </c:pt>
                <c:pt idx="1">
                  <c:v>73.11</c:v>
                </c:pt>
                <c:pt idx="2">
                  <c:v>85.33</c:v>
                </c:pt>
                <c:pt idx="3">
                  <c:v>79.78</c:v>
                </c:pt>
              </c:numCache>
            </c:numRef>
          </c:val>
        </c:ser>
        <c:dLbls>
          <c:numFmt formatCode="#,##0" sourceLinked="0"/>
          <c:txPr>
            <a:bodyPr/>
            <a:lstStyle/>
            <a:p>
              <a:pPr>
                <a:defRPr b="0" i="0" strike="noStrike" sz="800" u="none">
                  <a:solidFill>
                    <a:srgbClr val="1F2A44"/>
                  </a:solidFill>
                  <a:latin typeface="Arial"/>
                </a:defRPr>
              </a:pPr>
            </a:p>
          </c:txPr>
          <c:dLblPos val="inEnd"/>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A44"/>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0D7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A80"/>
                </a:solidFill>
                <a:latin typeface="Arial"/>
              </a:defRPr>
            </a:pPr>
            <a:endParaRPr lang="en-US"/>
          </a:p>
        </c:txPr>
        <c:crossAx val="2094734554"/>
        <c:crosses val="autoZero"/>
        <c:crossBetween val="between"/>
      </c:valAx>
      <c:spPr>
        <a:noFill/>
        <a:ln>
          <a:noFill/>
        </a:ln>
        <a:effectLst/>
      </c:spPr>
    </c:plotArea>
    <c:legend>
      <c:legendPos val="r"/>
      <c:overlay val="0"/>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各位老师、同学，大家好。感谢主持人，也感谢各位在 CAC 2026 抽出时间听我们汇报。今天的工作面向间歇通信约束下的多无人机协同搜索。请先把问题记清楚：我们不把“全局地图可共享、链路始终连通”当作默认前提，而是把它建模成一个通信受限的 Dec-POMDP——每架无人机只能使用机载观测，以及当前物理上仍可达的邻居消息。算法名称 IC-HGAT-MAPPO 会在问题讲清楚之后再给出。接下来请各位先看目录，了解整场报告的三条主线。
【English】
Good morning, and thank you for joining this CAC 2026 session. This talk studies cooperative multi-UAV search under intermittent communication. Please keep the problem first: we do not assume a shared global map or always-on links. The setting is a communication-constrained Dec-POMDP, so each UAV may use only onboard observations and currently reachable peer messages. The name IC-HGAT-MAPPO comes after the problem is clear. Next, a short contents slide will mark the three parts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报告严格对应论文结构，分成三部分，这里十几秒带过即可。第一部分是背景与问题：从应用场景走到间歇通信下的三个挑战，再映射到三个设计问题。第二部分是方法：问题形式化、整体框架、P/E/R 记忆与历史感知选源，以及异构图注意力加 MAPPO。第三部分是实验与结论：主结果、消融和敏感性，最后收束贡献与展望。下面请先进入第一部分，用三个典型任务说明：为什么多无人机搜索在通信不可靠时会变成一个决策问题。
【English】
The talk has three parts, matching the paper. Part I is background and the problem: applications, three communication-induced challenges, then three design questions. Part II is the method: formulation, the IC-HGAT-MAPPO pipeline, P/E/R memory with history-aware source selection, and heterogeneous graph attention with MAPPO. Part III reports experiments and conclusions. We now enter Part I, starting from three application scenes that make unreliable communication a decision problem, not only a networking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多无人机可以并行覆盖震后搜救、林火监测和海上救援。这类任务的共同需求是：在动态障碍和运动目标下尽快提高发现率，同时把格子级信念推到更决断的状态。很多 MARL 搜索方法默认通信充分、信息接近全局，策略几乎可以当中心化控制器来训。但在干扰、遮挡或距离超限时，链路会间歇中断，可用邻居集合 𝒩_i(t) 随时间跳变。于是问题不再只是“怎么搜”，而是“信息不完整时如何协同搜”。请看下方三栏：左侧是常规设定，中间是更现实的设定，右侧三条研究需求——维持有用信念、利用可达同伴信息、建模异构关系——正好对应后文三个模块。下一页我们把这个现实设定拆成三个可以单独回答的挑战。
【English】
Multi-UAV teams can search in earthquake response, wildfire monitoring, and maritime rescue. The shared need is to raise discovery quickly while driving cell-wise beliefs toward more decisive states, under moving targets and dynamic obstacles. Many MARL search methods assume stable communication and nearly global information, so the policy almost trains as a centralized controller. Under interference, occlusion, or range limits, links drop and the reachable set 𝒩_i(t) jumps over time. The question is therefore not only how to search, but how to coordinate under incomplete information. The three columns map conventional, practical, and research needs onto the three modules that follow. Next we split that practical setting into three challenges we can answer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带着刚才的应用，间歇通信会落到三个核心挑战。第一，没有共享全局地图，观测是局部的，可用邻居随 A_{i,j,t} 变化，决策必须去中心化。第二，同伴、任务或前沿、障碍物角色不同：同伴提供协作信息，任务节点编码搜索效用，障碍编码碰撞风险，不能只用同构 UAV 图。第三，通信恢复后拿到的信念可能过时，可达不等于可信，必须回答“该信哪一个源”。请强调一句：我们优化的是通信约束下的决策，而不是去改 MAC 或路由协议。下一页把三个挑战一一映射到机制，完成从问题到方法的转折。
【English】
From those applications, intermittent communication yields three challenges. First, there is no shared global map; observations are local and the neighbor set changes with A_{i,j,t}, so decisions are decentralized. Second, peers, tasks or frontiers, and obstacles play different roles: cooperation, search utility, and collision risk. A homogeneous UAV graph is not enough. Third, beliefs recovered after an outage may be stale, so reachability is not usefulness: we must choose which source to trust. Our focus is decision-making under communication constraints, not protocol optimization. The next slide maps each challenge onto a mechanism and turns the problem into a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这一页是转折页，请放慢一点。挑战一用不完整信念来表述，对应 revisit-aware 的 P/E/R 记忆：P 是目标存在概率，E 是不确定性，R 是回访陈旧度。挑战二是过时邻居信息，对应通信历史感知的源选择，每个格子只选一个源，避免相关 log-odds 相加。挑战三是异构实体，对应异构图注意力。学习框架是共享 Actor、训练期集中 Critic、MAPPO 加 CTDE；底部安全投影对所有对比方法相同，不是本文贡献。三个问题汇到 IC-HGAT-MAPPO 之后，下一页进入第二部分，先把搜索场景和评价指标写清楚。
【English】
This is the turning slide; please slow down. Incomplete beliefs are handled by revisit-aware P/E/R memory: existence P, uncertainty E, and revisit staleness R. Stale peer information is handled by communication-history-aware source selection, one source per cell, without adding correlated log-odds. Heterogeneous entities are handled by heterogeneous graph attention. Training uses a shared actor, a centralized critic, and MAPPO with CTDE. The safety projection is shared by all methods and is not a contribution. After these three questions collapse into IC-HGAT-MAPPO, Part II begins with the search scene and the evaluation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问题设定对应论文第二节，请先看左侧场景图：实线是当前连通，虚线是断链，还有局部感知、运动目标和动态障碍。仿真是 6 架无人机、15 个目标、10 个障碍、30×30 网格；动作为八方向加悬停。运动方程是可行域投影后的离散更新，决策间隔 Δt 可在 0.45 到 1.0 秒自适应。通信用指示函数 A_{i,j,t}：距离不超过 Rc，且双方都在工作、都允许发射。策略只能使用瞬时可达集合 𝒩_i(t)。评价指标请连公式一起念：发现率 Dt 是已发现目标占比；信念决断度 Ct 是格子上 |2P−1| 的均值，越接近 1 越决断；T80 是 Dt 首次达到 0.8 的最早时刻。Dt、Ct 越高越好，T80 越低越快。设定讲完后，下一页按数据流把整套算法串起来。
【English】
This is the problem formulation. The figure shows live and broken links, local sensing, moving targets, and dynamic obstacles. The setting has 6 UAVs, 15 targets, 10 obstacles, and a 30 by 30 grid, with eight move directions plus hover. Motion is a discrete update with a feasible-set projection and an adaptive interval Δt in [0.45, 1.0] s. The link indicator A_{i,j,t} requires range within Rc and both UAVs active. The policy may use only the instantaneous set 𝒩_i(t). Discovery Dt is the fraction of found targets; decisiveness Ct is the mean of |2P−1| over cells; T80 is the first time Dt reaches 0.8. Higher Dt and Ct are better; lower T80 is faster. With the setting fixed, the next slide walks the full data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请严格按箭头从左到右讲，不要跳模块。执行时：局部观测和链路掩码先更新 P/E/R 记忆，再构造异构图，共享 Actor 输出九个名义动作，最后经安全投影落到可行动作。训练时集中 Critic 看到全局状态，用 MAPPO 的 clip 目标和 GAE 优势写回 Actor；执行阶段去掉 Critic，这就是 CTDE。务必说明：安全投影对所有对比方法相同，性能不能记在 safety layer 上。框架清楚以后，下一页拆开两个信念模块：记什么，以及信谁。
【English】
Please follow the arrows from left to right. At execution, local observation and the link mask update P/E/R memory, then the heterogeneous graph, then the shared actor with nine nominal actions, then safety projection. During training, a centralized critic sees global state and MAPPO writes the update back through a clipped objective and GAE advantages. The critic is removed at execution; that is CTDE. Safety projection is shared by all methods, so it is not the source of the gains. After the pipeline, the next slide opens the two belief modules: what to remember, and whom to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左栏回答“记什么”。每架无人机在格子 x 上维护 log-odds L，再映射成存在概率 P=σ(L)；不确定性 E=exp(−kq|L|)，|L| 越大越确定。回访场 R 以老化系数 α=0.035 增长，并以 β=0.08 向邻域扩散；被感知格子重置为 0。前沿分数 q=E+0.15P+0.65R，后面会用来抽任务节点。右栏回答“信谁”。即使 j 和 k 都能通信，也按距离衰减和通信历史 g_{j,t} 加权，βd=0.28；每个格子只选使 w|L| 最大的一个源，避免把相关 log-odds 简单相加。信念怎么进策略，下一页用异构图注意力和 MAPPO 来回答。
【English】
The left column answers what to remember. Each UAV keeps a log-odds field L and maps it to existence P=σ(L). Uncertainty is E=exp(−kq|L|): larger |L| is more certain. Revisit staleness R ages with α=0.035 and diffuses with β=0.08; sensed cells reset to zero. The frontier score q=E+0.15P+0.65R later nominates task nodes. The right column answers whom to trust. Even if both j and k are reachable, weights use distance decay and communication history g_{j,t} with βd=0.28, and one source is chosen per cell by maximizing w|L|. We do not add correlated log-odds. The next slide feeds these beliefs into heterogeneous graph attention and MAPPO.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异构图以本机 UAV 为中心，分别连同伴、任务和障碍三类关系。注意力不是普通 GAT：除 QK 项外，还有关系置信 log χ、距离先验 −κr d_ik，以及链路掩码。κr 对同伴取 1.5，对任务和障碍取 0.7；网络是 2 层 4 头，任务槽 6 个、障碍槽 4 个。右侧是共享 Actor 输出 9 个名义动作；单一集中 Critic 只在训练使用。奖励是发现增量加决断度增量，减去安全代价，权重 1.0、0.30、0.10。优化用 MAPPO：重要性比 ρt、clip 系数 ε=0.20、GAE λ=0.95、γ=0.99。完整推导不必展开。方法讲完，下一页进入实验：先看协议和主结果。
【English】
The graph is centered on UAV i, with peer, task, and obstacle relations. Attention is not a plain GAT: besides the QK term, it uses relation confidence log χ, a distance prior −κr d_ik, and a link mask. κr is 1.5 for peers and 0.7 for tasks and obstacles. The network has two layers and four heads, with six task slots and four obstacle slots. The shared actor outputs nine nominal actions; one centralized critic is used only in training. The reward is discovery plus decisiveness minus a safety cost, with weights 1.0, 0.30, and 0.10. MAPPO uses the importance ratio ρt, clip ε=0.20, GAE λ=0.95, and γ=0.99. The full PPO derivation can wait for questions. With the method in place, the next slide turns to experiments: protocol and main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实验协议公平：同一环境、奖励、动作空间和训练预算；感知半径 2 格、通信半径 10 格，对应 10 米和 50 米；时域 200 步，训练 2000 回合；5 个独立策略，30 个保留场景。左下轨迹图只说明系统长什么样，不是定量证据。主结果请看柱状图：决断度 62.15%，发现率 86.78%。相对启发式提高 17.16 和 9.00 个百分点，95% 置信区间大约 12.96–21.36；相对 QMIX 提高 32.15 和 14.67 个百分点，区间大约 28.30–36.01。T80 成功率为 82.0%，成功条件下 88.63 步。安全干预仅 0.17%，碰撞与启发式相当，不要把安全列说成本文优势。主结果之后，下一页用消融证明三个模块各自有贡献，并用敏感性看扰动是否吃掉优势。
【English】
The protocol is shared: same environment, reward, action space, and budget; sensing radius 2 cells and communication radius 10 cells, that is 10 m and 50 m; horizon 200 and 2,000 training episodes; five independently trained policies and thirty held-out scenarios. The trajectory figure shows what a run looks like; it is not the quantitative evidence. Read the bars: 62.15 percent decisiveness and 86.78 percent discovery. Versus the heuristic that is plus 17.16 and plus 9.00 points, with a 95 percent CI of about 12.96 to 21.36 on decisiveness; versus QMIX, plus 32.15 and plus 14.67, with a CI of about 28.30 to 36.01. T80 succeeds in 82.0 percent of runs at 88.63 steps when successful. Safety intervention is only 0.17 percent, and collision is comparable to the heuristic, so do not rank the method on safety columns. Next, ablations show that each module contributes, and sensitivity checks whether the gain survives perturbations.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消融说明三个模块都有用。完整模型 62.15 / 86.78。相对同构图 47.05 / 79.78，异构关系带来约 15.10 个百分点决断度。去掉 revisit 记忆落到 45.82 / 73.11，决断度和发现率分别下降 16.33 和 13.67 个百分点。去掉历史加权落到 53.99 / 85.33，决断度下降 8.16，条件 T80 从 88.63 变到 98.19，但阈值成功率从 82.0% 升到 86.7%——这是需要主动承认的权衡：历史加权更决断、条件上更快，但不加权时更多回合能跨过 80% 发现阈值。下方敏感性不必六张图逐张讲，举目标速度和通信半径或中断概率两例，然后说在测试扰动范围内平均发现率更高。数字和机制都齐了，下一页用三条贡献收束，并给出按论文写的未来工作。
【English】
Ablations support all three modules. The full model is 62.15 / 86.78. Heterogeneous relations add about 15.10 points of decisiveness over the homogeneous graph at 47.05 / 79.78. Removing revisit memory drops to 45.82 / 73.11, that is minus 16.33 and minus 13.67 points. Removing history weighting drops to 53.99 / 85.33: decisiveness falls by 8.16 points and conditional T80 slows from 88.63 to 98.19, while threshold success rises from 82.0 to 86.7 percent. That trade-off should be stated: history weighting is more decisive and conditionally faster, but without it more runs cross the 80 percent discovery threshold. Do not walk through all six sensitivity plots. Mention target speed and communication radius or outage, then conclude that mean discovery stays higher over the tested ranges. With numbers and mechanisms in place, the next slide closes with three contributions and the paper’s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总结只留三条，请对应前面三个挑战再念一遍：第一，通信约束下的去中心决策，策略只用局部观测和瞬时可达邻居；第二，信念管理，也就是 P/E/R 记忆加上历史感知选源；第三，异构关系编码，用 HGAT 把同伴、任务和障碍写进 MAPPO。请再报核心数字：62.15% 决断度、86.78% 发现率、82.0% 的 T80 成功率，成功条件下 88.63 步。未来工作按论文来：三维环境、完全去中心安全、以及含真实通信的半实物验证。如果被问到仓库里的围捕代码，只作为口头补充，不要把这篇 search 报告讲成 pursuit。最后一页致谢，欢迎提问。
【English】
Leave three contributions, matching the three challenges: communication-constrained decentralized decisions that use only local observations and reachable peers; belief management with P/E/R and history-aware selection; and heterogeneous relational encoding inside MAPPO. Repeat 62.15 percent, 86.78 percent, 82.0 percent, and 88.63 conditional steps. Future work follows the paper: 3D environments, fully decentralized safety, and hardware-in-the-loop with real communication. If asked about pursuit code in the repo, mention it only as an ongoing extension. Do not turn this search talk into a pursuit talk. The last slide is the thank-you, and then we welcome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谢谢各位老师、同学。欢迎就间歇通信下的 Dec-POMDP 建模、log-odds 信念维护、历史感知源选择，以及异构图注意力提问。联系邮箱是 kuangyinying039@163.com。如果时间允许，我可以从公式或消融里任选一处展开。
【English】
Thank you for your attention. I welcome questions on the Dec-POMDP model, log-odds belief maintenance, history-aware source selection, and heterogeneous graph attention under intermittent communication. My email is kuangyinying039@163.com. If time allows, I can expand any equation or ablation in more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chart" Target="../charts/chart3.xml"/><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pic>
        <p:nvPicPr>
          <p:cNvPr id="3" name="Image 0" descr="/tmp/ppt-work/assets/hust.png">    </p:cNvPr>
          <p:cNvPicPr>
            <a:picLocks noChangeAspect="1"/>
          </p:cNvPicPr>
          <p:nvPr/>
        </p:nvPicPr>
        <p:blipFill>
          <a:blip r:embed="rId1"/>
          <a:stretch>
            <a:fillRect/>
          </a:stretch>
        </p:blipFill>
        <p:spPr>
          <a:xfrm>
            <a:off x="365760" y="204052"/>
            <a:ext cx="1554480" cy="1073224"/>
          </a:xfrm>
          <a:prstGeom prst="rect">
            <a:avLst/>
          </a:prstGeom>
        </p:spPr>
      </p:pic>
      <p:pic>
        <p:nvPicPr>
          <p:cNvPr id="4" name="Image 1" descr="/tmp/ppt-work/assets/caa.png">    </p:cNvPr>
          <p:cNvPicPr>
            <a:picLocks noChangeAspect="1"/>
          </p:cNvPicPr>
          <p:nvPr/>
        </p:nvPicPr>
        <p:blipFill>
          <a:blip r:embed="rId2"/>
          <a:stretch>
            <a:fillRect/>
          </a:stretch>
        </p:blipFill>
        <p:spPr>
          <a:xfrm>
            <a:off x="5147419" y="256032"/>
            <a:ext cx="1638082" cy="1005840"/>
          </a:xfrm>
          <a:prstGeom prst="rect">
            <a:avLst/>
          </a:prstGeom>
        </p:spPr>
      </p:pic>
      <p:sp>
        <p:nvSpPr>
          <p:cNvPr id="5" name="Text 1"/>
          <p:cNvSpPr/>
          <p:nvPr/>
        </p:nvSpPr>
        <p:spPr>
          <a:xfrm>
            <a:off x="6903720" y="384048"/>
            <a:ext cx="4846320" cy="731520"/>
          </a:xfrm>
          <a:prstGeom prst="rect">
            <a:avLst/>
          </a:prstGeom>
          <a:noFill/>
          <a:ln/>
        </p:spPr>
        <p:txBody>
          <a:bodyPr wrap="square" lIns="0" tIns="0" rIns="0" bIns="0" rtlCol="0" anchor="ctr"/>
          <a:lstStyle/>
          <a:p>
            <a:pPr indent="0" marL="0">
              <a:buNone/>
            </a:pPr>
            <a:r>
              <a:rPr lang="en-US" sz="1800" b="1" dirty="0">
                <a:solidFill>
                  <a:srgbClr val="2F5597"/>
                </a:solidFill>
                <a:latin typeface="Calibri" pitchFamily="34" charset="0"/>
                <a:ea typeface="Calibri" pitchFamily="34" charset="-122"/>
                <a:cs typeface="Calibri" pitchFamily="34" charset="-120"/>
              </a:rPr>
              <a:t>Chinese Automation Congress  ·  CAC 2026</a:t>
            </a:r>
            <a:endParaRPr lang="en-US" sz="1800" dirty="0"/>
          </a:p>
        </p:txBody>
      </p:sp>
      <p:sp>
        <p:nvSpPr>
          <p:cNvPr id="6" name="Shape 2"/>
          <p:cNvSpPr/>
          <p:nvPr/>
        </p:nvSpPr>
        <p:spPr>
          <a:xfrm>
            <a:off x="0" y="1417320"/>
            <a:ext cx="12191695" cy="3063240"/>
          </a:xfrm>
          <a:prstGeom prst="rect">
            <a:avLst/>
          </a:prstGeom>
          <a:solidFill>
            <a:srgbClr val="2F5597"/>
          </a:solidFill>
          <a:ln/>
        </p:spPr>
      </p:sp>
      <p:sp>
        <p:nvSpPr>
          <p:cNvPr id="7" name="Text 3"/>
          <p:cNvSpPr/>
          <p:nvPr/>
        </p:nvSpPr>
        <p:spPr>
          <a:xfrm>
            <a:off x="411480" y="1508760"/>
            <a:ext cx="11338560" cy="2880360"/>
          </a:xfrm>
          <a:prstGeom prst="rect">
            <a:avLst/>
          </a:prstGeom>
          <a:noFill/>
          <a:ln/>
        </p:spPr>
        <p:txBody>
          <a:bodyPr wrap="square" lIns="0" tIns="0" rIns="0" bIns="0" rtlCol="0" anchor="ctr"/>
          <a:lstStyle/>
          <a:p>
            <a:pPr algn="ctr" indent="0" marL="0">
              <a:buNone/>
            </a:pPr>
            <a:r>
              <a:rPr lang="en-US" sz="3000" b="1" dirty="0">
                <a:solidFill>
                  <a:srgbClr val="FFFFFF"/>
                </a:solidFill>
                <a:latin typeface="Calibri" pitchFamily="34" charset="0"/>
                <a:ea typeface="Calibri" pitchFamily="34" charset="-122"/>
                <a:cs typeface="Calibri" pitchFamily="34" charset="-120"/>
              </a:rPr>
              <a:t>A Heterogeneous Graph-Attention MAPPO Algorithm</a:t>
            </a:r>
            <a:endParaRPr lang="en-US" sz="3000" dirty="0"/>
          </a:p>
          <a:p>
            <a:pPr algn="ctr" indent="0" marL="0">
              <a:buNone/>
            </a:pPr>
            <a:r>
              <a:rPr lang="en-US" sz="3000" b="1" dirty="0">
                <a:solidFill>
                  <a:srgbClr val="FFFFFF"/>
                </a:solidFill>
                <a:latin typeface="Calibri" pitchFamily="34" charset="0"/>
                <a:ea typeface="Calibri" pitchFamily="34" charset="-122"/>
                <a:cs typeface="Calibri" pitchFamily="34" charset="-120"/>
              </a:rPr>
              <a:t>for Cooperative Multi-UAV Search</a:t>
            </a:r>
            <a:endParaRPr lang="en-US" sz="3000" dirty="0"/>
          </a:p>
          <a:p>
            <a:pPr algn="ctr" indent="0" marL="0">
              <a:buNone/>
            </a:pPr>
            <a:r>
              <a:rPr lang="en-US" sz="3000" b="1" dirty="0">
                <a:solidFill>
                  <a:srgbClr val="FFFFFF"/>
                </a:solidFill>
                <a:latin typeface="Calibri" pitchFamily="34" charset="0"/>
                <a:ea typeface="Calibri" pitchFamily="34" charset="-122"/>
                <a:cs typeface="Calibri" pitchFamily="34" charset="-120"/>
              </a:rPr>
              <a:t>under Intermittent Communication Constraints</a:t>
            </a:r>
            <a:endParaRPr lang="en-US" sz="3000" dirty="0"/>
          </a:p>
        </p:txBody>
      </p:sp>
      <p:sp>
        <p:nvSpPr>
          <p:cNvPr id="8" name="Text 4"/>
          <p:cNvSpPr/>
          <p:nvPr/>
        </p:nvSpPr>
        <p:spPr>
          <a:xfrm>
            <a:off x="457200" y="4617720"/>
            <a:ext cx="11247120" cy="457200"/>
          </a:xfrm>
          <a:prstGeom prst="rect">
            <a:avLst/>
          </a:prstGeom>
          <a:noFill/>
          <a:ln/>
        </p:spPr>
        <p:txBody>
          <a:bodyPr wrap="square" lIns="0" tIns="0" rIns="0" bIns="0" rtlCol="0" anchor="ctr"/>
          <a:lstStyle/>
          <a:p>
            <a:pPr algn="ctr" indent="0" marL="0">
              <a:buNone/>
            </a:pPr>
            <a:r>
              <a:rPr lang="en-US" sz="1800" dirty="0">
                <a:solidFill>
                  <a:srgbClr val="1F2A44"/>
                </a:solidFill>
                <a:latin typeface="Calibri" pitchFamily="34" charset="0"/>
                <a:ea typeface="Calibri" pitchFamily="34" charset="-122"/>
                <a:cs typeface="Calibri" pitchFamily="34" charset="-120"/>
              </a:rPr>
              <a:t>Yinying Kuang, Zhaowei Liang, Yongran Zhi, Huijin Fan*, Lei Liu*, Bo Wang*</a:t>
            </a:r>
            <a:endParaRPr lang="en-US" sz="1800" dirty="0"/>
          </a:p>
        </p:txBody>
      </p:sp>
      <p:sp>
        <p:nvSpPr>
          <p:cNvPr id="9" name="Text 5"/>
          <p:cNvSpPr/>
          <p:nvPr/>
        </p:nvSpPr>
        <p:spPr>
          <a:xfrm>
            <a:off x="457200" y="5074920"/>
            <a:ext cx="11247120" cy="713232"/>
          </a:xfrm>
          <a:prstGeom prst="rect">
            <a:avLst/>
          </a:prstGeom>
          <a:noFill/>
          <a:ln/>
        </p:spPr>
        <p:txBody>
          <a:bodyPr wrap="square" lIns="0" tIns="0" rIns="0" bIns="0" rtlCol="0" anchor="ctr"/>
          <a:lstStyle/>
          <a:p>
            <a:pPr algn="ctr" indent="0" marL="0">
              <a:buNone/>
            </a:pPr>
            <a:r>
              <a:rPr lang="en-US" sz="1700" dirty="0">
                <a:solidFill>
                  <a:srgbClr val="5A6A80"/>
                </a:solidFill>
                <a:latin typeface="Calibri" pitchFamily="34" charset="0"/>
                <a:ea typeface="Calibri" pitchFamily="34" charset="-122"/>
                <a:cs typeface="Calibri" pitchFamily="34" charset="-120"/>
              </a:rPr>
              <a:t>Huazhong University of Science and Technology</a:t>
            </a:r>
            <a:endParaRPr lang="en-US" sz="1700" dirty="0"/>
          </a:p>
          <a:p>
            <a:pPr algn="ctr" indent="0" marL="0">
              <a:buNone/>
            </a:pPr>
            <a:r>
              <a:rPr lang="en-US" sz="1700" dirty="0">
                <a:solidFill>
                  <a:srgbClr val="5A6A80"/>
                </a:solidFill>
                <a:latin typeface="Calibri" pitchFamily="34" charset="0"/>
                <a:ea typeface="Calibri" pitchFamily="34" charset="-122"/>
                <a:cs typeface="Calibri" pitchFamily="34" charset="-120"/>
              </a:rPr>
              <a:t>Wuhan Second Ship Design and Research Institute</a:t>
            </a:r>
            <a:endParaRPr lang="en-US" sz="1700" dirty="0"/>
          </a:p>
        </p:txBody>
      </p:sp>
      <p:sp>
        <p:nvSpPr>
          <p:cNvPr id="10" name="Text 6"/>
          <p:cNvSpPr/>
          <p:nvPr/>
        </p:nvSpPr>
        <p:spPr>
          <a:xfrm>
            <a:off x="457200" y="5779008"/>
            <a:ext cx="11247120" cy="329184"/>
          </a:xfrm>
          <a:prstGeom prst="rect">
            <a:avLst/>
          </a:prstGeom>
          <a:noFill/>
          <a:ln/>
        </p:spPr>
        <p:txBody>
          <a:bodyPr wrap="square" lIns="0" tIns="0" rIns="0" bIns="0" rtlCol="0" anchor="ctr"/>
          <a:lstStyle/>
          <a:p>
            <a:pPr algn="ctr" indent="0" marL="0">
              <a:buNone/>
            </a:pPr>
            <a:r>
              <a:rPr lang="en-US" sz="1700" b="1" dirty="0">
                <a:solidFill>
                  <a:srgbClr val="2F5597"/>
                </a:solidFill>
                <a:latin typeface="Calibri" pitchFamily="34" charset="0"/>
                <a:ea typeface="Calibri" pitchFamily="34" charset="-122"/>
                <a:cs typeface="Calibri" pitchFamily="34" charset="-120"/>
              </a:rPr>
              <a:t>CAC 2026  ·  Beijing  ·  October 2026</a:t>
            </a:r>
            <a:endParaRPr lang="en-US" sz="1700" dirty="0"/>
          </a:p>
        </p:txBody>
      </p:sp>
      <p:sp>
        <p:nvSpPr>
          <p:cNvPr id="11" name="Shape 7"/>
          <p:cNvSpPr/>
          <p:nvPr/>
        </p:nvSpPr>
        <p:spPr>
          <a:xfrm>
            <a:off x="347472" y="6199632"/>
            <a:ext cx="2267712" cy="438912"/>
          </a:xfrm>
          <a:prstGeom prst="roundRect">
            <a:avLst>
              <a:gd name="adj" fmla="val 16667"/>
            </a:avLst>
          </a:prstGeom>
          <a:solidFill>
            <a:srgbClr val="EAF0F8"/>
          </a:solidFill>
          <a:ln/>
        </p:spPr>
      </p:sp>
      <p:sp>
        <p:nvSpPr>
          <p:cNvPr id="12" name="Text 8"/>
          <p:cNvSpPr/>
          <p:nvPr/>
        </p:nvSpPr>
        <p:spPr>
          <a:xfrm>
            <a:off x="347472" y="6199632"/>
            <a:ext cx="2267712" cy="438912"/>
          </a:xfrm>
          <a:prstGeom prst="rect">
            <a:avLst/>
          </a:prstGeom>
          <a:noFill/>
          <a:ln/>
        </p:spPr>
        <p:txBody>
          <a:bodyPr wrap="square" lIns="0" tIns="0" rIns="0" bIns="0" rtlCol="0" anchor="ctr"/>
          <a:lstStyle/>
          <a:p>
            <a:pPr algn="ctr" indent="0" marL="0">
              <a:buNone/>
            </a:pPr>
            <a:r>
              <a:rPr lang="en-US" sz="1100" b="1" dirty="0">
                <a:solidFill>
                  <a:srgbClr val="1E3F73"/>
                </a:solidFill>
                <a:latin typeface="Calibri" pitchFamily="34" charset="0"/>
                <a:ea typeface="Calibri" pitchFamily="34" charset="-122"/>
                <a:cs typeface="Calibri" pitchFamily="34" charset="-120"/>
              </a:rPr>
              <a:t>Dec-POMDP</a:t>
            </a:r>
            <a:endParaRPr lang="en-US" sz="1100" dirty="0"/>
          </a:p>
        </p:txBody>
      </p:sp>
      <p:sp>
        <p:nvSpPr>
          <p:cNvPr id="13" name="Shape 9"/>
          <p:cNvSpPr/>
          <p:nvPr/>
        </p:nvSpPr>
        <p:spPr>
          <a:xfrm>
            <a:off x="2706624" y="6199632"/>
            <a:ext cx="2267712" cy="438912"/>
          </a:xfrm>
          <a:prstGeom prst="roundRect">
            <a:avLst>
              <a:gd name="adj" fmla="val 16667"/>
            </a:avLst>
          </a:prstGeom>
          <a:solidFill>
            <a:srgbClr val="EAF0F8"/>
          </a:solidFill>
          <a:ln/>
        </p:spPr>
      </p:sp>
      <p:sp>
        <p:nvSpPr>
          <p:cNvPr id="14" name="Text 10"/>
          <p:cNvSpPr/>
          <p:nvPr/>
        </p:nvSpPr>
        <p:spPr>
          <a:xfrm>
            <a:off x="2706624" y="6199632"/>
            <a:ext cx="2267712" cy="438912"/>
          </a:xfrm>
          <a:prstGeom prst="rect">
            <a:avLst/>
          </a:prstGeom>
          <a:noFill/>
          <a:ln/>
        </p:spPr>
        <p:txBody>
          <a:bodyPr wrap="square" lIns="0" tIns="0" rIns="0" bIns="0" rtlCol="0" anchor="ctr"/>
          <a:lstStyle/>
          <a:p>
            <a:pPr algn="ctr" indent="0" marL="0">
              <a:buNone/>
            </a:pPr>
            <a:r>
              <a:rPr lang="en-US" sz="1100" b="1" dirty="0">
                <a:solidFill>
                  <a:srgbClr val="1E3F73"/>
                </a:solidFill>
                <a:latin typeface="Calibri" pitchFamily="34" charset="0"/>
                <a:ea typeface="Calibri" pitchFamily="34" charset="-122"/>
                <a:cs typeface="Calibri" pitchFamily="34" charset="-120"/>
              </a:rPr>
              <a:t>Intermittent links</a:t>
            </a:r>
            <a:endParaRPr lang="en-US" sz="1100" dirty="0"/>
          </a:p>
        </p:txBody>
      </p:sp>
      <p:sp>
        <p:nvSpPr>
          <p:cNvPr id="15" name="Shape 11"/>
          <p:cNvSpPr/>
          <p:nvPr/>
        </p:nvSpPr>
        <p:spPr>
          <a:xfrm>
            <a:off x="5065776" y="6199632"/>
            <a:ext cx="2267712" cy="438912"/>
          </a:xfrm>
          <a:prstGeom prst="roundRect">
            <a:avLst>
              <a:gd name="adj" fmla="val 16667"/>
            </a:avLst>
          </a:prstGeom>
          <a:solidFill>
            <a:srgbClr val="EAF0F8"/>
          </a:solidFill>
          <a:ln/>
        </p:spPr>
      </p:sp>
      <p:sp>
        <p:nvSpPr>
          <p:cNvPr id="16" name="Text 12"/>
          <p:cNvSpPr/>
          <p:nvPr/>
        </p:nvSpPr>
        <p:spPr>
          <a:xfrm>
            <a:off x="5065776" y="6199632"/>
            <a:ext cx="2267712" cy="438912"/>
          </a:xfrm>
          <a:prstGeom prst="rect">
            <a:avLst/>
          </a:prstGeom>
          <a:noFill/>
          <a:ln/>
        </p:spPr>
        <p:txBody>
          <a:bodyPr wrap="square" lIns="0" tIns="0" rIns="0" bIns="0" rtlCol="0" anchor="ctr"/>
          <a:lstStyle/>
          <a:p>
            <a:pPr algn="ctr" indent="0" marL="0">
              <a:buNone/>
            </a:pPr>
            <a:r>
              <a:rPr lang="en-US" sz="1100" b="1" dirty="0">
                <a:solidFill>
                  <a:srgbClr val="1E3F73"/>
                </a:solidFill>
                <a:latin typeface="Calibri" pitchFamily="34" charset="0"/>
                <a:ea typeface="Calibri" pitchFamily="34" charset="-122"/>
                <a:cs typeface="Calibri" pitchFamily="34" charset="-120"/>
              </a:rPr>
              <a:t>P / E / R memory</a:t>
            </a:r>
            <a:endParaRPr lang="en-US" sz="1100" dirty="0"/>
          </a:p>
        </p:txBody>
      </p:sp>
      <p:sp>
        <p:nvSpPr>
          <p:cNvPr id="17" name="Shape 13"/>
          <p:cNvSpPr/>
          <p:nvPr/>
        </p:nvSpPr>
        <p:spPr>
          <a:xfrm>
            <a:off x="7424928" y="6199632"/>
            <a:ext cx="2267712" cy="438912"/>
          </a:xfrm>
          <a:prstGeom prst="roundRect">
            <a:avLst>
              <a:gd name="adj" fmla="val 16667"/>
            </a:avLst>
          </a:prstGeom>
          <a:solidFill>
            <a:srgbClr val="EAF0F8"/>
          </a:solidFill>
          <a:ln/>
        </p:spPr>
      </p:sp>
      <p:sp>
        <p:nvSpPr>
          <p:cNvPr id="18" name="Text 14"/>
          <p:cNvSpPr/>
          <p:nvPr/>
        </p:nvSpPr>
        <p:spPr>
          <a:xfrm>
            <a:off x="7424928" y="6199632"/>
            <a:ext cx="2267712" cy="438912"/>
          </a:xfrm>
          <a:prstGeom prst="rect">
            <a:avLst/>
          </a:prstGeom>
          <a:noFill/>
          <a:ln/>
        </p:spPr>
        <p:txBody>
          <a:bodyPr wrap="square" lIns="0" tIns="0" rIns="0" bIns="0" rtlCol="0" anchor="ctr"/>
          <a:lstStyle/>
          <a:p>
            <a:pPr algn="ctr" indent="0" marL="0">
              <a:buNone/>
            </a:pPr>
            <a:r>
              <a:rPr lang="en-US" sz="1100" b="1" dirty="0">
                <a:solidFill>
                  <a:srgbClr val="1E3F73"/>
                </a:solidFill>
                <a:latin typeface="Calibri" pitchFamily="34" charset="0"/>
                <a:ea typeface="Calibri" pitchFamily="34" charset="-122"/>
                <a:cs typeface="Calibri" pitchFamily="34" charset="-120"/>
              </a:rPr>
              <a:t>History-aware source</a:t>
            </a:r>
            <a:endParaRPr lang="en-US" sz="1100" dirty="0"/>
          </a:p>
        </p:txBody>
      </p:sp>
      <p:sp>
        <p:nvSpPr>
          <p:cNvPr id="19" name="Shape 15"/>
          <p:cNvSpPr/>
          <p:nvPr/>
        </p:nvSpPr>
        <p:spPr>
          <a:xfrm>
            <a:off x="9784080" y="6199632"/>
            <a:ext cx="2267712" cy="438912"/>
          </a:xfrm>
          <a:prstGeom prst="roundRect">
            <a:avLst>
              <a:gd name="adj" fmla="val 16667"/>
            </a:avLst>
          </a:prstGeom>
          <a:solidFill>
            <a:srgbClr val="EAF0F8"/>
          </a:solidFill>
          <a:ln/>
        </p:spPr>
      </p:sp>
      <p:sp>
        <p:nvSpPr>
          <p:cNvPr id="20" name="Text 16"/>
          <p:cNvSpPr/>
          <p:nvPr/>
        </p:nvSpPr>
        <p:spPr>
          <a:xfrm>
            <a:off x="9784080" y="6199632"/>
            <a:ext cx="2267712" cy="438912"/>
          </a:xfrm>
          <a:prstGeom prst="rect">
            <a:avLst/>
          </a:prstGeom>
          <a:noFill/>
          <a:ln/>
        </p:spPr>
        <p:txBody>
          <a:bodyPr wrap="square" lIns="0" tIns="0" rIns="0" bIns="0" rtlCol="0" anchor="ctr"/>
          <a:lstStyle/>
          <a:p>
            <a:pPr algn="ctr" indent="0" marL="0">
              <a:buNone/>
            </a:pPr>
            <a:r>
              <a:rPr lang="en-US" sz="1100" b="1" dirty="0">
                <a:solidFill>
                  <a:srgbClr val="1E3F73"/>
                </a:solidFill>
                <a:latin typeface="Calibri" pitchFamily="34" charset="0"/>
                <a:ea typeface="Calibri" pitchFamily="34" charset="-122"/>
                <a:cs typeface="Calibri" pitchFamily="34" charset="-120"/>
              </a:rPr>
              <a:t>HGAT + MAPPO / CTDE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37578" y="91440"/>
            <a:ext cx="715196" cy="493776"/>
          </a:xfrm>
          <a:prstGeom prst="rect">
            <a:avLst/>
          </a:prstGeom>
        </p:spPr>
      </p:pic>
      <p:sp>
        <p:nvSpPr>
          <p:cNvPr id="3" name="Text 0"/>
          <p:cNvSpPr/>
          <p:nvPr/>
        </p:nvSpPr>
        <p:spPr>
          <a:xfrm>
            <a:off x="347472" y="109728"/>
            <a:ext cx="10698480" cy="457200"/>
          </a:xfrm>
          <a:prstGeom prst="rect">
            <a:avLst/>
          </a:prstGeom>
          <a:noFill/>
          <a:ln/>
        </p:spPr>
        <p:txBody>
          <a:bodyPr wrap="square" lIns="0" tIns="0" rIns="0" bIns="0" rtlCol="0" anchor="ctr"/>
          <a:lstStyle/>
          <a:p>
            <a:pPr indent="0" marL="0">
              <a:buNone/>
            </a:pPr>
            <a:r>
              <a:rPr lang="en-US" sz="2800" b="1" dirty="0">
                <a:solidFill>
                  <a:srgbClr val="2F5597"/>
                </a:solidFill>
                <a:latin typeface="Calibri" pitchFamily="34" charset="0"/>
                <a:ea typeface="Calibri" pitchFamily="34" charset="-122"/>
                <a:cs typeface="Calibri" pitchFamily="34" charset="-120"/>
              </a:rPr>
              <a:t>CONTENTS</a:t>
            </a:r>
            <a:endParaRPr lang="en-US" sz="2800" dirty="0"/>
          </a:p>
        </p:txBody>
      </p:sp>
      <p:sp>
        <p:nvSpPr>
          <p:cNvPr id="4" name="Shape 1"/>
          <p:cNvSpPr/>
          <p:nvPr/>
        </p:nvSpPr>
        <p:spPr>
          <a:xfrm>
            <a:off x="0" y="658368"/>
            <a:ext cx="12191695" cy="128016"/>
          </a:xfrm>
          <a:prstGeom prst="rect">
            <a:avLst/>
          </a:prstGeom>
          <a:solidFill>
            <a:srgbClr val="2F5597"/>
          </a:solidFill>
          <a:ln/>
        </p:spPr>
      </p:sp>
      <p:sp>
        <p:nvSpPr>
          <p:cNvPr id="5" name="Shape 2"/>
          <p:cNvSpPr/>
          <p:nvPr/>
        </p:nvSpPr>
        <p:spPr>
          <a:xfrm>
            <a:off x="256032" y="1051560"/>
            <a:ext cx="11658600" cy="475488"/>
          </a:xfrm>
          <a:prstGeom prst="roundRect">
            <a:avLst>
              <a:gd name="adj" fmla="val 15385"/>
            </a:avLst>
          </a:prstGeom>
          <a:solidFill>
            <a:srgbClr val="EAF0F8"/>
          </a:solidFill>
          <a:ln/>
        </p:spPr>
      </p:sp>
      <p:sp>
        <p:nvSpPr>
          <p:cNvPr id="6" name="Text 3"/>
          <p:cNvSpPr/>
          <p:nvPr/>
        </p:nvSpPr>
        <p:spPr>
          <a:xfrm>
            <a:off x="384048" y="1051560"/>
            <a:ext cx="11384280" cy="475488"/>
          </a:xfrm>
          <a:prstGeom prst="rect">
            <a:avLst/>
          </a:prstGeom>
          <a:noFill/>
          <a:ln/>
        </p:spPr>
        <p:txBody>
          <a:bodyPr wrap="square" lIns="0" tIns="0" rIns="0" bIns="0" rtlCol="0" anchor="ctr"/>
          <a:lstStyle/>
          <a:p>
            <a:pPr algn="ctr" indent="0" marL="0">
              <a:buNone/>
            </a:pPr>
            <a:r>
              <a:rPr lang="en-US" sz="1600" i="1" dirty="0">
                <a:solidFill>
                  <a:srgbClr val="1E3F73"/>
                </a:solidFill>
                <a:latin typeface="Calibri" pitchFamily="34" charset="0"/>
                <a:ea typeface="Calibri" pitchFamily="34" charset="-122"/>
                <a:cs typeface="Calibri" pitchFamily="34" charset="-120"/>
              </a:rPr>
              <a:t>A 13-page academic talk  ·  problem first, then IC-HGAT-MAPPO, then evidence</a:t>
            </a:r>
            <a:endParaRPr lang="en-US" sz="1600" dirty="0"/>
          </a:p>
        </p:txBody>
      </p:sp>
      <p:sp>
        <p:nvSpPr>
          <p:cNvPr id="7" name="Shape 4"/>
          <p:cNvSpPr/>
          <p:nvPr/>
        </p:nvSpPr>
        <p:spPr>
          <a:xfrm>
            <a:off x="320040" y="1691640"/>
            <a:ext cx="11539728" cy="1389888"/>
          </a:xfrm>
          <a:prstGeom prst="roundRect">
            <a:avLst>
              <a:gd name="adj" fmla="val 5263"/>
            </a:avLst>
          </a:prstGeom>
          <a:solidFill>
            <a:srgbClr val="FFFFFF"/>
          </a:solidFill>
          <a:ln/>
          <a:effectLst>
            <a:outerShdw sx="100000" sy="100000" kx="0" ky="0" algn="bl" rotWithShape="0" blurRad="50800" dist="12700" dir="16200000">
              <a:srgbClr val="1F2A44">
                <a:alpha val="12000"/>
              </a:srgbClr>
            </a:outerShdw>
          </a:effectLst>
        </p:spPr>
      </p:sp>
      <p:sp>
        <p:nvSpPr>
          <p:cNvPr id="8" name="Shape 5"/>
          <p:cNvSpPr/>
          <p:nvPr/>
        </p:nvSpPr>
        <p:spPr>
          <a:xfrm>
            <a:off x="502920" y="1947672"/>
            <a:ext cx="1234440" cy="868680"/>
          </a:xfrm>
          <a:prstGeom prst="roundRect">
            <a:avLst>
              <a:gd name="adj" fmla="val 10526"/>
            </a:avLst>
          </a:prstGeom>
          <a:solidFill>
            <a:srgbClr val="2F5597"/>
          </a:solidFill>
          <a:ln/>
        </p:spPr>
      </p:sp>
      <p:sp>
        <p:nvSpPr>
          <p:cNvPr id="9" name="Text 6"/>
          <p:cNvSpPr/>
          <p:nvPr/>
        </p:nvSpPr>
        <p:spPr>
          <a:xfrm>
            <a:off x="502920" y="1947672"/>
            <a:ext cx="1234440" cy="86868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01</a:t>
            </a:r>
            <a:endParaRPr lang="en-US" sz="2800" dirty="0"/>
          </a:p>
        </p:txBody>
      </p:sp>
      <p:sp>
        <p:nvSpPr>
          <p:cNvPr id="10" name="Text 7"/>
          <p:cNvSpPr/>
          <p:nvPr/>
        </p:nvSpPr>
        <p:spPr>
          <a:xfrm>
            <a:off x="1920240" y="1801368"/>
            <a:ext cx="9646920" cy="438912"/>
          </a:xfrm>
          <a:prstGeom prst="rect">
            <a:avLst/>
          </a:prstGeom>
          <a:noFill/>
          <a:ln/>
        </p:spPr>
        <p:txBody>
          <a:bodyPr wrap="square" lIns="0" tIns="0" rIns="0" bIns="0" rtlCol="0" anchor="ctr"/>
          <a:lstStyle/>
          <a:p>
            <a:pPr indent="0" marL="0">
              <a:buNone/>
            </a:pPr>
            <a:r>
              <a:rPr lang="en-US" sz="2200" b="1" dirty="0">
                <a:solidFill>
                  <a:srgbClr val="1F2A44"/>
                </a:solidFill>
                <a:latin typeface="Calibri" pitchFamily="34" charset="0"/>
                <a:ea typeface="Calibri" pitchFamily="34" charset="-122"/>
                <a:cs typeface="Calibri" pitchFamily="34" charset="-120"/>
              </a:rPr>
              <a:t>Background and Problem Formulation</a:t>
            </a:r>
            <a:endParaRPr lang="en-US" sz="2200" dirty="0"/>
          </a:p>
        </p:txBody>
      </p:sp>
      <p:sp>
        <p:nvSpPr>
          <p:cNvPr id="11" name="Text 8"/>
          <p:cNvSpPr/>
          <p:nvPr/>
        </p:nvSpPr>
        <p:spPr>
          <a:xfrm>
            <a:off x="1920240" y="2258568"/>
            <a:ext cx="9646920" cy="658368"/>
          </a:xfrm>
          <a:prstGeom prst="rect">
            <a:avLst/>
          </a:prstGeom>
          <a:noFill/>
          <a:ln/>
        </p:spPr>
        <p:txBody>
          <a:bodyPr wrap="square" lIns="0" tIns="0" rIns="0" bIns="0" rtlCol="0" anchor="ctr"/>
          <a:lstStyle/>
          <a:p>
            <a:pPr indent="0" marL="0">
              <a:buNone/>
            </a:pPr>
            <a:r>
              <a:rPr lang="en-US" sz="1600" dirty="0">
                <a:solidFill>
                  <a:srgbClr val="5A6A80"/>
                </a:solidFill>
                <a:latin typeface="Calibri" pitchFamily="34" charset="0"/>
                <a:ea typeface="Calibri" pitchFamily="34" charset="-122"/>
                <a:cs typeface="Calibri" pitchFamily="34" charset="-120"/>
              </a:rPr>
              <a:t>Applications  →  three challenges  →  Q1–Q3 mapping</a:t>
            </a:r>
            <a:endParaRPr lang="en-US" sz="1600" dirty="0"/>
          </a:p>
          <a:p>
            <a:pPr indent="0" marL="0">
              <a:buNone/>
            </a:pPr>
            <a:r>
              <a:rPr lang="en-US" sz="1600" dirty="0">
                <a:solidFill>
                  <a:srgbClr val="5A6A80"/>
                </a:solidFill>
                <a:latin typeface="Calibri" pitchFamily="34" charset="0"/>
                <a:ea typeface="Calibri" pitchFamily="34" charset="-122"/>
                <a:cs typeface="Calibri" pitchFamily="34" charset="-120"/>
              </a:rPr>
              <a:t>Dec-POMDP under intermittent links  Aij,t</a:t>
            </a:r>
            <a:endParaRPr lang="en-US" sz="1600" dirty="0"/>
          </a:p>
        </p:txBody>
      </p:sp>
      <p:sp>
        <p:nvSpPr>
          <p:cNvPr id="12" name="Shape 9"/>
          <p:cNvSpPr/>
          <p:nvPr/>
        </p:nvSpPr>
        <p:spPr>
          <a:xfrm>
            <a:off x="320040" y="3227832"/>
            <a:ext cx="11539728" cy="1389888"/>
          </a:xfrm>
          <a:prstGeom prst="roundRect">
            <a:avLst>
              <a:gd name="adj" fmla="val 5263"/>
            </a:avLst>
          </a:prstGeom>
          <a:solidFill>
            <a:srgbClr val="FFF3E8"/>
          </a:solidFill>
          <a:ln/>
          <a:effectLst>
            <a:outerShdw sx="100000" sy="100000" kx="0" ky="0" algn="bl" rotWithShape="0" blurRad="50800" dist="12700" dir="16200000">
              <a:srgbClr val="1F2A44">
                <a:alpha val="12000"/>
              </a:srgbClr>
            </a:outerShdw>
          </a:effectLst>
        </p:spPr>
      </p:sp>
      <p:sp>
        <p:nvSpPr>
          <p:cNvPr id="13" name="Shape 10"/>
          <p:cNvSpPr/>
          <p:nvPr/>
        </p:nvSpPr>
        <p:spPr>
          <a:xfrm>
            <a:off x="502920" y="3483864"/>
            <a:ext cx="1234440" cy="868680"/>
          </a:xfrm>
          <a:prstGeom prst="roundRect">
            <a:avLst>
              <a:gd name="adj" fmla="val 10526"/>
            </a:avLst>
          </a:prstGeom>
          <a:solidFill>
            <a:srgbClr val="2F5597"/>
          </a:solidFill>
          <a:ln/>
        </p:spPr>
      </p:sp>
      <p:sp>
        <p:nvSpPr>
          <p:cNvPr id="14" name="Text 11"/>
          <p:cNvSpPr/>
          <p:nvPr/>
        </p:nvSpPr>
        <p:spPr>
          <a:xfrm>
            <a:off x="502920" y="3483864"/>
            <a:ext cx="1234440" cy="86868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02</a:t>
            </a:r>
            <a:endParaRPr lang="en-US" sz="2800" dirty="0"/>
          </a:p>
        </p:txBody>
      </p:sp>
      <p:sp>
        <p:nvSpPr>
          <p:cNvPr id="15" name="Text 12"/>
          <p:cNvSpPr/>
          <p:nvPr/>
        </p:nvSpPr>
        <p:spPr>
          <a:xfrm>
            <a:off x="1920240" y="3337560"/>
            <a:ext cx="9646920" cy="438912"/>
          </a:xfrm>
          <a:prstGeom prst="rect">
            <a:avLst/>
          </a:prstGeom>
          <a:noFill/>
          <a:ln/>
        </p:spPr>
        <p:txBody>
          <a:bodyPr wrap="square" lIns="0" tIns="0" rIns="0" bIns="0" rtlCol="0" anchor="ctr"/>
          <a:lstStyle/>
          <a:p>
            <a:pPr indent="0" marL="0">
              <a:buNone/>
            </a:pPr>
            <a:r>
              <a:rPr lang="en-US" sz="2200" b="1" dirty="0">
                <a:solidFill>
                  <a:srgbClr val="1F2A44"/>
                </a:solidFill>
                <a:latin typeface="Calibri" pitchFamily="34" charset="0"/>
                <a:ea typeface="Calibri" pitchFamily="34" charset="-122"/>
                <a:cs typeface="Calibri" pitchFamily="34" charset="-120"/>
              </a:rPr>
              <a:t>Proposed IC-HGAT-MAPPO</a:t>
            </a:r>
            <a:endParaRPr lang="en-US" sz="2200" dirty="0"/>
          </a:p>
        </p:txBody>
      </p:sp>
      <p:sp>
        <p:nvSpPr>
          <p:cNvPr id="16" name="Text 13"/>
          <p:cNvSpPr/>
          <p:nvPr/>
        </p:nvSpPr>
        <p:spPr>
          <a:xfrm>
            <a:off x="1920240" y="3794760"/>
            <a:ext cx="9646920" cy="658368"/>
          </a:xfrm>
          <a:prstGeom prst="rect">
            <a:avLst/>
          </a:prstGeom>
          <a:noFill/>
          <a:ln/>
        </p:spPr>
        <p:txBody>
          <a:bodyPr wrap="square" lIns="0" tIns="0" rIns="0" bIns="0" rtlCol="0" anchor="ctr"/>
          <a:lstStyle/>
          <a:p>
            <a:pPr indent="0" marL="0">
              <a:buNone/>
            </a:pPr>
            <a:r>
              <a:rPr lang="en-US" sz="1600" dirty="0">
                <a:solidFill>
                  <a:srgbClr val="5A6A80"/>
                </a:solidFill>
                <a:latin typeface="Calibri" pitchFamily="34" charset="0"/>
                <a:ea typeface="Calibri" pitchFamily="34" charset="-122"/>
                <a:cs typeface="Calibri" pitchFamily="34" charset="-120"/>
              </a:rPr>
              <a:t>Motion / link / metrics   ·   P/E/R + source selection</a:t>
            </a:r>
            <a:endParaRPr lang="en-US" sz="1600" dirty="0"/>
          </a:p>
          <a:p>
            <a:pPr indent="0" marL="0">
              <a:buNone/>
            </a:pPr>
            <a:r>
              <a:rPr lang="en-US" sz="1600" dirty="0">
                <a:solidFill>
                  <a:srgbClr val="5A6A80"/>
                </a:solidFill>
                <a:latin typeface="Calibri" pitchFamily="34" charset="0"/>
                <a:ea typeface="Calibri" pitchFamily="34" charset="-122"/>
                <a:cs typeface="Calibri" pitchFamily="34" charset="-120"/>
              </a:rPr>
              <a:t>HGAT attention   ·   MAPPO clip / GAE / CTDE</a:t>
            </a:r>
            <a:endParaRPr lang="en-US" sz="1600" dirty="0"/>
          </a:p>
        </p:txBody>
      </p:sp>
      <p:sp>
        <p:nvSpPr>
          <p:cNvPr id="17" name="Shape 14"/>
          <p:cNvSpPr/>
          <p:nvPr/>
        </p:nvSpPr>
        <p:spPr>
          <a:xfrm>
            <a:off x="320040" y="4764024"/>
            <a:ext cx="11539728" cy="1389888"/>
          </a:xfrm>
          <a:prstGeom prst="roundRect">
            <a:avLst>
              <a:gd name="adj" fmla="val 5263"/>
            </a:avLst>
          </a:prstGeom>
          <a:solidFill>
            <a:srgbClr val="FFFFFF"/>
          </a:solidFill>
          <a:ln/>
          <a:effectLst>
            <a:outerShdw sx="100000" sy="100000" kx="0" ky="0" algn="bl" rotWithShape="0" blurRad="50800" dist="12700" dir="16200000">
              <a:srgbClr val="1F2A44">
                <a:alpha val="12000"/>
              </a:srgbClr>
            </a:outerShdw>
          </a:effectLst>
        </p:spPr>
      </p:sp>
      <p:sp>
        <p:nvSpPr>
          <p:cNvPr id="18" name="Shape 15"/>
          <p:cNvSpPr/>
          <p:nvPr/>
        </p:nvSpPr>
        <p:spPr>
          <a:xfrm>
            <a:off x="502920" y="5020056"/>
            <a:ext cx="1234440" cy="868680"/>
          </a:xfrm>
          <a:prstGeom prst="roundRect">
            <a:avLst>
              <a:gd name="adj" fmla="val 10526"/>
            </a:avLst>
          </a:prstGeom>
          <a:solidFill>
            <a:srgbClr val="2F5597"/>
          </a:solidFill>
          <a:ln/>
        </p:spPr>
      </p:sp>
      <p:sp>
        <p:nvSpPr>
          <p:cNvPr id="19" name="Text 16"/>
          <p:cNvSpPr/>
          <p:nvPr/>
        </p:nvSpPr>
        <p:spPr>
          <a:xfrm>
            <a:off x="502920" y="5020056"/>
            <a:ext cx="1234440" cy="86868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03</a:t>
            </a:r>
            <a:endParaRPr lang="en-US" sz="2800" dirty="0"/>
          </a:p>
        </p:txBody>
      </p:sp>
      <p:sp>
        <p:nvSpPr>
          <p:cNvPr id="20" name="Text 17"/>
          <p:cNvSpPr/>
          <p:nvPr/>
        </p:nvSpPr>
        <p:spPr>
          <a:xfrm>
            <a:off x="1920240" y="4873752"/>
            <a:ext cx="9646920" cy="438912"/>
          </a:xfrm>
          <a:prstGeom prst="rect">
            <a:avLst/>
          </a:prstGeom>
          <a:noFill/>
          <a:ln/>
        </p:spPr>
        <p:txBody>
          <a:bodyPr wrap="square" lIns="0" tIns="0" rIns="0" bIns="0" rtlCol="0" anchor="ctr"/>
          <a:lstStyle/>
          <a:p>
            <a:pPr indent="0" marL="0">
              <a:buNone/>
            </a:pPr>
            <a:r>
              <a:rPr lang="en-US" sz="2200" b="1" dirty="0">
                <a:solidFill>
                  <a:srgbClr val="1F2A44"/>
                </a:solidFill>
                <a:latin typeface="Calibri" pitchFamily="34" charset="0"/>
                <a:ea typeface="Calibri" pitchFamily="34" charset="-122"/>
                <a:cs typeface="Calibri" pitchFamily="34" charset="-120"/>
              </a:rPr>
              <a:t>Experimental Results and Conclusions</a:t>
            </a:r>
            <a:endParaRPr lang="en-US" sz="2200" dirty="0"/>
          </a:p>
        </p:txBody>
      </p:sp>
      <p:sp>
        <p:nvSpPr>
          <p:cNvPr id="21" name="Text 18"/>
          <p:cNvSpPr/>
          <p:nvPr/>
        </p:nvSpPr>
        <p:spPr>
          <a:xfrm>
            <a:off x="1920240" y="5330952"/>
            <a:ext cx="9646920" cy="658368"/>
          </a:xfrm>
          <a:prstGeom prst="rect">
            <a:avLst/>
          </a:prstGeom>
          <a:noFill/>
          <a:ln/>
        </p:spPr>
        <p:txBody>
          <a:bodyPr wrap="square" lIns="0" tIns="0" rIns="0" bIns="0" rtlCol="0" anchor="ctr"/>
          <a:lstStyle/>
          <a:p>
            <a:pPr indent="0" marL="0">
              <a:buNone/>
            </a:pPr>
            <a:r>
              <a:rPr lang="en-US" sz="1600" dirty="0">
                <a:solidFill>
                  <a:srgbClr val="5A6A80"/>
                </a:solidFill>
                <a:latin typeface="Calibri" pitchFamily="34" charset="0"/>
                <a:ea typeface="Calibri" pitchFamily="34" charset="-122"/>
                <a:cs typeface="Calibri" pitchFamily="34" charset="-120"/>
              </a:rPr>
              <a:t>Main results vs Heuristic / QMIX   ·   ablation</a:t>
            </a:r>
            <a:endParaRPr lang="en-US" sz="1600" dirty="0"/>
          </a:p>
          <a:p>
            <a:pPr indent="0" marL="0">
              <a:buNone/>
            </a:pPr>
            <a:r>
              <a:rPr lang="en-US" sz="1600" dirty="0">
                <a:solidFill>
                  <a:srgbClr val="5A6A80"/>
                </a:solidFill>
                <a:latin typeface="Calibri" pitchFamily="34" charset="0"/>
                <a:ea typeface="Calibri" pitchFamily="34" charset="-122"/>
                <a:cs typeface="Calibri" pitchFamily="34" charset="-120"/>
              </a:rPr>
              <a:t>Sensitivity   ·   contributions and future work</a:t>
            </a:r>
            <a:endParaRPr lang="en-US" sz="1600" dirty="0"/>
          </a:p>
        </p:txBody>
      </p:sp>
      <p:sp>
        <p:nvSpPr>
          <p:cNvPr id="22" name="Shape 19"/>
          <p:cNvSpPr/>
          <p:nvPr/>
        </p:nvSpPr>
        <p:spPr>
          <a:xfrm>
            <a:off x="0" y="6784848"/>
            <a:ext cx="12191695" cy="73152"/>
          </a:xfrm>
          <a:prstGeom prst="rect">
            <a:avLst/>
          </a:prstGeom>
          <a:solidFill>
            <a:srgbClr val="2F5597"/>
          </a:solidFill>
          <a:ln/>
        </p:spPr>
      </p:sp>
      <p:sp>
        <p:nvSpPr>
          <p:cNvPr id="23" name="Text 20"/>
          <p:cNvSpPr/>
          <p:nvPr/>
        </p:nvSpPr>
        <p:spPr>
          <a:xfrm>
            <a:off x="347472" y="6492240"/>
            <a:ext cx="10881360" cy="256032"/>
          </a:xfrm>
          <a:prstGeom prst="rect">
            <a:avLst/>
          </a:prstGeom>
          <a:noFill/>
          <a:ln/>
        </p:spPr>
        <p:txBody>
          <a:bodyPr wrap="square" lIns="0" tIns="0" rIns="0" bIns="0" rtlCol="0" anchor="ctr"/>
          <a:lstStyle/>
          <a:p>
            <a:pPr indent="0" marL="0">
              <a:buNone/>
            </a:pPr>
            <a:r>
              <a:rPr lang="en-US" sz="1100" dirty="0">
                <a:solidFill>
                  <a:srgbClr val="5A6A80"/>
                </a:solidFill>
                <a:latin typeface="Calibri" pitchFamily="34" charset="0"/>
                <a:ea typeface="Calibri" pitchFamily="34" charset="-122"/>
                <a:cs typeface="Calibri" pitchFamily="34" charset="-120"/>
              </a:rPr>
              <a:t>CAC 2026  ·  IC-HGAT-MAPPO  ·  Dec-POMDP / CTDE / HGAT / MAPPO</a:t>
            </a:r>
            <a:endParaRPr lang="en-US" sz="1100" dirty="0"/>
          </a:p>
        </p:txBody>
      </p:sp>
      <p:sp>
        <p:nvSpPr>
          <p:cNvPr id="24" name="Text 21"/>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Calibri" pitchFamily="34" charset="0"/>
                <a:ea typeface="Calibri" pitchFamily="34" charset="-122"/>
                <a:cs typeface="Calibri" pitchFamily="34" charset="-120"/>
              </a:rPr>
              <a:t>2</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37578" y="54864"/>
            <a:ext cx="715196" cy="493776"/>
          </a:xfrm>
          <a:prstGeom prst="rect">
            <a:avLst/>
          </a:prstGeom>
        </p:spPr>
      </p:pic>
      <p:sp>
        <p:nvSpPr>
          <p:cNvPr id="3" name="Text 0"/>
          <p:cNvSpPr/>
          <p:nvPr/>
        </p:nvSpPr>
        <p:spPr>
          <a:xfrm>
            <a:off x="347472" y="73152"/>
            <a:ext cx="10698480" cy="438912"/>
          </a:xfrm>
          <a:prstGeom prst="rect">
            <a:avLst/>
          </a:prstGeom>
          <a:noFill/>
          <a:ln/>
        </p:spPr>
        <p:txBody>
          <a:bodyPr wrap="square" lIns="0" tIns="0" rIns="0" bIns="0" rtlCol="0" anchor="ctr"/>
          <a:lstStyle/>
          <a:p>
            <a:pPr indent="0" marL="0">
              <a:buNone/>
            </a:pPr>
            <a:r>
              <a:rPr lang="en-US" sz="2600" b="1" dirty="0">
                <a:solidFill>
                  <a:srgbClr val="2F5597"/>
                </a:solidFill>
                <a:latin typeface="Calibri" pitchFamily="34" charset="0"/>
                <a:ea typeface="Calibri" pitchFamily="34" charset="-122"/>
                <a:cs typeface="Calibri" pitchFamily="34" charset="-120"/>
              </a:rPr>
              <a:t>1. Background</a:t>
            </a:r>
            <a:endParaRPr lang="en-US" sz="2600" dirty="0"/>
          </a:p>
        </p:txBody>
      </p:sp>
      <p:sp>
        <p:nvSpPr>
          <p:cNvPr id="4" name="Shape 1"/>
          <p:cNvSpPr/>
          <p:nvPr/>
        </p:nvSpPr>
        <p:spPr>
          <a:xfrm>
            <a:off x="0" y="566928"/>
            <a:ext cx="12191695" cy="475488"/>
          </a:xfrm>
          <a:prstGeom prst="rect">
            <a:avLst/>
          </a:prstGeom>
          <a:solidFill>
            <a:srgbClr val="2F5597"/>
          </a:solidFill>
          <a:ln/>
        </p:spPr>
      </p:sp>
      <p:sp>
        <p:nvSpPr>
          <p:cNvPr id="5" name="Text 2"/>
          <p:cNvSpPr/>
          <p:nvPr/>
        </p:nvSpPr>
        <p:spPr>
          <a:xfrm>
            <a:off x="347472" y="585216"/>
            <a:ext cx="11430000" cy="43891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1.1 Cooperative Multi-UAV Search</a:t>
            </a:r>
            <a:endParaRPr lang="en-US" sz="2000" dirty="0"/>
          </a:p>
        </p:txBody>
      </p:sp>
      <p:pic>
        <p:nvPicPr>
          <p:cNvPr id="6" name="Image 1" descr="/tmp/ppt-work/assets/photo_eq.png">    </p:cNvPr>
          <p:cNvPicPr>
            <a:picLocks noChangeAspect="1"/>
          </p:cNvPicPr>
          <p:nvPr/>
        </p:nvPicPr>
        <p:blipFill>
          <a:blip r:embed="rId2"/>
          <a:stretch>
            <a:fillRect/>
          </a:stretch>
        </p:blipFill>
        <p:spPr>
          <a:xfrm>
            <a:off x="624131" y="1115568"/>
            <a:ext cx="3186578" cy="1691640"/>
          </a:xfrm>
          <a:prstGeom prst="rect">
            <a:avLst/>
          </a:prstGeom>
        </p:spPr>
      </p:pic>
      <p:sp>
        <p:nvSpPr>
          <p:cNvPr id="7" name="Text 3"/>
          <p:cNvSpPr/>
          <p:nvPr/>
        </p:nvSpPr>
        <p:spPr>
          <a:xfrm>
            <a:off x="365760" y="2816352"/>
            <a:ext cx="3703320" cy="292608"/>
          </a:xfrm>
          <a:prstGeom prst="rect">
            <a:avLst/>
          </a:prstGeom>
          <a:noFill/>
          <a:ln/>
        </p:spPr>
        <p:txBody>
          <a:bodyPr wrap="square" lIns="0" tIns="0" rIns="0" bIns="0" rtlCol="0" anchor="ctr"/>
          <a:lstStyle/>
          <a:p>
            <a:pPr algn="ctr" indent="0" marL="0">
              <a:buNone/>
            </a:pPr>
            <a:r>
              <a:rPr lang="en-US" sz="1500" b="1" dirty="0">
                <a:solidFill>
                  <a:srgbClr val="1F2A44"/>
                </a:solidFill>
                <a:latin typeface="Calibri" pitchFamily="34" charset="0"/>
                <a:ea typeface="Calibri" pitchFamily="34" charset="-122"/>
                <a:cs typeface="Calibri" pitchFamily="34" charset="-120"/>
              </a:rPr>
              <a:t>Earthquake Response</a:t>
            </a:r>
            <a:endParaRPr lang="en-US" sz="1500" dirty="0"/>
          </a:p>
        </p:txBody>
      </p:sp>
      <p:pic>
        <p:nvPicPr>
          <p:cNvPr id="8" name="Image 2" descr="/tmp/ppt-work/assets/photo_wf.png">    </p:cNvPr>
          <p:cNvPicPr>
            <a:picLocks noChangeAspect="1"/>
          </p:cNvPicPr>
          <p:nvPr/>
        </p:nvPicPr>
        <p:blipFill>
          <a:blip r:embed="rId3"/>
          <a:stretch>
            <a:fillRect/>
          </a:stretch>
        </p:blipFill>
        <p:spPr>
          <a:xfrm>
            <a:off x="4556051" y="1115568"/>
            <a:ext cx="3186578" cy="1691640"/>
          </a:xfrm>
          <a:prstGeom prst="rect">
            <a:avLst/>
          </a:prstGeom>
        </p:spPr>
      </p:pic>
      <p:sp>
        <p:nvSpPr>
          <p:cNvPr id="9" name="Text 4"/>
          <p:cNvSpPr/>
          <p:nvPr/>
        </p:nvSpPr>
        <p:spPr>
          <a:xfrm>
            <a:off x="4297680" y="2816352"/>
            <a:ext cx="3703320" cy="292608"/>
          </a:xfrm>
          <a:prstGeom prst="rect">
            <a:avLst/>
          </a:prstGeom>
          <a:noFill/>
          <a:ln/>
        </p:spPr>
        <p:txBody>
          <a:bodyPr wrap="square" lIns="0" tIns="0" rIns="0" bIns="0" rtlCol="0" anchor="ctr"/>
          <a:lstStyle/>
          <a:p>
            <a:pPr algn="ctr" indent="0" marL="0">
              <a:buNone/>
            </a:pPr>
            <a:r>
              <a:rPr lang="en-US" sz="1500" b="1" dirty="0">
                <a:solidFill>
                  <a:srgbClr val="1F2A44"/>
                </a:solidFill>
                <a:latin typeface="Calibri" pitchFamily="34" charset="0"/>
                <a:ea typeface="Calibri" pitchFamily="34" charset="-122"/>
                <a:cs typeface="Calibri" pitchFamily="34" charset="-120"/>
              </a:rPr>
              <a:t>Wildfire Monitoring</a:t>
            </a:r>
            <a:endParaRPr lang="en-US" sz="1500" dirty="0"/>
          </a:p>
        </p:txBody>
      </p:sp>
      <p:pic>
        <p:nvPicPr>
          <p:cNvPr id="10" name="Image 3" descr="/tmp/ppt-work/assets/photo_mr.png">    </p:cNvPr>
          <p:cNvPicPr>
            <a:picLocks noChangeAspect="1"/>
          </p:cNvPicPr>
          <p:nvPr/>
        </p:nvPicPr>
        <p:blipFill>
          <a:blip r:embed="rId4"/>
          <a:stretch>
            <a:fillRect/>
          </a:stretch>
        </p:blipFill>
        <p:spPr>
          <a:xfrm>
            <a:off x="8487971" y="1115568"/>
            <a:ext cx="3186578" cy="1691640"/>
          </a:xfrm>
          <a:prstGeom prst="rect">
            <a:avLst/>
          </a:prstGeom>
        </p:spPr>
      </p:pic>
      <p:sp>
        <p:nvSpPr>
          <p:cNvPr id="11" name="Text 5"/>
          <p:cNvSpPr/>
          <p:nvPr/>
        </p:nvSpPr>
        <p:spPr>
          <a:xfrm>
            <a:off x="8229600" y="2816352"/>
            <a:ext cx="3703320" cy="292608"/>
          </a:xfrm>
          <a:prstGeom prst="rect">
            <a:avLst/>
          </a:prstGeom>
          <a:noFill/>
          <a:ln/>
        </p:spPr>
        <p:txBody>
          <a:bodyPr wrap="square" lIns="0" tIns="0" rIns="0" bIns="0" rtlCol="0" anchor="ctr"/>
          <a:lstStyle/>
          <a:p>
            <a:pPr algn="ctr" indent="0" marL="0">
              <a:buNone/>
            </a:pPr>
            <a:r>
              <a:rPr lang="en-US" sz="1500" b="1" dirty="0">
                <a:solidFill>
                  <a:srgbClr val="1F2A44"/>
                </a:solidFill>
                <a:latin typeface="Calibri" pitchFamily="34" charset="0"/>
                <a:ea typeface="Calibri" pitchFamily="34" charset="-122"/>
                <a:cs typeface="Calibri" pitchFamily="34" charset="-120"/>
              </a:rPr>
              <a:t>Maritime Rescue</a:t>
            </a:r>
            <a:endParaRPr lang="en-US" sz="1500" dirty="0"/>
          </a:p>
        </p:txBody>
      </p:sp>
      <p:sp>
        <p:nvSpPr>
          <p:cNvPr id="12" name="Shape 6"/>
          <p:cNvSpPr/>
          <p:nvPr/>
        </p:nvSpPr>
        <p:spPr>
          <a:xfrm>
            <a:off x="365760" y="3127248"/>
            <a:ext cx="11475720" cy="1024128"/>
          </a:xfrm>
          <a:prstGeom prst="roundRect">
            <a:avLst>
              <a:gd name="adj" fmla="val 7143"/>
            </a:avLst>
          </a:prstGeom>
          <a:solidFill>
            <a:srgbClr val="FFFFFF"/>
          </a:solidFill>
          <a:ln/>
          <a:effectLst>
            <a:outerShdw sx="100000" sy="100000" kx="0" ky="0" algn="bl" rotWithShape="0" blurRad="50800" dist="12700" dir="16200000">
              <a:srgbClr val="1F2A44">
                <a:alpha val="12000"/>
              </a:srgbClr>
            </a:outerShdw>
          </a:effectLst>
        </p:spPr>
      </p:sp>
      <p:sp>
        <p:nvSpPr>
          <p:cNvPr id="13" name="Text 7"/>
          <p:cNvSpPr/>
          <p:nvPr/>
        </p:nvSpPr>
        <p:spPr>
          <a:xfrm>
            <a:off x="502920" y="3163824"/>
            <a:ext cx="11201400" cy="292608"/>
          </a:xfrm>
          <a:prstGeom prst="rect">
            <a:avLst/>
          </a:prstGeom>
          <a:noFill/>
          <a:ln/>
        </p:spPr>
        <p:txBody>
          <a:bodyPr wrap="square" lIns="0" tIns="0" rIns="0" bIns="0" rtlCol="0" anchor="ctr"/>
          <a:lstStyle/>
          <a:p>
            <a:pPr indent="0" marL="0">
              <a:buNone/>
            </a:pPr>
            <a:r>
              <a:rPr lang="en-US" sz="1400" b="1" dirty="0">
                <a:solidFill>
                  <a:srgbClr val="2F5597"/>
                </a:solidFill>
                <a:latin typeface="Calibri" pitchFamily="34" charset="0"/>
                <a:ea typeface="Calibri" pitchFamily="34" charset="-122"/>
                <a:cs typeface="Calibri" pitchFamily="34" charset="-120"/>
              </a:rPr>
              <a:t>Dec-POMDP  (partial observation, joint reward, no assumed global map)</a:t>
            </a:r>
            <a:endParaRPr lang="en-US" sz="1400" dirty="0"/>
          </a:p>
        </p:txBody>
      </p:sp>
      <p:sp>
        <p:nvSpPr>
          <p:cNvPr id="14" name="Text 8"/>
          <p:cNvSpPr/>
          <p:nvPr/>
        </p:nvSpPr>
        <p:spPr>
          <a:xfrm>
            <a:off x="411480" y="3438144"/>
            <a:ext cx="11338560" cy="621792"/>
          </a:xfrm>
          <a:prstGeom prst="rect">
            <a:avLst/>
          </a:prstGeom>
          <a:noFill/>
          <a:ln/>
        </p:spPr>
        <p:txBody>
          <a:bodyPr wrap="square" lIns="0" tIns="0" rIns="0" bIns="0" rtlCol="0" anchor="ctr"/>
          <a:lstStyle/>
          <a:p>
            <a:pPr algn="ctr" indent="0" marL="0">
              <a:buNone/>
            </a:pPr>
            <m:oMathPara xmlns:m="http://schemas.openxmlformats.org/officeDocument/2006/math">
              <m:oMathParaPr>
                <m:jc m:val="center"/>
              </m:oMathParaPr>
              <m:oMath>
                <m:r>
                  <m:rPr>
                    <m:sty m:val="i"/>
                  </m:rPr>
                  <m:t>𝒢</m:t>
                </m:r>
                <m:r>
                  <m:rPr>
                    <m:sty m:val="p"/>
                  </m:rPr>
                  <m:t xml:space="preserve"> = </m:t>
                </m:r>
                <m:d>
                  <m:dPr>
                    <m:begChr m:val="("/>
                    <m:endChr m:val=")"/>
                  </m:dPr>
                  <m:e>
                    <m:r>
                      <m:rPr>
                        <m:sty m:val="i"/>
                      </m:rPr>
                      <m:t>𝒩</m:t>
                    </m:r>
                    <m:r>
                      <m:rPr>
                        <m:sty m:val="p"/>
                      </m:rPr>
                      <m:t xml:space="preserve"> , </m:t>
                    </m:r>
                    <m:r>
                      <m:rPr>
                        <m:sty m:val="i"/>
                      </m:rPr>
                      <m:t>𝒮</m:t>
                    </m:r>
                    <m:r>
                      <m:rPr>
                        <m:sty m:val="p"/>
                      </m:rPr>
                      <m:t xml:space="preserve"> , </m:t>
                    </m:r>
                    <m:d>
                      <m:dPr>
                        <m:begChr m:val="("/>
                        <m:endChr m:val=")"/>
                      </m:dPr>
                      <m:e>
                        <m:sSub>
                          <m:e>
                            <m:r>
                              <m:rPr>
                                <m:sty m:val="i"/>
                              </m:rPr>
                              <m:t>𝒜</m:t>
                            </m:r>
                          </m:e>
                          <m:sub>
                            <m:r>
                              <m:rPr>
                                <m:sty m:val="i"/>
                              </m:rPr>
                              <m:t>i</m:t>
                            </m:r>
                          </m:sub>
                        </m:sSub>
                      </m:e>
                    </m:d>
                    <m:r>
                      <m:rPr>
                        <m:sty m:val="p"/>
                      </m:rPr>
                      <m:t xml:space="preserve"> , </m:t>
                    </m:r>
                    <m:r>
                      <m:rPr>
                        <m:sty m:val="p"/>
                      </m:rPr>
                      <m:t>P</m:t>
                    </m:r>
                    <m:r>
                      <m:rPr>
                        <m:sty m:val="p"/>
                      </m:rPr>
                      <m:t xml:space="preserve"> , </m:t>
                    </m:r>
                    <m:r>
                      <m:rPr>
                        <m:sty m:val="p"/>
                      </m:rPr>
                      <m:t>R</m:t>
                    </m:r>
                    <m:r>
                      <m:rPr>
                        <m:sty m:val="p"/>
                      </m:rPr>
                      <m:t xml:space="preserve"> , </m:t>
                    </m:r>
                    <m:d>
                      <m:dPr>
                        <m:begChr m:val="("/>
                        <m:endChr m:val=")"/>
                      </m:dPr>
                      <m:e>
                        <m:sSub>
                          <m:e>
                            <m:r>
                              <m:rPr>
                                <m:sty m:val="i"/>
                              </m:rPr>
                              <m:t>𝒪</m:t>
                            </m:r>
                          </m:e>
                          <m:sub>
                            <m:r>
                              <m:rPr>
                                <m:sty m:val="i"/>
                              </m:rPr>
                              <m:t>i</m:t>
                            </m:r>
                          </m:sub>
                        </m:sSub>
                      </m:e>
                    </m:d>
                    <m:r>
                      <m:rPr>
                        <m:sty m:val="p"/>
                      </m:rPr>
                      <m:t xml:space="preserve"> , </m:t>
                    </m:r>
                    <m:r>
                      <m:rPr>
                        <m:sty m:val="i"/>
                      </m:rPr>
                      <m:t>γ</m:t>
                    </m:r>
                  </m:e>
                </m:d>
              </m:oMath>
            </m:oMathPara>
          </a:p>
        </p:txBody>
      </p:sp>
      <p:sp>
        <p:nvSpPr>
          <p:cNvPr id="15" name="Shape 9"/>
          <p:cNvSpPr/>
          <p:nvPr/>
        </p:nvSpPr>
        <p:spPr>
          <a:xfrm>
            <a:off x="365760" y="4224528"/>
            <a:ext cx="11475720" cy="347472"/>
          </a:xfrm>
          <a:prstGeom prst="rect">
            <a:avLst/>
          </a:prstGeom>
          <a:solidFill>
            <a:srgbClr val="F4F6FA"/>
          </a:solidFill>
          <a:ln/>
        </p:spPr>
      </p:sp>
      <p:sp>
        <p:nvSpPr>
          <p:cNvPr id="16" name="Text 10"/>
          <p:cNvSpPr/>
          <p:nvPr/>
        </p:nvSpPr>
        <p:spPr>
          <a:xfrm>
            <a:off x="457200" y="4224528"/>
            <a:ext cx="11292840" cy="347472"/>
          </a:xfrm>
          <a:prstGeom prst="rect">
            <a:avLst/>
          </a:prstGeom>
          <a:noFill/>
          <a:ln/>
        </p:spPr>
        <p:txBody>
          <a:bodyPr wrap="square" lIns="0" tIns="0" rIns="0" bIns="0" rtlCol="0" anchor="ctr"/>
          <a:lstStyle/>
          <a:p>
            <a:pPr algn="ctr" indent="0" marL="0">
              <a:buNone/>
            </a:pPr>
            <a:r>
              <a:rPr lang="en-US" sz="1300" dirty="0">
                <a:solidFill>
                  <a:srgbClr val="1F2A44"/>
                </a:solidFill>
                <a:latin typeface="Calibri" pitchFamily="34" charset="0"/>
                <a:ea typeface="Calibri" pitchFamily="34" charset="-122"/>
                <a:cs typeface="Calibri" pitchFamily="34" charset="-120"/>
              </a:rPr>
              <a:t>Global / reliable information    →     Local observation + intermittent communication    ·    More realistic, more challenging</a:t>
            </a:r>
            <a:endParaRPr lang="en-US" sz="1300" dirty="0"/>
          </a:p>
        </p:txBody>
      </p:sp>
      <p:sp>
        <p:nvSpPr>
          <p:cNvPr id="17" name="Shape 11"/>
          <p:cNvSpPr/>
          <p:nvPr/>
        </p:nvSpPr>
        <p:spPr>
          <a:xfrm>
            <a:off x="365760" y="4645152"/>
            <a:ext cx="3703320" cy="1719072"/>
          </a:xfrm>
          <a:prstGeom prst="roundRect">
            <a:avLst>
              <a:gd name="adj" fmla="val 4255"/>
            </a:avLst>
          </a:prstGeom>
          <a:solidFill>
            <a:srgbClr val="EAF0F8"/>
          </a:solidFill>
          <a:ln/>
          <a:effectLst>
            <a:outerShdw sx="100000" sy="100000" kx="0" ky="0" algn="bl" rotWithShape="0" blurRad="50800" dist="12700" dir="16200000">
              <a:srgbClr val="1F2A44">
                <a:alpha val="12000"/>
              </a:srgbClr>
            </a:outerShdw>
          </a:effectLst>
        </p:spPr>
      </p:sp>
      <p:sp>
        <p:nvSpPr>
          <p:cNvPr id="18" name="Shape 12"/>
          <p:cNvSpPr/>
          <p:nvPr/>
        </p:nvSpPr>
        <p:spPr>
          <a:xfrm>
            <a:off x="365760" y="4645152"/>
            <a:ext cx="64008" cy="1719072"/>
          </a:xfrm>
          <a:prstGeom prst="rect">
            <a:avLst/>
          </a:prstGeom>
          <a:solidFill>
            <a:srgbClr val="2F5597"/>
          </a:solidFill>
          <a:ln/>
        </p:spPr>
      </p:sp>
      <p:sp>
        <p:nvSpPr>
          <p:cNvPr id="19" name="Text 13"/>
          <p:cNvSpPr/>
          <p:nvPr/>
        </p:nvSpPr>
        <p:spPr>
          <a:xfrm>
            <a:off x="530352" y="4700016"/>
            <a:ext cx="3401568" cy="310896"/>
          </a:xfrm>
          <a:prstGeom prst="rect">
            <a:avLst/>
          </a:prstGeom>
          <a:noFill/>
          <a:ln/>
        </p:spPr>
        <p:txBody>
          <a:bodyPr wrap="square" lIns="0" tIns="0" rIns="0" bIns="0" rtlCol="0" anchor="ctr"/>
          <a:lstStyle/>
          <a:p>
            <a:pPr indent="0" marL="0">
              <a:buNone/>
            </a:pPr>
            <a:r>
              <a:rPr lang="en-US" sz="1500" b="1" dirty="0">
                <a:solidFill>
                  <a:srgbClr val="2F5597"/>
                </a:solidFill>
                <a:latin typeface="Calibri" pitchFamily="34" charset="0"/>
                <a:ea typeface="Calibri" pitchFamily="34" charset="-122"/>
                <a:cs typeface="Calibri" pitchFamily="34" charset="-120"/>
              </a:rPr>
              <a:t>Conventional Setting</a:t>
            </a:r>
            <a:endParaRPr lang="en-US" sz="1500" dirty="0"/>
          </a:p>
        </p:txBody>
      </p:sp>
      <p:sp>
        <p:nvSpPr>
          <p:cNvPr id="20" name="Text 14"/>
          <p:cNvSpPr/>
          <p:nvPr/>
        </p:nvSpPr>
        <p:spPr>
          <a:xfrm>
            <a:off x="530352" y="5010912"/>
            <a:ext cx="3401568" cy="1261872"/>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Stable communication</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Synchronized / near-global information</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Homogeneous UAV–UAV graph</a:t>
            </a:r>
            <a:endParaRPr lang="en-US" sz="1300" dirty="0"/>
          </a:p>
        </p:txBody>
      </p:sp>
      <p:sp>
        <p:nvSpPr>
          <p:cNvPr id="21" name="Shape 15"/>
          <p:cNvSpPr/>
          <p:nvPr/>
        </p:nvSpPr>
        <p:spPr>
          <a:xfrm>
            <a:off x="4297680" y="4645152"/>
            <a:ext cx="3703320" cy="1719072"/>
          </a:xfrm>
          <a:prstGeom prst="roundRect">
            <a:avLst>
              <a:gd name="adj" fmla="val 4255"/>
            </a:avLst>
          </a:prstGeom>
          <a:solidFill>
            <a:srgbClr val="FFF3E8"/>
          </a:solidFill>
          <a:ln/>
          <a:effectLst>
            <a:outerShdw sx="100000" sy="100000" kx="0" ky="0" algn="bl" rotWithShape="0" blurRad="50800" dist="12700" dir="16200000">
              <a:srgbClr val="1F2A44">
                <a:alpha val="12000"/>
              </a:srgbClr>
            </a:outerShdw>
          </a:effectLst>
        </p:spPr>
      </p:sp>
      <p:sp>
        <p:nvSpPr>
          <p:cNvPr id="22" name="Shape 16"/>
          <p:cNvSpPr/>
          <p:nvPr/>
        </p:nvSpPr>
        <p:spPr>
          <a:xfrm>
            <a:off x="4297680" y="4645152"/>
            <a:ext cx="64008" cy="1719072"/>
          </a:xfrm>
          <a:prstGeom prst="rect">
            <a:avLst/>
          </a:prstGeom>
          <a:solidFill>
            <a:srgbClr val="2F5597"/>
          </a:solidFill>
          <a:ln/>
        </p:spPr>
      </p:sp>
      <p:sp>
        <p:nvSpPr>
          <p:cNvPr id="23" name="Text 17"/>
          <p:cNvSpPr/>
          <p:nvPr/>
        </p:nvSpPr>
        <p:spPr>
          <a:xfrm>
            <a:off x="4462272" y="4700016"/>
            <a:ext cx="3401568" cy="310896"/>
          </a:xfrm>
          <a:prstGeom prst="rect">
            <a:avLst/>
          </a:prstGeom>
          <a:noFill/>
          <a:ln/>
        </p:spPr>
        <p:txBody>
          <a:bodyPr wrap="square" lIns="0" tIns="0" rIns="0" bIns="0" rtlCol="0" anchor="ctr"/>
          <a:lstStyle/>
          <a:p>
            <a:pPr indent="0" marL="0">
              <a:buNone/>
            </a:pPr>
            <a:r>
              <a:rPr lang="en-US" sz="1500" b="1" dirty="0">
                <a:solidFill>
                  <a:srgbClr val="ED7D31"/>
                </a:solidFill>
                <a:latin typeface="Calibri" pitchFamily="34" charset="0"/>
                <a:ea typeface="Calibri" pitchFamily="34" charset="-122"/>
                <a:cs typeface="Calibri" pitchFamily="34" charset="-120"/>
              </a:rPr>
              <a:t>Practical Setting</a:t>
            </a:r>
            <a:endParaRPr lang="en-US" sz="1500" dirty="0"/>
          </a:p>
        </p:txBody>
      </p:sp>
      <p:sp>
        <p:nvSpPr>
          <p:cNvPr id="24" name="Text 18"/>
          <p:cNvSpPr/>
          <p:nvPr/>
        </p:nvSpPr>
        <p:spPr>
          <a:xfrm>
            <a:off x="4462272" y="5010912"/>
            <a:ext cx="3401568" cy="1261872"/>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Intermittent links  A(i,j,t)  and  N_i(t)</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Local, incomplete, possibly stale beliefs</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UAV / target / obstacle interactions</a:t>
            </a:r>
            <a:endParaRPr lang="en-US" sz="1300" dirty="0"/>
          </a:p>
        </p:txBody>
      </p:sp>
      <p:sp>
        <p:nvSpPr>
          <p:cNvPr id="25" name="Shape 19"/>
          <p:cNvSpPr/>
          <p:nvPr/>
        </p:nvSpPr>
        <p:spPr>
          <a:xfrm>
            <a:off x="8229600" y="4645152"/>
            <a:ext cx="3703320" cy="1719072"/>
          </a:xfrm>
          <a:prstGeom prst="roundRect">
            <a:avLst>
              <a:gd name="adj" fmla="val 4255"/>
            </a:avLst>
          </a:prstGeom>
          <a:solidFill>
            <a:srgbClr val="FDECEA"/>
          </a:solidFill>
          <a:ln/>
          <a:effectLst>
            <a:outerShdw sx="100000" sy="100000" kx="0" ky="0" algn="bl" rotWithShape="0" blurRad="50800" dist="12700" dir="16200000">
              <a:srgbClr val="1F2A44">
                <a:alpha val="12000"/>
              </a:srgbClr>
            </a:outerShdw>
          </a:effectLst>
        </p:spPr>
      </p:sp>
      <p:sp>
        <p:nvSpPr>
          <p:cNvPr id="26" name="Shape 20"/>
          <p:cNvSpPr/>
          <p:nvPr/>
        </p:nvSpPr>
        <p:spPr>
          <a:xfrm>
            <a:off x="8229600" y="4645152"/>
            <a:ext cx="64008" cy="1719072"/>
          </a:xfrm>
          <a:prstGeom prst="rect">
            <a:avLst/>
          </a:prstGeom>
          <a:solidFill>
            <a:srgbClr val="2F5597"/>
          </a:solidFill>
          <a:ln/>
        </p:spPr>
      </p:sp>
      <p:sp>
        <p:nvSpPr>
          <p:cNvPr id="27" name="Text 21"/>
          <p:cNvSpPr/>
          <p:nvPr/>
        </p:nvSpPr>
        <p:spPr>
          <a:xfrm>
            <a:off x="8394192" y="4700016"/>
            <a:ext cx="3401568" cy="310896"/>
          </a:xfrm>
          <a:prstGeom prst="rect">
            <a:avLst/>
          </a:prstGeom>
          <a:noFill/>
          <a:ln/>
        </p:spPr>
        <p:txBody>
          <a:bodyPr wrap="square" lIns="0" tIns="0" rIns="0" bIns="0" rtlCol="0" anchor="ctr"/>
          <a:lstStyle/>
          <a:p>
            <a:pPr indent="0" marL="0">
              <a:buNone/>
            </a:pPr>
            <a:r>
              <a:rPr lang="en-US" sz="1500" b="1" dirty="0">
                <a:solidFill>
                  <a:srgbClr val="C0392B"/>
                </a:solidFill>
                <a:latin typeface="Calibri" pitchFamily="34" charset="0"/>
                <a:ea typeface="Calibri" pitchFamily="34" charset="-122"/>
                <a:cs typeface="Calibri" pitchFamily="34" charset="-120"/>
              </a:rPr>
              <a:t>Research Needs</a:t>
            </a:r>
            <a:endParaRPr lang="en-US" sz="1500" dirty="0"/>
          </a:p>
        </p:txBody>
      </p:sp>
      <p:sp>
        <p:nvSpPr>
          <p:cNvPr id="28" name="Text 22"/>
          <p:cNvSpPr/>
          <p:nvPr/>
        </p:nvSpPr>
        <p:spPr>
          <a:xfrm>
            <a:off x="8394192" y="5010912"/>
            <a:ext cx="3401568" cy="1261872"/>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1. Maintain useful local beliefs  P, E, R</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2. Select reachable peer evidence</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3. Encode heterogeneous relations</a:t>
            </a:r>
            <a:endParaRPr lang="en-US" sz="1300" dirty="0"/>
          </a:p>
        </p:txBody>
      </p:sp>
      <p:sp>
        <p:nvSpPr>
          <p:cNvPr id="29" name="Shape 23"/>
          <p:cNvSpPr/>
          <p:nvPr/>
        </p:nvSpPr>
        <p:spPr>
          <a:xfrm>
            <a:off x="0" y="6784848"/>
            <a:ext cx="12191695" cy="73152"/>
          </a:xfrm>
          <a:prstGeom prst="rect">
            <a:avLst/>
          </a:prstGeom>
          <a:solidFill>
            <a:srgbClr val="2F5597"/>
          </a:solidFill>
          <a:ln/>
        </p:spPr>
      </p:sp>
      <p:sp>
        <p:nvSpPr>
          <p:cNvPr id="30" name="Text 24"/>
          <p:cNvSpPr/>
          <p:nvPr/>
        </p:nvSpPr>
        <p:spPr>
          <a:xfrm>
            <a:off x="347472" y="6492240"/>
            <a:ext cx="10881360" cy="256032"/>
          </a:xfrm>
          <a:prstGeom prst="rect">
            <a:avLst/>
          </a:prstGeom>
          <a:noFill/>
          <a:ln/>
        </p:spPr>
        <p:txBody>
          <a:bodyPr wrap="square" lIns="0" tIns="0" rIns="0" bIns="0" rtlCol="0" anchor="ctr"/>
          <a:lstStyle/>
          <a:p>
            <a:pPr indent="0" marL="0">
              <a:buNone/>
            </a:pPr>
            <a:r>
              <a:rPr lang="en-US" sz="1100" dirty="0">
                <a:solidFill>
                  <a:srgbClr val="5A6A80"/>
                </a:solidFill>
                <a:latin typeface="Calibri" pitchFamily="34" charset="0"/>
                <a:ea typeface="Calibri" pitchFamily="34" charset="-122"/>
                <a:cs typeface="Calibri" pitchFamily="34" charset="-120"/>
              </a:rPr>
              <a:t>CAC 2026  ·  IC-HGAT-MAPPO  ·  Dec-POMDP / CTDE / HGAT / MAPPO</a:t>
            </a:r>
            <a:endParaRPr lang="en-US" sz="1100" dirty="0"/>
          </a:p>
        </p:txBody>
      </p:sp>
      <p:sp>
        <p:nvSpPr>
          <p:cNvPr id="31" name="Text 25"/>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Calibri" pitchFamily="34" charset="0"/>
                <a:ea typeface="Calibri" pitchFamily="34" charset="-122"/>
                <a:cs typeface="Calibri" pitchFamily="34" charset="-120"/>
              </a:rPr>
              <a:t>3</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37578" y="54864"/>
            <a:ext cx="715196" cy="493776"/>
          </a:xfrm>
          <a:prstGeom prst="rect">
            <a:avLst/>
          </a:prstGeom>
        </p:spPr>
      </p:pic>
      <p:sp>
        <p:nvSpPr>
          <p:cNvPr id="3" name="Text 0"/>
          <p:cNvSpPr/>
          <p:nvPr/>
        </p:nvSpPr>
        <p:spPr>
          <a:xfrm>
            <a:off x="347472" y="73152"/>
            <a:ext cx="10698480" cy="438912"/>
          </a:xfrm>
          <a:prstGeom prst="rect">
            <a:avLst/>
          </a:prstGeom>
          <a:noFill/>
          <a:ln/>
        </p:spPr>
        <p:txBody>
          <a:bodyPr wrap="square" lIns="0" tIns="0" rIns="0" bIns="0" rtlCol="0" anchor="ctr"/>
          <a:lstStyle/>
          <a:p>
            <a:pPr indent="0" marL="0">
              <a:buNone/>
            </a:pPr>
            <a:r>
              <a:rPr lang="en-US" sz="2600" b="1" dirty="0">
                <a:solidFill>
                  <a:srgbClr val="2F5597"/>
                </a:solidFill>
                <a:latin typeface="Calibri" pitchFamily="34" charset="0"/>
                <a:ea typeface="Calibri" pitchFamily="34" charset="-122"/>
                <a:cs typeface="Calibri" pitchFamily="34" charset="-120"/>
              </a:rPr>
              <a:t>1. Background</a:t>
            </a:r>
            <a:endParaRPr lang="en-US" sz="2600" dirty="0"/>
          </a:p>
        </p:txBody>
      </p:sp>
      <p:sp>
        <p:nvSpPr>
          <p:cNvPr id="4" name="Shape 1"/>
          <p:cNvSpPr/>
          <p:nvPr/>
        </p:nvSpPr>
        <p:spPr>
          <a:xfrm>
            <a:off x="0" y="566928"/>
            <a:ext cx="12191695" cy="475488"/>
          </a:xfrm>
          <a:prstGeom prst="rect">
            <a:avLst/>
          </a:prstGeom>
          <a:solidFill>
            <a:srgbClr val="2F5597"/>
          </a:solidFill>
          <a:ln/>
        </p:spPr>
      </p:sp>
      <p:sp>
        <p:nvSpPr>
          <p:cNvPr id="5" name="Text 2"/>
          <p:cNvSpPr/>
          <p:nvPr/>
        </p:nvSpPr>
        <p:spPr>
          <a:xfrm>
            <a:off x="347472" y="585216"/>
            <a:ext cx="11430000" cy="43891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1.2 Key Challenges under Intermittent Communication</a:t>
            </a:r>
            <a:endParaRPr lang="en-US" sz="2000" dirty="0"/>
          </a:p>
        </p:txBody>
      </p:sp>
      <p:sp>
        <p:nvSpPr>
          <p:cNvPr id="6" name="Shape 3"/>
          <p:cNvSpPr/>
          <p:nvPr/>
        </p:nvSpPr>
        <p:spPr>
          <a:xfrm>
            <a:off x="320040" y="1115568"/>
            <a:ext cx="3794760" cy="3822192"/>
          </a:xfrm>
          <a:prstGeom prst="roundRect">
            <a:avLst>
              <a:gd name="adj" fmla="val 1928"/>
            </a:avLst>
          </a:prstGeom>
          <a:solidFill>
            <a:srgbClr val="FFFFFF"/>
          </a:solidFill>
          <a:ln/>
          <a:effectLst>
            <a:outerShdw sx="100000" sy="100000" kx="0" ky="0" algn="bl" rotWithShape="0" blurRad="50800" dist="12700" dir="16200000">
              <a:srgbClr val="1F2A44">
                <a:alpha val="12000"/>
              </a:srgbClr>
            </a:outerShdw>
          </a:effectLst>
        </p:spPr>
      </p:sp>
      <p:sp>
        <p:nvSpPr>
          <p:cNvPr id="7" name="Shape 4"/>
          <p:cNvSpPr/>
          <p:nvPr/>
        </p:nvSpPr>
        <p:spPr>
          <a:xfrm>
            <a:off x="320040" y="1115568"/>
            <a:ext cx="3794760" cy="402336"/>
          </a:xfrm>
          <a:prstGeom prst="rect">
            <a:avLst/>
          </a:prstGeom>
          <a:solidFill>
            <a:srgbClr val="2F5597"/>
          </a:solidFill>
          <a:ln/>
        </p:spPr>
      </p:sp>
      <p:sp>
        <p:nvSpPr>
          <p:cNvPr id="8" name="Text 5"/>
          <p:cNvSpPr/>
          <p:nvPr/>
        </p:nvSpPr>
        <p:spPr>
          <a:xfrm>
            <a:off x="411480" y="1133856"/>
            <a:ext cx="361188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1  Incomplete Information Exchange</a:t>
            </a:r>
            <a:endParaRPr lang="en-US" sz="1300" dirty="0"/>
          </a:p>
        </p:txBody>
      </p:sp>
      <p:pic>
        <p:nvPicPr>
          <p:cNvPr id="9" name="Image 1" descr="/tmp/ppt-work/assets/chal1.png">    </p:cNvPr>
          <p:cNvPicPr>
            <a:picLocks noChangeAspect="1"/>
          </p:cNvPicPr>
          <p:nvPr/>
        </p:nvPicPr>
        <p:blipFill>
          <a:blip r:embed="rId2"/>
          <a:stretch>
            <a:fillRect/>
          </a:stretch>
        </p:blipFill>
        <p:spPr>
          <a:xfrm>
            <a:off x="943042" y="1591056"/>
            <a:ext cx="2539612" cy="1691640"/>
          </a:xfrm>
          <a:prstGeom prst="rect">
            <a:avLst/>
          </a:prstGeom>
        </p:spPr>
      </p:pic>
      <p:sp>
        <p:nvSpPr>
          <p:cNvPr id="10" name="Text 6"/>
          <p:cNvSpPr/>
          <p:nvPr/>
        </p:nvSpPr>
        <p:spPr>
          <a:xfrm>
            <a:off x="466344" y="3310128"/>
            <a:ext cx="3493008" cy="1481328"/>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No shared global map; local o_i,t only</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Reachable set changes with A(i,j,t)</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Decentralized policy on local memory</a:t>
            </a:r>
            <a:endParaRPr lang="en-US" sz="1300" dirty="0"/>
          </a:p>
        </p:txBody>
      </p:sp>
      <p:sp>
        <p:nvSpPr>
          <p:cNvPr id="11" name="Shape 7"/>
          <p:cNvSpPr/>
          <p:nvPr/>
        </p:nvSpPr>
        <p:spPr>
          <a:xfrm>
            <a:off x="4270248" y="1115568"/>
            <a:ext cx="3794760" cy="3822192"/>
          </a:xfrm>
          <a:prstGeom prst="roundRect">
            <a:avLst>
              <a:gd name="adj" fmla="val 1928"/>
            </a:avLst>
          </a:prstGeom>
          <a:solidFill>
            <a:srgbClr val="FFFFFF"/>
          </a:solidFill>
          <a:ln/>
          <a:effectLst>
            <a:outerShdw sx="100000" sy="100000" kx="0" ky="0" algn="bl" rotWithShape="0" blurRad="50800" dist="12700" dir="16200000">
              <a:srgbClr val="1F2A44">
                <a:alpha val="12000"/>
              </a:srgbClr>
            </a:outerShdw>
          </a:effectLst>
        </p:spPr>
      </p:sp>
      <p:sp>
        <p:nvSpPr>
          <p:cNvPr id="12" name="Shape 8"/>
          <p:cNvSpPr/>
          <p:nvPr/>
        </p:nvSpPr>
        <p:spPr>
          <a:xfrm>
            <a:off x="4270248" y="1115568"/>
            <a:ext cx="3794760" cy="402336"/>
          </a:xfrm>
          <a:prstGeom prst="rect">
            <a:avLst/>
          </a:prstGeom>
          <a:solidFill>
            <a:srgbClr val="2F5597"/>
          </a:solidFill>
          <a:ln/>
        </p:spPr>
      </p:sp>
      <p:sp>
        <p:nvSpPr>
          <p:cNvPr id="13" name="Text 9"/>
          <p:cNvSpPr/>
          <p:nvPr/>
        </p:nvSpPr>
        <p:spPr>
          <a:xfrm>
            <a:off x="4361688" y="1133856"/>
            <a:ext cx="361188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2  Heterogeneous Interactions</a:t>
            </a:r>
            <a:endParaRPr lang="en-US" sz="1300" dirty="0"/>
          </a:p>
        </p:txBody>
      </p:sp>
      <p:pic>
        <p:nvPicPr>
          <p:cNvPr id="14" name="Image 2" descr="/tmp/ppt-work/assets/chal2.png">    </p:cNvPr>
          <p:cNvPicPr>
            <a:picLocks noChangeAspect="1"/>
          </p:cNvPicPr>
          <p:nvPr/>
        </p:nvPicPr>
        <p:blipFill>
          <a:blip r:embed="rId3"/>
          <a:stretch>
            <a:fillRect/>
          </a:stretch>
        </p:blipFill>
        <p:spPr>
          <a:xfrm>
            <a:off x="4893250" y="1591056"/>
            <a:ext cx="2539612" cy="1691640"/>
          </a:xfrm>
          <a:prstGeom prst="rect">
            <a:avLst/>
          </a:prstGeom>
        </p:spPr>
      </p:pic>
      <p:sp>
        <p:nvSpPr>
          <p:cNvPr id="15" name="Text 10"/>
          <p:cNvSpPr/>
          <p:nvPr/>
        </p:nvSpPr>
        <p:spPr>
          <a:xfrm>
            <a:off x="4416552" y="3310128"/>
            <a:ext cx="3493008" cy="1481328"/>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Peer: cooperation / message fusion</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Task / frontier: search utility q(x)</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Obstacle: collision risk in feasible set</a:t>
            </a:r>
            <a:endParaRPr lang="en-US" sz="1300" dirty="0"/>
          </a:p>
        </p:txBody>
      </p:sp>
      <p:sp>
        <p:nvSpPr>
          <p:cNvPr id="16" name="Shape 11"/>
          <p:cNvSpPr/>
          <p:nvPr/>
        </p:nvSpPr>
        <p:spPr>
          <a:xfrm>
            <a:off x="8220456" y="1115568"/>
            <a:ext cx="3794760" cy="3822192"/>
          </a:xfrm>
          <a:prstGeom prst="roundRect">
            <a:avLst>
              <a:gd name="adj" fmla="val 1928"/>
            </a:avLst>
          </a:prstGeom>
          <a:solidFill>
            <a:srgbClr val="FFFFFF"/>
          </a:solidFill>
          <a:ln/>
          <a:effectLst>
            <a:outerShdw sx="100000" sy="100000" kx="0" ky="0" algn="bl" rotWithShape="0" blurRad="50800" dist="12700" dir="16200000">
              <a:srgbClr val="1F2A44">
                <a:alpha val="12000"/>
              </a:srgbClr>
            </a:outerShdw>
          </a:effectLst>
        </p:spPr>
      </p:sp>
      <p:sp>
        <p:nvSpPr>
          <p:cNvPr id="17" name="Shape 12"/>
          <p:cNvSpPr/>
          <p:nvPr/>
        </p:nvSpPr>
        <p:spPr>
          <a:xfrm>
            <a:off x="8220456" y="1115568"/>
            <a:ext cx="3794760" cy="402336"/>
          </a:xfrm>
          <a:prstGeom prst="rect">
            <a:avLst/>
          </a:prstGeom>
          <a:solidFill>
            <a:srgbClr val="C0392B"/>
          </a:solidFill>
          <a:ln/>
        </p:spPr>
      </p:sp>
      <p:sp>
        <p:nvSpPr>
          <p:cNvPr id="18" name="Text 13"/>
          <p:cNvSpPr/>
          <p:nvPr/>
        </p:nvSpPr>
        <p:spPr>
          <a:xfrm>
            <a:off x="8311896" y="1133856"/>
            <a:ext cx="361188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3  Information Staleness</a:t>
            </a:r>
            <a:endParaRPr lang="en-US" sz="1300" dirty="0"/>
          </a:p>
        </p:txBody>
      </p:sp>
      <p:pic>
        <p:nvPicPr>
          <p:cNvPr id="19" name="Image 3" descr="/tmp/ppt-work/assets/chal3.png">    </p:cNvPr>
          <p:cNvPicPr>
            <a:picLocks noChangeAspect="1"/>
          </p:cNvPicPr>
          <p:nvPr/>
        </p:nvPicPr>
        <p:blipFill>
          <a:blip r:embed="rId4"/>
          <a:stretch>
            <a:fillRect/>
          </a:stretch>
        </p:blipFill>
        <p:spPr>
          <a:xfrm>
            <a:off x="8843458" y="1591056"/>
            <a:ext cx="2539612" cy="1691640"/>
          </a:xfrm>
          <a:prstGeom prst="rect">
            <a:avLst/>
          </a:prstGeom>
        </p:spPr>
      </p:pic>
      <p:sp>
        <p:nvSpPr>
          <p:cNvPr id="20" name="Text 14"/>
          <p:cNvSpPr/>
          <p:nvPr/>
        </p:nvSpPr>
        <p:spPr>
          <a:xfrm>
            <a:off x="8366760" y="3310128"/>
            <a:ext cx="3493008" cy="1481328"/>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Recovered beliefs may be stale</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Reachable ≠ useful  (history gj,t)</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Select one source per cell</a:t>
            </a:r>
            <a:endParaRPr lang="en-US" sz="1300" dirty="0"/>
          </a:p>
        </p:txBody>
      </p:sp>
      <p:sp>
        <p:nvSpPr>
          <p:cNvPr id="21" name="Shape 15"/>
          <p:cNvSpPr/>
          <p:nvPr/>
        </p:nvSpPr>
        <p:spPr>
          <a:xfrm>
            <a:off x="320040" y="5010912"/>
            <a:ext cx="11539728" cy="1353312"/>
          </a:xfrm>
          <a:prstGeom prst="roundRect">
            <a:avLst>
              <a:gd name="adj" fmla="val 5405"/>
            </a:avLst>
          </a:prstGeom>
          <a:solidFill>
            <a:srgbClr val="EAF0F8"/>
          </a:solidFill>
          <a:ln/>
          <a:effectLst>
            <a:outerShdw sx="100000" sy="100000" kx="0" ky="0" algn="bl" rotWithShape="0" blurRad="50800" dist="12700" dir="16200000">
              <a:srgbClr val="1F2A44">
                <a:alpha val="12000"/>
              </a:srgbClr>
            </a:outerShdw>
          </a:effectLst>
        </p:spPr>
      </p:sp>
      <p:sp>
        <p:nvSpPr>
          <p:cNvPr id="22" name="Text 16"/>
          <p:cNvSpPr/>
          <p:nvPr/>
        </p:nvSpPr>
        <p:spPr>
          <a:xfrm>
            <a:off x="457200" y="5065776"/>
            <a:ext cx="11265408" cy="256032"/>
          </a:xfrm>
          <a:prstGeom prst="rect">
            <a:avLst/>
          </a:prstGeom>
          <a:noFill/>
          <a:ln/>
        </p:spPr>
        <p:txBody>
          <a:bodyPr wrap="square" lIns="0" tIns="0" rIns="0" bIns="0" rtlCol="0" anchor="ctr"/>
          <a:lstStyle/>
          <a:p>
            <a:pPr indent="0" marL="0">
              <a:buNone/>
            </a:pPr>
            <a:r>
              <a:rPr lang="en-US" sz="1300" b="1" dirty="0">
                <a:solidFill>
                  <a:srgbClr val="2F5597"/>
                </a:solidFill>
                <a:latin typeface="Calibri" pitchFamily="34" charset="0"/>
                <a:ea typeface="Calibri" pitchFamily="34" charset="-122"/>
                <a:cs typeface="Calibri" pitchFamily="34" charset="-120"/>
              </a:rPr>
              <a:t>Instantaneous neighbor set used by the policy (not a delayed topology)</a:t>
            </a:r>
            <a:endParaRPr lang="en-US" sz="1300" dirty="0"/>
          </a:p>
        </p:txBody>
      </p:sp>
      <p:sp>
        <p:nvSpPr>
          <p:cNvPr id="23" name="Text 17"/>
          <p:cNvSpPr/>
          <p:nvPr/>
        </p:nvSpPr>
        <p:spPr>
          <a:xfrm>
            <a:off x="365760" y="5321808"/>
            <a:ext cx="11430000" cy="530352"/>
          </a:xfrm>
          <a:prstGeom prst="rect">
            <a:avLst/>
          </a:prstGeom>
          <a:noFill/>
          <a:ln/>
        </p:spPr>
        <p:txBody>
          <a:bodyPr wrap="square" lIns="0" tIns="0" rIns="0" bIns="0" rtlCol="0" anchor="ctr"/>
          <a:lstStyle/>
          <a:p>
            <a:pPr algn="ctr" indent="0" marL="0">
              <a:buNone/>
            </a:pPr>
            <m:oMathPara xmlns:m="http://schemas.openxmlformats.org/officeDocument/2006/math">
              <m:oMathParaPr>
                <m:jc m:val="center"/>
              </m:oMathParaPr>
              <m:oMath>
                <m:sSub>
                  <m:e>
                    <m:r>
                      <m:rPr>
                        <m:sty m:val="i"/>
                      </m:rPr>
                      <m:t>𝒩</m:t>
                    </m:r>
                  </m:e>
                  <m:sub>
                    <m:r>
                      <m:rPr>
                        <m:sty m:val="i"/>
                      </m:rPr>
                      <m:t>i</m:t>
                    </m:r>
                  </m:sub>
                </m:sSub>
                <m:d>
                  <m:dPr>
                    <m:begChr m:val="("/>
                    <m:endChr m:val=")"/>
                  </m:dPr>
                  <m:e>
                    <m:r>
                      <m:rPr>
                        <m:sty m:val="i"/>
                      </m:rPr>
                      <m:t>t</m:t>
                    </m:r>
                  </m:e>
                </m:d>
                <m:r>
                  <m:rPr>
                    <m:sty m:val="p"/>
                  </m:rPr>
                  <m:t xml:space="preserve"> = </m:t>
                </m:r>
                <m:d>
                  <m:dPr>
                    <m:begChr m:val="{ "/>
                    <m:endChr m:val=" }"/>
                  </m:dPr>
                  <m:e>
                    <m:r>
                      <m:rPr>
                        <m:sty m:val="p"/>
                      </m:rPr>
                      <m:t xml:space="preserve">j </m:t>
                    </m:r>
                    <m:r>
                      <m:rPr>
                        <m:sty m:val="p"/>
                      </m:rPr>
                      <m:t xml:space="preserve">≠ </m:t>
                    </m:r>
                    <m:r>
                      <m:rPr>
                        <m:sty m:val="p"/>
                      </m:rPr>
                      <m:t xml:space="preserve">i </m:t>
                    </m:r>
                    <m:r>
                      <m:rPr>
                        <m:sty m:val="p"/>
                      </m:rPr>
                      <m:t xml:space="preserve">| </m:t>
                    </m:r>
                    <m:sSub>
                      <m:e>
                        <m:r>
                          <m:rPr>
                            <m:sty m:val="i"/>
                          </m:rPr>
                          <m:t>A</m:t>
                        </m:r>
                      </m:e>
                      <m:sub>
                        <m:r>
                          <m:rPr>
                            <m:sty m:val="i"/>
                          </m:rPr>
                          <m:t>i</m:t>
                        </m:r>
                        <m:r>
                          <m:rPr>
                            <m:sty m:val="p"/>
                          </m:rPr>
                          <m:t>,</m:t>
                        </m:r>
                        <m:r>
                          <m:rPr>
                            <m:sty m:val="i"/>
                          </m:rPr>
                          <m:t>j</m:t>
                        </m:r>
                        <m:r>
                          <m:rPr>
                            <m:sty m:val="p"/>
                          </m:rPr>
                          <m:t>,</m:t>
                        </m:r>
                        <m:r>
                          <m:rPr>
                            <m:sty m:val="i"/>
                          </m:rPr>
                          <m:t>t</m:t>
                        </m:r>
                      </m:sub>
                    </m:sSub>
                    <m:r>
                      <m:rPr>
                        <m:sty m:val="p"/>
                      </m:rPr>
                      <m:t xml:space="preserve"> = </m:t>
                    </m:r>
                    <m:r>
                      <m:rPr>
                        <m:sty m:val="p"/>
                      </m:rPr>
                      <m:t>1</m:t>
                    </m:r>
                  </m:e>
                </m:d>
              </m:oMath>
            </m:oMathPara>
          </a:p>
        </p:txBody>
      </p:sp>
      <p:sp>
        <p:nvSpPr>
          <p:cNvPr id="24" name="Text 18"/>
          <p:cNvSpPr/>
          <p:nvPr/>
        </p:nvSpPr>
        <p:spPr>
          <a:xfrm>
            <a:off x="457200" y="5870448"/>
            <a:ext cx="11265408" cy="384048"/>
          </a:xfrm>
          <a:prstGeom prst="rect">
            <a:avLst/>
          </a:prstGeom>
          <a:noFill/>
          <a:ln/>
        </p:spPr>
        <p:txBody>
          <a:bodyPr wrap="square" lIns="0" tIns="0" rIns="0" bIns="0" rtlCol="0" anchor="ctr"/>
          <a:lstStyle/>
          <a:p>
            <a:pPr algn="ctr" indent="0" marL="0">
              <a:buNone/>
            </a:pPr>
            <a:r>
              <a:rPr lang="en-US" sz="1400" i="1" dirty="0">
                <a:solidFill>
                  <a:srgbClr val="1E3F73"/>
                </a:solidFill>
                <a:latin typeface="Calibri" pitchFamily="34" charset="0"/>
                <a:ea typeface="Calibri" pitchFamily="34" charset="-122"/>
                <a:cs typeface="Calibri" pitchFamily="34" charset="-120"/>
              </a:rPr>
              <a:t>Focus: cooperative decision-making under communication constraints, rather than protocol optimization.</a:t>
            </a:r>
            <a:endParaRPr lang="en-US" sz="1400" dirty="0"/>
          </a:p>
        </p:txBody>
      </p:sp>
      <p:sp>
        <p:nvSpPr>
          <p:cNvPr id="25" name="Shape 19"/>
          <p:cNvSpPr/>
          <p:nvPr/>
        </p:nvSpPr>
        <p:spPr>
          <a:xfrm>
            <a:off x="0" y="6784848"/>
            <a:ext cx="12191695" cy="73152"/>
          </a:xfrm>
          <a:prstGeom prst="rect">
            <a:avLst/>
          </a:prstGeom>
          <a:solidFill>
            <a:srgbClr val="2F5597"/>
          </a:solidFill>
          <a:ln/>
        </p:spPr>
      </p:sp>
      <p:sp>
        <p:nvSpPr>
          <p:cNvPr id="26" name="Text 20"/>
          <p:cNvSpPr/>
          <p:nvPr/>
        </p:nvSpPr>
        <p:spPr>
          <a:xfrm>
            <a:off x="347472" y="6492240"/>
            <a:ext cx="10881360" cy="256032"/>
          </a:xfrm>
          <a:prstGeom prst="rect">
            <a:avLst/>
          </a:prstGeom>
          <a:noFill/>
          <a:ln/>
        </p:spPr>
        <p:txBody>
          <a:bodyPr wrap="square" lIns="0" tIns="0" rIns="0" bIns="0" rtlCol="0" anchor="ctr"/>
          <a:lstStyle/>
          <a:p>
            <a:pPr indent="0" marL="0">
              <a:buNone/>
            </a:pPr>
            <a:r>
              <a:rPr lang="en-US" sz="1100" dirty="0">
                <a:solidFill>
                  <a:srgbClr val="5A6A80"/>
                </a:solidFill>
                <a:latin typeface="Calibri" pitchFamily="34" charset="0"/>
                <a:ea typeface="Calibri" pitchFamily="34" charset="-122"/>
                <a:cs typeface="Calibri" pitchFamily="34" charset="-120"/>
              </a:rPr>
              <a:t>CAC 2026  ·  IC-HGAT-MAPPO  ·  Dec-POMDP / CTDE / HGAT / MAPPO</a:t>
            </a:r>
            <a:endParaRPr lang="en-US" sz="1100" dirty="0"/>
          </a:p>
        </p:txBody>
      </p:sp>
      <p:sp>
        <p:nvSpPr>
          <p:cNvPr id="27" name="Text 21"/>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Calibri" pitchFamily="34" charset="0"/>
                <a:ea typeface="Calibri" pitchFamily="34" charset="-122"/>
                <a:cs typeface="Calibri" pitchFamily="34" charset="-120"/>
              </a:rPr>
              <a:t>4</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37578" y="54864"/>
            <a:ext cx="715196" cy="493776"/>
          </a:xfrm>
          <a:prstGeom prst="rect">
            <a:avLst/>
          </a:prstGeom>
        </p:spPr>
      </p:pic>
      <p:sp>
        <p:nvSpPr>
          <p:cNvPr id="3" name="Text 0"/>
          <p:cNvSpPr/>
          <p:nvPr/>
        </p:nvSpPr>
        <p:spPr>
          <a:xfrm>
            <a:off x="347472" y="73152"/>
            <a:ext cx="10698480" cy="438912"/>
          </a:xfrm>
          <a:prstGeom prst="rect">
            <a:avLst/>
          </a:prstGeom>
          <a:noFill/>
          <a:ln/>
        </p:spPr>
        <p:txBody>
          <a:bodyPr wrap="square" lIns="0" tIns="0" rIns="0" bIns="0" rtlCol="0" anchor="ctr"/>
          <a:lstStyle/>
          <a:p>
            <a:pPr indent="0" marL="0">
              <a:buNone/>
            </a:pPr>
            <a:r>
              <a:rPr lang="en-US" sz="2600" b="1" dirty="0">
                <a:solidFill>
                  <a:srgbClr val="2F5597"/>
                </a:solidFill>
                <a:latin typeface="Calibri" pitchFamily="34" charset="0"/>
                <a:ea typeface="Calibri" pitchFamily="34" charset="-122"/>
                <a:cs typeface="Calibri" pitchFamily="34" charset="-120"/>
              </a:rPr>
              <a:t>1. Background</a:t>
            </a:r>
            <a:endParaRPr lang="en-US" sz="2600" dirty="0"/>
          </a:p>
        </p:txBody>
      </p:sp>
      <p:sp>
        <p:nvSpPr>
          <p:cNvPr id="4" name="Shape 1"/>
          <p:cNvSpPr/>
          <p:nvPr/>
        </p:nvSpPr>
        <p:spPr>
          <a:xfrm>
            <a:off x="0" y="566928"/>
            <a:ext cx="12191695" cy="475488"/>
          </a:xfrm>
          <a:prstGeom prst="rect">
            <a:avLst/>
          </a:prstGeom>
          <a:solidFill>
            <a:srgbClr val="2F5597"/>
          </a:solidFill>
          <a:ln/>
        </p:spPr>
      </p:sp>
      <p:sp>
        <p:nvSpPr>
          <p:cNvPr id="5" name="Text 2"/>
          <p:cNvSpPr/>
          <p:nvPr/>
        </p:nvSpPr>
        <p:spPr>
          <a:xfrm>
            <a:off x="347472" y="585216"/>
            <a:ext cx="11430000" cy="43891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1.3 Proposed Solution</a:t>
            </a:r>
            <a:endParaRPr lang="en-US" sz="2000" dirty="0"/>
          </a:p>
        </p:txBody>
      </p:sp>
      <p:sp>
        <p:nvSpPr>
          <p:cNvPr id="6" name="Shape 3"/>
          <p:cNvSpPr/>
          <p:nvPr/>
        </p:nvSpPr>
        <p:spPr>
          <a:xfrm>
            <a:off x="320040" y="1115568"/>
            <a:ext cx="2743200" cy="2331720"/>
          </a:xfrm>
          <a:prstGeom prst="roundRect">
            <a:avLst>
              <a:gd name="adj" fmla="val 3137"/>
            </a:avLst>
          </a:prstGeom>
          <a:solidFill>
            <a:srgbClr val="FFFFFF"/>
          </a:solidFill>
          <a:ln/>
          <a:effectLst>
            <a:outerShdw sx="100000" sy="100000" kx="0" ky="0" algn="bl" rotWithShape="0" blurRad="50800" dist="12700" dir="16200000">
              <a:srgbClr val="1F2A44">
                <a:alpha val="12000"/>
              </a:srgbClr>
            </a:outerShdw>
          </a:effectLst>
        </p:spPr>
      </p:sp>
      <p:sp>
        <p:nvSpPr>
          <p:cNvPr id="7" name="Shape 4"/>
          <p:cNvSpPr/>
          <p:nvPr/>
        </p:nvSpPr>
        <p:spPr>
          <a:xfrm>
            <a:off x="320040" y="1115568"/>
            <a:ext cx="64008" cy="2331720"/>
          </a:xfrm>
          <a:prstGeom prst="rect">
            <a:avLst/>
          </a:prstGeom>
          <a:solidFill>
            <a:srgbClr val="2F5597"/>
          </a:solidFill>
          <a:ln/>
        </p:spPr>
      </p:sp>
      <p:sp>
        <p:nvSpPr>
          <p:cNvPr id="8" name="Text 5"/>
          <p:cNvSpPr/>
          <p:nvPr/>
        </p:nvSpPr>
        <p:spPr>
          <a:xfrm>
            <a:off x="320040" y="1170432"/>
            <a:ext cx="2743200" cy="256032"/>
          </a:xfrm>
          <a:prstGeom prst="rect">
            <a:avLst/>
          </a:prstGeom>
          <a:noFill/>
          <a:ln/>
        </p:spPr>
        <p:txBody>
          <a:bodyPr wrap="square" lIns="0" tIns="0" rIns="0" bIns="0" rtlCol="0" anchor="ctr"/>
          <a:lstStyle/>
          <a:p>
            <a:pPr algn="ctr" indent="0" marL="0">
              <a:buNone/>
            </a:pPr>
            <a:r>
              <a:rPr lang="en-US" sz="1200" dirty="0">
                <a:solidFill>
                  <a:srgbClr val="5A6A80"/>
                </a:solidFill>
                <a:latin typeface="Calibri" pitchFamily="34" charset="0"/>
                <a:ea typeface="Calibri" pitchFamily="34" charset="-122"/>
                <a:cs typeface="Calibri" pitchFamily="34" charset="-120"/>
              </a:rPr>
              <a:t>Challenge 1</a:t>
            </a:r>
            <a:endParaRPr lang="en-US" sz="1200" dirty="0"/>
          </a:p>
        </p:txBody>
      </p:sp>
      <p:sp>
        <p:nvSpPr>
          <p:cNvPr id="9" name="Text 6"/>
          <p:cNvSpPr/>
          <p:nvPr/>
        </p:nvSpPr>
        <p:spPr>
          <a:xfrm>
            <a:off x="411480" y="1408176"/>
            <a:ext cx="2560320" cy="384048"/>
          </a:xfrm>
          <a:prstGeom prst="rect">
            <a:avLst/>
          </a:prstGeom>
          <a:noFill/>
          <a:ln/>
        </p:spPr>
        <p:txBody>
          <a:bodyPr wrap="square" lIns="0" tIns="0" rIns="0" bIns="0" rtlCol="0" anchor="ctr"/>
          <a:lstStyle/>
          <a:p>
            <a:pPr algn="ctr" indent="0" marL="0">
              <a:buNone/>
            </a:pPr>
            <a:r>
              <a:rPr lang="en-US" sz="1400" b="1" dirty="0">
                <a:solidFill>
                  <a:srgbClr val="1F2A44"/>
                </a:solidFill>
                <a:latin typeface="Calibri" pitchFamily="34" charset="0"/>
                <a:ea typeface="Calibri" pitchFamily="34" charset="-122"/>
                <a:cs typeface="Calibri" pitchFamily="34" charset="-120"/>
              </a:rPr>
              <a:t>Incomplete beliefs</a:t>
            </a:r>
            <a:endParaRPr lang="en-US" sz="1400" dirty="0"/>
          </a:p>
        </p:txBody>
      </p:sp>
      <p:sp>
        <p:nvSpPr>
          <p:cNvPr id="10" name="Shape 7"/>
          <p:cNvSpPr/>
          <p:nvPr/>
        </p:nvSpPr>
        <p:spPr>
          <a:xfrm>
            <a:off x="1371600" y="1810512"/>
            <a:ext cx="640080" cy="256032"/>
          </a:xfrm>
          <a:prstGeom prst="downArrow">
            <a:avLst/>
          </a:prstGeom>
          <a:solidFill>
            <a:srgbClr val="2F5597"/>
          </a:solidFill>
          <a:ln/>
        </p:spPr>
      </p:sp>
      <p:sp>
        <p:nvSpPr>
          <p:cNvPr id="11" name="Text 8"/>
          <p:cNvSpPr/>
          <p:nvPr/>
        </p:nvSpPr>
        <p:spPr>
          <a:xfrm>
            <a:off x="393192" y="2084832"/>
            <a:ext cx="2596896" cy="1207008"/>
          </a:xfrm>
          <a:prstGeom prst="rect">
            <a:avLst/>
          </a:prstGeom>
          <a:noFill/>
          <a:ln/>
        </p:spPr>
        <p:txBody>
          <a:bodyPr wrap="square" lIns="0" tIns="0" rIns="0" bIns="0" rtlCol="0" anchor="ctr"/>
          <a:lstStyle/>
          <a:p>
            <a:pPr algn="ctr" indent="0" marL="0">
              <a:buNone/>
            </a:pPr>
            <a:r>
              <a:rPr lang="en-US" sz="1400" b="1" dirty="0">
                <a:solidFill>
                  <a:srgbClr val="2F5597"/>
                </a:solidFill>
                <a:latin typeface="Calibri" pitchFamily="34" charset="0"/>
                <a:ea typeface="Calibri" pitchFamily="34" charset="-122"/>
                <a:cs typeface="Calibri" pitchFamily="34" charset="-120"/>
              </a:rPr>
              <a:t>Revisit-aware</a:t>
            </a:r>
            <a:endParaRPr lang="en-US" sz="1400" dirty="0"/>
          </a:p>
          <a:p>
            <a:pPr algn="ctr" indent="0" marL="0">
              <a:buNone/>
            </a:pPr>
            <a:r>
              <a:rPr lang="en-US" sz="1400" b="1" dirty="0">
                <a:solidFill>
                  <a:srgbClr val="2F5597"/>
                </a:solidFill>
                <a:latin typeface="Calibri" pitchFamily="34" charset="0"/>
                <a:ea typeface="Calibri" pitchFamily="34" charset="-122"/>
                <a:cs typeface="Calibri" pitchFamily="34" charset="-120"/>
              </a:rPr>
              <a:t>P/E/R Memory</a:t>
            </a:r>
            <a:endParaRPr lang="en-US" sz="1400" dirty="0"/>
          </a:p>
        </p:txBody>
      </p:sp>
      <p:sp>
        <p:nvSpPr>
          <p:cNvPr id="12" name="Shape 9"/>
          <p:cNvSpPr/>
          <p:nvPr/>
        </p:nvSpPr>
        <p:spPr>
          <a:xfrm>
            <a:off x="3200400" y="1115568"/>
            <a:ext cx="2743200" cy="2331720"/>
          </a:xfrm>
          <a:prstGeom prst="roundRect">
            <a:avLst>
              <a:gd name="adj" fmla="val 3137"/>
            </a:avLst>
          </a:prstGeom>
          <a:solidFill>
            <a:srgbClr val="FFFFFF"/>
          </a:solidFill>
          <a:ln/>
          <a:effectLst>
            <a:outerShdw sx="100000" sy="100000" kx="0" ky="0" algn="bl" rotWithShape="0" blurRad="50800" dist="12700" dir="16200000">
              <a:srgbClr val="1F2A44">
                <a:alpha val="12000"/>
              </a:srgbClr>
            </a:outerShdw>
          </a:effectLst>
        </p:spPr>
      </p:sp>
      <p:sp>
        <p:nvSpPr>
          <p:cNvPr id="13" name="Shape 10"/>
          <p:cNvSpPr/>
          <p:nvPr/>
        </p:nvSpPr>
        <p:spPr>
          <a:xfrm>
            <a:off x="3200400" y="1115568"/>
            <a:ext cx="64008" cy="2331720"/>
          </a:xfrm>
          <a:prstGeom prst="rect">
            <a:avLst/>
          </a:prstGeom>
          <a:solidFill>
            <a:srgbClr val="2F5597"/>
          </a:solidFill>
          <a:ln/>
        </p:spPr>
      </p:sp>
      <p:sp>
        <p:nvSpPr>
          <p:cNvPr id="14" name="Text 11"/>
          <p:cNvSpPr/>
          <p:nvPr/>
        </p:nvSpPr>
        <p:spPr>
          <a:xfrm>
            <a:off x="3200400" y="1170432"/>
            <a:ext cx="2743200" cy="256032"/>
          </a:xfrm>
          <a:prstGeom prst="rect">
            <a:avLst/>
          </a:prstGeom>
          <a:noFill/>
          <a:ln/>
        </p:spPr>
        <p:txBody>
          <a:bodyPr wrap="square" lIns="0" tIns="0" rIns="0" bIns="0" rtlCol="0" anchor="ctr"/>
          <a:lstStyle/>
          <a:p>
            <a:pPr algn="ctr" indent="0" marL="0">
              <a:buNone/>
            </a:pPr>
            <a:r>
              <a:rPr lang="en-US" sz="1200" dirty="0">
                <a:solidFill>
                  <a:srgbClr val="5A6A80"/>
                </a:solidFill>
                <a:latin typeface="Calibri" pitchFamily="34" charset="0"/>
                <a:ea typeface="Calibri" pitchFamily="34" charset="-122"/>
                <a:cs typeface="Calibri" pitchFamily="34" charset="-120"/>
              </a:rPr>
              <a:t>Challenge 2</a:t>
            </a:r>
            <a:endParaRPr lang="en-US" sz="1200" dirty="0"/>
          </a:p>
        </p:txBody>
      </p:sp>
      <p:sp>
        <p:nvSpPr>
          <p:cNvPr id="15" name="Text 12"/>
          <p:cNvSpPr/>
          <p:nvPr/>
        </p:nvSpPr>
        <p:spPr>
          <a:xfrm>
            <a:off x="3291840" y="1408176"/>
            <a:ext cx="2560320" cy="384048"/>
          </a:xfrm>
          <a:prstGeom prst="rect">
            <a:avLst/>
          </a:prstGeom>
          <a:noFill/>
          <a:ln/>
        </p:spPr>
        <p:txBody>
          <a:bodyPr wrap="square" lIns="0" tIns="0" rIns="0" bIns="0" rtlCol="0" anchor="ctr"/>
          <a:lstStyle/>
          <a:p>
            <a:pPr algn="ctr" indent="0" marL="0">
              <a:buNone/>
            </a:pPr>
            <a:r>
              <a:rPr lang="en-US" sz="1400" b="1" dirty="0">
                <a:solidFill>
                  <a:srgbClr val="1F2A44"/>
                </a:solidFill>
                <a:latin typeface="Calibri" pitchFamily="34" charset="0"/>
                <a:ea typeface="Calibri" pitchFamily="34" charset="-122"/>
                <a:cs typeface="Calibri" pitchFamily="34" charset="-120"/>
              </a:rPr>
              <a:t>Stale peer information</a:t>
            </a:r>
            <a:endParaRPr lang="en-US" sz="1400" dirty="0"/>
          </a:p>
        </p:txBody>
      </p:sp>
      <p:sp>
        <p:nvSpPr>
          <p:cNvPr id="16" name="Shape 13"/>
          <p:cNvSpPr/>
          <p:nvPr/>
        </p:nvSpPr>
        <p:spPr>
          <a:xfrm>
            <a:off x="4251960" y="1810512"/>
            <a:ext cx="640080" cy="256032"/>
          </a:xfrm>
          <a:prstGeom prst="downArrow">
            <a:avLst/>
          </a:prstGeom>
          <a:solidFill>
            <a:srgbClr val="ED7D31"/>
          </a:solidFill>
          <a:ln/>
        </p:spPr>
      </p:sp>
      <p:sp>
        <p:nvSpPr>
          <p:cNvPr id="17" name="Text 14"/>
          <p:cNvSpPr/>
          <p:nvPr/>
        </p:nvSpPr>
        <p:spPr>
          <a:xfrm>
            <a:off x="3273552" y="2084832"/>
            <a:ext cx="2596896" cy="1207008"/>
          </a:xfrm>
          <a:prstGeom prst="rect">
            <a:avLst/>
          </a:prstGeom>
          <a:noFill/>
          <a:ln/>
        </p:spPr>
        <p:txBody>
          <a:bodyPr wrap="square" lIns="0" tIns="0" rIns="0" bIns="0" rtlCol="0" anchor="ctr"/>
          <a:lstStyle/>
          <a:p>
            <a:pPr algn="ctr" indent="0" marL="0">
              <a:buNone/>
            </a:pPr>
            <a:r>
              <a:rPr lang="en-US" sz="1400" b="1" dirty="0">
                <a:solidFill>
                  <a:srgbClr val="ED7D31"/>
                </a:solidFill>
                <a:latin typeface="Calibri" pitchFamily="34" charset="0"/>
                <a:ea typeface="Calibri" pitchFamily="34" charset="-122"/>
                <a:cs typeface="Calibri" pitchFamily="34" charset="-120"/>
              </a:rPr>
              <a:t>Communication-History-</a:t>
            </a:r>
            <a:endParaRPr lang="en-US" sz="1400" dirty="0"/>
          </a:p>
          <a:p>
            <a:pPr algn="ctr" indent="0" marL="0">
              <a:buNone/>
            </a:pPr>
            <a:r>
              <a:rPr lang="en-US" sz="1400" b="1" dirty="0">
                <a:solidFill>
                  <a:srgbClr val="ED7D31"/>
                </a:solidFill>
                <a:latin typeface="Calibri" pitchFamily="34" charset="0"/>
                <a:ea typeface="Calibri" pitchFamily="34" charset="-122"/>
                <a:cs typeface="Calibri" pitchFamily="34" charset="-120"/>
              </a:rPr>
              <a:t>Aware Source Selection</a:t>
            </a:r>
            <a:endParaRPr lang="en-US" sz="1400" dirty="0"/>
          </a:p>
        </p:txBody>
      </p:sp>
      <p:sp>
        <p:nvSpPr>
          <p:cNvPr id="18" name="Shape 15"/>
          <p:cNvSpPr/>
          <p:nvPr/>
        </p:nvSpPr>
        <p:spPr>
          <a:xfrm>
            <a:off x="6080760" y="1115568"/>
            <a:ext cx="2743200" cy="2331720"/>
          </a:xfrm>
          <a:prstGeom prst="roundRect">
            <a:avLst>
              <a:gd name="adj" fmla="val 3137"/>
            </a:avLst>
          </a:prstGeom>
          <a:solidFill>
            <a:srgbClr val="FFFFFF"/>
          </a:solidFill>
          <a:ln/>
          <a:effectLst>
            <a:outerShdw sx="100000" sy="100000" kx="0" ky="0" algn="bl" rotWithShape="0" blurRad="50800" dist="12700" dir="16200000">
              <a:srgbClr val="1F2A44">
                <a:alpha val="12000"/>
              </a:srgbClr>
            </a:outerShdw>
          </a:effectLst>
        </p:spPr>
      </p:sp>
      <p:sp>
        <p:nvSpPr>
          <p:cNvPr id="19" name="Shape 16"/>
          <p:cNvSpPr/>
          <p:nvPr/>
        </p:nvSpPr>
        <p:spPr>
          <a:xfrm>
            <a:off x="6080760" y="1115568"/>
            <a:ext cx="64008" cy="2331720"/>
          </a:xfrm>
          <a:prstGeom prst="rect">
            <a:avLst/>
          </a:prstGeom>
          <a:solidFill>
            <a:srgbClr val="2F5597"/>
          </a:solidFill>
          <a:ln/>
        </p:spPr>
      </p:sp>
      <p:sp>
        <p:nvSpPr>
          <p:cNvPr id="20" name="Text 17"/>
          <p:cNvSpPr/>
          <p:nvPr/>
        </p:nvSpPr>
        <p:spPr>
          <a:xfrm>
            <a:off x="6080760" y="1170432"/>
            <a:ext cx="2743200" cy="256032"/>
          </a:xfrm>
          <a:prstGeom prst="rect">
            <a:avLst/>
          </a:prstGeom>
          <a:noFill/>
          <a:ln/>
        </p:spPr>
        <p:txBody>
          <a:bodyPr wrap="square" lIns="0" tIns="0" rIns="0" bIns="0" rtlCol="0" anchor="ctr"/>
          <a:lstStyle/>
          <a:p>
            <a:pPr algn="ctr" indent="0" marL="0">
              <a:buNone/>
            </a:pPr>
            <a:r>
              <a:rPr lang="en-US" sz="1200" dirty="0">
                <a:solidFill>
                  <a:srgbClr val="5A6A80"/>
                </a:solidFill>
                <a:latin typeface="Calibri" pitchFamily="34" charset="0"/>
                <a:ea typeface="Calibri" pitchFamily="34" charset="-122"/>
                <a:cs typeface="Calibri" pitchFamily="34" charset="-120"/>
              </a:rPr>
              <a:t>Challenge 3</a:t>
            </a:r>
            <a:endParaRPr lang="en-US" sz="1200" dirty="0"/>
          </a:p>
        </p:txBody>
      </p:sp>
      <p:sp>
        <p:nvSpPr>
          <p:cNvPr id="21" name="Text 18"/>
          <p:cNvSpPr/>
          <p:nvPr/>
        </p:nvSpPr>
        <p:spPr>
          <a:xfrm>
            <a:off x="6172200" y="1408176"/>
            <a:ext cx="2560320" cy="384048"/>
          </a:xfrm>
          <a:prstGeom prst="rect">
            <a:avLst/>
          </a:prstGeom>
          <a:noFill/>
          <a:ln/>
        </p:spPr>
        <p:txBody>
          <a:bodyPr wrap="square" lIns="0" tIns="0" rIns="0" bIns="0" rtlCol="0" anchor="ctr"/>
          <a:lstStyle/>
          <a:p>
            <a:pPr algn="ctr" indent="0" marL="0">
              <a:buNone/>
            </a:pPr>
            <a:r>
              <a:rPr lang="en-US" sz="1400" b="1" dirty="0">
                <a:solidFill>
                  <a:srgbClr val="1F2A44"/>
                </a:solidFill>
                <a:latin typeface="Calibri" pitchFamily="34" charset="0"/>
                <a:ea typeface="Calibri" pitchFamily="34" charset="-122"/>
                <a:cs typeface="Calibri" pitchFamily="34" charset="-120"/>
              </a:rPr>
              <a:t>Heterogeneous entities</a:t>
            </a:r>
            <a:endParaRPr lang="en-US" sz="1400" dirty="0"/>
          </a:p>
        </p:txBody>
      </p:sp>
      <p:sp>
        <p:nvSpPr>
          <p:cNvPr id="22" name="Shape 19"/>
          <p:cNvSpPr/>
          <p:nvPr/>
        </p:nvSpPr>
        <p:spPr>
          <a:xfrm>
            <a:off x="7132320" y="1810512"/>
            <a:ext cx="640080" cy="256032"/>
          </a:xfrm>
          <a:prstGeom prst="downArrow">
            <a:avLst/>
          </a:prstGeom>
          <a:solidFill>
            <a:srgbClr val="2E8B57"/>
          </a:solidFill>
          <a:ln/>
        </p:spPr>
      </p:sp>
      <p:sp>
        <p:nvSpPr>
          <p:cNvPr id="23" name="Text 20"/>
          <p:cNvSpPr/>
          <p:nvPr/>
        </p:nvSpPr>
        <p:spPr>
          <a:xfrm>
            <a:off x="6153912" y="2084832"/>
            <a:ext cx="2596896" cy="1207008"/>
          </a:xfrm>
          <a:prstGeom prst="rect">
            <a:avLst/>
          </a:prstGeom>
          <a:noFill/>
          <a:ln/>
        </p:spPr>
        <p:txBody>
          <a:bodyPr wrap="square" lIns="0" tIns="0" rIns="0" bIns="0" rtlCol="0" anchor="ctr"/>
          <a:lstStyle/>
          <a:p>
            <a:pPr algn="ctr" indent="0" marL="0">
              <a:buNone/>
            </a:pPr>
            <a:r>
              <a:rPr lang="en-US" sz="1400" b="1" dirty="0">
                <a:solidFill>
                  <a:srgbClr val="2E8B57"/>
                </a:solidFill>
                <a:latin typeface="Calibri" pitchFamily="34" charset="0"/>
                <a:ea typeface="Calibri" pitchFamily="34" charset="-122"/>
                <a:cs typeface="Calibri" pitchFamily="34" charset="-120"/>
              </a:rPr>
              <a:t>Heterogeneous</a:t>
            </a:r>
            <a:endParaRPr lang="en-US" sz="1400" dirty="0"/>
          </a:p>
          <a:p>
            <a:pPr algn="ctr" indent="0" marL="0">
              <a:buNone/>
            </a:pPr>
            <a:r>
              <a:rPr lang="en-US" sz="1400" b="1" dirty="0">
                <a:solidFill>
                  <a:srgbClr val="2E8B57"/>
                </a:solidFill>
                <a:latin typeface="Calibri" pitchFamily="34" charset="0"/>
                <a:ea typeface="Calibri" pitchFamily="34" charset="-122"/>
                <a:cs typeface="Calibri" pitchFamily="34" charset="-120"/>
              </a:rPr>
              <a:t>Graph Attention</a:t>
            </a:r>
            <a:endParaRPr lang="en-US" sz="1400" dirty="0"/>
          </a:p>
        </p:txBody>
      </p:sp>
      <p:sp>
        <p:nvSpPr>
          <p:cNvPr id="24" name="Shape 21"/>
          <p:cNvSpPr/>
          <p:nvPr/>
        </p:nvSpPr>
        <p:spPr>
          <a:xfrm>
            <a:off x="9006840" y="1115568"/>
            <a:ext cx="2852928" cy="2331720"/>
          </a:xfrm>
          <a:prstGeom prst="roundRect">
            <a:avLst>
              <a:gd name="adj" fmla="val 3137"/>
            </a:avLst>
          </a:prstGeom>
          <a:solidFill>
            <a:srgbClr val="2F5597"/>
          </a:solidFill>
          <a:ln/>
          <a:effectLst>
            <a:outerShdw sx="100000" sy="100000" kx="0" ky="0" algn="bl" rotWithShape="0" blurRad="50800" dist="12700" dir="16200000">
              <a:srgbClr val="1F2A44">
                <a:alpha val="12000"/>
              </a:srgbClr>
            </a:outerShdw>
          </a:effectLst>
        </p:spPr>
      </p:sp>
      <p:sp>
        <p:nvSpPr>
          <p:cNvPr id="25" name="Text 22"/>
          <p:cNvSpPr/>
          <p:nvPr/>
        </p:nvSpPr>
        <p:spPr>
          <a:xfrm>
            <a:off x="9144000" y="1207008"/>
            <a:ext cx="260604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Learning (CTDE)</a:t>
            </a:r>
            <a:endParaRPr lang="en-US" sz="1500" dirty="0"/>
          </a:p>
        </p:txBody>
      </p:sp>
      <p:sp>
        <p:nvSpPr>
          <p:cNvPr id="26" name="Text 23"/>
          <p:cNvSpPr/>
          <p:nvPr/>
        </p:nvSpPr>
        <p:spPr>
          <a:xfrm>
            <a:off x="9144000" y="1554480"/>
            <a:ext cx="2606040" cy="17373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Shared actor  pi(a|o)</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Centralized critic V(s)</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MAPPO: clip + GAE</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Common safety projection</a:t>
            </a:r>
            <a:endParaRPr lang="en-US" sz="1400" dirty="0"/>
          </a:p>
        </p:txBody>
      </p:sp>
      <p:sp>
        <p:nvSpPr>
          <p:cNvPr id="27" name="Shape 24"/>
          <p:cNvSpPr/>
          <p:nvPr/>
        </p:nvSpPr>
        <p:spPr>
          <a:xfrm>
            <a:off x="320040" y="3566160"/>
            <a:ext cx="11539728" cy="2788920"/>
          </a:xfrm>
          <a:prstGeom prst="roundRect">
            <a:avLst>
              <a:gd name="adj" fmla="val 2623"/>
            </a:avLst>
          </a:prstGeom>
          <a:solidFill>
            <a:srgbClr val="EAF0F8"/>
          </a:solidFill>
          <a:ln/>
        </p:spPr>
      </p:sp>
      <p:sp>
        <p:nvSpPr>
          <p:cNvPr id="28" name="Text 25"/>
          <p:cNvSpPr/>
          <p:nvPr/>
        </p:nvSpPr>
        <p:spPr>
          <a:xfrm>
            <a:off x="502920" y="3639312"/>
            <a:ext cx="11173968" cy="329184"/>
          </a:xfrm>
          <a:prstGeom prst="rect">
            <a:avLst/>
          </a:prstGeom>
          <a:noFill/>
          <a:ln/>
        </p:spPr>
        <p:txBody>
          <a:bodyPr wrap="square" lIns="0" tIns="0" rIns="0" bIns="0" rtlCol="0" anchor="ctr"/>
          <a:lstStyle/>
          <a:p>
            <a:pPr indent="0" marL="0">
              <a:buNone/>
            </a:pPr>
            <a:r>
              <a:rPr lang="en-US" sz="1600" b="1" dirty="0">
                <a:solidFill>
                  <a:srgbClr val="1E3F73"/>
                </a:solidFill>
                <a:latin typeface="Calibri" pitchFamily="34" charset="0"/>
                <a:ea typeface="Calibri" pitchFamily="34" charset="-122"/>
                <a:cs typeface="Calibri" pitchFamily="34" charset="-120"/>
              </a:rPr>
              <a:t>From three questions to one algorithm  ·  IC-HGAT-MAPPO</a:t>
            </a:r>
            <a:endParaRPr lang="en-US" sz="1600" dirty="0"/>
          </a:p>
        </p:txBody>
      </p:sp>
      <p:sp>
        <p:nvSpPr>
          <p:cNvPr id="29" name="Shape 26"/>
          <p:cNvSpPr/>
          <p:nvPr/>
        </p:nvSpPr>
        <p:spPr>
          <a:xfrm>
            <a:off x="475488" y="4023360"/>
            <a:ext cx="658368" cy="585216"/>
          </a:xfrm>
          <a:prstGeom prst="roundRect">
            <a:avLst>
              <a:gd name="adj" fmla="val 9375"/>
            </a:avLst>
          </a:prstGeom>
          <a:solidFill>
            <a:srgbClr val="C0392B"/>
          </a:solidFill>
          <a:ln/>
        </p:spPr>
      </p:sp>
      <p:sp>
        <p:nvSpPr>
          <p:cNvPr id="30" name="Text 27"/>
          <p:cNvSpPr/>
          <p:nvPr/>
        </p:nvSpPr>
        <p:spPr>
          <a:xfrm>
            <a:off x="475488" y="4023360"/>
            <a:ext cx="658368" cy="58521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Q1</a:t>
            </a:r>
            <a:endParaRPr lang="en-US" sz="1600" dirty="0"/>
          </a:p>
        </p:txBody>
      </p:sp>
      <p:sp>
        <p:nvSpPr>
          <p:cNvPr id="31" name="Text 28"/>
          <p:cNvSpPr/>
          <p:nvPr/>
        </p:nvSpPr>
        <p:spPr>
          <a:xfrm>
            <a:off x="1261872" y="4023360"/>
            <a:ext cx="7178040" cy="329184"/>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How to maintain useful beliefs without global map sharing?</a:t>
            </a:r>
            <a:endParaRPr lang="en-US" sz="1400" dirty="0"/>
          </a:p>
        </p:txBody>
      </p:sp>
      <p:sp>
        <p:nvSpPr>
          <p:cNvPr id="32" name="Text 29"/>
          <p:cNvSpPr/>
          <p:nvPr/>
        </p:nvSpPr>
        <p:spPr>
          <a:xfrm>
            <a:off x="1261872" y="4315968"/>
            <a:ext cx="7178040" cy="274320"/>
          </a:xfrm>
          <a:prstGeom prst="rect">
            <a:avLst/>
          </a:prstGeom>
          <a:noFill/>
          <a:ln/>
        </p:spPr>
        <p:txBody>
          <a:bodyPr wrap="square" lIns="0" tIns="0" rIns="0" bIns="0" rtlCol="0" anchor="ctr"/>
          <a:lstStyle/>
          <a:p>
            <a:pPr indent="0" marL="0">
              <a:buNone/>
            </a:pPr>
            <a:r>
              <a:rPr lang="en-US" sz="1300" i="1" dirty="0">
                <a:solidFill>
                  <a:srgbClr val="5A6A80"/>
                </a:solidFill>
                <a:latin typeface="Calibri" pitchFamily="34" charset="0"/>
                <a:ea typeface="Calibri" pitchFamily="34" charset="-122"/>
                <a:cs typeface="Calibri" pitchFamily="34" charset="-120"/>
              </a:rPr>
              <a:t>Bayesian log-odds L  →  P, E, R</a:t>
            </a:r>
            <a:endParaRPr lang="en-US" sz="1300" dirty="0"/>
          </a:p>
        </p:txBody>
      </p:sp>
      <p:sp>
        <p:nvSpPr>
          <p:cNvPr id="33" name="Shape 30"/>
          <p:cNvSpPr/>
          <p:nvPr/>
        </p:nvSpPr>
        <p:spPr>
          <a:xfrm>
            <a:off x="475488" y="4736592"/>
            <a:ext cx="658368" cy="585216"/>
          </a:xfrm>
          <a:prstGeom prst="roundRect">
            <a:avLst>
              <a:gd name="adj" fmla="val 9375"/>
            </a:avLst>
          </a:prstGeom>
          <a:solidFill>
            <a:srgbClr val="C0392B"/>
          </a:solidFill>
          <a:ln/>
        </p:spPr>
      </p:sp>
      <p:sp>
        <p:nvSpPr>
          <p:cNvPr id="34" name="Text 31"/>
          <p:cNvSpPr/>
          <p:nvPr/>
        </p:nvSpPr>
        <p:spPr>
          <a:xfrm>
            <a:off x="475488" y="4736592"/>
            <a:ext cx="658368" cy="58521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Q2</a:t>
            </a:r>
            <a:endParaRPr lang="en-US" sz="1600" dirty="0"/>
          </a:p>
        </p:txBody>
      </p:sp>
      <p:sp>
        <p:nvSpPr>
          <p:cNvPr id="35" name="Text 32"/>
          <p:cNvSpPr/>
          <p:nvPr/>
        </p:nvSpPr>
        <p:spPr>
          <a:xfrm>
            <a:off x="1261872" y="4736592"/>
            <a:ext cx="7178040" cy="329184"/>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How to select useful information after communication recovery?</a:t>
            </a:r>
            <a:endParaRPr lang="en-US" sz="1400" dirty="0"/>
          </a:p>
        </p:txBody>
      </p:sp>
      <p:sp>
        <p:nvSpPr>
          <p:cNvPr id="36" name="Text 33"/>
          <p:cNvSpPr/>
          <p:nvPr/>
        </p:nvSpPr>
        <p:spPr>
          <a:xfrm>
            <a:off x="1261872" y="5029200"/>
            <a:ext cx="7178040" cy="274320"/>
          </a:xfrm>
          <a:prstGeom prst="rect">
            <a:avLst/>
          </a:prstGeom>
          <a:noFill/>
          <a:ln/>
        </p:spPr>
        <p:txBody>
          <a:bodyPr wrap="square" lIns="0" tIns="0" rIns="0" bIns="0" rtlCol="0" anchor="ctr"/>
          <a:lstStyle/>
          <a:p>
            <a:pPr indent="0" marL="0">
              <a:buNone/>
            </a:pPr>
            <a:r>
              <a:rPr lang="en-US" sz="1300" i="1" dirty="0">
                <a:solidFill>
                  <a:srgbClr val="5A6A80"/>
                </a:solidFill>
                <a:latin typeface="Calibri" pitchFamily="34" charset="0"/>
                <a:ea typeface="Calibri" pitchFamily="34" charset="-122"/>
                <a:cs typeface="Calibri" pitchFamily="34" charset="-120"/>
              </a:rPr>
              <a:t>One source j⋆ per cell via w |L|</a:t>
            </a:r>
            <a:endParaRPr lang="en-US" sz="1300" dirty="0"/>
          </a:p>
        </p:txBody>
      </p:sp>
      <p:sp>
        <p:nvSpPr>
          <p:cNvPr id="37" name="Shape 34"/>
          <p:cNvSpPr/>
          <p:nvPr/>
        </p:nvSpPr>
        <p:spPr>
          <a:xfrm>
            <a:off x="475488" y="5449824"/>
            <a:ext cx="658368" cy="585216"/>
          </a:xfrm>
          <a:prstGeom prst="roundRect">
            <a:avLst>
              <a:gd name="adj" fmla="val 9375"/>
            </a:avLst>
          </a:prstGeom>
          <a:solidFill>
            <a:srgbClr val="C0392B"/>
          </a:solidFill>
          <a:ln/>
        </p:spPr>
      </p:sp>
      <p:sp>
        <p:nvSpPr>
          <p:cNvPr id="38" name="Text 35"/>
          <p:cNvSpPr/>
          <p:nvPr/>
        </p:nvSpPr>
        <p:spPr>
          <a:xfrm>
            <a:off x="475488" y="5449824"/>
            <a:ext cx="658368" cy="58521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Q3</a:t>
            </a:r>
            <a:endParaRPr lang="en-US" sz="1600" dirty="0"/>
          </a:p>
        </p:txBody>
      </p:sp>
      <p:sp>
        <p:nvSpPr>
          <p:cNvPr id="39" name="Text 36"/>
          <p:cNvSpPr/>
          <p:nvPr/>
        </p:nvSpPr>
        <p:spPr>
          <a:xfrm>
            <a:off x="1261872" y="5449824"/>
            <a:ext cx="7178040" cy="329184"/>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How to model UAV, task, and obstacle interactions jointly?</a:t>
            </a:r>
            <a:endParaRPr lang="en-US" sz="1400" dirty="0"/>
          </a:p>
        </p:txBody>
      </p:sp>
      <p:sp>
        <p:nvSpPr>
          <p:cNvPr id="40" name="Text 37"/>
          <p:cNvSpPr/>
          <p:nvPr/>
        </p:nvSpPr>
        <p:spPr>
          <a:xfrm>
            <a:off x="1261872" y="5742432"/>
            <a:ext cx="7178040" cy="274320"/>
          </a:xfrm>
          <a:prstGeom prst="rect">
            <a:avLst/>
          </a:prstGeom>
          <a:noFill/>
          <a:ln/>
        </p:spPr>
        <p:txBody>
          <a:bodyPr wrap="square" lIns="0" tIns="0" rIns="0" bIns="0" rtlCol="0" anchor="ctr"/>
          <a:lstStyle/>
          <a:p>
            <a:pPr indent="0" marL="0">
              <a:buNone/>
            </a:pPr>
            <a:r>
              <a:rPr lang="en-US" sz="1300" i="1" dirty="0">
                <a:solidFill>
                  <a:srgbClr val="5A6A80"/>
                </a:solidFill>
                <a:latin typeface="Calibri" pitchFamily="34" charset="0"/>
                <a:ea typeface="Calibri" pitchFamily="34" charset="-122"/>
                <a:cs typeface="Calibri" pitchFamily="34" charset="-120"/>
              </a:rPr>
              <a:t>Relation-specific attention  alpha_r,i,k</a:t>
            </a:r>
            <a:endParaRPr lang="en-US" sz="1300" dirty="0"/>
          </a:p>
        </p:txBody>
      </p:sp>
      <p:sp>
        <p:nvSpPr>
          <p:cNvPr id="41" name="Shape 38"/>
          <p:cNvSpPr/>
          <p:nvPr/>
        </p:nvSpPr>
        <p:spPr>
          <a:xfrm>
            <a:off x="8595360" y="4892040"/>
            <a:ext cx="457200" cy="274320"/>
          </a:xfrm>
          <a:prstGeom prst="rightArrow">
            <a:avLst/>
          </a:prstGeom>
          <a:solidFill>
            <a:srgbClr val="2F5597"/>
          </a:solidFill>
          <a:ln/>
        </p:spPr>
      </p:sp>
      <p:sp>
        <p:nvSpPr>
          <p:cNvPr id="42" name="Shape 39"/>
          <p:cNvSpPr/>
          <p:nvPr/>
        </p:nvSpPr>
        <p:spPr>
          <a:xfrm>
            <a:off x="9144000" y="4297680"/>
            <a:ext cx="2514600" cy="1737360"/>
          </a:xfrm>
          <a:prstGeom prst="roundRect">
            <a:avLst>
              <a:gd name="adj" fmla="val 4211"/>
            </a:avLst>
          </a:prstGeom>
          <a:solidFill>
            <a:srgbClr val="2F5597"/>
          </a:solidFill>
          <a:ln/>
        </p:spPr>
      </p:sp>
      <p:sp>
        <p:nvSpPr>
          <p:cNvPr id="43" name="Text 40"/>
          <p:cNvSpPr/>
          <p:nvPr/>
        </p:nvSpPr>
        <p:spPr>
          <a:xfrm>
            <a:off x="9189720" y="4462272"/>
            <a:ext cx="2423160" cy="9144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IC-HGAT-</a:t>
            </a:r>
            <a:endParaRPr lang="en-US" sz="2000" dirty="0"/>
          </a:p>
          <a:p>
            <a:pPr algn="ctr" indent="0" marL="0">
              <a:buNone/>
            </a:pPr>
            <a:r>
              <a:rPr lang="en-US" sz="2000" b="1" dirty="0">
                <a:solidFill>
                  <a:srgbClr val="FFFFFF"/>
                </a:solidFill>
                <a:latin typeface="Calibri" pitchFamily="34" charset="0"/>
                <a:ea typeface="Calibri" pitchFamily="34" charset="-122"/>
                <a:cs typeface="Calibri" pitchFamily="34" charset="-120"/>
              </a:rPr>
              <a:t>MAPPO</a:t>
            </a:r>
            <a:endParaRPr lang="en-US" sz="2000" dirty="0"/>
          </a:p>
        </p:txBody>
      </p:sp>
      <p:sp>
        <p:nvSpPr>
          <p:cNvPr id="44" name="Text 41"/>
          <p:cNvSpPr/>
          <p:nvPr/>
        </p:nvSpPr>
        <p:spPr>
          <a:xfrm>
            <a:off x="9189720" y="5394960"/>
            <a:ext cx="2423160" cy="502920"/>
          </a:xfrm>
          <a:prstGeom prst="rect">
            <a:avLst/>
          </a:prstGeom>
          <a:noFill/>
          <a:ln/>
        </p:spPr>
        <p:txBody>
          <a:bodyPr wrap="square" lIns="0" tIns="0" rIns="0" bIns="0" rtlCol="0" anchor="ctr"/>
          <a:lstStyle/>
          <a:p>
            <a:pPr algn="ctr" indent="0" marL="0">
              <a:buNone/>
            </a:pPr>
            <a:r>
              <a:rPr lang="en-US" sz="1200" dirty="0">
                <a:solidFill>
                  <a:srgbClr val="D6E2F5"/>
                </a:solidFill>
                <a:latin typeface="Calibri" pitchFamily="34" charset="0"/>
                <a:ea typeface="Calibri" pitchFamily="34" charset="-122"/>
                <a:cs typeface="Calibri" pitchFamily="34" charset="-120"/>
              </a:rPr>
              <a:t>exec: local only</a:t>
            </a:r>
            <a:endParaRPr lang="en-US" sz="1200" dirty="0"/>
          </a:p>
          <a:p>
            <a:pPr algn="ctr" indent="0" marL="0">
              <a:buNone/>
            </a:pPr>
            <a:r>
              <a:rPr lang="en-US" sz="1200" dirty="0">
                <a:solidFill>
                  <a:srgbClr val="D6E2F5"/>
                </a:solidFill>
                <a:latin typeface="Calibri" pitchFamily="34" charset="0"/>
                <a:ea typeface="Calibri" pitchFamily="34" charset="-122"/>
                <a:cs typeface="Calibri" pitchFamily="34" charset="-120"/>
              </a:rPr>
              <a:t>train: global critic</a:t>
            </a:r>
            <a:endParaRPr lang="en-US" sz="1200" dirty="0"/>
          </a:p>
        </p:txBody>
      </p:sp>
      <p:sp>
        <p:nvSpPr>
          <p:cNvPr id="45" name="Shape 42"/>
          <p:cNvSpPr/>
          <p:nvPr/>
        </p:nvSpPr>
        <p:spPr>
          <a:xfrm>
            <a:off x="0" y="6784848"/>
            <a:ext cx="12191695" cy="73152"/>
          </a:xfrm>
          <a:prstGeom prst="rect">
            <a:avLst/>
          </a:prstGeom>
          <a:solidFill>
            <a:srgbClr val="2F5597"/>
          </a:solidFill>
          <a:ln/>
        </p:spPr>
      </p:sp>
      <p:sp>
        <p:nvSpPr>
          <p:cNvPr id="46" name="Text 43"/>
          <p:cNvSpPr/>
          <p:nvPr/>
        </p:nvSpPr>
        <p:spPr>
          <a:xfrm>
            <a:off x="347472" y="6492240"/>
            <a:ext cx="10881360" cy="256032"/>
          </a:xfrm>
          <a:prstGeom prst="rect">
            <a:avLst/>
          </a:prstGeom>
          <a:noFill/>
          <a:ln/>
        </p:spPr>
        <p:txBody>
          <a:bodyPr wrap="square" lIns="0" tIns="0" rIns="0" bIns="0" rtlCol="0" anchor="ctr"/>
          <a:lstStyle/>
          <a:p>
            <a:pPr indent="0" marL="0">
              <a:buNone/>
            </a:pPr>
            <a:r>
              <a:rPr lang="en-US" sz="1100" dirty="0">
                <a:solidFill>
                  <a:srgbClr val="5A6A80"/>
                </a:solidFill>
                <a:latin typeface="Calibri" pitchFamily="34" charset="0"/>
                <a:ea typeface="Calibri" pitchFamily="34" charset="-122"/>
                <a:cs typeface="Calibri" pitchFamily="34" charset="-120"/>
              </a:rPr>
              <a:t>CAC 2026  ·  IC-HGAT-MAPPO  ·  Dec-POMDP / CTDE / HGAT / MAPPO</a:t>
            </a:r>
            <a:endParaRPr lang="en-US" sz="1100" dirty="0"/>
          </a:p>
        </p:txBody>
      </p:sp>
      <p:sp>
        <p:nvSpPr>
          <p:cNvPr id="47" name="Text 44"/>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Calibri" pitchFamily="34" charset="0"/>
                <a:ea typeface="Calibri" pitchFamily="34" charset="-122"/>
                <a:cs typeface="Calibri" pitchFamily="34" charset="-120"/>
              </a:rPr>
              <a:t>5</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37578" y="54864"/>
            <a:ext cx="715196" cy="493776"/>
          </a:xfrm>
          <a:prstGeom prst="rect">
            <a:avLst/>
          </a:prstGeom>
        </p:spPr>
      </p:pic>
      <p:sp>
        <p:nvSpPr>
          <p:cNvPr id="3" name="Text 0"/>
          <p:cNvSpPr/>
          <p:nvPr/>
        </p:nvSpPr>
        <p:spPr>
          <a:xfrm>
            <a:off x="347472" y="73152"/>
            <a:ext cx="10698480" cy="438912"/>
          </a:xfrm>
          <a:prstGeom prst="rect">
            <a:avLst/>
          </a:prstGeom>
          <a:noFill/>
          <a:ln/>
        </p:spPr>
        <p:txBody>
          <a:bodyPr wrap="square" lIns="0" tIns="0" rIns="0" bIns="0" rtlCol="0" anchor="ctr"/>
          <a:lstStyle/>
          <a:p>
            <a:pPr indent="0" marL="0">
              <a:buNone/>
            </a:pPr>
            <a:r>
              <a:rPr lang="en-US" sz="2600" b="1" dirty="0">
                <a:solidFill>
                  <a:srgbClr val="2F5597"/>
                </a:solidFill>
                <a:latin typeface="Calibri" pitchFamily="34" charset="0"/>
                <a:ea typeface="Calibri" pitchFamily="34" charset="-122"/>
                <a:cs typeface="Calibri" pitchFamily="34" charset="-120"/>
              </a:rPr>
              <a:t>2. Proposed IC-HGAT-MAPPO</a:t>
            </a:r>
            <a:endParaRPr lang="en-US" sz="2600" dirty="0"/>
          </a:p>
        </p:txBody>
      </p:sp>
      <p:sp>
        <p:nvSpPr>
          <p:cNvPr id="4" name="Shape 1"/>
          <p:cNvSpPr/>
          <p:nvPr/>
        </p:nvSpPr>
        <p:spPr>
          <a:xfrm>
            <a:off x="0" y="566928"/>
            <a:ext cx="12191695" cy="475488"/>
          </a:xfrm>
          <a:prstGeom prst="rect">
            <a:avLst/>
          </a:prstGeom>
          <a:solidFill>
            <a:srgbClr val="2F5597"/>
          </a:solidFill>
          <a:ln/>
        </p:spPr>
      </p:sp>
      <p:sp>
        <p:nvSpPr>
          <p:cNvPr id="5" name="Text 2"/>
          <p:cNvSpPr/>
          <p:nvPr/>
        </p:nvSpPr>
        <p:spPr>
          <a:xfrm>
            <a:off x="347472" y="585216"/>
            <a:ext cx="11430000" cy="43891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2.1 Problem Formulation</a:t>
            </a:r>
            <a:endParaRPr lang="en-US" sz="2000" dirty="0"/>
          </a:p>
        </p:txBody>
      </p:sp>
      <p:pic>
        <p:nvPicPr>
          <p:cNvPr id="6" name="Image 1" descr="/tmp/ppt-work/assets/fig1.png">    </p:cNvPr>
          <p:cNvPicPr>
            <a:picLocks noChangeAspect="1"/>
          </p:cNvPicPr>
          <p:nvPr/>
        </p:nvPicPr>
        <p:blipFill>
          <a:blip r:embed="rId2"/>
          <a:stretch>
            <a:fillRect/>
          </a:stretch>
        </p:blipFill>
        <p:spPr>
          <a:xfrm>
            <a:off x="1173998" y="1097280"/>
            <a:ext cx="4016228" cy="2788920"/>
          </a:xfrm>
          <a:prstGeom prst="rect">
            <a:avLst/>
          </a:prstGeom>
        </p:spPr>
      </p:pic>
      <p:sp>
        <p:nvSpPr>
          <p:cNvPr id="7" name="Text 3"/>
          <p:cNvSpPr/>
          <p:nvPr/>
        </p:nvSpPr>
        <p:spPr>
          <a:xfrm>
            <a:off x="256032" y="3895344"/>
            <a:ext cx="5852160" cy="256032"/>
          </a:xfrm>
          <a:prstGeom prst="rect">
            <a:avLst/>
          </a:prstGeom>
          <a:noFill/>
          <a:ln/>
        </p:spPr>
        <p:txBody>
          <a:bodyPr wrap="square" lIns="0" tIns="0" rIns="0" bIns="0" rtlCol="0" anchor="ctr"/>
          <a:lstStyle/>
          <a:p>
            <a:pPr indent="0" marL="0">
              <a:buNone/>
            </a:pPr>
            <a:r>
              <a:rPr lang="en-US" sz="1100" i="1" dirty="0">
                <a:solidFill>
                  <a:srgbClr val="5A6A80"/>
                </a:solidFill>
                <a:latin typeface="Calibri" pitchFamily="34" charset="0"/>
                <a:ea typeface="Calibri" pitchFamily="34" charset="-122"/>
                <a:cs typeface="Calibri" pitchFamily="34" charset="-120"/>
              </a:rPr>
              <a:t>Fig. 1  Local sensing, intermittent links, moving targets, dynamic obstacles</a:t>
            </a:r>
            <a:endParaRPr lang="en-US" sz="1100" dirty="0"/>
          </a:p>
        </p:txBody>
      </p:sp>
      <p:sp>
        <p:nvSpPr>
          <p:cNvPr id="8" name="Shape 4"/>
          <p:cNvSpPr/>
          <p:nvPr/>
        </p:nvSpPr>
        <p:spPr>
          <a:xfrm>
            <a:off x="256032" y="4169664"/>
            <a:ext cx="5852160" cy="2194560"/>
          </a:xfrm>
          <a:prstGeom prst="roundRect">
            <a:avLst>
              <a:gd name="adj" fmla="val 3333"/>
            </a:avLst>
          </a:prstGeom>
          <a:solidFill>
            <a:srgbClr val="F4F6FA"/>
          </a:solidFill>
          <a:ln/>
          <a:effectLst>
            <a:outerShdw sx="100000" sy="100000" kx="0" ky="0" algn="bl" rotWithShape="0" blurRad="50800" dist="12700" dir="16200000">
              <a:srgbClr val="1F2A44">
                <a:alpha val="12000"/>
              </a:srgbClr>
            </a:outerShdw>
          </a:effectLst>
        </p:spPr>
      </p:sp>
      <p:sp>
        <p:nvSpPr>
          <p:cNvPr id="9" name="Text 5"/>
          <p:cNvSpPr/>
          <p:nvPr/>
        </p:nvSpPr>
        <p:spPr>
          <a:xfrm>
            <a:off x="384048" y="4206240"/>
            <a:ext cx="5577840" cy="256032"/>
          </a:xfrm>
          <a:prstGeom prst="rect">
            <a:avLst/>
          </a:prstGeom>
          <a:noFill/>
          <a:ln/>
        </p:spPr>
        <p:txBody>
          <a:bodyPr wrap="square" lIns="0" tIns="0" rIns="0" bIns="0" rtlCol="0" anchor="ctr"/>
          <a:lstStyle/>
          <a:p>
            <a:pPr indent="0" marL="0">
              <a:buNone/>
            </a:pPr>
            <a:r>
              <a:rPr lang="en-US" sz="1400" b="1" dirty="0">
                <a:solidFill>
                  <a:srgbClr val="2F5597"/>
                </a:solidFill>
                <a:latin typeface="Calibri" pitchFamily="34" charset="0"/>
                <a:ea typeface="Calibri" pitchFamily="34" charset="-122"/>
                <a:cs typeface="Calibri" pitchFamily="34" charset="-120"/>
              </a:rPr>
              <a:t>Scenario  ·  sensing / comm. radii</a:t>
            </a:r>
            <a:endParaRPr lang="en-US" sz="1400" dirty="0"/>
          </a:p>
        </p:txBody>
      </p:sp>
      <p:sp>
        <p:nvSpPr>
          <p:cNvPr id="10" name="Text 6"/>
          <p:cNvSpPr/>
          <p:nvPr/>
        </p:nvSpPr>
        <p:spPr>
          <a:xfrm>
            <a:off x="384048" y="4480560"/>
            <a:ext cx="5577840" cy="1755648"/>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6 UAVs · 15 targets · 10 obstacles · 30×30 grid</a:t>
            </a:r>
            <a:endParaRPr lang="en-US" sz="1400" dirty="0"/>
          </a:p>
          <a:p>
            <a:pPr indent="0" marL="0">
              <a:buNone/>
            </a:pPr>
            <a:r>
              <a:rPr lang="en-US" sz="1400" dirty="0">
                <a:solidFill>
                  <a:srgbClr val="1F2A44"/>
                </a:solidFill>
                <a:latin typeface="Calibri" pitchFamily="34" charset="0"/>
                <a:ea typeface="Calibri" pitchFamily="34" charset="-122"/>
                <a:cs typeface="Calibri" pitchFamily="34" charset="-120"/>
              </a:rPr>
              <a:t>Action: 8 directions + hover     Horizon T=200</a:t>
            </a:r>
            <a:endParaRPr lang="en-US" sz="1400" dirty="0"/>
          </a:p>
          <a:p>
            <a:pPr indent="0" marL="0">
              <a:buNone/>
            </a:pPr>
            <a:r>
              <a:rPr lang="en-US" sz="1400" dirty="0">
                <a:solidFill>
                  <a:srgbClr val="1F2A44"/>
                </a:solidFill>
                <a:latin typeface="Calibri" pitchFamily="34" charset="0"/>
                <a:ea typeface="Calibri" pitchFamily="34" charset="-122"/>
                <a:cs typeface="Calibri" pitchFamily="34" charset="-120"/>
              </a:rPr>
              <a:t>Rs = 2 cells (10 m)    Rc = 10 cells (50 m)</a:t>
            </a:r>
            <a:endParaRPr lang="en-US" sz="1400" dirty="0"/>
          </a:p>
          <a:p>
            <a:pPr indent="0" marL="0">
              <a:buNone/>
            </a:pPr>
            <a:r>
              <a:rPr lang="en-US" sz="1400" dirty="0">
                <a:solidFill>
                  <a:srgbClr val="1F2A44"/>
                </a:solidFill>
                <a:latin typeface="Calibri" pitchFamily="34" charset="0"/>
                <a:ea typeface="Calibri" pitchFamily="34" charset="-122"/>
                <a:cs typeface="Calibri" pitchFamily="34" charset="-120"/>
              </a:rPr>
              <a:t>dt in [0.45, 1.0] s    ·    policy uses only N_i(t)</a:t>
            </a:r>
            <a:endParaRPr lang="en-US" sz="1400" dirty="0"/>
          </a:p>
        </p:txBody>
      </p:sp>
      <p:sp>
        <p:nvSpPr>
          <p:cNvPr id="11" name="Shape 7"/>
          <p:cNvSpPr/>
          <p:nvPr/>
        </p:nvSpPr>
        <p:spPr>
          <a:xfrm>
            <a:off x="6263640" y="1078992"/>
            <a:ext cx="5623560" cy="1298448"/>
          </a:xfrm>
          <a:prstGeom prst="roundRect">
            <a:avLst>
              <a:gd name="adj" fmla="val 5634"/>
            </a:avLst>
          </a:prstGeom>
          <a:solidFill>
            <a:srgbClr val="FFFFFF"/>
          </a:solidFill>
          <a:ln/>
          <a:effectLst>
            <a:outerShdw sx="100000" sy="100000" kx="0" ky="0" algn="bl" rotWithShape="0" blurRad="50800" dist="12700" dir="16200000">
              <a:srgbClr val="1F2A44">
                <a:alpha val="12000"/>
              </a:srgbClr>
            </a:outerShdw>
          </a:effectLst>
        </p:spPr>
      </p:sp>
      <p:sp>
        <p:nvSpPr>
          <p:cNvPr id="12" name="Text 8"/>
          <p:cNvSpPr/>
          <p:nvPr/>
        </p:nvSpPr>
        <p:spPr>
          <a:xfrm>
            <a:off x="6382512" y="1097280"/>
            <a:ext cx="5394960" cy="237744"/>
          </a:xfrm>
          <a:prstGeom prst="rect">
            <a:avLst/>
          </a:prstGeom>
          <a:noFill/>
          <a:ln/>
        </p:spPr>
        <p:txBody>
          <a:bodyPr wrap="square" lIns="0" tIns="0" rIns="0" bIns="0" rtlCol="0" anchor="ctr"/>
          <a:lstStyle/>
          <a:p>
            <a:pPr indent="0" marL="0">
              <a:buNone/>
            </a:pPr>
            <a:r>
              <a:rPr lang="en-US" sz="1300" b="1" dirty="0">
                <a:solidFill>
                  <a:srgbClr val="2F5597"/>
                </a:solidFill>
                <a:latin typeface="Calibri" pitchFamily="34" charset="0"/>
                <a:ea typeface="Calibri" pitchFamily="34" charset="-122"/>
                <a:cs typeface="Calibri" pitchFamily="34" charset="-120"/>
              </a:rPr>
              <a:t>Motion model  (feasible-set projection)</a:t>
            </a:r>
            <a:endParaRPr lang="en-US" sz="1300" dirty="0"/>
          </a:p>
        </p:txBody>
      </p:sp>
      <p:sp>
        <p:nvSpPr>
          <p:cNvPr id="13" name="Text 9"/>
          <p:cNvSpPr/>
          <p:nvPr/>
        </p:nvSpPr>
        <p:spPr>
          <a:xfrm>
            <a:off x="6309360" y="1316736"/>
            <a:ext cx="5504688" cy="640080"/>
          </a:xfrm>
          <a:prstGeom prst="rect">
            <a:avLst/>
          </a:prstGeom>
          <a:noFill/>
          <a:ln/>
        </p:spPr>
        <p:txBody>
          <a:bodyPr wrap="square" lIns="0" tIns="0" rIns="0" bIns="0" rtlCol="0" anchor="ctr"/>
          <a:lstStyle/>
          <a:p>
            <a:pPr algn="ctr" indent="0" marL="0">
              <a:buNone/>
            </a:pPr>
            <m:oMathPara xmlns:m="http://schemas.openxmlformats.org/officeDocument/2006/math">
              <m:oMathParaPr>
                <m:jc m:val="center"/>
              </m:oMathParaPr>
              <m:oMath>
                <m:sSub>
                  <m:e>
                    <m:r>
                      <m:rPr>
                        <m:sty m:val="i"/>
                      </m:rPr>
                      <m:t>p</m:t>
                    </m:r>
                  </m:e>
                  <m:sub>
                    <m:r>
                      <m:rPr>
                        <m:sty m:val="i"/>
                      </m:rPr>
                      <m:t>i</m:t>
                    </m:r>
                    <m:r>
                      <m:rPr>
                        <m:sty m:val="p"/>
                      </m:rPr>
                      <m:t>,</m:t>
                    </m:r>
                    <m:r>
                      <m:rPr>
                        <m:sty m:val="i"/>
                      </m:rPr>
                      <m:t>t</m:t>
                    </m:r>
                    <m:r>
                      <m:rPr>
                        <m:sty m:val="p"/>
                      </m:rPr>
                      <m:t>+</m:t>
                    </m:r>
                    <m:r>
                      <m:rPr>
                        <m:sty m:val="p"/>
                      </m:rPr>
                      <m:t>1</m:t>
                    </m:r>
                  </m:sub>
                </m:sSub>
                <m:r>
                  <m:rPr>
                    <m:sty m:val="p"/>
                  </m:rPr>
                  <m:t xml:space="preserve"> = </m:t>
                </m:r>
                <m:sSub>
                  <m:e>
                    <m:r>
                      <m:rPr>
                        <m:sty m:val="p"/>
                      </m:rPr>
                      <m:t>Π</m:t>
                    </m:r>
                  </m:e>
                  <m:sub>
                    <m:r>
                      <m:rPr>
                        <m:sty m:val="i"/>
                      </m:rPr>
                      <m:t>Ω</m:t>
                    </m:r>
                  </m:sub>
                </m:sSub>
                <m:d>
                  <m:dPr>
                    <m:begChr m:val="("/>
                    <m:endChr m:val=")"/>
                  </m:dPr>
                  <m:e>
                    <m:sSub>
                      <m:e>
                        <m:r>
                          <m:rPr>
                            <m:sty m:val="i"/>
                          </m:rPr>
                          <m:t>p</m:t>
                        </m:r>
                      </m:e>
                      <m:sub>
                        <m:r>
                          <m:rPr>
                            <m:sty m:val="i"/>
                          </m:rPr>
                          <m:t>i</m:t>
                        </m:r>
                        <m:r>
                          <m:rPr>
                            <m:sty m:val="p"/>
                          </m:rPr>
                          <m:t>,</m:t>
                        </m:r>
                        <m:r>
                          <m:rPr>
                            <m:sty m:val="i"/>
                          </m:rPr>
                          <m:t>t</m:t>
                        </m:r>
                      </m:sub>
                    </m:sSub>
                    <m:r>
                      <m:rPr>
                        <m:sty m:val="p"/>
                      </m:rPr>
                      <m:t xml:space="preserve"> + </m:t>
                    </m:r>
                    <m:r>
                      <m:rPr>
                        <m:sty m:val="i"/>
                      </m:rPr>
                      <m:t>v</m:t>
                    </m:r>
                    <m:sSub>
                      <m:e>
                        <m:r>
                          <m:rPr>
                            <m:sty m:val="i"/>
                          </m:rPr>
                          <m:t>Δt</m:t>
                        </m:r>
                      </m:e>
                      <m:sub>
                        <m:r>
                          <m:rPr>
                            <m:sty m:val="i"/>
                          </m:rPr>
                          <m:t>t</m:t>
                        </m:r>
                      </m:sub>
                    </m:sSub>
                    <m:r>
                      <m:rPr>
                        <m:sty m:val="p"/>
                      </m:rPr>
                      <m:t xml:space="preserve"> </m:t>
                    </m:r>
                    <m:r>
                      <m:rPr>
                        <m:sty m:val="i"/>
                      </m:rPr>
                      <m:t>d</m:t>
                    </m:r>
                    <m:d>
                      <m:dPr>
                        <m:begChr m:val="("/>
                        <m:endChr m:val=")"/>
                      </m:dPr>
                      <m:e>
                        <m:sSub>
                          <m:e>
                            <m:r>
                              <m:rPr>
                                <m:sty m:val="i"/>
                              </m:rPr>
                              <m:t>a</m:t>
                            </m:r>
                          </m:e>
                          <m:sub>
                            <m:r>
                              <m:rPr>
                                <m:sty m:val="i"/>
                              </m:rPr>
                              <m:t>i</m:t>
                            </m:r>
                            <m:r>
                              <m:rPr>
                                <m:sty m:val="p"/>
                              </m:rPr>
                              <m:t>,</m:t>
                            </m:r>
                            <m:r>
                              <m:rPr>
                                <m:sty m:val="i"/>
                              </m:rPr>
                              <m:t>t</m:t>
                            </m:r>
                          </m:sub>
                        </m:sSub>
                      </m:e>
                    </m:d>
                  </m:e>
                </m:d>
              </m:oMath>
            </m:oMathPara>
          </a:p>
        </p:txBody>
      </p:sp>
      <p:sp>
        <p:nvSpPr>
          <p:cNvPr id="14" name="Text 10"/>
          <p:cNvSpPr/>
          <p:nvPr/>
        </p:nvSpPr>
        <p:spPr>
          <a:xfrm>
            <a:off x="6382512" y="1975104"/>
            <a:ext cx="5394960" cy="329184"/>
          </a:xfrm>
          <a:prstGeom prst="rect">
            <a:avLst/>
          </a:prstGeom>
          <a:noFill/>
          <a:ln/>
        </p:spPr>
        <p:txBody>
          <a:bodyPr wrap="square" lIns="0" tIns="0" rIns="0" bIns="0" rtlCol="0" anchor="ctr"/>
          <a:lstStyle/>
          <a:p>
            <a:pPr indent="0" marL="0">
              <a:buNone/>
            </a:pPr>
            <a:r>
              <a:rPr lang="en-US" sz="1200" i="1" dirty="0">
                <a:solidFill>
                  <a:srgbClr val="5A6A80"/>
                </a:solidFill>
                <a:latin typeface="Calibri" pitchFamily="34" charset="0"/>
                <a:ea typeface="Calibri" pitchFamily="34" charset="-122"/>
                <a:cs typeface="Calibri" pitchFamily="34" charset="-120"/>
              </a:rPr>
              <a:t>Discrete kinematics with adaptive decision interval dt</a:t>
            </a:r>
            <a:endParaRPr lang="en-US" sz="1200" dirty="0"/>
          </a:p>
        </p:txBody>
      </p:sp>
      <p:sp>
        <p:nvSpPr>
          <p:cNvPr id="15" name="Shape 11"/>
          <p:cNvSpPr/>
          <p:nvPr/>
        </p:nvSpPr>
        <p:spPr>
          <a:xfrm>
            <a:off x="6263640" y="2450592"/>
            <a:ext cx="5623560" cy="1444752"/>
          </a:xfrm>
          <a:prstGeom prst="roundRect">
            <a:avLst>
              <a:gd name="adj" fmla="val 5063"/>
            </a:avLst>
          </a:prstGeom>
          <a:solidFill>
            <a:srgbClr val="FFFFFF"/>
          </a:solidFill>
          <a:ln/>
          <a:effectLst>
            <a:outerShdw sx="100000" sy="100000" kx="0" ky="0" algn="bl" rotWithShape="0" blurRad="50800" dist="12700" dir="16200000">
              <a:srgbClr val="1F2A44">
                <a:alpha val="12000"/>
              </a:srgbClr>
            </a:outerShdw>
          </a:effectLst>
        </p:spPr>
      </p:sp>
      <p:sp>
        <p:nvSpPr>
          <p:cNvPr id="16" name="Text 12"/>
          <p:cNvSpPr/>
          <p:nvPr/>
        </p:nvSpPr>
        <p:spPr>
          <a:xfrm>
            <a:off x="6382512" y="2487168"/>
            <a:ext cx="5394960" cy="219456"/>
          </a:xfrm>
          <a:prstGeom prst="rect">
            <a:avLst/>
          </a:prstGeom>
          <a:noFill/>
          <a:ln/>
        </p:spPr>
        <p:txBody>
          <a:bodyPr wrap="square" lIns="0" tIns="0" rIns="0" bIns="0" rtlCol="0" anchor="ctr"/>
          <a:lstStyle/>
          <a:p>
            <a:pPr indent="0" marL="0">
              <a:buNone/>
            </a:pPr>
            <a:r>
              <a:rPr lang="en-US" sz="1300" b="1" dirty="0">
                <a:solidFill>
                  <a:srgbClr val="2F5597"/>
                </a:solidFill>
                <a:latin typeface="Calibri" pitchFamily="34" charset="0"/>
                <a:ea typeface="Calibri" pitchFamily="34" charset="-122"/>
                <a:cs typeface="Calibri" pitchFamily="34" charset="-120"/>
              </a:rPr>
              <a:t>Communication constraint</a:t>
            </a:r>
            <a:endParaRPr lang="en-US" sz="1300" dirty="0"/>
          </a:p>
        </p:txBody>
      </p:sp>
      <p:sp>
        <p:nvSpPr>
          <p:cNvPr id="17" name="Text 13"/>
          <p:cNvSpPr/>
          <p:nvPr/>
        </p:nvSpPr>
        <p:spPr>
          <a:xfrm>
            <a:off x="6291072" y="2688336"/>
            <a:ext cx="5559552" cy="658368"/>
          </a:xfrm>
          <a:prstGeom prst="rect">
            <a:avLst/>
          </a:prstGeom>
          <a:noFill/>
          <a:ln/>
        </p:spPr>
        <p:txBody>
          <a:bodyPr wrap="square" lIns="0" tIns="0" rIns="0" bIns="0" rtlCol="0" anchor="ctr"/>
          <a:lstStyle/>
          <a:p>
            <a:pPr algn="ctr" indent="0" marL="0">
              <a:buNone/>
            </a:pPr>
            <m:oMathPara xmlns:m="http://schemas.openxmlformats.org/officeDocument/2006/math">
              <m:oMathParaPr>
                <m:jc m:val="center"/>
              </m:oMathParaPr>
              <m:oMath>
                <m:sSub>
                  <m:e>
                    <m:r>
                      <m:rPr>
                        <m:sty m:val="i"/>
                      </m:rPr>
                      <m:t>A</m:t>
                    </m:r>
                  </m:e>
                  <m:sub>
                    <m:r>
                      <m:rPr>
                        <m:sty m:val="i"/>
                      </m:rPr>
                      <m:t>i</m:t>
                    </m:r>
                    <m:r>
                      <m:rPr>
                        <m:sty m:val="p"/>
                      </m:rPr>
                      <m:t>,</m:t>
                    </m:r>
                    <m:r>
                      <m:rPr>
                        <m:sty m:val="i"/>
                      </m:rPr>
                      <m:t>j</m:t>
                    </m:r>
                    <m:r>
                      <m:rPr>
                        <m:sty m:val="p"/>
                      </m:rPr>
                      <m:t>,</m:t>
                    </m:r>
                    <m:r>
                      <m:rPr>
                        <m:sty m:val="i"/>
                      </m:rPr>
                      <m:t>t</m:t>
                    </m:r>
                  </m:sub>
                </m:sSub>
                <m:r>
                  <m:rPr>
                    <m:sty m:val="p"/>
                  </m:rPr>
                  <m:t xml:space="preserve"> = </m:t>
                </m:r>
                <m:r>
                  <m:rPr>
                    <m:sty m:val="p"/>
                  </m:rPr>
                  <m:t>1</m:t>
                </m:r>
                <m:d>
                  <m:dPr>
                    <m:begChr m:val="("/>
                    <m:endChr m:val=")"/>
                  </m:dPr>
                  <m:e>
                    <m:r>
                      <m:rPr>
                        <m:sty m:val="p"/>
                      </m:rPr>
                      <m:t>∥</m:t>
                    </m:r>
                    <m:sSub>
                      <m:e>
                        <m:r>
                          <m:rPr>
                            <m:sty m:val="i"/>
                          </m:rPr>
                          <m:t>p</m:t>
                        </m:r>
                      </m:e>
                      <m:sub>
                        <m:r>
                          <m:rPr>
                            <m:sty m:val="i"/>
                          </m:rPr>
                          <m:t>i</m:t>
                        </m:r>
                        <m:r>
                          <m:rPr>
                            <m:sty m:val="p"/>
                          </m:rPr>
                          <m:t>,</m:t>
                        </m:r>
                        <m:r>
                          <m:rPr>
                            <m:sty m:val="i"/>
                          </m:rPr>
                          <m:t>t</m:t>
                        </m:r>
                      </m:sub>
                    </m:sSub>
                    <m:r>
                      <m:rPr>
                        <m:sty m:val="p"/>
                      </m:rPr>
                      <m:t xml:space="preserve"> − </m:t>
                    </m:r>
                    <m:sSub>
                      <m:e>
                        <m:r>
                          <m:rPr>
                            <m:sty m:val="i"/>
                          </m:rPr>
                          <m:t>p</m:t>
                        </m:r>
                      </m:e>
                      <m:sub>
                        <m:r>
                          <m:rPr>
                            <m:sty m:val="i"/>
                          </m:rPr>
                          <m:t>j</m:t>
                        </m:r>
                        <m:r>
                          <m:rPr>
                            <m:sty m:val="p"/>
                          </m:rPr>
                          <m:t>,</m:t>
                        </m:r>
                        <m:r>
                          <m:rPr>
                            <m:sty m:val="i"/>
                          </m:rPr>
                          <m:t>t</m:t>
                        </m:r>
                      </m:sub>
                    </m:sSub>
                    <m:r>
                      <m:rPr>
                        <m:sty m:val="p"/>
                      </m:rPr>
                      <m:t>∥</m:t>
                    </m:r>
                    <m:r>
                      <m:rPr>
                        <m:sty m:val="p"/>
                      </m:rPr>
                      <m:t xml:space="preserve"> ≤ </m:t>
                    </m:r>
                    <m:sSub>
                      <m:e>
                        <m:r>
                          <m:rPr>
                            <m:sty m:val="i"/>
                          </m:rPr>
                          <m:t>R</m:t>
                        </m:r>
                      </m:e>
                      <m:sub>
                        <m:r>
                          <m:rPr>
                            <m:sty m:val="i"/>
                          </m:rPr>
                          <m:t>c</m:t>
                        </m:r>
                      </m:sub>
                    </m:sSub>
                  </m:e>
                </m:d>
                <m:r>
                  <m:rPr>
                    <m:sty m:val="p"/>
                  </m:rPr>
                  <m:t xml:space="preserve"> </m:t>
                </m:r>
                <m:sSub>
                  <m:e>
                    <m:r>
                      <m:rPr>
                        <m:sty m:val="i"/>
                      </m:rPr>
                      <m:t>z</m:t>
                    </m:r>
                  </m:e>
                  <m:sub>
                    <m:r>
                      <m:rPr>
                        <m:sty m:val="i"/>
                      </m:rPr>
                      <m:t>i</m:t>
                    </m:r>
                    <m:r>
                      <m:rPr>
                        <m:sty m:val="p"/>
                      </m:rPr>
                      <m:t>,</m:t>
                    </m:r>
                    <m:r>
                      <m:rPr>
                        <m:sty m:val="i"/>
                      </m:rPr>
                      <m:t>t</m:t>
                    </m:r>
                  </m:sub>
                </m:sSub>
                <m:sSub>
                  <m:e>
                    <m:r>
                      <m:rPr>
                        <m:sty m:val="i"/>
                      </m:rPr>
                      <m:t>z</m:t>
                    </m:r>
                  </m:e>
                  <m:sub>
                    <m:r>
                      <m:rPr>
                        <m:sty m:val="i"/>
                      </m:rPr>
                      <m:t>j</m:t>
                    </m:r>
                    <m:r>
                      <m:rPr>
                        <m:sty m:val="p"/>
                      </m:rPr>
                      <m:t>,</m:t>
                    </m:r>
                    <m:r>
                      <m:rPr>
                        <m:sty m:val="i"/>
                      </m:rPr>
                      <m:t>t</m:t>
                    </m:r>
                  </m:sub>
                </m:sSub>
                <m:sSub>
                  <m:e>
                    <m:r>
                      <m:rPr>
                        <m:sty m:val="i"/>
                      </m:rPr>
                      <m:t>u</m:t>
                    </m:r>
                  </m:e>
                  <m:sub>
                    <m:r>
                      <m:rPr>
                        <m:sty m:val="i"/>
                      </m:rPr>
                      <m:t>i</m:t>
                    </m:r>
                    <m:r>
                      <m:rPr>
                        <m:sty m:val="p"/>
                      </m:rPr>
                      <m:t>,</m:t>
                    </m:r>
                    <m:r>
                      <m:rPr>
                        <m:sty m:val="i"/>
                      </m:rPr>
                      <m:t>t</m:t>
                    </m:r>
                  </m:sub>
                </m:sSub>
                <m:sSub>
                  <m:e>
                    <m:r>
                      <m:rPr>
                        <m:sty m:val="i"/>
                      </m:rPr>
                      <m:t>u</m:t>
                    </m:r>
                  </m:e>
                  <m:sub>
                    <m:r>
                      <m:rPr>
                        <m:sty m:val="i"/>
                      </m:rPr>
                      <m:t>j</m:t>
                    </m:r>
                    <m:r>
                      <m:rPr>
                        <m:sty m:val="p"/>
                      </m:rPr>
                      <m:t>,</m:t>
                    </m:r>
                    <m:r>
                      <m:rPr>
                        <m:sty m:val="i"/>
                      </m:rPr>
                      <m:t>t</m:t>
                    </m:r>
                  </m:sub>
                </m:sSub>
              </m:oMath>
            </m:oMathPara>
          </a:p>
        </p:txBody>
      </p:sp>
      <p:sp>
        <p:nvSpPr>
          <p:cNvPr id="18" name="Text 14"/>
          <p:cNvSpPr/>
          <p:nvPr/>
        </p:nvSpPr>
        <p:spPr>
          <a:xfrm>
            <a:off x="6382512" y="3364992"/>
            <a:ext cx="5394960" cy="420624"/>
          </a:xfrm>
          <a:prstGeom prst="rect">
            <a:avLst/>
          </a:prstGeom>
          <a:noFill/>
          <a:ln/>
        </p:spPr>
        <p:txBody>
          <a:bodyPr wrap="square" lIns="0" tIns="0" rIns="0" bIns="0"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Only instantaneous reachable links enter the policy</a:t>
            </a:r>
            <a:endParaRPr lang="en-US" sz="1300" dirty="0"/>
          </a:p>
        </p:txBody>
      </p:sp>
      <p:sp>
        <p:nvSpPr>
          <p:cNvPr id="19" name="Shape 15"/>
          <p:cNvSpPr/>
          <p:nvPr/>
        </p:nvSpPr>
        <p:spPr>
          <a:xfrm>
            <a:off x="6263640" y="3968496"/>
            <a:ext cx="5623560" cy="2395728"/>
          </a:xfrm>
          <a:prstGeom prst="roundRect">
            <a:avLst>
              <a:gd name="adj" fmla="val 3053"/>
            </a:avLst>
          </a:prstGeom>
          <a:solidFill>
            <a:srgbClr val="EAF0F8"/>
          </a:solidFill>
          <a:ln/>
          <a:effectLst>
            <a:outerShdw sx="100000" sy="100000" kx="0" ky="0" algn="bl" rotWithShape="0" blurRad="50800" dist="12700" dir="16200000">
              <a:srgbClr val="1F2A44">
                <a:alpha val="12000"/>
              </a:srgbClr>
            </a:outerShdw>
          </a:effectLst>
        </p:spPr>
      </p:sp>
      <p:sp>
        <p:nvSpPr>
          <p:cNvPr id="20" name="Text 16"/>
          <p:cNvSpPr/>
          <p:nvPr/>
        </p:nvSpPr>
        <p:spPr>
          <a:xfrm>
            <a:off x="6382512" y="4005072"/>
            <a:ext cx="5394960" cy="237744"/>
          </a:xfrm>
          <a:prstGeom prst="rect">
            <a:avLst/>
          </a:prstGeom>
          <a:noFill/>
          <a:ln/>
        </p:spPr>
        <p:txBody>
          <a:bodyPr wrap="square" lIns="0" tIns="0" rIns="0" bIns="0" rtlCol="0" anchor="ctr"/>
          <a:lstStyle/>
          <a:p>
            <a:pPr indent="0" marL="0">
              <a:buNone/>
            </a:pPr>
            <a:r>
              <a:rPr lang="en-US" sz="1300" b="1" dirty="0">
                <a:solidFill>
                  <a:srgbClr val="2F5597"/>
                </a:solidFill>
                <a:latin typeface="Calibri" pitchFamily="34" charset="0"/>
                <a:ea typeface="Calibri" pitchFamily="34" charset="-122"/>
                <a:cs typeface="Calibri" pitchFamily="34" charset="-120"/>
              </a:rPr>
              <a:t>Evaluation  ·  higher Dt, Ct better; lower T80 faster</a:t>
            </a:r>
            <a:endParaRPr lang="en-US" sz="1300" dirty="0"/>
          </a:p>
        </p:txBody>
      </p:sp>
      <p:sp>
        <p:nvSpPr>
          <p:cNvPr id="21" name="Text 17"/>
          <p:cNvSpPr/>
          <p:nvPr/>
        </p:nvSpPr>
        <p:spPr>
          <a:xfrm>
            <a:off x="6291072" y="4242816"/>
            <a:ext cx="5559552" cy="530352"/>
          </a:xfrm>
          <a:prstGeom prst="rect">
            <a:avLst/>
          </a:prstGeom>
          <a:noFill/>
          <a:ln/>
        </p:spPr>
        <p:txBody>
          <a:bodyPr wrap="square" lIns="0" tIns="0" rIns="0" bIns="0" rtlCol="0" anchor="ctr"/>
          <a:lstStyle/>
          <a:p>
            <a:pPr algn="ctr" indent="0" marL="0">
              <a:buNone/>
            </a:pPr>
            <m:oMathPara xmlns:m="http://schemas.openxmlformats.org/officeDocument/2006/math">
              <m:oMathParaPr>
                <m:jc m:val="center"/>
              </m:oMathParaPr>
              <m:oMath>
                <m:sSub>
                  <m:e>
                    <m:r>
                      <m:rPr>
                        <m:sty m:val="i"/>
                      </m:rPr>
                      <m:t>D</m:t>
                    </m:r>
                  </m:e>
                  <m:sub>
                    <m:r>
                      <m:rPr>
                        <m:sty m:val="i"/>
                      </m:rPr>
                      <m:t>t</m:t>
                    </m:r>
                  </m:sub>
                </m:sSub>
                <m:r>
                  <m:rPr>
                    <m:sty m:val="p"/>
                  </m:rPr>
                  <m:t xml:space="preserve"> = </m:t>
                </m:r>
                <m:f>
                  <m:fPr/>
                  <m:num>
                    <m:r>
                      <m:rPr>
                        <m:sty m:val="p"/>
                      </m:rPr>
                      <m:t>|</m:t>
                    </m:r>
                    <m:r>
                      <m:rPr>
                        <m:sty m:val="i"/>
                      </m:rPr>
                      <m:t>𝒯</m:t>
                    </m:r>
                    <m:sSub>
                      <m:e>
                        <m:r>
                          <m:rPr>
                            <m:sty m:val="i"/>
                          </m:rPr>
                          <m:t/>
                        </m:r>
                      </m:e>
                      <m:sub>
                        <m:r>
                          <m:rPr>
                            <m:sty m:val="i"/>
                          </m:rPr>
                          <m:t>found</m:t>
                        </m:r>
                      </m:sub>
                    </m:sSub>
                    <m:r>
                      <m:rPr>
                        <m:sty m:val="p"/>
                      </m:rPr>
                      <m:t>|</m:t>
                    </m:r>
                  </m:num>
                  <m:den>
                    <m:sSub>
                      <m:e>
                        <m:r>
                          <m:rPr>
                            <m:sty m:val="i"/>
                          </m:rPr>
                          <m:t>N</m:t>
                        </m:r>
                      </m:e>
                      <m:sub>
                        <m:r>
                          <m:rPr>
                            <m:sty m:val="i"/>
                          </m:rPr>
                          <m:t>tgt</m:t>
                        </m:r>
                      </m:sub>
                    </m:sSub>
                  </m:den>
                </m:f>
              </m:oMath>
            </m:oMathPara>
          </a:p>
        </p:txBody>
      </p:sp>
      <p:sp>
        <p:nvSpPr>
          <p:cNvPr id="22" name="Text 18"/>
          <p:cNvSpPr/>
          <p:nvPr/>
        </p:nvSpPr>
        <p:spPr>
          <a:xfrm>
            <a:off x="6291072" y="4754880"/>
            <a:ext cx="5559552" cy="640080"/>
          </a:xfrm>
          <a:prstGeom prst="rect">
            <a:avLst/>
          </a:prstGeom>
          <a:noFill/>
          <a:ln/>
        </p:spPr>
        <p:txBody>
          <a:bodyPr wrap="square" lIns="0" tIns="0" rIns="0" bIns="0" rtlCol="0" anchor="ctr"/>
          <a:lstStyle/>
          <a:p>
            <a:pPr algn="ctr" indent="0" marL="0">
              <a:buNone/>
            </a:pPr>
            <m:oMathPara xmlns:m="http://schemas.openxmlformats.org/officeDocument/2006/math">
              <m:oMathParaPr>
                <m:jc m:val="center"/>
              </m:oMathParaPr>
              <m:oMath>
                <m:sSub>
                  <m:e>
                    <m:r>
                      <m:rPr>
                        <m:sty m:val="i"/>
                      </m:rPr>
                      <m:t>C</m:t>
                    </m:r>
                  </m:e>
                  <m:sub>
                    <m:r>
                      <m:rPr>
                        <m:sty m:val="i"/>
                      </m:rPr>
                      <m:t>t</m:t>
                    </m:r>
                  </m:sub>
                </m:sSub>
                <m:r>
                  <m:rPr>
                    <m:sty m:val="p"/>
                  </m:rPr>
                  <m:t xml:space="preserve"> = </m:t>
                </m:r>
                <m:f>
                  <m:fPr/>
                  <m:num>
                    <m:r>
                      <m:rPr>
                        <m:sty m:val="p"/>
                      </m:rPr>
                      <m:t>1</m:t>
                    </m:r>
                  </m:num>
                  <m:den>
                    <m:r>
                      <m:rPr>
                        <m:sty m:val="p"/>
                      </m:rPr>
                      <m:t>|</m:t>
                    </m:r>
                    <m:r>
                      <m:rPr>
                        <m:sty m:val="i"/>
                      </m:rPr>
                      <m:t>𝒳</m:t>
                    </m:r>
                    <m:r>
                      <m:rPr>
                        <m:sty m:val="p"/>
                      </m:rPr>
                      <m:t>|</m:t>
                    </m:r>
                  </m:den>
                </m:f>
                <m:nary>
                  <m:naryPr>
                    <m:chr m:val="∑"/>
                  </m:naryPr>
                  <m:sub>
                    <m:r>
                      <m:rPr>
                        <m:sty m:val="i"/>
                      </m:rPr>
                      <m:t>x</m:t>
                    </m:r>
                  </m:sub>
                  <m:sup>
                    <m:r>
                      <m:rPr>
                        <m:sty m:val="i"/>
                      </m:rPr>
                      <m:t>𝒳</m:t>
                    </m:r>
                  </m:sup>
                  <m:e>
                    <m:r>
                      <m:rPr>
                        <m:sty m:val="p"/>
                      </m:rPr>
                      <m:t>|</m:t>
                    </m:r>
                    <m:r>
                      <m:rPr>
                        <m:sty m:val="p"/>
                      </m:rPr>
                      <m:t>2</m:t>
                    </m:r>
                    <m:sSub>
                      <m:e>
                        <m:r>
                          <m:rPr>
                            <m:sty m:val="i"/>
                          </m:rPr>
                          <m:t>P</m:t>
                        </m:r>
                      </m:e>
                      <m:sub>
                        <m:r>
                          <m:rPr>
                            <m:sty m:val="i"/>
                          </m:rPr>
                          <m:t>t</m:t>
                        </m:r>
                      </m:sub>
                    </m:sSub>
                    <m:r>
                      <m:rPr>
                        <m:sty m:val="p"/>
                      </m:rPr>
                      <m:t>(x)</m:t>
                    </m:r>
                    <m:r>
                      <m:rPr>
                        <m:sty m:val="p"/>
                      </m:rPr>
                      <m:t xml:space="preserve"> − </m:t>
                    </m:r>
                    <m:r>
                      <m:rPr>
                        <m:sty m:val="p"/>
                      </m:rPr>
                      <m:t>1</m:t>
                    </m:r>
                    <m:r>
                      <m:rPr>
                        <m:sty m:val="p"/>
                      </m:rPr>
                      <m:t>|</m:t>
                    </m:r>
                  </m:e>
                </m:nary>
              </m:oMath>
            </m:oMathPara>
          </a:p>
        </p:txBody>
      </p:sp>
      <p:sp>
        <p:nvSpPr>
          <p:cNvPr id="23" name="Text 19"/>
          <p:cNvSpPr/>
          <p:nvPr/>
        </p:nvSpPr>
        <p:spPr>
          <a:xfrm>
            <a:off x="6291072" y="5376672"/>
            <a:ext cx="5559552" cy="530352"/>
          </a:xfrm>
          <a:prstGeom prst="rect">
            <a:avLst/>
          </a:prstGeom>
          <a:noFill/>
          <a:ln/>
        </p:spPr>
        <p:txBody>
          <a:bodyPr wrap="square" lIns="0" tIns="0" rIns="0" bIns="0" rtlCol="0" anchor="ctr"/>
          <a:lstStyle/>
          <a:p>
            <a:pPr algn="ctr" indent="0" marL="0">
              <a:buNone/>
            </a:pPr>
            <m:oMathPara xmlns:m="http://schemas.openxmlformats.org/officeDocument/2006/math">
              <m:oMathParaPr>
                <m:jc m:val="center"/>
              </m:oMathParaPr>
              <m:oMath>
                <m:sSub>
                  <m:e>
                    <m:r>
                      <m:rPr>
                        <m:sty m:val="i"/>
                      </m:rPr>
                      <m:t>T</m:t>
                    </m:r>
                  </m:e>
                  <m:sub>
                    <m:r>
                      <m:rPr>
                        <m:sty m:val="i"/>
                      </m:rPr>
                      <m:t>80</m:t>
                    </m:r>
                  </m:sub>
                </m:sSub>
                <m:r>
                  <m:rPr>
                    <m:sty m:val="p"/>
                  </m:rPr>
                  <m:t xml:space="preserve"> = </m:t>
                </m:r>
                <m:r>
                  <m:rPr>
                    <m:sty m:val="p"/>
                  </m:rPr>
                  <m:t>min</m:t>
                </m:r>
                <m:d>
                  <m:dPr>
                    <m:begChr m:val="{ "/>
                    <m:endChr m:val=" }"/>
                  </m:dPr>
                  <m:e>
                    <m:r>
                      <m:rPr>
                        <m:sty m:val="p"/>
                      </m:rPr>
                      <m:t xml:space="preserve">t </m:t>
                    </m:r>
                    <m:r>
                      <m:rPr>
                        <m:sty m:val="p"/>
                      </m:rPr>
                      <m:t xml:space="preserve">| </m:t>
                    </m:r>
                    <m:sSub>
                      <m:e>
                        <m:r>
                          <m:rPr>
                            <m:sty m:val="i"/>
                          </m:rPr>
                          <m:t>D</m:t>
                        </m:r>
                      </m:e>
                      <m:sub>
                        <m:r>
                          <m:rPr>
                            <m:sty m:val="i"/>
                          </m:rPr>
                          <m:t>t</m:t>
                        </m:r>
                      </m:sub>
                    </m:sSub>
                    <m:r>
                      <m:rPr>
                        <m:sty m:val="p"/>
                      </m:rPr>
                      <m:t xml:space="preserve"> ≥ </m:t>
                    </m:r>
                    <m:r>
                      <m:rPr>
                        <m:sty m:val="p"/>
                      </m:rPr>
                      <m:t>0.8</m:t>
                    </m:r>
                  </m:e>
                </m:d>
              </m:oMath>
            </m:oMathPara>
          </a:p>
        </p:txBody>
      </p:sp>
      <p:sp>
        <p:nvSpPr>
          <p:cNvPr id="24" name="Text 20"/>
          <p:cNvSpPr/>
          <p:nvPr/>
        </p:nvSpPr>
        <p:spPr>
          <a:xfrm>
            <a:off x="6382512" y="5907024"/>
            <a:ext cx="5394960" cy="347472"/>
          </a:xfrm>
          <a:prstGeom prst="rect">
            <a:avLst/>
          </a:prstGeom>
          <a:noFill/>
          <a:ln/>
        </p:spPr>
        <p:txBody>
          <a:bodyPr wrap="square" lIns="0" tIns="0" rIns="0" bIns="0" rtlCol="0" anchor="ctr"/>
          <a:lstStyle/>
          <a:p>
            <a:pPr indent="0" marL="0">
              <a:buNone/>
            </a:pPr>
            <a:r>
              <a:rPr lang="en-US" sz="1200" i="1" dirty="0">
                <a:solidFill>
                  <a:srgbClr val="5A6A80"/>
                </a:solidFill>
                <a:latin typeface="Calibri" pitchFamily="34" charset="0"/>
                <a:ea typeface="Calibri" pitchFamily="34" charset="-122"/>
                <a:cs typeface="Calibri" pitchFamily="34" charset="-120"/>
              </a:rPr>
              <a:t>Ct: cell-wise decisiveness of occupancy beliefs</a:t>
            </a:r>
            <a:endParaRPr lang="en-US" sz="1200" dirty="0"/>
          </a:p>
        </p:txBody>
      </p:sp>
      <p:sp>
        <p:nvSpPr>
          <p:cNvPr id="25" name="Shape 21"/>
          <p:cNvSpPr/>
          <p:nvPr/>
        </p:nvSpPr>
        <p:spPr>
          <a:xfrm>
            <a:off x="0" y="6784848"/>
            <a:ext cx="12191695" cy="73152"/>
          </a:xfrm>
          <a:prstGeom prst="rect">
            <a:avLst/>
          </a:prstGeom>
          <a:solidFill>
            <a:srgbClr val="2F5597"/>
          </a:solidFill>
          <a:ln/>
        </p:spPr>
      </p:sp>
      <p:sp>
        <p:nvSpPr>
          <p:cNvPr id="26" name="Text 22"/>
          <p:cNvSpPr/>
          <p:nvPr/>
        </p:nvSpPr>
        <p:spPr>
          <a:xfrm>
            <a:off x="347472" y="6492240"/>
            <a:ext cx="10881360" cy="256032"/>
          </a:xfrm>
          <a:prstGeom prst="rect">
            <a:avLst/>
          </a:prstGeom>
          <a:noFill/>
          <a:ln/>
        </p:spPr>
        <p:txBody>
          <a:bodyPr wrap="square" lIns="0" tIns="0" rIns="0" bIns="0" rtlCol="0" anchor="ctr"/>
          <a:lstStyle/>
          <a:p>
            <a:pPr indent="0" marL="0">
              <a:buNone/>
            </a:pPr>
            <a:r>
              <a:rPr lang="en-US" sz="1100" dirty="0">
                <a:solidFill>
                  <a:srgbClr val="5A6A80"/>
                </a:solidFill>
                <a:latin typeface="Calibri" pitchFamily="34" charset="0"/>
                <a:ea typeface="Calibri" pitchFamily="34" charset="-122"/>
                <a:cs typeface="Calibri" pitchFamily="34" charset="-120"/>
              </a:rPr>
              <a:t>CAC 2026  ·  IC-HGAT-MAPPO  ·  Dec-POMDP / CTDE / HGAT / MAPPO</a:t>
            </a:r>
            <a:endParaRPr lang="en-US" sz="1100" dirty="0"/>
          </a:p>
        </p:txBody>
      </p:sp>
      <p:sp>
        <p:nvSpPr>
          <p:cNvPr id="27" name="Text 23"/>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Calibri" pitchFamily="34" charset="0"/>
                <a:ea typeface="Calibri" pitchFamily="34" charset="-122"/>
                <a:cs typeface="Calibri" pitchFamily="34" charset="-120"/>
              </a:rPr>
              <a:t>6</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37578" y="54864"/>
            <a:ext cx="715196" cy="493776"/>
          </a:xfrm>
          <a:prstGeom prst="rect">
            <a:avLst/>
          </a:prstGeom>
        </p:spPr>
      </p:pic>
      <p:sp>
        <p:nvSpPr>
          <p:cNvPr id="3" name="Text 0"/>
          <p:cNvSpPr/>
          <p:nvPr/>
        </p:nvSpPr>
        <p:spPr>
          <a:xfrm>
            <a:off x="347472" y="73152"/>
            <a:ext cx="10698480" cy="438912"/>
          </a:xfrm>
          <a:prstGeom prst="rect">
            <a:avLst/>
          </a:prstGeom>
          <a:noFill/>
          <a:ln/>
        </p:spPr>
        <p:txBody>
          <a:bodyPr wrap="square" lIns="0" tIns="0" rIns="0" bIns="0" rtlCol="0" anchor="ctr"/>
          <a:lstStyle/>
          <a:p>
            <a:pPr indent="0" marL="0">
              <a:buNone/>
            </a:pPr>
            <a:r>
              <a:rPr lang="en-US" sz="2600" b="1" dirty="0">
                <a:solidFill>
                  <a:srgbClr val="2F5597"/>
                </a:solidFill>
                <a:latin typeface="Calibri" pitchFamily="34" charset="0"/>
                <a:ea typeface="Calibri" pitchFamily="34" charset="-122"/>
                <a:cs typeface="Calibri" pitchFamily="34" charset="-120"/>
              </a:rPr>
              <a:t>2. Proposed IC-HGAT-MAPPO</a:t>
            </a:r>
            <a:endParaRPr lang="en-US" sz="2600" dirty="0"/>
          </a:p>
        </p:txBody>
      </p:sp>
      <p:sp>
        <p:nvSpPr>
          <p:cNvPr id="4" name="Shape 1"/>
          <p:cNvSpPr/>
          <p:nvPr/>
        </p:nvSpPr>
        <p:spPr>
          <a:xfrm>
            <a:off x="0" y="566928"/>
            <a:ext cx="12191695" cy="475488"/>
          </a:xfrm>
          <a:prstGeom prst="rect">
            <a:avLst/>
          </a:prstGeom>
          <a:solidFill>
            <a:srgbClr val="2F5597"/>
          </a:solidFill>
          <a:ln/>
        </p:spPr>
      </p:sp>
      <p:sp>
        <p:nvSpPr>
          <p:cNvPr id="5" name="Text 2"/>
          <p:cNvSpPr/>
          <p:nvPr/>
        </p:nvSpPr>
        <p:spPr>
          <a:xfrm>
            <a:off x="347472" y="585216"/>
            <a:ext cx="11430000" cy="43891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2.2 IC-HGAT-MAPPO Framework</a:t>
            </a:r>
            <a:endParaRPr lang="en-US" sz="2000" dirty="0"/>
          </a:p>
        </p:txBody>
      </p:sp>
      <p:pic>
        <p:nvPicPr>
          <p:cNvPr id="6" name="Image 1" descr="/tmp/ppt-work/assets/framework.png">    </p:cNvPr>
          <p:cNvPicPr>
            <a:picLocks noChangeAspect="1"/>
          </p:cNvPicPr>
          <p:nvPr/>
        </p:nvPicPr>
        <p:blipFill>
          <a:blip r:embed="rId2"/>
          <a:stretch>
            <a:fillRect/>
          </a:stretch>
        </p:blipFill>
        <p:spPr>
          <a:xfrm>
            <a:off x="2012041" y="1078992"/>
            <a:ext cx="8174014" cy="2788920"/>
          </a:xfrm>
          <a:prstGeom prst="rect">
            <a:avLst/>
          </a:prstGeom>
        </p:spPr>
      </p:pic>
      <p:sp>
        <p:nvSpPr>
          <p:cNvPr id="7" name="Shape 3"/>
          <p:cNvSpPr/>
          <p:nvPr/>
        </p:nvSpPr>
        <p:spPr>
          <a:xfrm>
            <a:off x="256032" y="3931920"/>
            <a:ext cx="1901952" cy="1115568"/>
          </a:xfrm>
          <a:prstGeom prst="roundRect">
            <a:avLst>
              <a:gd name="adj" fmla="val 6557"/>
            </a:avLst>
          </a:prstGeom>
          <a:solidFill>
            <a:srgbClr val="EAF0F8"/>
          </a:solidFill>
          <a:ln/>
          <a:effectLst>
            <a:outerShdw sx="100000" sy="100000" kx="0" ky="0" algn="bl" rotWithShape="0" blurRad="50800" dist="12700" dir="16200000">
              <a:srgbClr val="1F2A44">
                <a:alpha val="12000"/>
              </a:srgbClr>
            </a:outerShdw>
          </a:effectLst>
        </p:spPr>
      </p:sp>
      <p:sp>
        <p:nvSpPr>
          <p:cNvPr id="8" name="Text 4"/>
          <p:cNvSpPr/>
          <p:nvPr/>
        </p:nvSpPr>
        <p:spPr>
          <a:xfrm>
            <a:off x="329184" y="3986784"/>
            <a:ext cx="1755648" cy="329184"/>
          </a:xfrm>
          <a:prstGeom prst="rect">
            <a:avLst/>
          </a:prstGeom>
          <a:noFill/>
          <a:ln/>
        </p:spPr>
        <p:txBody>
          <a:bodyPr wrap="square" lIns="0" tIns="0" rIns="0" bIns="0" rtlCol="0" anchor="ctr"/>
          <a:lstStyle/>
          <a:p>
            <a:pPr indent="0" marL="0">
              <a:buNone/>
            </a:pPr>
            <a:r>
              <a:rPr lang="en-US" sz="1300" b="1" dirty="0">
                <a:solidFill>
                  <a:srgbClr val="1E3F73"/>
                </a:solidFill>
                <a:latin typeface="Calibri" pitchFamily="34" charset="0"/>
                <a:ea typeface="Calibri" pitchFamily="34" charset="-122"/>
                <a:cs typeface="Calibri" pitchFamily="34" charset="-120"/>
              </a:rPr>
              <a:t>1  Observe</a:t>
            </a:r>
            <a:endParaRPr lang="en-US" sz="1300" dirty="0"/>
          </a:p>
        </p:txBody>
      </p:sp>
      <p:sp>
        <p:nvSpPr>
          <p:cNvPr id="9" name="Text 5"/>
          <p:cNvSpPr/>
          <p:nvPr/>
        </p:nvSpPr>
        <p:spPr>
          <a:xfrm>
            <a:off x="329184" y="4315968"/>
            <a:ext cx="1755648" cy="621792"/>
          </a:xfrm>
          <a:prstGeom prst="rect">
            <a:avLst/>
          </a:prstGeom>
          <a:noFill/>
          <a:ln/>
        </p:spPr>
        <p:txBody>
          <a:bodyPr wrap="square" lIns="0" tIns="0" rIns="0" bIns="0" rtlCol="0" anchor="ctr"/>
          <a:lstStyle/>
          <a:p>
            <a:pPr indent="0" marL="0">
              <a:buNone/>
            </a:pPr>
            <a:r>
              <a:rPr lang="en-US" sz="1200" dirty="0">
                <a:solidFill>
                  <a:srgbClr val="1F2A44"/>
                </a:solidFill>
                <a:latin typeface="Calibri" pitchFamily="34" charset="0"/>
                <a:ea typeface="Calibri" pitchFamily="34" charset="-122"/>
                <a:cs typeface="Calibri" pitchFamily="34" charset="-120"/>
              </a:rPr>
              <a:t>oi,t + link mask A·,t</a:t>
            </a:r>
            <a:endParaRPr lang="en-US" sz="1200" dirty="0"/>
          </a:p>
        </p:txBody>
      </p:sp>
      <p:sp>
        <p:nvSpPr>
          <p:cNvPr id="10" name="Shape 6"/>
          <p:cNvSpPr/>
          <p:nvPr/>
        </p:nvSpPr>
        <p:spPr>
          <a:xfrm>
            <a:off x="2231136" y="3931920"/>
            <a:ext cx="1901952" cy="1115568"/>
          </a:xfrm>
          <a:prstGeom prst="roundRect">
            <a:avLst>
              <a:gd name="adj" fmla="val 6557"/>
            </a:avLst>
          </a:prstGeom>
          <a:solidFill>
            <a:srgbClr val="EAF0F8"/>
          </a:solidFill>
          <a:ln/>
          <a:effectLst>
            <a:outerShdw sx="100000" sy="100000" kx="0" ky="0" algn="bl" rotWithShape="0" blurRad="50800" dist="12700" dir="16200000">
              <a:srgbClr val="1F2A44">
                <a:alpha val="12000"/>
              </a:srgbClr>
            </a:outerShdw>
          </a:effectLst>
        </p:spPr>
      </p:sp>
      <p:sp>
        <p:nvSpPr>
          <p:cNvPr id="11" name="Text 7"/>
          <p:cNvSpPr/>
          <p:nvPr/>
        </p:nvSpPr>
        <p:spPr>
          <a:xfrm>
            <a:off x="2304288" y="3986784"/>
            <a:ext cx="1755648" cy="329184"/>
          </a:xfrm>
          <a:prstGeom prst="rect">
            <a:avLst/>
          </a:prstGeom>
          <a:noFill/>
          <a:ln/>
        </p:spPr>
        <p:txBody>
          <a:bodyPr wrap="square" lIns="0" tIns="0" rIns="0" bIns="0" rtlCol="0" anchor="ctr"/>
          <a:lstStyle/>
          <a:p>
            <a:pPr indent="0" marL="0">
              <a:buNone/>
            </a:pPr>
            <a:r>
              <a:rPr lang="en-US" sz="1300" b="1" dirty="0">
                <a:solidFill>
                  <a:srgbClr val="1E3F73"/>
                </a:solidFill>
                <a:latin typeface="Calibri" pitchFamily="34" charset="0"/>
                <a:ea typeface="Calibri" pitchFamily="34" charset="-122"/>
                <a:cs typeface="Calibri" pitchFamily="34" charset="-120"/>
              </a:rPr>
              <a:t>2  Remember</a:t>
            </a:r>
            <a:endParaRPr lang="en-US" sz="1300" dirty="0"/>
          </a:p>
        </p:txBody>
      </p:sp>
      <p:sp>
        <p:nvSpPr>
          <p:cNvPr id="12" name="Text 8"/>
          <p:cNvSpPr/>
          <p:nvPr/>
        </p:nvSpPr>
        <p:spPr>
          <a:xfrm>
            <a:off x="2304288" y="4315968"/>
            <a:ext cx="1755648" cy="621792"/>
          </a:xfrm>
          <a:prstGeom prst="rect">
            <a:avLst/>
          </a:prstGeom>
          <a:noFill/>
          <a:ln/>
        </p:spPr>
        <p:txBody>
          <a:bodyPr wrap="square" lIns="0" tIns="0" rIns="0" bIns="0" rtlCol="0" anchor="ctr"/>
          <a:lstStyle/>
          <a:p>
            <a:pPr indent="0" marL="0">
              <a:buNone/>
            </a:pPr>
            <a:r>
              <a:rPr lang="en-US" sz="1200" dirty="0">
                <a:solidFill>
                  <a:srgbClr val="1F2A44"/>
                </a:solidFill>
                <a:latin typeface="Calibri" pitchFamily="34" charset="0"/>
                <a:ea typeface="Calibri" pitchFamily="34" charset="-122"/>
                <a:cs typeface="Calibri" pitchFamily="34" charset="-120"/>
              </a:rPr>
              <a:t>update P / E / R fields</a:t>
            </a:r>
            <a:endParaRPr lang="en-US" sz="1200" dirty="0"/>
          </a:p>
        </p:txBody>
      </p:sp>
      <p:sp>
        <p:nvSpPr>
          <p:cNvPr id="13" name="Shape 9"/>
          <p:cNvSpPr/>
          <p:nvPr/>
        </p:nvSpPr>
        <p:spPr>
          <a:xfrm>
            <a:off x="4206240" y="3931920"/>
            <a:ext cx="1901952" cy="1115568"/>
          </a:xfrm>
          <a:prstGeom prst="roundRect">
            <a:avLst>
              <a:gd name="adj" fmla="val 6557"/>
            </a:avLst>
          </a:prstGeom>
          <a:solidFill>
            <a:srgbClr val="EAF0F8"/>
          </a:solidFill>
          <a:ln/>
          <a:effectLst>
            <a:outerShdw sx="100000" sy="100000" kx="0" ky="0" algn="bl" rotWithShape="0" blurRad="50800" dist="12700" dir="16200000">
              <a:srgbClr val="1F2A44">
                <a:alpha val="12000"/>
              </a:srgbClr>
            </a:outerShdw>
          </a:effectLst>
        </p:spPr>
      </p:sp>
      <p:sp>
        <p:nvSpPr>
          <p:cNvPr id="14" name="Text 10"/>
          <p:cNvSpPr/>
          <p:nvPr/>
        </p:nvSpPr>
        <p:spPr>
          <a:xfrm>
            <a:off x="4279392" y="3986784"/>
            <a:ext cx="1755648" cy="329184"/>
          </a:xfrm>
          <a:prstGeom prst="rect">
            <a:avLst/>
          </a:prstGeom>
          <a:noFill/>
          <a:ln/>
        </p:spPr>
        <p:txBody>
          <a:bodyPr wrap="square" lIns="0" tIns="0" rIns="0" bIns="0" rtlCol="0" anchor="ctr"/>
          <a:lstStyle/>
          <a:p>
            <a:pPr indent="0" marL="0">
              <a:buNone/>
            </a:pPr>
            <a:r>
              <a:rPr lang="en-US" sz="1300" b="1" dirty="0">
                <a:solidFill>
                  <a:srgbClr val="1E3F73"/>
                </a:solidFill>
                <a:latin typeface="Calibri" pitchFamily="34" charset="0"/>
                <a:ea typeface="Calibri" pitchFamily="34" charset="-122"/>
                <a:cs typeface="Calibri" pitchFamily="34" charset="-120"/>
              </a:rPr>
              <a:t>3  Select</a:t>
            </a:r>
            <a:endParaRPr lang="en-US" sz="1300" dirty="0"/>
          </a:p>
        </p:txBody>
      </p:sp>
      <p:sp>
        <p:nvSpPr>
          <p:cNvPr id="15" name="Text 11"/>
          <p:cNvSpPr/>
          <p:nvPr/>
        </p:nvSpPr>
        <p:spPr>
          <a:xfrm>
            <a:off x="4279392" y="4315968"/>
            <a:ext cx="1755648" cy="621792"/>
          </a:xfrm>
          <a:prstGeom prst="rect">
            <a:avLst/>
          </a:prstGeom>
          <a:noFill/>
          <a:ln/>
        </p:spPr>
        <p:txBody>
          <a:bodyPr wrap="square" lIns="0" tIns="0" rIns="0" bIns="0" rtlCol="0" anchor="ctr"/>
          <a:lstStyle/>
          <a:p>
            <a:pPr indent="0" marL="0">
              <a:buNone/>
            </a:pPr>
            <a:r>
              <a:rPr lang="en-US" sz="1200" dirty="0">
                <a:solidFill>
                  <a:srgbClr val="1F2A44"/>
                </a:solidFill>
                <a:latin typeface="Calibri" pitchFamily="34" charset="0"/>
                <a:ea typeface="Calibri" pitchFamily="34" charset="-122"/>
                <a:cs typeface="Calibri" pitchFamily="34" charset="-120"/>
              </a:rPr>
              <a:t>one source j⋆ per cell</a:t>
            </a:r>
            <a:endParaRPr lang="en-US" sz="1200" dirty="0"/>
          </a:p>
        </p:txBody>
      </p:sp>
      <p:sp>
        <p:nvSpPr>
          <p:cNvPr id="16" name="Shape 12"/>
          <p:cNvSpPr/>
          <p:nvPr/>
        </p:nvSpPr>
        <p:spPr>
          <a:xfrm>
            <a:off x="6181344" y="3931920"/>
            <a:ext cx="1901952" cy="1115568"/>
          </a:xfrm>
          <a:prstGeom prst="roundRect">
            <a:avLst>
              <a:gd name="adj" fmla="val 6557"/>
            </a:avLst>
          </a:prstGeom>
          <a:solidFill>
            <a:srgbClr val="EAF0F8"/>
          </a:solidFill>
          <a:ln/>
          <a:effectLst>
            <a:outerShdw sx="100000" sy="100000" kx="0" ky="0" algn="bl" rotWithShape="0" blurRad="50800" dist="12700" dir="16200000">
              <a:srgbClr val="1F2A44">
                <a:alpha val="12000"/>
              </a:srgbClr>
            </a:outerShdw>
          </a:effectLst>
        </p:spPr>
      </p:sp>
      <p:sp>
        <p:nvSpPr>
          <p:cNvPr id="17" name="Text 13"/>
          <p:cNvSpPr/>
          <p:nvPr/>
        </p:nvSpPr>
        <p:spPr>
          <a:xfrm>
            <a:off x="6254496" y="3986784"/>
            <a:ext cx="1755648" cy="329184"/>
          </a:xfrm>
          <a:prstGeom prst="rect">
            <a:avLst/>
          </a:prstGeom>
          <a:noFill/>
          <a:ln/>
        </p:spPr>
        <p:txBody>
          <a:bodyPr wrap="square" lIns="0" tIns="0" rIns="0" bIns="0" rtlCol="0" anchor="ctr"/>
          <a:lstStyle/>
          <a:p>
            <a:pPr indent="0" marL="0">
              <a:buNone/>
            </a:pPr>
            <a:r>
              <a:rPr lang="en-US" sz="1300" b="1" dirty="0">
                <a:solidFill>
                  <a:srgbClr val="1E3F73"/>
                </a:solidFill>
                <a:latin typeface="Calibri" pitchFamily="34" charset="0"/>
                <a:ea typeface="Calibri" pitchFamily="34" charset="-122"/>
                <a:cs typeface="Calibri" pitchFamily="34" charset="-120"/>
              </a:rPr>
              <a:t>4  Attend</a:t>
            </a:r>
            <a:endParaRPr lang="en-US" sz="1300" dirty="0"/>
          </a:p>
        </p:txBody>
      </p:sp>
      <p:sp>
        <p:nvSpPr>
          <p:cNvPr id="18" name="Text 14"/>
          <p:cNvSpPr/>
          <p:nvPr/>
        </p:nvSpPr>
        <p:spPr>
          <a:xfrm>
            <a:off x="6254496" y="4315968"/>
            <a:ext cx="1755648" cy="621792"/>
          </a:xfrm>
          <a:prstGeom prst="rect">
            <a:avLst/>
          </a:prstGeom>
          <a:noFill/>
          <a:ln/>
        </p:spPr>
        <p:txBody>
          <a:bodyPr wrap="square" lIns="0" tIns="0" rIns="0" bIns="0" rtlCol="0" anchor="ctr"/>
          <a:lstStyle/>
          <a:p>
            <a:pPr indent="0" marL="0">
              <a:buNone/>
            </a:pPr>
            <a:r>
              <a:rPr lang="en-US" sz="1200" dirty="0">
                <a:solidFill>
                  <a:srgbClr val="1F2A44"/>
                </a:solidFill>
                <a:latin typeface="Calibri" pitchFamily="34" charset="0"/>
                <a:ea typeface="Calibri" pitchFamily="34" charset="-122"/>
                <a:cs typeface="Calibri" pitchFamily="34" charset="-120"/>
              </a:rPr>
              <a:t>HGAT attention  →  embedding</a:t>
            </a:r>
            <a:endParaRPr lang="en-US" sz="1200" dirty="0"/>
          </a:p>
        </p:txBody>
      </p:sp>
      <p:sp>
        <p:nvSpPr>
          <p:cNvPr id="19" name="Shape 15"/>
          <p:cNvSpPr/>
          <p:nvPr/>
        </p:nvSpPr>
        <p:spPr>
          <a:xfrm>
            <a:off x="8156448" y="3931920"/>
            <a:ext cx="1901952" cy="1115568"/>
          </a:xfrm>
          <a:prstGeom prst="roundRect">
            <a:avLst>
              <a:gd name="adj" fmla="val 6557"/>
            </a:avLst>
          </a:prstGeom>
          <a:solidFill>
            <a:srgbClr val="EAF0F8"/>
          </a:solidFill>
          <a:ln/>
          <a:effectLst>
            <a:outerShdw sx="100000" sy="100000" kx="0" ky="0" algn="bl" rotWithShape="0" blurRad="50800" dist="12700" dir="16200000">
              <a:srgbClr val="1F2A44">
                <a:alpha val="12000"/>
              </a:srgbClr>
            </a:outerShdw>
          </a:effectLst>
        </p:spPr>
      </p:sp>
      <p:sp>
        <p:nvSpPr>
          <p:cNvPr id="20" name="Text 16"/>
          <p:cNvSpPr/>
          <p:nvPr/>
        </p:nvSpPr>
        <p:spPr>
          <a:xfrm>
            <a:off x="8229600" y="3986784"/>
            <a:ext cx="1755648" cy="329184"/>
          </a:xfrm>
          <a:prstGeom prst="rect">
            <a:avLst/>
          </a:prstGeom>
          <a:noFill/>
          <a:ln/>
        </p:spPr>
        <p:txBody>
          <a:bodyPr wrap="square" lIns="0" tIns="0" rIns="0" bIns="0" rtlCol="0" anchor="ctr"/>
          <a:lstStyle/>
          <a:p>
            <a:pPr indent="0" marL="0">
              <a:buNone/>
            </a:pPr>
            <a:r>
              <a:rPr lang="en-US" sz="1300" b="1" dirty="0">
                <a:solidFill>
                  <a:srgbClr val="1E3F73"/>
                </a:solidFill>
                <a:latin typeface="Calibri" pitchFamily="34" charset="0"/>
                <a:ea typeface="Calibri" pitchFamily="34" charset="-122"/>
                <a:cs typeface="Calibri" pitchFamily="34" charset="-120"/>
              </a:rPr>
              <a:t>5  Act</a:t>
            </a:r>
            <a:endParaRPr lang="en-US" sz="1300" dirty="0"/>
          </a:p>
        </p:txBody>
      </p:sp>
      <p:sp>
        <p:nvSpPr>
          <p:cNvPr id="21" name="Text 17"/>
          <p:cNvSpPr/>
          <p:nvPr/>
        </p:nvSpPr>
        <p:spPr>
          <a:xfrm>
            <a:off x="8229600" y="4315968"/>
            <a:ext cx="1755648" cy="621792"/>
          </a:xfrm>
          <a:prstGeom prst="rect">
            <a:avLst/>
          </a:prstGeom>
          <a:noFill/>
          <a:ln/>
        </p:spPr>
        <p:txBody>
          <a:bodyPr wrap="square" lIns="0" tIns="0" rIns="0" bIns="0" rtlCol="0" anchor="ctr"/>
          <a:lstStyle/>
          <a:p>
            <a:pPr indent="0" marL="0">
              <a:buNone/>
            </a:pPr>
            <a:r>
              <a:rPr lang="en-US" sz="1200" dirty="0">
                <a:solidFill>
                  <a:srgbClr val="1F2A44"/>
                </a:solidFill>
                <a:latin typeface="Calibri" pitchFamily="34" charset="0"/>
                <a:ea typeface="Calibri" pitchFamily="34" charset="-122"/>
                <a:cs typeface="Calibri" pitchFamily="34" charset="-120"/>
              </a:rPr>
              <a:t>shared actor  →  safety proj.</a:t>
            </a:r>
            <a:endParaRPr lang="en-US" sz="1200" dirty="0"/>
          </a:p>
        </p:txBody>
      </p:sp>
      <p:sp>
        <p:nvSpPr>
          <p:cNvPr id="22" name="Shape 18"/>
          <p:cNvSpPr/>
          <p:nvPr/>
        </p:nvSpPr>
        <p:spPr>
          <a:xfrm>
            <a:off x="10131552" y="3931920"/>
            <a:ext cx="1901952" cy="1115568"/>
          </a:xfrm>
          <a:prstGeom prst="roundRect">
            <a:avLst>
              <a:gd name="adj" fmla="val 6557"/>
            </a:avLst>
          </a:prstGeom>
          <a:solidFill>
            <a:srgbClr val="FFF3E8"/>
          </a:solidFill>
          <a:ln/>
          <a:effectLst>
            <a:outerShdw sx="100000" sy="100000" kx="0" ky="0" algn="bl" rotWithShape="0" blurRad="50800" dist="12700" dir="16200000">
              <a:srgbClr val="1F2A44">
                <a:alpha val="12000"/>
              </a:srgbClr>
            </a:outerShdw>
          </a:effectLst>
        </p:spPr>
      </p:sp>
      <p:sp>
        <p:nvSpPr>
          <p:cNvPr id="23" name="Text 19"/>
          <p:cNvSpPr/>
          <p:nvPr/>
        </p:nvSpPr>
        <p:spPr>
          <a:xfrm>
            <a:off x="10204704" y="3986784"/>
            <a:ext cx="1755648" cy="329184"/>
          </a:xfrm>
          <a:prstGeom prst="rect">
            <a:avLst/>
          </a:prstGeom>
          <a:noFill/>
          <a:ln/>
        </p:spPr>
        <p:txBody>
          <a:bodyPr wrap="square" lIns="0" tIns="0" rIns="0" bIns="0" rtlCol="0" anchor="ctr"/>
          <a:lstStyle/>
          <a:p>
            <a:pPr indent="0" marL="0">
              <a:buNone/>
            </a:pPr>
            <a:r>
              <a:rPr lang="en-US" sz="1300" b="1" dirty="0">
                <a:solidFill>
                  <a:srgbClr val="1E3F73"/>
                </a:solidFill>
                <a:latin typeface="Calibri" pitchFamily="34" charset="0"/>
                <a:ea typeface="Calibri" pitchFamily="34" charset="-122"/>
                <a:cs typeface="Calibri" pitchFamily="34" charset="-120"/>
              </a:rPr>
              <a:t>6  Train</a:t>
            </a:r>
            <a:endParaRPr lang="en-US" sz="1300" dirty="0"/>
          </a:p>
        </p:txBody>
      </p:sp>
      <p:sp>
        <p:nvSpPr>
          <p:cNvPr id="24" name="Text 20"/>
          <p:cNvSpPr/>
          <p:nvPr/>
        </p:nvSpPr>
        <p:spPr>
          <a:xfrm>
            <a:off x="10204704" y="4315968"/>
            <a:ext cx="1755648" cy="621792"/>
          </a:xfrm>
          <a:prstGeom prst="rect">
            <a:avLst/>
          </a:prstGeom>
          <a:noFill/>
          <a:ln/>
        </p:spPr>
        <p:txBody>
          <a:bodyPr wrap="square" lIns="0" tIns="0" rIns="0" bIns="0" rtlCol="0" anchor="ctr"/>
          <a:lstStyle/>
          <a:p>
            <a:pPr indent="0" marL="0">
              <a:buNone/>
            </a:pPr>
            <a:r>
              <a:rPr lang="en-US" sz="1200" dirty="0">
                <a:solidFill>
                  <a:srgbClr val="1F2A44"/>
                </a:solidFill>
                <a:latin typeface="Calibri" pitchFamily="34" charset="0"/>
                <a:ea typeface="Calibri" pitchFamily="34" charset="-122"/>
                <a:cs typeface="Calibri" pitchFamily="34" charset="-120"/>
              </a:rPr>
              <a:t>central critic, MAPPO clip</a:t>
            </a:r>
            <a:endParaRPr lang="en-US" sz="1200" dirty="0"/>
          </a:p>
        </p:txBody>
      </p:sp>
      <p:sp>
        <p:nvSpPr>
          <p:cNvPr id="25" name="Shape 21"/>
          <p:cNvSpPr/>
          <p:nvPr/>
        </p:nvSpPr>
        <p:spPr>
          <a:xfrm>
            <a:off x="256032" y="5138928"/>
            <a:ext cx="11686032" cy="1207008"/>
          </a:xfrm>
          <a:prstGeom prst="roundRect">
            <a:avLst>
              <a:gd name="adj" fmla="val 6061"/>
            </a:avLst>
          </a:prstGeom>
          <a:solidFill>
            <a:srgbClr val="F4F6FA"/>
          </a:solidFill>
          <a:ln/>
        </p:spPr>
      </p:sp>
      <p:sp>
        <p:nvSpPr>
          <p:cNvPr id="26" name="Text 22"/>
          <p:cNvSpPr/>
          <p:nvPr/>
        </p:nvSpPr>
        <p:spPr>
          <a:xfrm>
            <a:off x="384048" y="5193792"/>
            <a:ext cx="11430000" cy="292608"/>
          </a:xfrm>
          <a:prstGeom prst="rect">
            <a:avLst/>
          </a:prstGeom>
          <a:noFill/>
          <a:ln/>
        </p:spPr>
        <p:txBody>
          <a:bodyPr wrap="square" lIns="0" tIns="0" rIns="0" bIns="0" rtlCol="0" anchor="ctr"/>
          <a:lstStyle/>
          <a:p>
            <a:pPr indent="0" marL="0">
              <a:buNone/>
            </a:pPr>
            <a:r>
              <a:rPr lang="en-US" sz="1300" b="1" dirty="0">
                <a:solidFill>
                  <a:srgbClr val="2F5597"/>
                </a:solidFill>
                <a:latin typeface="Calibri" pitchFamily="34" charset="0"/>
                <a:ea typeface="Calibri" pitchFamily="34" charset="-122"/>
                <a:cs typeface="Calibri" pitchFamily="34" charset="-120"/>
              </a:rPr>
              <a:t>CTDE  ·  execution uses local + reachable information only; the critic sees global s only in training.</a:t>
            </a:r>
            <a:endParaRPr lang="en-US" sz="1300" dirty="0"/>
          </a:p>
        </p:txBody>
      </p:sp>
      <p:sp>
        <p:nvSpPr>
          <p:cNvPr id="27" name="Text 23"/>
          <p:cNvSpPr/>
          <p:nvPr/>
        </p:nvSpPr>
        <p:spPr>
          <a:xfrm>
            <a:off x="384048" y="5504688"/>
            <a:ext cx="11430000" cy="731520"/>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Safety projection is shared by Heuristic, QMIX, Local, Homogeneous-Graph, and IC-HGAT-MAPPO — not a contribution and not the source of the gains.</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Decentralized execution  ·  communication-aware masking  ·  centralized training with MAPPO.</a:t>
            </a:r>
            <a:endParaRPr lang="en-US" sz="1300" dirty="0"/>
          </a:p>
        </p:txBody>
      </p:sp>
      <p:sp>
        <p:nvSpPr>
          <p:cNvPr id="28" name="Shape 24"/>
          <p:cNvSpPr/>
          <p:nvPr/>
        </p:nvSpPr>
        <p:spPr>
          <a:xfrm>
            <a:off x="0" y="6784848"/>
            <a:ext cx="12191695" cy="73152"/>
          </a:xfrm>
          <a:prstGeom prst="rect">
            <a:avLst/>
          </a:prstGeom>
          <a:solidFill>
            <a:srgbClr val="2F5597"/>
          </a:solidFill>
          <a:ln/>
        </p:spPr>
      </p:sp>
      <p:sp>
        <p:nvSpPr>
          <p:cNvPr id="29" name="Text 25"/>
          <p:cNvSpPr/>
          <p:nvPr/>
        </p:nvSpPr>
        <p:spPr>
          <a:xfrm>
            <a:off x="347472" y="6492240"/>
            <a:ext cx="10881360" cy="256032"/>
          </a:xfrm>
          <a:prstGeom prst="rect">
            <a:avLst/>
          </a:prstGeom>
          <a:noFill/>
          <a:ln/>
        </p:spPr>
        <p:txBody>
          <a:bodyPr wrap="square" lIns="0" tIns="0" rIns="0" bIns="0" rtlCol="0" anchor="ctr"/>
          <a:lstStyle/>
          <a:p>
            <a:pPr indent="0" marL="0">
              <a:buNone/>
            </a:pPr>
            <a:r>
              <a:rPr lang="en-US" sz="1100" dirty="0">
                <a:solidFill>
                  <a:srgbClr val="5A6A80"/>
                </a:solidFill>
                <a:latin typeface="Calibri" pitchFamily="34" charset="0"/>
                <a:ea typeface="Calibri" pitchFamily="34" charset="-122"/>
                <a:cs typeface="Calibri" pitchFamily="34" charset="-120"/>
              </a:rPr>
              <a:t>CAC 2026  ·  IC-HGAT-MAPPO  ·  Dec-POMDP / CTDE / HGAT / MAPPO</a:t>
            </a:r>
            <a:endParaRPr lang="en-US" sz="1100" dirty="0"/>
          </a:p>
        </p:txBody>
      </p:sp>
      <p:sp>
        <p:nvSpPr>
          <p:cNvPr id="30" name="Text 26"/>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Calibri" pitchFamily="34" charset="0"/>
                <a:ea typeface="Calibri" pitchFamily="34" charset="-122"/>
                <a:cs typeface="Calibri" pitchFamily="34" charset="-120"/>
              </a:rPr>
              <a:t>7</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37578" y="54864"/>
            <a:ext cx="715196" cy="493776"/>
          </a:xfrm>
          <a:prstGeom prst="rect">
            <a:avLst/>
          </a:prstGeom>
        </p:spPr>
      </p:pic>
      <p:sp>
        <p:nvSpPr>
          <p:cNvPr id="3" name="Text 0"/>
          <p:cNvSpPr/>
          <p:nvPr/>
        </p:nvSpPr>
        <p:spPr>
          <a:xfrm>
            <a:off x="347472" y="73152"/>
            <a:ext cx="10698480" cy="438912"/>
          </a:xfrm>
          <a:prstGeom prst="rect">
            <a:avLst/>
          </a:prstGeom>
          <a:noFill/>
          <a:ln/>
        </p:spPr>
        <p:txBody>
          <a:bodyPr wrap="square" lIns="0" tIns="0" rIns="0" bIns="0" rtlCol="0" anchor="ctr"/>
          <a:lstStyle/>
          <a:p>
            <a:pPr indent="0" marL="0">
              <a:buNone/>
            </a:pPr>
            <a:r>
              <a:rPr lang="en-US" sz="2600" b="1" dirty="0">
                <a:solidFill>
                  <a:srgbClr val="2F5597"/>
                </a:solidFill>
                <a:latin typeface="Calibri" pitchFamily="34" charset="0"/>
                <a:ea typeface="Calibri" pitchFamily="34" charset="-122"/>
                <a:cs typeface="Calibri" pitchFamily="34" charset="-120"/>
              </a:rPr>
              <a:t>2. Proposed IC-HGAT-MAPPO</a:t>
            </a:r>
            <a:endParaRPr lang="en-US" sz="2600" dirty="0"/>
          </a:p>
        </p:txBody>
      </p:sp>
      <p:sp>
        <p:nvSpPr>
          <p:cNvPr id="4" name="Shape 1"/>
          <p:cNvSpPr/>
          <p:nvPr/>
        </p:nvSpPr>
        <p:spPr>
          <a:xfrm>
            <a:off x="0" y="566928"/>
            <a:ext cx="12191695" cy="475488"/>
          </a:xfrm>
          <a:prstGeom prst="rect">
            <a:avLst/>
          </a:prstGeom>
          <a:solidFill>
            <a:srgbClr val="2F5597"/>
          </a:solidFill>
          <a:ln/>
        </p:spPr>
      </p:sp>
      <p:sp>
        <p:nvSpPr>
          <p:cNvPr id="5" name="Text 2"/>
          <p:cNvSpPr/>
          <p:nvPr/>
        </p:nvSpPr>
        <p:spPr>
          <a:xfrm>
            <a:off x="347472" y="585216"/>
            <a:ext cx="11430000" cy="43891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2.3 Local Belief Maintenance and Information Selection</a:t>
            </a:r>
            <a:endParaRPr lang="en-US" sz="2000" dirty="0"/>
          </a:p>
        </p:txBody>
      </p:sp>
      <p:sp>
        <p:nvSpPr>
          <p:cNvPr id="6" name="Shape 3"/>
          <p:cNvSpPr/>
          <p:nvPr/>
        </p:nvSpPr>
        <p:spPr>
          <a:xfrm>
            <a:off x="256032" y="1078992"/>
            <a:ext cx="5897880" cy="5285232"/>
          </a:xfrm>
          <a:prstGeom prst="roundRect">
            <a:avLst>
              <a:gd name="adj" fmla="val 1384"/>
            </a:avLst>
          </a:prstGeom>
          <a:solidFill>
            <a:srgbClr val="FFFFFF"/>
          </a:solidFill>
          <a:ln/>
          <a:effectLst>
            <a:outerShdw sx="100000" sy="100000" kx="0" ky="0" algn="bl" rotWithShape="0" blurRad="50800" dist="12700" dir="16200000">
              <a:srgbClr val="1F2A44">
                <a:alpha val="12000"/>
              </a:srgbClr>
            </a:outerShdw>
          </a:effectLst>
        </p:spPr>
      </p:sp>
      <p:sp>
        <p:nvSpPr>
          <p:cNvPr id="7" name="Shape 4"/>
          <p:cNvSpPr/>
          <p:nvPr/>
        </p:nvSpPr>
        <p:spPr>
          <a:xfrm>
            <a:off x="256032" y="1078992"/>
            <a:ext cx="64008" cy="5285232"/>
          </a:xfrm>
          <a:prstGeom prst="rect">
            <a:avLst/>
          </a:prstGeom>
          <a:solidFill>
            <a:srgbClr val="2F5597"/>
          </a:solidFill>
          <a:ln/>
        </p:spPr>
      </p:sp>
      <p:sp>
        <p:nvSpPr>
          <p:cNvPr id="8" name="Text 5"/>
          <p:cNvSpPr/>
          <p:nvPr/>
        </p:nvSpPr>
        <p:spPr>
          <a:xfrm>
            <a:off x="420624" y="1115568"/>
            <a:ext cx="5577840" cy="310896"/>
          </a:xfrm>
          <a:prstGeom prst="rect">
            <a:avLst/>
          </a:prstGeom>
          <a:noFill/>
          <a:ln/>
        </p:spPr>
        <p:txBody>
          <a:bodyPr wrap="square" lIns="0" tIns="0" rIns="0" bIns="0" rtlCol="0" anchor="ctr"/>
          <a:lstStyle/>
          <a:p>
            <a:pPr indent="0" marL="0">
              <a:buNone/>
            </a:pPr>
            <a:r>
              <a:rPr lang="en-US" sz="1600" b="1" dirty="0">
                <a:solidFill>
                  <a:srgbClr val="2F5597"/>
                </a:solidFill>
                <a:latin typeface="Calibri" pitchFamily="34" charset="0"/>
                <a:ea typeface="Calibri" pitchFamily="34" charset="-122"/>
                <a:cs typeface="Calibri" pitchFamily="34" charset="-120"/>
              </a:rPr>
              <a:t>Revisit-Aware P/E/R Memory</a:t>
            </a:r>
            <a:endParaRPr lang="en-US" sz="1600" dirty="0"/>
          </a:p>
        </p:txBody>
      </p:sp>
      <p:pic>
        <p:nvPicPr>
          <p:cNvPr id="9" name="Image 1" descr="/tmp/ppt-work/assets/per_maps.png">    </p:cNvPr>
          <p:cNvPicPr>
            <a:picLocks noChangeAspect="1"/>
          </p:cNvPicPr>
          <p:nvPr/>
        </p:nvPicPr>
        <p:blipFill>
          <a:blip r:embed="rId2"/>
          <a:stretch>
            <a:fillRect/>
          </a:stretch>
        </p:blipFill>
        <p:spPr>
          <a:xfrm>
            <a:off x="1164502" y="1426464"/>
            <a:ext cx="4062652" cy="1417320"/>
          </a:xfrm>
          <a:prstGeom prst="rect">
            <a:avLst/>
          </a:prstGeom>
        </p:spPr>
      </p:pic>
      <p:sp>
        <p:nvSpPr>
          <p:cNvPr id="10" name="Text 6"/>
          <p:cNvSpPr/>
          <p:nvPr/>
        </p:nvSpPr>
        <p:spPr>
          <a:xfrm>
            <a:off x="329184" y="2852928"/>
            <a:ext cx="5715000" cy="530352"/>
          </a:xfrm>
          <a:prstGeom prst="rect">
            <a:avLst/>
          </a:prstGeom>
          <a:noFill/>
          <a:ln/>
        </p:spPr>
        <p:txBody>
          <a:bodyPr wrap="square" lIns="0" tIns="0" rIns="0" bIns="0" rtlCol="0" anchor="ctr"/>
          <a:lstStyle/>
          <a:p>
            <a:pPr algn="ctr" indent="0" marL="0">
              <a:buNone/>
            </a:pPr>
            <m:oMathPara xmlns:m="http://schemas.openxmlformats.org/officeDocument/2006/math">
              <m:oMathParaPr>
                <m:jc m:val="center"/>
              </m:oMathParaPr>
              <m:oMath>
                <m:sSub>
                  <m:e>
                    <m:r>
                      <m:rPr>
                        <m:sty m:val="i"/>
                      </m:rPr>
                      <m:t>L</m:t>
                    </m:r>
                  </m:e>
                  <m:sub>
                    <m:r>
                      <m:rPr>
                        <m:sty m:val="i"/>
                      </m:rPr>
                      <m:t>i</m:t>
                    </m:r>
                    <m:r>
                      <m:rPr>
                        <m:sty m:val="p"/>
                      </m:rPr>
                      <m:t>,</m:t>
                    </m:r>
                    <m:r>
                      <m:rPr>
                        <m:sty m:val="i"/>
                      </m:rPr>
                      <m:t>t</m:t>
                    </m:r>
                  </m:sub>
                </m:sSub>
                <m:r>
                  <m:rPr>
                    <m:sty m:val="p"/>
                  </m:rPr>
                  <m:t>(x)</m:t>
                </m:r>
                <m:r>
                  <m:rPr>
                    <m:sty m:val="p"/>
                  </m:rPr>
                  <m:t xml:space="preserve"> = </m:t>
                </m:r>
                <m:sSub>
                  <m:e>
                    <m:r>
                      <m:rPr>
                        <m:sty m:val="i"/>
                      </m:rPr>
                      <m:t>L</m:t>
                    </m:r>
                  </m:e>
                  <m:sub>
                    <m:r>
                      <m:rPr>
                        <m:sty m:val="i"/>
                      </m:rPr>
                      <m:t>i</m:t>
                    </m:r>
                    <m:r>
                      <m:rPr>
                        <m:sty m:val="p"/>
                      </m:rPr>
                      <m:t>,</m:t>
                    </m:r>
                    <m:r>
                      <m:rPr>
                        <m:sty m:val="i"/>
                      </m:rPr>
                      <m:t>t</m:t>
                    </m:r>
                    <m:r>
                      <m:rPr>
                        <m:sty m:val="p"/>
                      </m:rPr>
                      <m:t>−</m:t>
                    </m:r>
                    <m:r>
                      <m:rPr>
                        <m:sty m:val="p"/>
                      </m:rPr>
                      <m:t>1</m:t>
                    </m:r>
                  </m:sub>
                </m:sSub>
                <m:r>
                  <m:rPr>
                    <m:sty m:val="p"/>
                  </m:rPr>
                  <m:t>(x)</m:t>
                </m:r>
                <m:r>
                  <m:rPr>
                    <m:sty m:val="p"/>
                  </m:rPr>
                  <m:t xml:space="preserve"> + </m:t>
                </m:r>
                <m:sSub>
                  <m:e>
                    <m:r>
                      <m:rPr>
                        <m:sty m:val="i"/>
                      </m:rPr>
                      <m:t>ℓ</m:t>
                    </m:r>
                  </m:e>
                  <m:sub>
                    <m:r>
                      <m:rPr>
                        <m:sty m:val="i"/>
                      </m:rPr>
                      <m:t>i</m:t>
                    </m:r>
                    <m:r>
                      <m:rPr>
                        <m:sty m:val="p"/>
                      </m:rPr>
                      <m:t>,</m:t>
                    </m:r>
                    <m:r>
                      <m:rPr>
                        <m:sty m:val="i"/>
                      </m:rPr>
                      <m:t>t</m:t>
                    </m:r>
                  </m:sub>
                </m:sSub>
                <m:r>
                  <m:rPr>
                    <m:sty m:val="p"/>
                  </m:rPr>
                  <m:t>(x)</m:t>
                </m:r>
                <m:r>
                  <m:rPr>
                    <m:sty m:val="p"/>
                  </m:rPr>
                  <m:t xml:space="preserve"> − </m:t>
                </m:r>
                <m:sSub>
                  <m:e>
                    <m:r>
                      <m:rPr>
                        <m:sty m:val="i"/>
                      </m:rPr>
                      <m:t>L</m:t>
                    </m:r>
                  </m:e>
                  <m:sub>
                    <m:r>
                      <m:rPr>
                        <m:sty m:val="i"/>
                      </m:rPr>
                      <m:t>0</m:t>
                    </m:r>
                  </m:sub>
                </m:sSub>
              </m:oMath>
            </m:oMathPara>
          </a:p>
        </p:txBody>
      </p:sp>
      <p:sp>
        <p:nvSpPr>
          <p:cNvPr id="11" name="Text 7"/>
          <p:cNvSpPr/>
          <p:nvPr/>
        </p:nvSpPr>
        <p:spPr>
          <a:xfrm>
            <a:off x="329184" y="3364992"/>
            <a:ext cx="5715000" cy="502920"/>
          </a:xfrm>
          <a:prstGeom prst="rect">
            <a:avLst/>
          </a:prstGeom>
          <a:noFill/>
          <a:ln/>
        </p:spPr>
        <p:txBody>
          <a:bodyPr wrap="square" lIns="0" tIns="0" rIns="0" bIns="0" rtlCol="0" anchor="ctr"/>
          <a:lstStyle/>
          <a:p>
            <a:pPr algn="ctr" indent="0" marL="0">
              <a:buNone/>
            </a:pPr>
            <m:oMathPara xmlns:m="http://schemas.openxmlformats.org/officeDocument/2006/math">
              <m:oMathParaPr>
                <m:jc m:val="center"/>
              </m:oMathParaPr>
              <m:oMath>
                <m:sSub>
                  <m:e>
                    <m:r>
                      <m:rPr>
                        <m:sty m:val="i"/>
                      </m:rPr>
                      <m:t>P</m:t>
                    </m:r>
                  </m:e>
                  <m:sub>
                    <m:r>
                      <m:rPr>
                        <m:sty m:val="i"/>
                      </m:rPr>
                      <m:t>i</m:t>
                    </m:r>
                    <m:r>
                      <m:rPr>
                        <m:sty m:val="p"/>
                      </m:rPr>
                      <m:t>,</m:t>
                    </m:r>
                    <m:r>
                      <m:rPr>
                        <m:sty m:val="i"/>
                      </m:rPr>
                      <m:t>t</m:t>
                    </m:r>
                  </m:sub>
                </m:sSub>
                <m:r>
                  <m:rPr>
                    <m:sty m:val="p"/>
                  </m:rPr>
                  <m:t>(x)</m:t>
                </m:r>
                <m:r>
                  <m:rPr>
                    <m:sty m:val="p"/>
                  </m:rPr>
                  <m:t xml:space="preserve"> = </m:t>
                </m:r>
                <m:f>
                  <m:fPr/>
                  <m:num>
                    <m:r>
                      <m:rPr>
                        <m:sty m:val="p"/>
                      </m:rPr>
                      <m:t>1</m:t>
                    </m:r>
                  </m:num>
                  <m:den>
                    <m:r>
                      <m:rPr>
                        <m:sty m:val="p"/>
                      </m:rPr>
                      <m:t>1</m:t>
                    </m:r>
                    <m:r>
                      <m:rPr>
                        <m:sty m:val="p"/>
                      </m:rPr>
                      <m:t xml:space="preserve"> + </m:t>
                    </m:r>
                    <m:func>
                      <m:funcPr/>
                      <m:fName>
                        <m:e>
                          <m:r>
                            <m:rPr>
                              <m:sty m:val="p"/>
                            </m:rPr>
                            <m:t>exp</m:t>
                          </m:r>
                        </m:e>
                      </m:fName>
                      <m:e>
                        <m:r>
                          <m:rPr>
                            <m:sty m:val="p"/>
                          </m:rPr>
                          <m:t>−</m:t>
                        </m:r>
                        <m:sSub>
                          <m:e>
                            <m:r>
                              <m:rPr>
                                <m:sty m:val="i"/>
                              </m:rPr>
                              <m:t>L</m:t>
                            </m:r>
                          </m:e>
                          <m:sub>
                            <m:r>
                              <m:rPr>
                                <m:sty m:val="i"/>
                              </m:rPr>
                              <m:t>i</m:t>
                            </m:r>
                            <m:r>
                              <m:rPr>
                                <m:sty m:val="p"/>
                              </m:rPr>
                              <m:t>,</m:t>
                            </m:r>
                            <m:r>
                              <m:rPr>
                                <m:sty m:val="i"/>
                              </m:rPr>
                              <m:t>t</m:t>
                            </m:r>
                          </m:sub>
                        </m:sSub>
                        <m:r>
                          <m:rPr>
                            <m:sty m:val="p"/>
                          </m:rPr>
                          <m:t>(x)</m:t>
                        </m:r>
                      </m:e>
                    </m:func>
                  </m:den>
                </m:f>
              </m:oMath>
            </m:oMathPara>
          </a:p>
        </p:txBody>
      </p:sp>
      <p:sp>
        <p:nvSpPr>
          <p:cNvPr id="12" name="Text 8"/>
          <p:cNvSpPr/>
          <p:nvPr/>
        </p:nvSpPr>
        <p:spPr>
          <a:xfrm>
            <a:off x="329184" y="3858768"/>
            <a:ext cx="5715000" cy="475488"/>
          </a:xfrm>
          <a:prstGeom prst="rect">
            <a:avLst/>
          </a:prstGeom>
          <a:noFill/>
          <a:ln/>
        </p:spPr>
        <p:txBody>
          <a:bodyPr wrap="square" lIns="0" tIns="0" rIns="0" bIns="0" rtlCol="0" anchor="ctr"/>
          <a:lstStyle/>
          <a:p>
            <a:pPr algn="ctr" indent="0" marL="0">
              <a:buNone/>
            </a:pPr>
            <m:oMathPara xmlns:m="http://schemas.openxmlformats.org/officeDocument/2006/math">
              <m:oMathParaPr>
                <m:jc m:val="center"/>
              </m:oMathParaPr>
              <m:oMath>
                <m:sSub>
                  <m:e>
                    <m:r>
                      <m:rPr>
                        <m:sty m:val="i"/>
                      </m:rPr>
                      <m:t>E</m:t>
                    </m:r>
                  </m:e>
                  <m:sub>
                    <m:r>
                      <m:rPr>
                        <m:sty m:val="i"/>
                      </m:rPr>
                      <m:t>i</m:t>
                    </m:r>
                    <m:r>
                      <m:rPr>
                        <m:sty m:val="p"/>
                      </m:rPr>
                      <m:t>,</m:t>
                    </m:r>
                    <m:r>
                      <m:rPr>
                        <m:sty m:val="i"/>
                      </m:rPr>
                      <m:t>t</m:t>
                    </m:r>
                  </m:sub>
                </m:sSub>
                <m:r>
                  <m:rPr>
                    <m:sty m:val="p"/>
                  </m:rPr>
                  <m:t>(x)</m:t>
                </m:r>
                <m:r>
                  <m:rPr>
                    <m:sty m:val="p"/>
                  </m:rPr>
                  <m:t xml:space="preserve"> = </m:t>
                </m:r>
                <m:func>
                  <m:funcPr/>
                  <m:fName>
                    <m:e>
                      <m:r>
                        <m:rPr>
                          <m:sty m:val="p"/>
                        </m:rPr>
                        <m:t>exp</m:t>
                      </m:r>
                    </m:e>
                  </m:fName>
                  <m:e>
                    <m:r>
                      <m:rPr>
                        <m:sty m:val="p"/>
                      </m:rPr>
                      <m:t>−</m:t>
                    </m:r>
                    <m:sSub>
                      <m:e>
                        <m:r>
                          <m:rPr>
                            <m:sty m:val="i"/>
                          </m:rPr>
                          <m:t>k</m:t>
                        </m:r>
                      </m:e>
                      <m:sub>
                        <m:r>
                          <m:rPr>
                            <m:sty m:val="i"/>
                          </m:rPr>
                          <m:t>q</m:t>
                        </m:r>
                      </m:sub>
                    </m:sSub>
                    <m:r>
                      <m:rPr>
                        <m:sty m:val="p"/>
                      </m:rPr>
                      <m:t>|</m:t>
                    </m:r>
                    <m:sSub>
                      <m:e>
                        <m:r>
                          <m:rPr>
                            <m:sty m:val="i"/>
                          </m:rPr>
                          <m:t>L</m:t>
                        </m:r>
                      </m:e>
                      <m:sub>
                        <m:r>
                          <m:rPr>
                            <m:sty m:val="i"/>
                          </m:rPr>
                          <m:t>i</m:t>
                        </m:r>
                        <m:r>
                          <m:rPr>
                            <m:sty m:val="p"/>
                          </m:rPr>
                          <m:t>,</m:t>
                        </m:r>
                        <m:r>
                          <m:rPr>
                            <m:sty m:val="i"/>
                          </m:rPr>
                          <m:t>t</m:t>
                        </m:r>
                      </m:sub>
                    </m:sSub>
                    <m:r>
                      <m:rPr>
                        <m:sty m:val="p"/>
                      </m:rPr>
                      <m:t>(x)|</m:t>
                    </m:r>
                  </m:e>
                </m:func>
              </m:oMath>
            </m:oMathPara>
          </a:p>
        </p:txBody>
      </p:sp>
      <p:sp>
        <p:nvSpPr>
          <p:cNvPr id="13" name="Text 9"/>
          <p:cNvSpPr/>
          <p:nvPr/>
        </p:nvSpPr>
        <p:spPr>
          <a:xfrm>
            <a:off x="329184" y="4315968"/>
            <a:ext cx="5715000" cy="530352"/>
          </a:xfrm>
          <a:prstGeom prst="rect">
            <a:avLst/>
          </a:prstGeom>
          <a:noFill/>
          <a:ln/>
        </p:spPr>
        <p:txBody>
          <a:bodyPr wrap="square" lIns="0" tIns="0" rIns="0" bIns="0" rtlCol="0" anchor="ctr"/>
          <a:lstStyle/>
          <a:p>
            <a:pPr algn="ctr" indent="0" marL="0">
              <a:buNone/>
            </a:pPr>
            <m:oMathPara xmlns:m="http://schemas.openxmlformats.org/officeDocument/2006/math">
              <m:oMathParaPr>
                <m:jc m:val="center"/>
              </m:oMathParaPr>
              <m:oMath>
                <m:sSub>
                  <m:e>
                    <m:r>
                      <m:rPr>
                        <m:sty m:val="i"/>
                      </m:rPr>
                      <m:t>R</m:t>
                    </m:r>
                  </m:e>
                  <m:sub>
                    <m:r>
                      <m:rPr>
                        <m:sty m:val="i"/>
                      </m:rPr>
                      <m:t>i</m:t>
                    </m:r>
                    <m:r>
                      <m:rPr>
                        <m:sty m:val="p"/>
                      </m:rPr>
                      <m:t>,</m:t>
                    </m:r>
                    <m:r>
                      <m:rPr>
                        <m:sty m:val="i"/>
                      </m:rPr>
                      <m:t>t</m:t>
                    </m:r>
                  </m:sub>
                </m:sSub>
                <m:r>
                  <m:rPr>
                    <m:sty m:val="p"/>
                  </m:rPr>
                  <m:t>(x)</m:t>
                </m:r>
                <m:r>
                  <m:rPr>
                    <m:sty m:val="p"/>
                  </m:rPr>
                  <m:t xml:space="preserve"> = </m:t>
                </m:r>
                <m:d>
                  <m:dPr>
                    <m:begChr m:val="("/>
                    <m:endChr m:val=")"/>
                  </m:dPr>
                  <m:e>
                    <m:r>
                      <m:rPr>
                        <m:sty m:val="p"/>
                      </m:rPr>
                      <m:t>1</m:t>
                    </m:r>
                    <m:r>
                      <m:rPr>
                        <m:sty m:val="p"/>
                      </m:rPr>
                      <m:t xml:space="preserve"> − </m:t>
                    </m:r>
                    <m:r>
                      <m:rPr>
                        <m:sty m:val="i"/>
                      </m:rPr>
                      <m:t>α</m:t>
                    </m:r>
                  </m:e>
                </m:d>
                <m:sSub>
                  <m:e>
                    <m:r>
                      <m:rPr>
                        <m:sty m:val="i"/>
                      </m:rPr>
                      <m:t>R</m:t>
                    </m:r>
                  </m:e>
                  <m:sub>
                    <m:r>
                      <m:rPr>
                        <m:sty m:val="i"/>
                      </m:rPr>
                      <m:t>i</m:t>
                    </m:r>
                    <m:r>
                      <m:rPr>
                        <m:sty m:val="p"/>
                      </m:rPr>
                      <m:t>,</m:t>
                    </m:r>
                    <m:r>
                      <m:rPr>
                        <m:sty m:val="i"/>
                      </m:rPr>
                      <m:t>t</m:t>
                    </m:r>
                    <m:r>
                      <m:rPr>
                        <m:sty m:val="p"/>
                      </m:rPr>
                      <m:t>−</m:t>
                    </m:r>
                    <m:r>
                      <m:rPr>
                        <m:sty m:val="p"/>
                      </m:rPr>
                      <m:t>1</m:t>
                    </m:r>
                  </m:sub>
                </m:sSub>
                <m:r>
                  <m:rPr>
                    <m:sty m:val="p"/>
                  </m:rPr>
                  <m:t>(x)</m:t>
                </m:r>
                <m:r>
                  <m:rPr>
                    <m:sty m:val="p"/>
                  </m:rPr>
                  <m:t xml:space="preserve"> + </m:t>
                </m:r>
                <m:r>
                  <m:rPr>
                    <m:sty m:val="i"/>
                  </m:rPr>
                  <m:t>α</m:t>
                </m:r>
                <m:r>
                  <m:rPr>
                    <m:sty m:val="p"/>
                  </m:rPr>
                  <m:t xml:space="preserve"> + </m:t>
                </m:r>
                <m:r>
                  <m:rPr>
                    <m:sty m:val="i"/>
                  </m:rPr>
                  <m:t>β</m:t>
                </m:r>
                <m:r>
                  <m:rPr>
                    <m:sty m:val="p"/>
                  </m:rPr>
                  <m:t xml:space="preserve"> </m:t>
                </m:r>
                <m:r>
                  <m:rPr>
                    <m:sty m:val="p"/>
                  </m:rPr>
                  <m:t>Δ</m:t>
                </m:r>
                <m:sSub>
                  <m:e>
                    <m:r>
                      <m:rPr>
                        <m:sty m:val="i"/>
                      </m:rPr>
                      <m:t>R</m:t>
                    </m:r>
                  </m:e>
                  <m:sub>
                    <m:r>
                      <m:rPr>
                        <m:sty m:val="i"/>
                      </m:rPr>
                      <m:t>i</m:t>
                    </m:r>
                    <m:r>
                      <m:rPr>
                        <m:sty m:val="p"/>
                      </m:rPr>
                      <m:t>,</m:t>
                    </m:r>
                    <m:r>
                      <m:rPr>
                        <m:sty m:val="i"/>
                      </m:rPr>
                      <m:t>t</m:t>
                    </m:r>
                  </m:sub>
                </m:sSub>
                <m:r>
                  <m:rPr>
                    <m:sty m:val="p"/>
                  </m:rPr>
                  <m:t>(x)</m:t>
                </m:r>
              </m:oMath>
            </m:oMathPara>
          </a:p>
        </p:txBody>
      </p:sp>
      <p:sp>
        <p:nvSpPr>
          <p:cNvPr id="14" name="Text 10"/>
          <p:cNvSpPr/>
          <p:nvPr/>
        </p:nvSpPr>
        <p:spPr>
          <a:xfrm>
            <a:off x="329184" y="4828032"/>
            <a:ext cx="5715000" cy="475488"/>
          </a:xfrm>
          <a:prstGeom prst="rect">
            <a:avLst/>
          </a:prstGeom>
          <a:noFill/>
          <a:ln/>
        </p:spPr>
        <p:txBody>
          <a:bodyPr wrap="square" lIns="0" tIns="0" rIns="0" bIns="0" rtlCol="0" anchor="ctr"/>
          <a:lstStyle/>
          <a:p>
            <a:pPr algn="ctr" indent="0" marL="0">
              <a:buNone/>
            </a:pPr>
            <m:oMathPara xmlns:m="http://schemas.openxmlformats.org/officeDocument/2006/math">
              <m:oMathParaPr>
                <m:jc m:val="center"/>
              </m:oMathParaPr>
              <m:oMath>
                <m:r>
                  <m:rPr>
                    <m:sty m:val="i"/>
                  </m:rPr>
                  <m:t>q</m:t>
                </m:r>
                <m:d>
                  <m:dPr>
                    <m:begChr m:val="("/>
                    <m:endChr m:val=")"/>
                  </m:dPr>
                  <m:e>
                    <m:r>
                      <m:rPr>
                        <m:sty m:val="i"/>
                      </m:rPr>
                      <m:t>x</m:t>
                    </m:r>
                  </m:e>
                </m:d>
                <m:r>
                  <m:rPr>
                    <m:sty m:val="p"/>
                  </m:rPr>
                  <m:t xml:space="preserve"> = </m:t>
                </m:r>
                <m:r>
                  <m:rPr>
                    <m:sty m:val="i"/>
                  </m:rPr>
                  <m:t>E</m:t>
                </m:r>
                <m:d>
                  <m:dPr>
                    <m:begChr m:val="("/>
                    <m:endChr m:val=")"/>
                  </m:dPr>
                  <m:e>
                    <m:r>
                      <m:rPr>
                        <m:sty m:val="i"/>
                      </m:rPr>
                      <m:t>x</m:t>
                    </m:r>
                  </m:e>
                </m:d>
                <m:r>
                  <m:rPr>
                    <m:sty m:val="p"/>
                  </m:rPr>
                  <m:t xml:space="preserve"> + </m:t>
                </m:r>
                <m:r>
                  <m:rPr>
                    <m:sty m:val="p"/>
                  </m:rPr>
                  <m:t>0.15</m:t>
                </m:r>
                <m:r>
                  <m:rPr>
                    <m:sty m:val="p"/>
                  </m:rPr>
                  <m:t xml:space="preserve"> </m:t>
                </m:r>
                <m:r>
                  <m:rPr>
                    <m:sty m:val="i"/>
                  </m:rPr>
                  <m:t>P</m:t>
                </m:r>
                <m:d>
                  <m:dPr>
                    <m:begChr m:val="("/>
                    <m:endChr m:val=")"/>
                  </m:dPr>
                  <m:e>
                    <m:r>
                      <m:rPr>
                        <m:sty m:val="i"/>
                      </m:rPr>
                      <m:t>x</m:t>
                    </m:r>
                  </m:e>
                </m:d>
                <m:r>
                  <m:rPr>
                    <m:sty m:val="p"/>
                  </m:rPr>
                  <m:t xml:space="preserve"> + </m:t>
                </m:r>
                <m:r>
                  <m:rPr>
                    <m:sty m:val="p"/>
                  </m:rPr>
                  <m:t>0.65</m:t>
                </m:r>
                <m:r>
                  <m:rPr>
                    <m:sty m:val="p"/>
                  </m:rPr>
                  <m:t xml:space="preserve"> </m:t>
                </m:r>
                <m:r>
                  <m:rPr>
                    <m:sty m:val="i"/>
                  </m:rPr>
                  <m:t>R</m:t>
                </m:r>
                <m:d>
                  <m:dPr>
                    <m:begChr m:val="("/>
                    <m:endChr m:val=")"/>
                  </m:dPr>
                  <m:e>
                    <m:r>
                      <m:rPr>
                        <m:sty m:val="i"/>
                      </m:rPr>
                      <m:t>x</m:t>
                    </m:r>
                  </m:e>
                </m:d>
              </m:oMath>
            </m:oMathPara>
          </a:p>
        </p:txBody>
      </p:sp>
      <p:sp>
        <p:nvSpPr>
          <p:cNvPr id="15" name="Text 11"/>
          <p:cNvSpPr/>
          <p:nvPr/>
        </p:nvSpPr>
        <p:spPr>
          <a:xfrm>
            <a:off x="420624" y="5321808"/>
            <a:ext cx="5577840" cy="896112"/>
          </a:xfrm>
          <a:prstGeom prst="rect">
            <a:avLst/>
          </a:prstGeom>
          <a:noFill/>
          <a:ln/>
        </p:spPr>
        <p:txBody>
          <a:bodyPr wrap="square" lIns="0" tIns="0" rIns="0" bIns="0" rtlCol="0" anchor="ctr"/>
          <a:lstStyle/>
          <a:p>
            <a:pPr indent="0" marL="0">
              <a:buNone/>
            </a:pPr>
            <a:r>
              <a:rPr lang="en-US" sz="1200" dirty="0">
                <a:solidFill>
                  <a:srgbClr val="5A6A80"/>
                </a:solidFill>
                <a:latin typeface="Calibri" pitchFamily="34" charset="0"/>
                <a:ea typeface="Calibri" pitchFamily="34" charset="-122"/>
                <a:cs typeface="Calibri" pitchFamily="34" charset="-120"/>
              </a:rPr>
              <a:t>Sensed cells: R &lt;- 0.    Unsensed: alpha=0.035 aging, beta=0.08 diffusion.</a:t>
            </a:r>
            <a:endParaRPr lang="en-US" sz="1200" dirty="0"/>
          </a:p>
          <a:p>
            <a:pPr indent="0" marL="0">
              <a:buNone/>
            </a:pPr>
            <a:r>
              <a:rPr lang="en-US" sz="1200" dirty="0">
                <a:solidFill>
                  <a:srgbClr val="5A6A80"/>
                </a:solidFill>
                <a:latin typeface="Calibri" pitchFamily="34" charset="0"/>
                <a:ea typeface="Calibri" pitchFamily="34" charset="-122"/>
                <a:cs typeface="Calibri" pitchFamily="34" charset="-120"/>
              </a:rPr>
              <a:t>Frontier score q nominates task nodes for HGAT.</a:t>
            </a:r>
            <a:endParaRPr lang="en-US" sz="1200" dirty="0"/>
          </a:p>
        </p:txBody>
      </p:sp>
      <p:sp>
        <p:nvSpPr>
          <p:cNvPr id="16" name="Shape 12"/>
          <p:cNvSpPr/>
          <p:nvPr/>
        </p:nvSpPr>
        <p:spPr>
          <a:xfrm>
            <a:off x="6309360" y="1078992"/>
            <a:ext cx="5596128" cy="5285232"/>
          </a:xfrm>
          <a:prstGeom prst="roundRect">
            <a:avLst>
              <a:gd name="adj" fmla="val 1384"/>
            </a:avLst>
          </a:prstGeom>
          <a:solidFill>
            <a:srgbClr val="FFFFFF"/>
          </a:solidFill>
          <a:ln/>
          <a:effectLst>
            <a:outerShdw sx="100000" sy="100000" kx="0" ky="0" algn="bl" rotWithShape="0" blurRad="50800" dist="12700" dir="16200000">
              <a:srgbClr val="1F2A44">
                <a:alpha val="12000"/>
              </a:srgbClr>
            </a:outerShdw>
          </a:effectLst>
        </p:spPr>
      </p:sp>
      <p:sp>
        <p:nvSpPr>
          <p:cNvPr id="17" name="Shape 13"/>
          <p:cNvSpPr/>
          <p:nvPr/>
        </p:nvSpPr>
        <p:spPr>
          <a:xfrm>
            <a:off x="6309360" y="1078992"/>
            <a:ext cx="64008" cy="5285232"/>
          </a:xfrm>
          <a:prstGeom prst="rect">
            <a:avLst/>
          </a:prstGeom>
          <a:solidFill>
            <a:srgbClr val="2F5597"/>
          </a:solidFill>
          <a:ln/>
        </p:spPr>
      </p:sp>
      <p:sp>
        <p:nvSpPr>
          <p:cNvPr id="18" name="Text 14"/>
          <p:cNvSpPr/>
          <p:nvPr/>
        </p:nvSpPr>
        <p:spPr>
          <a:xfrm>
            <a:off x="6473952" y="1115568"/>
            <a:ext cx="5285232" cy="365760"/>
          </a:xfrm>
          <a:prstGeom prst="rect">
            <a:avLst/>
          </a:prstGeom>
          <a:noFill/>
          <a:ln/>
        </p:spPr>
        <p:txBody>
          <a:bodyPr wrap="square" lIns="0" tIns="0" rIns="0" bIns="0" rtlCol="0" anchor="ctr"/>
          <a:lstStyle/>
          <a:p>
            <a:pPr indent="0" marL="0">
              <a:buNone/>
            </a:pPr>
            <a:r>
              <a:rPr lang="en-US" sz="1400" b="1" dirty="0">
                <a:solidFill>
                  <a:srgbClr val="ED7D31"/>
                </a:solidFill>
                <a:latin typeface="Calibri" pitchFamily="34" charset="0"/>
                <a:ea typeface="Calibri" pitchFamily="34" charset="-122"/>
                <a:cs typeface="Calibri" pitchFamily="34" charset="-120"/>
              </a:rPr>
              <a:t>Communication-History-Aware Source Selection</a:t>
            </a:r>
            <a:endParaRPr lang="en-US" sz="1400" dirty="0"/>
          </a:p>
        </p:txBody>
      </p:sp>
      <p:pic>
        <p:nvPicPr>
          <p:cNvPr id="19" name="Image 2" descr="/tmp/ppt-work/assets/source.png">    </p:cNvPr>
          <p:cNvPicPr>
            <a:picLocks noChangeAspect="1"/>
          </p:cNvPicPr>
          <p:nvPr/>
        </p:nvPicPr>
        <p:blipFill>
          <a:blip r:embed="rId3"/>
          <a:stretch>
            <a:fillRect/>
          </a:stretch>
        </p:blipFill>
        <p:spPr>
          <a:xfrm>
            <a:off x="7539621" y="1499616"/>
            <a:ext cx="3117318" cy="1691640"/>
          </a:xfrm>
          <a:prstGeom prst="rect">
            <a:avLst/>
          </a:prstGeom>
        </p:spPr>
      </p:pic>
      <p:sp>
        <p:nvSpPr>
          <p:cNvPr id="20" name="Text 15"/>
          <p:cNvSpPr/>
          <p:nvPr/>
        </p:nvSpPr>
        <p:spPr>
          <a:xfrm>
            <a:off x="6473952" y="3218688"/>
            <a:ext cx="5285232" cy="292608"/>
          </a:xfrm>
          <a:prstGeom prst="rect">
            <a:avLst/>
          </a:prstGeom>
          <a:noFill/>
          <a:ln/>
        </p:spPr>
        <p:txBody>
          <a:bodyPr wrap="square" lIns="0" tIns="0" rIns="0" bIns="0" rtlCol="0" anchor="ctr"/>
          <a:lstStyle/>
          <a:p>
            <a:pPr indent="0" marL="0">
              <a:buNone/>
            </a:pPr>
            <a:r>
              <a:rPr lang="en-US" sz="1200" dirty="0">
                <a:solidFill>
                  <a:srgbClr val="5A6A80"/>
                </a:solidFill>
                <a:latin typeface="Calibri" pitchFamily="34" charset="0"/>
                <a:ea typeface="Calibri" pitchFamily="34" charset="-122"/>
                <a:cs typeface="Calibri" pitchFamily="34" charset="-120"/>
              </a:rPr>
              <a:t>βd = 0.28     ·     δ = 0.82 history decay     ·     gj,t = outage age</a:t>
            </a:r>
            <a:endParaRPr lang="en-US" sz="1200" dirty="0"/>
          </a:p>
        </p:txBody>
      </p:sp>
      <p:sp>
        <p:nvSpPr>
          <p:cNvPr id="21" name="Text 16"/>
          <p:cNvSpPr/>
          <p:nvPr/>
        </p:nvSpPr>
        <p:spPr>
          <a:xfrm>
            <a:off x="6382512" y="3511296"/>
            <a:ext cx="5440680" cy="566928"/>
          </a:xfrm>
          <a:prstGeom prst="rect">
            <a:avLst/>
          </a:prstGeom>
          <a:noFill/>
          <a:ln/>
        </p:spPr>
        <p:txBody>
          <a:bodyPr wrap="square" lIns="0" tIns="0" rIns="0" bIns="0" rtlCol="0" anchor="ctr"/>
          <a:lstStyle/>
          <a:p>
            <a:pPr algn="ctr" indent="0" marL="0">
              <a:buNone/>
            </a:pPr>
            <m:oMathPara xmlns:m="http://schemas.openxmlformats.org/officeDocument/2006/math">
              <m:oMathParaPr>
                <m:jc m:val="center"/>
              </m:oMathParaPr>
              <m:oMath>
                <m:sSub>
                  <m:e>
                    <m:r>
                      <m:rPr>
                        <m:sty m:val="i"/>
                      </m:rPr>
                      <m:t>w</m:t>
                    </m:r>
                  </m:e>
                  <m:sub>
                    <m:r>
                      <m:rPr>
                        <m:sty m:val="i"/>
                      </m:rPr>
                      <m:t>i</m:t>
                    </m:r>
                    <m:r>
                      <m:rPr>
                        <m:sty m:val="p"/>
                      </m:rPr>
                      <m:t>,</m:t>
                    </m:r>
                    <m:r>
                      <m:rPr>
                        <m:sty m:val="i"/>
                      </m:rPr>
                      <m:t>j</m:t>
                    </m:r>
                    <m:r>
                      <m:rPr>
                        <m:sty m:val="p"/>
                      </m:rPr>
                      <m:t>,</m:t>
                    </m:r>
                    <m:r>
                      <m:rPr>
                        <m:sty m:val="i"/>
                      </m:rPr>
                      <m:t>t</m:t>
                    </m:r>
                  </m:sub>
                </m:sSub>
                <m:r>
                  <m:rPr>
                    <m:sty m:val="p"/>
                  </m:rPr>
                  <m:t xml:space="preserve"> = </m:t>
                </m:r>
                <m:f>
                  <m:fPr/>
                  <m:num>
                    <m:sSup>
                      <m:e>
                        <m:r>
                          <m:rPr>
                            <m:sty m:val="i"/>
                          </m:rPr>
                          <m:t>e</m:t>
                        </m:r>
                      </m:e>
                      <m:sup>
                        <m:r>
                          <m:rPr>
                            <m:sty m:val="p"/>
                          </m:rPr>
                          <m:t>−</m:t>
                        </m:r>
                        <m:sSub>
                          <m:e>
                            <m:r>
                              <m:rPr>
                                <m:sty m:val="i"/>
                              </m:rPr>
                              <m:t>β</m:t>
                            </m:r>
                          </m:e>
                          <m:sub>
                            <m:r>
                              <m:rPr>
                                <m:sty m:val="i"/>
                              </m:rPr>
                              <m:t>d</m:t>
                            </m:r>
                          </m:sub>
                        </m:sSub>
                        <m:r>
                          <m:rPr>
                            <m:sty m:val="p"/>
                          </m:rPr>
                          <m:t>∥</m:t>
                        </m:r>
                        <m:sSub>
                          <m:e>
                            <m:r>
                              <m:rPr>
                                <m:sty m:val="i"/>
                              </m:rPr>
                              <m:t>p</m:t>
                            </m:r>
                          </m:e>
                          <m:sub>
                            <m:r>
                              <m:rPr>
                                <m:sty m:val="i"/>
                              </m:rPr>
                              <m:t>i</m:t>
                            </m:r>
                          </m:sub>
                        </m:sSub>
                        <m:r>
                          <m:rPr>
                            <m:sty m:val="p"/>
                          </m:rPr>
                          <m:t xml:space="preserve"> − </m:t>
                        </m:r>
                        <m:sSub>
                          <m:e>
                            <m:r>
                              <m:rPr>
                                <m:sty m:val="i"/>
                              </m:rPr>
                              <m:t>p</m:t>
                            </m:r>
                          </m:e>
                          <m:sub>
                            <m:r>
                              <m:rPr>
                                <m:sty m:val="i"/>
                              </m:rPr>
                              <m:t>j</m:t>
                            </m:r>
                          </m:sub>
                        </m:sSub>
                        <m:r>
                          <m:rPr>
                            <m:sty m:val="p"/>
                          </m:rPr>
                          <m:t>∥</m:t>
                        </m:r>
                      </m:sup>
                    </m:sSup>
                  </m:num>
                  <m:den>
                    <m:r>
                      <m:rPr>
                        <m:sty m:val="p"/>
                      </m:rPr>
                      <m:t>1</m:t>
                    </m:r>
                    <m:r>
                      <m:rPr>
                        <m:sty m:val="p"/>
                      </m:rPr>
                      <m:t xml:space="preserve"> + </m:t>
                    </m:r>
                    <m:sSub>
                      <m:e>
                        <m:r>
                          <m:rPr>
                            <m:sty m:val="i"/>
                          </m:rPr>
                          <m:t>g</m:t>
                        </m:r>
                      </m:e>
                      <m:sub>
                        <m:r>
                          <m:rPr>
                            <m:sty m:val="i"/>
                          </m:rPr>
                          <m:t>j</m:t>
                        </m:r>
                        <m:r>
                          <m:rPr>
                            <m:sty m:val="p"/>
                          </m:rPr>
                          <m:t>,</m:t>
                        </m:r>
                        <m:r>
                          <m:rPr>
                            <m:sty m:val="i"/>
                          </m:rPr>
                          <m:t>t</m:t>
                        </m:r>
                      </m:sub>
                    </m:sSub>
                  </m:den>
                </m:f>
              </m:oMath>
            </m:oMathPara>
          </a:p>
        </p:txBody>
      </p:sp>
      <p:sp>
        <p:nvSpPr>
          <p:cNvPr id="22" name="Text 17"/>
          <p:cNvSpPr/>
          <p:nvPr/>
        </p:nvSpPr>
        <p:spPr>
          <a:xfrm>
            <a:off x="6382512" y="4078224"/>
            <a:ext cx="5440680" cy="530352"/>
          </a:xfrm>
          <a:prstGeom prst="rect">
            <a:avLst/>
          </a:prstGeom>
          <a:noFill/>
          <a:ln/>
        </p:spPr>
        <p:txBody>
          <a:bodyPr wrap="square" lIns="0" tIns="0" rIns="0" bIns="0" rtlCol="0" anchor="ctr"/>
          <a:lstStyle/>
          <a:p>
            <a:pPr algn="ctr" indent="0" marL="0">
              <a:buNone/>
            </a:pPr>
            <m:oMathPara xmlns:m="http://schemas.openxmlformats.org/officeDocument/2006/math">
              <m:oMathParaPr>
                <m:jc m:val="center"/>
              </m:oMathParaPr>
              <m:oMath>
                <m:sSup>
                  <m:e>
                    <m:r>
                      <m:rPr>
                        <m:sty m:val="i"/>
                      </m:rPr>
                      <m:t>j</m:t>
                    </m:r>
                  </m:e>
                  <m:sup>
                    <m:r>
                      <m:rPr>
                        <m:sty m:val="p"/>
                      </m:rPr>
                      <m:t>⋆</m:t>
                    </m:r>
                  </m:sup>
                </m:sSup>
                <m:r>
                  <m:rPr>
                    <m:sty m:val="p"/>
                  </m:rPr>
                  <m:t xml:space="preserve"> = </m:t>
                </m:r>
                <m:r>
                  <m:rPr>
                    <m:sty m:val="p"/>
                  </m:rPr>
                  <m:t>arg</m:t>
                </m:r>
                <m:r>
                  <m:rPr>
                    <m:sty m:val="p"/>
                  </m:rPr>
                  <m:t xml:space="preserve"> max</m:t>
                </m:r>
                <m:sSub>
                  <m:e>
                    <m:r>
                      <m:rPr>
                        <m:sty m:val="i"/>
                      </m:rPr>
                      <m:t/>
                    </m:r>
                  </m:e>
                  <m:sub>
                    <m:r>
                      <m:rPr>
                        <m:sty m:val="i"/>
                      </m:rPr>
                      <m:t>j</m:t>
                    </m:r>
                  </m:sub>
                </m:sSub>
                <m:r>
                  <m:rPr>
                    <m:sty m:val="p"/>
                  </m:rPr>
                  <m:t xml:space="preserve"> </m:t>
                </m:r>
                <m:sSub>
                  <m:e>
                    <m:r>
                      <m:rPr>
                        <m:sty m:val="i"/>
                      </m:rPr>
                      <m:t>w</m:t>
                    </m:r>
                  </m:e>
                  <m:sub>
                    <m:r>
                      <m:rPr>
                        <m:sty m:val="i"/>
                      </m:rPr>
                      <m:t>i</m:t>
                    </m:r>
                    <m:r>
                      <m:rPr>
                        <m:sty m:val="p"/>
                      </m:rPr>
                      <m:t>,</m:t>
                    </m:r>
                    <m:r>
                      <m:rPr>
                        <m:sty m:val="i"/>
                      </m:rPr>
                      <m:t>j</m:t>
                    </m:r>
                    <m:r>
                      <m:rPr>
                        <m:sty m:val="p"/>
                      </m:rPr>
                      <m:t>,</m:t>
                    </m:r>
                    <m:r>
                      <m:rPr>
                        <m:sty m:val="i"/>
                      </m:rPr>
                      <m:t>t</m:t>
                    </m:r>
                  </m:sub>
                </m:sSub>
                <m:r>
                  <m:rPr>
                    <m:sty m:val="p"/>
                  </m:rPr>
                  <m:t xml:space="preserve"> |</m:t>
                </m:r>
                <m:sSub>
                  <m:e>
                    <m:r>
                      <m:rPr>
                        <m:sty m:val="i"/>
                      </m:rPr>
                      <m:t>L</m:t>
                    </m:r>
                  </m:e>
                  <m:sub>
                    <m:r>
                      <m:rPr>
                        <m:sty m:val="i"/>
                      </m:rPr>
                      <m:t>j</m:t>
                    </m:r>
                    <m:r>
                      <m:rPr>
                        <m:sty m:val="p"/>
                      </m:rPr>
                      <m:t>,</m:t>
                    </m:r>
                    <m:r>
                      <m:rPr>
                        <m:sty m:val="i"/>
                      </m:rPr>
                      <m:t>t</m:t>
                    </m:r>
                  </m:sub>
                </m:sSub>
                <m:r>
                  <m:rPr>
                    <m:sty m:val="p"/>
                  </m:rPr>
                  <m:t>(x)|</m:t>
                </m:r>
              </m:oMath>
            </m:oMathPara>
          </a:p>
        </p:txBody>
      </p:sp>
      <p:sp>
        <p:nvSpPr>
          <p:cNvPr id="23" name="Shape 18"/>
          <p:cNvSpPr/>
          <p:nvPr/>
        </p:nvSpPr>
        <p:spPr>
          <a:xfrm>
            <a:off x="6473952" y="4736592"/>
            <a:ext cx="5266944" cy="1444752"/>
          </a:xfrm>
          <a:prstGeom prst="roundRect">
            <a:avLst>
              <a:gd name="adj" fmla="val 5063"/>
            </a:avLst>
          </a:prstGeom>
          <a:solidFill>
            <a:srgbClr val="FDECEA"/>
          </a:solidFill>
          <a:ln/>
        </p:spPr>
      </p:sp>
      <p:sp>
        <p:nvSpPr>
          <p:cNvPr id="24" name="Text 19"/>
          <p:cNvSpPr/>
          <p:nvPr/>
        </p:nvSpPr>
        <p:spPr>
          <a:xfrm>
            <a:off x="6601968" y="4809744"/>
            <a:ext cx="5010912" cy="329184"/>
          </a:xfrm>
          <a:prstGeom prst="rect">
            <a:avLst/>
          </a:prstGeom>
          <a:noFill/>
          <a:ln/>
        </p:spPr>
        <p:txBody>
          <a:bodyPr wrap="square" lIns="0" tIns="0" rIns="0" bIns="0" rtlCol="0" anchor="ctr"/>
          <a:lstStyle/>
          <a:p>
            <a:pPr indent="0" marL="0">
              <a:buNone/>
            </a:pPr>
            <a:r>
              <a:rPr lang="en-US" sz="1500" b="1" dirty="0">
                <a:solidFill>
                  <a:srgbClr val="C0392B"/>
                </a:solidFill>
                <a:latin typeface="Calibri" pitchFamily="34" charset="0"/>
                <a:ea typeface="Calibri" pitchFamily="34" charset="-122"/>
                <a:cs typeface="Calibri" pitchFamily="34" charset="-120"/>
              </a:rPr>
              <a:t>One reachable source per cell</a:t>
            </a:r>
            <a:endParaRPr lang="en-US" sz="1500" dirty="0"/>
          </a:p>
        </p:txBody>
      </p:sp>
      <p:sp>
        <p:nvSpPr>
          <p:cNvPr id="25" name="Text 20"/>
          <p:cNvSpPr/>
          <p:nvPr/>
        </p:nvSpPr>
        <p:spPr>
          <a:xfrm>
            <a:off x="6601968" y="5138928"/>
            <a:ext cx="5010912" cy="896112"/>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Do not sum correlated log-odds from j and k.</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Winner takes the cell: fuse L from j⋆ only.</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Distance decay + communication history gj,t.</a:t>
            </a:r>
            <a:endParaRPr lang="en-US" sz="1300" dirty="0"/>
          </a:p>
        </p:txBody>
      </p:sp>
      <p:sp>
        <p:nvSpPr>
          <p:cNvPr id="26" name="Shape 21"/>
          <p:cNvSpPr/>
          <p:nvPr/>
        </p:nvSpPr>
        <p:spPr>
          <a:xfrm>
            <a:off x="0" y="6784848"/>
            <a:ext cx="12191695" cy="73152"/>
          </a:xfrm>
          <a:prstGeom prst="rect">
            <a:avLst/>
          </a:prstGeom>
          <a:solidFill>
            <a:srgbClr val="2F5597"/>
          </a:solidFill>
          <a:ln/>
        </p:spPr>
      </p:sp>
      <p:sp>
        <p:nvSpPr>
          <p:cNvPr id="27" name="Text 22"/>
          <p:cNvSpPr/>
          <p:nvPr/>
        </p:nvSpPr>
        <p:spPr>
          <a:xfrm>
            <a:off x="347472" y="6492240"/>
            <a:ext cx="10881360" cy="256032"/>
          </a:xfrm>
          <a:prstGeom prst="rect">
            <a:avLst/>
          </a:prstGeom>
          <a:noFill/>
          <a:ln/>
        </p:spPr>
        <p:txBody>
          <a:bodyPr wrap="square" lIns="0" tIns="0" rIns="0" bIns="0" rtlCol="0" anchor="ctr"/>
          <a:lstStyle/>
          <a:p>
            <a:pPr indent="0" marL="0">
              <a:buNone/>
            </a:pPr>
            <a:r>
              <a:rPr lang="en-US" sz="1100" dirty="0">
                <a:solidFill>
                  <a:srgbClr val="5A6A80"/>
                </a:solidFill>
                <a:latin typeface="Calibri" pitchFamily="34" charset="0"/>
                <a:ea typeface="Calibri" pitchFamily="34" charset="-122"/>
                <a:cs typeface="Calibri" pitchFamily="34" charset="-120"/>
              </a:rPr>
              <a:t>CAC 2026  ·  IC-HGAT-MAPPO  ·  Dec-POMDP / CTDE / HGAT / MAPPO</a:t>
            </a:r>
            <a:endParaRPr lang="en-US" sz="1100" dirty="0"/>
          </a:p>
        </p:txBody>
      </p:sp>
      <p:sp>
        <p:nvSpPr>
          <p:cNvPr id="28" name="Text 23"/>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Calibri" pitchFamily="34" charset="0"/>
                <a:ea typeface="Calibri" pitchFamily="34" charset="-122"/>
                <a:cs typeface="Calibri" pitchFamily="34" charset="-120"/>
              </a:rPr>
              <a:t>8</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37578" y="54864"/>
            <a:ext cx="715196" cy="493776"/>
          </a:xfrm>
          <a:prstGeom prst="rect">
            <a:avLst/>
          </a:prstGeom>
        </p:spPr>
      </p:pic>
      <p:sp>
        <p:nvSpPr>
          <p:cNvPr id="3" name="Text 0"/>
          <p:cNvSpPr/>
          <p:nvPr/>
        </p:nvSpPr>
        <p:spPr>
          <a:xfrm>
            <a:off x="347472" y="73152"/>
            <a:ext cx="10698480" cy="438912"/>
          </a:xfrm>
          <a:prstGeom prst="rect">
            <a:avLst/>
          </a:prstGeom>
          <a:noFill/>
          <a:ln/>
        </p:spPr>
        <p:txBody>
          <a:bodyPr wrap="square" lIns="0" tIns="0" rIns="0" bIns="0" rtlCol="0" anchor="ctr"/>
          <a:lstStyle/>
          <a:p>
            <a:pPr indent="0" marL="0">
              <a:buNone/>
            </a:pPr>
            <a:r>
              <a:rPr lang="en-US" sz="2600" b="1" dirty="0">
                <a:solidFill>
                  <a:srgbClr val="2F5597"/>
                </a:solidFill>
                <a:latin typeface="Calibri" pitchFamily="34" charset="0"/>
                <a:ea typeface="Calibri" pitchFamily="34" charset="-122"/>
                <a:cs typeface="Calibri" pitchFamily="34" charset="-120"/>
              </a:rPr>
              <a:t>2. Proposed IC-HGAT-MAPPO</a:t>
            </a:r>
            <a:endParaRPr lang="en-US" sz="2600" dirty="0"/>
          </a:p>
        </p:txBody>
      </p:sp>
      <p:sp>
        <p:nvSpPr>
          <p:cNvPr id="4" name="Shape 1"/>
          <p:cNvSpPr/>
          <p:nvPr/>
        </p:nvSpPr>
        <p:spPr>
          <a:xfrm>
            <a:off x="0" y="566928"/>
            <a:ext cx="12191695" cy="475488"/>
          </a:xfrm>
          <a:prstGeom prst="rect">
            <a:avLst/>
          </a:prstGeom>
          <a:solidFill>
            <a:srgbClr val="2F5597"/>
          </a:solidFill>
          <a:ln/>
        </p:spPr>
      </p:sp>
      <p:sp>
        <p:nvSpPr>
          <p:cNvPr id="5" name="Text 2"/>
          <p:cNvSpPr/>
          <p:nvPr/>
        </p:nvSpPr>
        <p:spPr>
          <a:xfrm>
            <a:off x="347472" y="585216"/>
            <a:ext cx="11430000" cy="43891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2.4 Heterogeneous Graph Policy and MAPPO Optimization</a:t>
            </a:r>
            <a:endParaRPr lang="en-US" sz="2000" dirty="0"/>
          </a:p>
        </p:txBody>
      </p:sp>
      <p:pic>
        <p:nvPicPr>
          <p:cNvPr id="6" name="Image 1" descr="/tmp/ppt-work/assets/hgat.png">    </p:cNvPr>
          <p:cNvPicPr>
            <a:picLocks noChangeAspect="1"/>
          </p:cNvPicPr>
          <p:nvPr/>
        </p:nvPicPr>
        <p:blipFill>
          <a:blip r:embed="rId2"/>
          <a:stretch>
            <a:fillRect/>
          </a:stretch>
        </p:blipFill>
        <p:spPr>
          <a:xfrm>
            <a:off x="1392823" y="1078992"/>
            <a:ext cx="3395698" cy="2148840"/>
          </a:xfrm>
          <a:prstGeom prst="rect">
            <a:avLst/>
          </a:prstGeom>
        </p:spPr>
      </p:pic>
      <p:sp>
        <p:nvSpPr>
          <p:cNvPr id="7" name="Text 3"/>
          <p:cNvSpPr/>
          <p:nvPr/>
        </p:nvSpPr>
        <p:spPr>
          <a:xfrm>
            <a:off x="201168" y="3218688"/>
            <a:ext cx="5852160" cy="292608"/>
          </a:xfrm>
          <a:prstGeom prst="rect">
            <a:avLst/>
          </a:prstGeom>
          <a:noFill/>
          <a:ln/>
        </p:spPr>
        <p:txBody>
          <a:bodyPr wrap="square" lIns="0" tIns="0" rIns="0" bIns="0" rtlCol="0" anchor="ctr"/>
          <a:lstStyle/>
          <a:p>
            <a:pPr indent="0" marL="0">
              <a:buNone/>
            </a:pPr>
            <a:r>
              <a:rPr lang="en-US" sz="1100" b="1" dirty="0">
                <a:solidFill>
                  <a:srgbClr val="2E8B57"/>
                </a:solidFill>
                <a:latin typeface="Calibri" pitchFamily="34" charset="0"/>
                <a:ea typeface="Calibri" pitchFamily="34" charset="-122"/>
                <a:cs typeface="Calibri" pitchFamily="34" charset="-120"/>
              </a:rPr>
              <a:t>Relation-specific attention  ·  k_peer=1.5, k_task=k_obs=0.7  ·  2 layers, 4 heads  ·  6 task / 4 obstacle slots</a:t>
            </a:r>
            <a:endParaRPr lang="en-US" sz="1100" dirty="0"/>
          </a:p>
        </p:txBody>
      </p:sp>
      <p:sp>
        <p:nvSpPr>
          <p:cNvPr id="8" name="Text 4"/>
          <p:cNvSpPr/>
          <p:nvPr/>
        </p:nvSpPr>
        <p:spPr>
          <a:xfrm>
            <a:off x="164592" y="3493008"/>
            <a:ext cx="5897880" cy="640080"/>
          </a:xfrm>
          <a:prstGeom prst="rect">
            <a:avLst/>
          </a:prstGeom>
          <a:noFill/>
          <a:ln/>
        </p:spPr>
        <p:txBody>
          <a:bodyPr wrap="square" lIns="0" tIns="0" rIns="0" bIns="0" rtlCol="0" anchor="ctr"/>
          <a:lstStyle/>
          <a:p>
            <a:pPr algn="ctr" indent="0" marL="0">
              <a:buNone/>
            </a:pPr>
            <m:oMathPara xmlns:m="http://schemas.openxmlformats.org/officeDocument/2006/math">
              <m:oMathParaPr>
                <m:jc m:val="center"/>
              </m:oMathParaPr>
              <m:oMath>
                <m:sSub>
                  <m:e>
                    <m:r>
                      <m:rPr>
                        <m:sty m:val="i"/>
                      </m:rPr>
                      <m:t>α</m:t>
                    </m:r>
                  </m:e>
                  <m:sub>
                    <m:r>
                      <m:rPr>
                        <m:sty m:val="i"/>
                      </m:rPr>
                      <m:t>r</m:t>
                    </m:r>
                    <m:r>
                      <m:rPr>
                        <m:sty m:val="p"/>
                      </m:rPr>
                      <m:t>,</m:t>
                    </m:r>
                    <m:r>
                      <m:rPr>
                        <m:sty m:val="i"/>
                      </m:rPr>
                      <m:t>i</m:t>
                    </m:r>
                    <m:r>
                      <m:rPr>
                        <m:sty m:val="p"/>
                      </m:rPr>
                      <m:t>,</m:t>
                    </m:r>
                    <m:r>
                      <m:rPr>
                        <m:sty m:val="i"/>
                      </m:rPr>
                      <m:t>k</m:t>
                    </m:r>
                  </m:sub>
                </m:sSub>
                <m:r>
                  <m:rPr>
                    <m:sty m:val="p"/>
                  </m:rPr>
                  <m:t xml:space="preserve"> = </m:t>
                </m:r>
                <m:func>
                  <m:funcPr/>
                  <m:fName>
                    <m:e>
                      <m:r>
                        <m:rPr>
                          <m:sty m:val="p"/>
                        </m:rPr>
                        <m:t>softmax</m:t>
                      </m:r>
                    </m:e>
                  </m:fName>
                  <m:e>
                    <m:d>
                      <m:dPr>
                        <m:begChr m:val="("/>
                        <m:endChr m:val=")"/>
                      </m:dPr>
                      <m:e>
                        <m:f>
                          <m:fPr/>
                          <m:num>
                            <m:sSub>
                              <m:e>
                                <m:r>
                                  <m:rPr>
                                    <m:sty m:val="i"/>
                                  </m:rPr>
                                  <m:t>Q</m:t>
                                </m:r>
                              </m:e>
                              <m:sub>
                                <m:r>
                                  <m:rPr>
                                    <m:sty m:val="i"/>
                                  </m:rPr>
                                  <m:t>i</m:t>
                                </m:r>
                              </m:sub>
                            </m:sSub>
                            <m:sSup>
                              <m:e>
                                <m:sSub>
                                  <m:e>
                                    <m:r>
                                      <m:rPr>
                                        <m:sty m:val="i"/>
                                      </m:rPr>
                                      <m:t>K</m:t>
                                    </m:r>
                                  </m:e>
                                  <m:sub>
                                    <m:r>
                                      <m:rPr>
                                        <m:sty m:val="i"/>
                                      </m:rPr>
                                      <m:t>k</m:t>
                                    </m:r>
                                  </m:sub>
                                </m:sSub>
                              </m:e>
                              <m:sup>
                                <m:r>
                                  <m:rPr>
                                    <m:sty m:val="p"/>
                                  </m:rPr>
                                  <m:t>⊤</m:t>
                                </m:r>
                              </m:sup>
                            </m:sSup>
                          </m:num>
                          <m:den>
                            <m:r>
                              <m:rPr>
                                <m:sty m:val="p"/>
                              </m:rPr>
                              <m:t>√</m:t>
                            </m:r>
                            <m:r>
                              <m:rPr>
                                <m:sty m:val="i"/>
                              </m:rPr>
                              <m:t>d</m:t>
                            </m:r>
                          </m:den>
                        </m:f>
                        <m:r>
                          <m:rPr>
                            <m:sty m:val="p"/>
                          </m:rPr>
                          <m:t xml:space="preserve"> + </m:t>
                        </m:r>
                        <m:func>
                          <m:funcPr/>
                          <m:fName>
                            <m:e>
                              <m:r>
                                <m:rPr>
                                  <m:sty m:val="p"/>
                                </m:rPr>
                                <m:t>log</m:t>
                              </m:r>
                            </m:e>
                          </m:fName>
                          <m:e>
                            <m:sSub>
                              <m:e>
                                <m:r>
                                  <m:rPr>
                                    <m:sty m:val="i"/>
                                  </m:rPr>
                                  <m:t>χ</m:t>
                                </m:r>
                              </m:e>
                              <m:sub>
                                <m:r>
                                  <m:rPr>
                                    <m:sty m:val="i"/>
                                  </m:rPr>
                                  <m:t>r</m:t>
                                </m:r>
                                <m:r>
                                  <m:rPr>
                                    <m:sty m:val="p"/>
                                  </m:rPr>
                                  <m:t>,</m:t>
                                </m:r>
                                <m:r>
                                  <m:rPr>
                                    <m:sty m:val="i"/>
                                  </m:rPr>
                                  <m:t>i</m:t>
                                </m:r>
                                <m:r>
                                  <m:rPr>
                                    <m:sty m:val="p"/>
                                  </m:rPr>
                                  <m:t>,</m:t>
                                </m:r>
                                <m:r>
                                  <m:rPr>
                                    <m:sty m:val="i"/>
                                  </m:rPr>
                                  <m:t>k</m:t>
                                </m:r>
                              </m:sub>
                            </m:sSub>
                          </m:e>
                        </m:func>
                        <m:r>
                          <m:rPr>
                            <m:sty m:val="p"/>
                          </m:rPr>
                          <m:t xml:space="preserve"> − </m:t>
                        </m:r>
                        <m:sSub>
                          <m:e>
                            <m:r>
                              <m:rPr>
                                <m:sty m:val="i"/>
                              </m:rPr>
                              <m:t>κ</m:t>
                            </m:r>
                          </m:e>
                          <m:sub>
                            <m:r>
                              <m:rPr>
                                <m:sty m:val="i"/>
                              </m:rPr>
                              <m:t>r</m:t>
                            </m:r>
                          </m:sub>
                        </m:sSub>
                        <m:sSub>
                          <m:e>
                            <m:r>
                              <m:rPr>
                                <m:sty m:val="i"/>
                              </m:rPr>
                              <m:t>d</m:t>
                            </m:r>
                          </m:e>
                          <m:sub>
                            <m:r>
                              <m:rPr>
                                <m:sty m:val="i"/>
                              </m:rPr>
                              <m:t>i</m:t>
                            </m:r>
                            <m:r>
                              <m:rPr>
                                <m:sty m:val="i"/>
                              </m:rPr>
                              <m:t>k</m:t>
                            </m:r>
                          </m:sub>
                        </m:sSub>
                      </m:e>
                    </m:d>
                  </m:e>
                </m:func>
              </m:oMath>
            </m:oMathPara>
          </a:p>
        </p:txBody>
      </p:sp>
      <p:pic>
        <p:nvPicPr>
          <p:cNvPr id="9" name="Image 2" descr="/tmp/ppt-work/assets/actor_critic.png">    </p:cNvPr>
          <p:cNvPicPr>
            <a:picLocks noChangeAspect="1"/>
          </p:cNvPicPr>
          <p:nvPr/>
        </p:nvPicPr>
        <p:blipFill>
          <a:blip r:embed="rId3"/>
          <a:stretch>
            <a:fillRect/>
          </a:stretch>
        </p:blipFill>
        <p:spPr>
          <a:xfrm>
            <a:off x="7379567" y="1078992"/>
            <a:ext cx="3300266" cy="2148840"/>
          </a:xfrm>
          <a:prstGeom prst="rect">
            <a:avLst/>
          </a:prstGeom>
        </p:spPr>
      </p:pic>
      <p:sp>
        <p:nvSpPr>
          <p:cNvPr id="10" name="Text 5"/>
          <p:cNvSpPr/>
          <p:nvPr/>
        </p:nvSpPr>
        <p:spPr>
          <a:xfrm>
            <a:off x="6217920" y="3218688"/>
            <a:ext cx="5623560" cy="475488"/>
          </a:xfrm>
          <a:prstGeom prst="rect">
            <a:avLst/>
          </a:prstGeom>
          <a:noFill/>
          <a:ln/>
        </p:spPr>
        <p:txBody>
          <a:bodyPr wrap="square" lIns="0" tIns="0" rIns="0" bIns="0" rtlCol="0" anchor="ctr"/>
          <a:lstStyle/>
          <a:p>
            <a:pPr algn="ctr" indent="0" marL="0">
              <a:buNone/>
            </a:pPr>
            <m:oMathPara xmlns:m="http://schemas.openxmlformats.org/officeDocument/2006/math">
              <m:oMathParaPr>
                <m:jc m:val="center"/>
              </m:oMathParaPr>
              <m:oMath>
                <m:sSub>
                  <m:e>
                    <m:r>
                      <m:rPr>
                        <m:sty m:val="i"/>
                      </m:rPr>
                      <m:t>r</m:t>
                    </m:r>
                  </m:e>
                  <m:sub>
                    <m:r>
                      <m:rPr>
                        <m:sty m:val="i"/>
                      </m:rPr>
                      <m:t>t</m:t>
                    </m:r>
                  </m:sub>
                </m:sSub>
                <m:r>
                  <m:rPr>
                    <m:sty m:val="p"/>
                  </m:rPr>
                  <m:t xml:space="preserve"> = </m:t>
                </m:r>
                <m:sSub>
                  <m:e>
                    <m:r>
                      <m:rPr>
                        <m:sty m:val="i"/>
                      </m:rPr>
                      <m:t>λ</m:t>
                    </m:r>
                  </m:e>
                  <m:sub>
                    <m:r>
                      <m:rPr>
                        <m:sty m:val="i"/>
                      </m:rPr>
                      <m:t>D</m:t>
                    </m:r>
                  </m:sub>
                </m:sSub>
                <m:sSub>
                  <m:e>
                    <m:r>
                      <m:rPr>
                        <m:sty m:val="i"/>
                      </m:rPr>
                      <m:t>ΔD</m:t>
                    </m:r>
                  </m:e>
                  <m:sub>
                    <m:r>
                      <m:rPr>
                        <m:sty m:val="i"/>
                      </m:rPr>
                      <m:t>t</m:t>
                    </m:r>
                  </m:sub>
                </m:sSub>
                <m:r>
                  <m:rPr>
                    <m:sty m:val="p"/>
                  </m:rPr>
                  <m:t xml:space="preserve"> + </m:t>
                </m:r>
                <m:sSub>
                  <m:e>
                    <m:r>
                      <m:rPr>
                        <m:sty m:val="i"/>
                      </m:rPr>
                      <m:t>λ</m:t>
                    </m:r>
                  </m:e>
                  <m:sub>
                    <m:r>
                      <m:rPr>
                        <m:sty m:val="i"/>
                      </m:rPr>
                      <m:t>C</m:t>
                    </m:r>
                  </m:sub>
                </m:sSub>
                <m:sSub>
                  <m:e>
                    <m:r>
                      <m:rPr>
                        <m:sty m:val="i"/>
                      </m:rPr>
                      <m:t>ΔC</m:t>
                    </m:r>
                  </m:e>
                  <m:sub>
                    <m:r>
                      <m:rPr>
                        <m:sty m:val="i"/>
                      </m:rPr>
                      <m:t>t</m:t>
                    </m:r>
                  </m:sub>
                </m:sSub>
                <m:r>
                  <m:rPr>
                    <m:sty m:val="p"/>
                  </m:rPr>
                  <m:t xml:space="preserve"> − </m:t>
                </m:r>
                <m:sSub>
                  <m:e>
                    <m:r>
                      <m:rPr>
                        <m:sty m:val="i"/>
                      </m:rPr>
                      <m:t>λ</m:t>
                    </m:r>
                  </m:e>
                  <m:sub>
                    <m:r>
                      <m:rPr>
                        <m:sty m:val="p"/>
                      </m:rPr>
                      <m:t>safe</m:t>
                    </m:r>
                  </m:sub>
                </m:sSub>
                <m:sSub>
                  <m:e>
                    <m:r>
                      <m:rPr>
                        <m:sty m:val="i"/>
                      </m:rPr>
                      <m:t>c</m:t>
                    </m:r>
                  </m:e>
                  <m:sub>
                    <m:r>
                      <m:rPr>
                        <m:sty m:val="i"/>
                      </m:rPr>
                      <m:t>t</m:t>
                    </m:r>
                  </m:sub>
                </m:sSub>
              </m:oMath>
            </m:oMathPara>
          </a:p>
        </p:txBody>
      </p:sp>
      <p:sp>
        <p:nvSpPr>
          <p:cNvPr id="11" name="Text 6"/>
          <p:cNvSpPr/>
          <p:nvPr/>
        </p:nvSpPr>
        <p:spPr>
          <a:xfrm>
            <a:off x="6263640" y="3675888"/>
            <a:ext cx="5577840" cy="237744"/>
          </a:xfrm>
          <a:prstGeom prst="rect">
            <a:avLst/>
          </a:prstGeom>
          <a:noFill/>
          <a:ln/>
        </p:spPr>
        <p:txBody>
          <a:bodyPr wrap="square" lIns="0" tIns="0" rIns="0" bIns="0" rtlCol="0" anchor="ctr"/>
          <a:lstStyle/>
          <a:p>
            <a:pPr indent="0" marL="0">
              <a:buNone/>
            </a:pPr>
            <a:r>
              <a:rPr lang="en-US" sz="1200" dirty="0">
                <a:solidFill>
                  <a:srgbClr val="5A6A80"/>
                </a:solidFill>
                <a:latin typeface="Calibri" pitchFamily="34" charset="0"/>
                <a:ea typeface="Calibri" pitchFamily="34" charset="-122"/>
                <a:cs typeface="Calibri" pitchFamily="34" charset="-120"/>
              </a:rPr>
              <a:t>(lambda_D, lambda_C, lambda_safe) = (1.0, 0.30, 0.10)</a:t>
            </a:r>
            <a:endParaRPr lang="en-US" sz="1200" dirty="0"/>
          </a:p>
        </p:txBody>
      </p:sp>
      <p:sp>
        <p:nvSpPr>
          <p:cNvPr id="12" name="Shape 7"/>
          <p:cNvSpPr/>
          <p:nvPr/>
        </p:nvSpPr>
        <p:spPr>
          <a:xfrm>
            <a:off x="164592" y="4187952"/>
            <a:ext cx="11887200" cy="2176272"/>
          </a:xfrm>
          <a:prstGeom prst="roundRect">
            <a:avLst>
              <a:gd name="adj" fmla="val 3361"/>
            </a:avLst>
          </a:prstGeom>
          <a:solidFill>
            <a:srgbClr val="FFFFFF"/>
          </a:solidFill>
          <a:ln/>
          <a:effectLst>
            <a:outerShdw sx="100000" sy="100000" kx="0" ky="0" algn="bl" rotWithShape="0" blurRad="50800" dist="12700" dir="16200000">
              <a:srgbClr val="1F2A44">
                <a:alpha val="12000"/>
              </a:srgbClr>
            </a:outerShdw>
          </a:effectLst>
        </p:spPr>
      </p:sp>
      <p:sp>
        <p:nvSpPr>
          <p:cNvPr id="13" name="Text 8"/>
          <p:cNvSpPr/>
          <p:nvPr/>
        </p:nvSpPr>
        <p:spPr>
          <a:xfrm>
            <a:off x="292608" y="4224528"/>
            <a:ext cx="11612880" cy="256032"/>
          </a:xfrm>
          <a:prstGeom prst="rect">
            <a:avLst/>
          </a:prstGeom>
          <a:noFill/>
          <a:ln/>
        </p:spPr>
        <p:txBody>
          <a:bodyPr wrap="square" lIns="0" tIns="0" rIns="0" bIns="0" rtlCol="0" anchor="ctr"/>
          <a:lstStyle/>
          <a:p>
            <a:pPr indent="0" marL="0">
              <a:buNone/>
            </a:pPr>
            <a:r>
              <a:rPr lang="en-US" sz="1300" b="1" dirty="0">
                <a:solidFill>
                  <a:srgbClr val="2F5597"/>
                </a:solidFill>
                <a:latin typeface="Calibri" pitchFamily="34" charset="0"/>
                <a:ea typeface="Calibri" pitchFamily="34" charset="-122"/>
                <a:cs typeface="Calibri" pitchFamily="34" charset="-120"/>
              </a:rPr>
              <a:t>MAPPO  (CTDE)  ·  clip eps=0.20  ·  GAE lambda=0.95  ·  gamma=0.99  ·  shared actor, one critic</a:t>
            </a:r>
            <a:endParaRPr lang="en-US" sz="1300" dirty="0"/>
          </a:p>
        </p:txBody>
      </p:sp>
      <p:sp>
        <p:nvSpPr>
          <p:cNvPr id="14" name="Text 9"/>
          <p:cNvSpPr/>
          <p:nvPr/>
        </p:nvSpPr>
        <p:spPr>
          <a:xfrm>
            <a:off x="201168" y="4480560"/>
            <a:ext cx="5852160" cy="530352"/>
          </a:xfrm>
          <a:prstGeom prst="rect">
            <a:avLst/>
          </a:prstGeom>
          <a:noFill/>
          <a:ln/>
        </p:spPr>
        <p:txBody>
          <a:bodyPr wrap="square" lIns="0" tIns="0" rIns="0" bIns="0" rtlCol="0" anchor="ctr"/>
          <a:lstStyle/>
          <a:p>
            <a:pPr algn="ctr" indent="0" marL="0">
              <a:buNone/>
            </a:pPr>
            <m:oMathPara xmlns:m="http://schemas.openxmlformats.org/officeDocument/2006/math">
              <m:oMathParaPr>
                <m:jc m:val="center"/>
              </m:oMathParaPr>
              <m:oMath>
                <m:sSub>
                  <m:e>
                    <m:r>
                      <m:rPr>
                        <m:sty m:val="i"/>
                      </m:rPr>
                      <m:t>ρ</m:t>
                    </m:r>
                  </m:e>
                  <m:sub>
                    <m:r>
                      <m:rPr>
                        <m:sty m:val="i"/>
                      </m:rPr>
                      <m:t>t</m:t>
                    </m:r>
                  </m:sub>
                </m:sSub>
                <m:d>
                  <m:dPr>
                    <m:begChr m:val="("/>
                    <m:endChr m:val=")"/>
                  </m:dPr>
                  <m:e>
                    <m:r>
                      <m:rPr>
                        <m:sty m:val="i"/>
                      </m:rPr>
                      <m:t>θ</m:t>
                    </m:r>
                  </m:e>
                </m:d>
                <m:r>
                  <m:rPr>
                    <m:sty m:val="p"/>
                  </m:rPr>
                  <m:t xml:space="preserve"> = </m:t>
                </m:r>
                <m:f>
                  <m:fPr/>
                  <m:num>
                    <m:sSub>
                      <m:e>
                        <m:r>
                          <m:rPr>
                            <m:sty m:val="i"/>
                          </m:rPr>
                          <m:t>π</m:t>
                        </m:r>
                      </m:e>
                      <m:sub>
                        <m:r>
                          <m:rPr>
                            <m:sty m:val="i"/>
                          </m:rPr>
                          <m:t>θ</m:t>
                        </m:r>
                      </m:sub>
                    </m:sSub>
                    <m:d>
                      <m:dPr>
                        <m:begChr m:val="("/>
                        <m:endChr m:val=")"/>
                      </m:dPr>
                      <m:e>
                        <m:sSub>
                          <m:e>
                            <m:r>
                              <m:rPr>
                                <m:sty m:val="i"/>
                              </m:rPr>
                              <m:t>a</m:t>
                            </m:r>
                          </m:e>
                          <m:sub>
                            <m:r>
                              <m:rPr>
                                <m:sty m:val="i"/>
                              </m:rPr>
                              <m:t>t</m:t>
                            </m:r>
                          </m:sub>
                        </m:sSub>
                        <m:r>
                          <m:rPr>
                            <m:sty m:val="p"/>
                          </m:rPr>
                          <m:t xml:space="preserve"> | </m:t>
                        </m:r>
                        <m:sSub>
                          <m:e>
                            <m:r>
                              <m:rPr>
                                <m:sty m:val="i"/>
                              </m:rPr>
                              <m:t>o</m:t>
                            </m:r>
                          </m:e>
                          <m:sub>
                            <m:r>
                              <m:rPr>
                                <m:sty m:val="i"/>
                              </m:rPr>
                              <m:t>t</m:t>
                            </m:r>
                          </m:sub>
                        </m:sSub>
                      </m:e>
                    </m:d>
                  </m:num>
                  <m:den>
                    <m:sSub>
                      <m:e>
                        <m:r>
                          <m:rPr>
                            <m:sty m:val="i"/>
                          </m:rPr>
                          <m:t>π</m:t>
                        </m:r>
                      </m:e>
                      <m:sub>
                        <m:r>
                          <m:rPr>
                            <m:sty m:val="i"/>
                          </m:rPr>
                          <m:t>θ</m:t>
                        </m:r>
                        <m:r>
                          <m:rPr>
                            <m:sty m:val="p"/>
                          </m:rPr>
                          <m:t>old</m:t>
                        </m:r>
                      </m:sub>
                    </m:sSub>
                    <m:d>
                      <m:dPr>
                        <m:begChr m:val="("/>
                        <m:endChr m:val=")"/>
                      </m:dPr>
                      <m:e>
                        <m:sSub>
                          <m:e>
                            <m:r>
                              <m:rPr>
                                <m:sty m:val="i"/>
                              </m:rPr>
                              <m:t>a</m:t>
                            </m:r>
                          </m:e>
                          <m:sub>
                            <m:r>
                              <m:rPr>
                                <m:sty m:val="i"/>
                              </m:rPr>
                              <m:t>t</m:t>
                            </m:r>
                          </m:sub>
                        </m:sSub>
                        <m:r>
                          <m:rPr>
                            <m:sty m:val="p"/>
                          </m:rPr>
                          <m:t xml:space="preserve"> | </m:t>
                        </m:r>
                        <m:sSub>
                          <m:e>
                            <m:r>
                              <m:rPr>
                                <m:sty m:val="i"/>
                              </m:rPr>
                              <m:t>o</m:t>
                            </m:r>
                          </m:e>
                          <m:sub>
                            <m:r>
                              <m:rPr>
                                <m:sty m:val="i"/>
                              </m:rPr>
                              <m:t>t</m:t>
                            </m:r>
                          </m:sub>
                        </m:sSub>
                      </m:e>
                    </m:d>
                  </m:den>
                </m:f>
              </m:oMath>
            </m:oMathPara>
          </a:p>
        </p:txBody>
      </p:sp>
      <p:sp>
        <p:nvSpPr>
          <p:cNvPr id="15" name="Text 10"/>
          <p:cNvSpPr/>
          <p:nvPr/>
        </p:nvSpPr>
        <p:spPr>
          <a:xfrm>
            <a:off x="6126480" y="4480560"/>
            <a:ext cx="5806440" cy="530352"/>
          </a:xfrm>
          <a:prstGeom prst="rect">
            <a:avLst/>
          </a:prstGeom>
          <a:noFill/>
          <a:ln/>
        </p:spPr>
        <p:txBody>
          <a:bodyPr wrap="square" lIns="0" tIns="0" rIns="0" bIns="0" rtlCol="0" anchor="ctr"/>
          <a:lstStyle/>
          <a:p>
            <a:pPr algn="ctr" indent="0" marL="0">
              <a:buNone/>
            </a:pPr>
            <m:oMathPara xmlns:m="http://schemas.openxmlformats.org/officeDocument/2006/math">
              <m:oMathParaPr>
                <m:jc m:val="center"/>
              </m:oMathParaPr>
              <m:oMath>
                <m:sSub>
                  <m:e>
                    <m:r>
                      <m:rPr>
                        <m:sty m:val="i"/>
                      </m:rPr>
                      <m:t>δ</m:t>
                    </m:r>
                  </m:e>
                  <m:sub>
                    <m:r>
                      <m:rPr>
                        <m:sty m:val="i"/>
                      </m:rPr>
                      <m:t>t</m:t>
                    </m:r>
                  </m:sub>
                </m:sSub>
                <m:r>
                  <m:rPr>
                    <m:sty m:val="p"/>
                  </m:rPr>
                  <m:t xml:space="preserve"> = </m:t>
                </m:r>
                <m:sSub>
                  <m:e>
                    <m:r>
                      <m:rPr>
                        <m:sty m:val="i"/>
                      </m:rPr>
                      <m:t>r</m:t>
                    </m:r>
                  </m:e>
                  <m:sub>
                    <m:r>
                      <m:rPr>
                        <m:sty m:val="i"/>
                      </m:rPr>
                      <m:t>t</m:t>
                    </m:r>
                  </m:sub>
                </m:sSub>
                <m:r>
                  <m:rPr>
                    <m:sty m:val="p"/>
                  </m:rPr>
                  <m:t xml:space="preserve"> + </m:t>
                </m:r>
                <m:r>
                  <m:rPr>
                    <m:sty m:val="i"/>
                  </m:rPr>
                  <m:t>γ</m:t>
                </m:r>
                <m:r>
                  <m:rPr>
                    <m:sty m:val="p"/>
                  </m:rPr>
                  <m:t>V</m:t>
                </m:r>
                <m:d>
                  <m:dPr>
                    <m:begChr m:val="("/>
                    <m:endChr m:val=")"/>
                  </m:dPr>
                  <m:e>
                    <m:sSub>
                      <m:e>
                        <m:r>
                          <m:rPr>
                            <m:sty m:val="i"/>
                          </m:rPr>
                          <m:t>s</m:t>
                        </m:r>
                      </m:e>
                      <m:sub>
                        <m:r>
                          <m:rPr>
                            <m:sty m:val="i"/>
                          </m:rPr>
                          <m:t>t</m:t>
                        </m:r>
                        <m:r>
                          <m:rPr>
                            <m:sty m:val="p"/>
                          </m:rPr>
                          <m:t>+</m:t>
                        </m:r>
                        <m:r>
                          <m:rPr>
                            <m:sty m:val="p"/>
                          </m:rPr>
                          <m:t>1</m:t>
                        </m:r>
                      </m:sub>
                    </m:sSub>
                  </m:e>
                </m:d>
                <m:r>
                  <m:rPr>
                    <m:sty m:val="p"/>
                  </m:rPr>
                  <m:t xml:space="preserve"> − </m:t>
                </m:r>
                <m:r>
                  <m:rPr>
                    <m:sty m:val="p"/>
                  </m:rPr>
                  <m:t>V</m:t>
                </m:r>
                <m:d>
                  <m:dPr>
                    <m:begChr m:val="("/>
                    <m:endChr m:val=")"/>
                  </m:dPr>
                  <m:e>
                    <m:sSub>
                      <m:e>
                        <m:r>
                          <m:rPr>
                            <m:sty m:val="i"/>
                          </m:rPr>
                          <m:t>s</m:t>
                        </m:r>
                      </m:e>
                      <m:sub>
                        <m:r>
                          <m:rPr>
                            <m:sty m:val="i"/>
                          </m:rPr>
                          <m:t>t</m:t>
                        </m:r>
                      </m:sub>
                    </m:sSub>
                  </m:e>
                </m:d>
              </m:oMath>
            </m:oMathPara>
          </a:p>
        </p:txBody>
      </p:sp>
      <p:sp>
        <p:nvSpPr>
          <p:cNvPr id="16" name="Text 11"/>
          <p:cNvSpPr/>
          <p:nvPr/>
        </p:nvSpPr>
        <p:spPr>
          <a:xfrm>
            <a:off x="201168" y="5010912"/>
            <a:ext cx="5852160" cy="658368"/>
          </a:xfrm>
          <a:prstGeom prst="rect">
            <a:avLst/>
          </a:prstGeom>
          <a:noFill/>
          <a:ln/>
        </p:spPr>
        <p:txBody>
          <a:bodyPr wrap="square" lIns="0" tIns="0" rIns="0" bIns="0" rtlCol="0" anchor="ctr"/>
          <a:lstStyle/>
          <a:p>
            <a:pPr algn="ctr" indent="0" marL="0">
              <a:buNone/>
            </a:pPr>
            <m:oMathPara xmlns:m="http://schemas.openxmlformats.org/officeDocument/2006/math">
              <m:oMathParaPr>
                <m:jc m:val="center"/>
              </m:oMathParaPr>
              <m:oMath>
                <m:sSup>
                  <m:e>
                    <m:r>
                      <m:rPr>
                        <m:sty m:val="i"/>
                      </m:rPr>
                      <m:t>L</m:t>
                    </m:r>
                  </m:e>
                  <m:sup>
                    <m:r>
                      <m:rPr>
                        <m:sty m:val="p"/>
                      </m:rPr>
                      <m:t>CLIP</m:t>
                    </m:r>
                  </m:sup>
                </m:sSup>
                <m:d>
                  <m:dPr>
                    <m:begChr m:val="("/>
                    <m:endChr m:val=")"/>
                  </m:dPr>
                  <m:e>
                    <m:r>
                      <m:rPr>
                        <m:sty m:val="i"/>
                      </m:rPr>
                      <m:t>θ</m:t>
                    </m:r>
                  </m:e>
                </m:d>
                <m:r>
                  <m:rPr>
                    <m:sty m:val="p"/>
                  </m:rPr>
                  <m:t xml:space="preserve"> = </m:t>
                </m:r>
                <m:r>
                  <m:rPr>
                    <m:sty m:val="p"/>
                  </m:rPr>
                  <m:t>Ê</m:t>
                </m:r>
                <m:d>
                  <m:dPr>
                    <m:begChr m:val="("/>
                    <m:endChr m:val=")"/>
                  </m:dPr>
                  <m:e>
                    <m:r>
                      <m:rPr>
                        <m:sty m:val="p"/>
                      </m:rPr>
                      <m:t>min</m:t>
                    </m:r>
                    <m:d>
                      <m:dPr>
                        <m:begChr m:val="("/>
                        <m:endChr m:val=")"/>
                      </m:dPr>
                      <m:e>
                        <m:sSub>
                          <m:e>
                            <m:r>
                              <m:rPr>
                                <m:sty m:val="i"/>
                              </m:rPr>
                              <m:t>ρ</m:t>
                            </m:r>
                          </m:e>
                          <m:sub>
                            <m:r>
                              <m:rPr>
                                <m:sty m:val="i"/>
                              </m:rPr>
                              <m:t>t</m:t>
                            </m:r>
                          </m:sub>
                        </m:sSub>
                        <m:d>
                          <m:dPr>
                            <m:begChr m:val="("/>
                            <m:endChr m:val=")"/>
                          </m:dPr>
                          <m:e>
                            <m:r>
                              <m:rPr>
                                <m:sty m:val="i"/>
                              </m:rPr>
                              <m:t>θ</m:t>
                            </m:r>
                          </m:e>
                        </m:d>
                        <m:sSub>
                          <m:e>
                            <m:r>
                              <m:rPr>
                                <m:sty m:val="i"/>
                              </m:rPr>
                              <m:t>Â</m:t>
                            </m:r>
                          </m:e>
                          <m:sub>
                            <m:r>
                              <m:rPr>
                                <m:sty m:val="i"/>
                              </m:rPr>
                              <m:t>t</m:t>
                            </m:r>
                          </m:sub>
                        </m:sSub>
                        <m:r>
                          <m:rPr>
                            <m:sty m:val="p"/>
                          </m:rPr>
                          <m:t xml:space="preserve"> , </m:t>
                        </m:r>
                        <m:r>
                          <m:rPr>
                            <m:sty m:val="p"/>
                          </m:rPr>
                          <m:t>clip</m:t>
                        </m:r>
                        <m:d>
                          <m:dPr>
                            <m:begChr m:val="("/>
                            <m:endChr m:val=")"/>
                          </m:dPr>
                          <m:e>
                            <m:sSub>
                              <m:e>
                                <m:r>
                                  <m:rPr>
                                    <m:sty m:val="i"/>
                                  </m:rPr>
                                  <m:t>ρ</m:t>
                                </m:r>
                              </m:e>
                              <m:sub>
                                <m:r>
                                  <m:rPr>
                                    <m:sty m:val="i"/>
                                  </m:rPr>
                                  <m:t>t</m:t>
                                </m:r>
                              </m:sub>
                            </m:sSub>
                            <m:d>
                              <m:dPr>
                                <m:begChr m:val="("/>
                                <m:endChr m:val=")"/>
                              </m:dPr>
                              <m:e>
                                <m:r>
                                  <m:rPr>
                                    <m:sty m:val="i"/>
                                  </m:rPr>
                                  <m:t>θ</m:t>
                                </m:r>
                              </m:e>
                            </m:d>
                            <m:r>
                              <m:rPr>
                                <m:sty m:val="p"/>
                              </m:rPr>
                              <m:t xml:space="preserve"> , </m:t>
                            </m:r>
                            <m:r>
                              <m:rPr>
                                <m:sty m:val="p"/>
                              </m:rPr>
                              <m:t>1</m:t>
                            </m:r>
                            <m:r>
                              <m:rPr>
                                <m:sty m:val="p"/>
                              </m:rPr>
                              <m:t xml:space="preserve"> − </m:t>
                            </m:r>
                            <m:r>
                              <m:rPr>
                                <m:sty m:val="i"/>
                              </m:rPr>
                              <m:t>ε</m:t>
                            </m:r>
                            <m:r>
                              <m:rPr>
                                <m:sty m:val="p"/>
                              </m:rPr>
                              <m:t xml:space="preserve"> , </m:t>
                            </m:r>
                            <m:r>
                              <m:rPr>
                                <m:sty m:val="p"/>
                              </m:rPr>
                              <m:t>1</m:t>
                            </m:r>
                            <m:r>
                              <m:rPr>
                                <m:sty m:val="p"/>
                              </m:rPr>
                              <m:t xml:space="preserve"> + </m:t>
                            </m:r>
                            <m:r>
                              <m:rPr>
                                <m:sty m:val="i"/>
                              </m:rPr>
                              <m:t>ε</m:t>
                            </m:r>
                          </m:e>
                        </m:d>
                        <m:sSub>
                          <m:e>
                            <m:r>
                              <m:rPr>
                                <m:sty m:val="i"/>
                              </m:rPr>
                              <m:t>Â</m:t>
                            </m:r>
                          </m:e>
                          <m:sub>
                            <m:r>
                              <m:rPr>
                                <m:sty m:val="i"/>
                              </m:rPr>
                              <m:t>t</m:t>
                            </m:r>
                          </m:sub>
                        </m:sSub>
                      </m:e>
                    </m:d>
                  </m:e>
                </m:d>
              </m:oMath>
            </m:oMathPara>
          </a:p>
        </p:txBody>
      </p:sp>
      <p:sp>
        <p:nvSpPr>
          <p:cNvPr id="17" name="Text 12"/>
          <p:cNvSpPr/>
          <p:nvPr/>
        </p:nvSpPr>
        <p:spPr>
          <a:xfrm>
            <a:off x="6126480" y="5010912"/>
            <a:ext cx="5806440" cy="658368"/>
          </a:xfrm>
          <a:prstGeom prst="rect">
            <a:avLst/>
          </a:prstGeom>
          <a:noFill/>
          <a:ln/>
        </p:spPr>
        <p:txBody>
          <a:bodyPr wrap="square" lIns="0" tIns="0" rIns="0" bIns="0" rtlCol="0" anchor="ctr"/>
          <a:lstStyle/>
          <a:p>
            <a:pPr algn="ctr" indent="0" marL="0">
              <a:buNone/>
            </a:pPr>
            <m:oMathPara xmlns:m="http://schemas.openxmlformats.org/officeDocument/2006/math">
              <m:oMathParaPr>
                <m:jc m:val="center"/>
              </m:oMathParaPr>
              <m:oMath>
                <m:sSub>
                  <m:e>
                    <m:r>
                      <m:rPr>
                        <m:sty m:val="i"/>
                      </m:rPr>
                      <m:t>Â</m:t>
                    </m:r>
                  </m:e>
                  <m:sub>
                    <m:r>
                      <m:rPr>
                        <m:sty m:val="i"/>
                      </m:rPr>
                      <m:t>t</m:t>
                    </m:r>
                  </m:sub>
                </m:sSub>
                <m:r>
                  <m:rPr>
                    <m:sty m:val="p"/>
                  </m:rPr>
                  <m:t xml:space="preserve"> = </m:t>
                </m:r>
                <m:nary>
                  <m:naryPr>
                    <m:chr m:val="∑"/>
                  </m:naryPr>
                  <m:sub>
                    <m:r>
                      <m:rPr>
                        <m:sty m:val="i"/>
                      </m:rPr>
                      <m:t>l</m:t>
                    </m:r>
                  </m:sub>
                  <m:sup>
                    <m:r>
                      <m:rPr>
                        <m:sty m:val="i"/>
                      </m:rPr>
                      <m:t>H</m:t>
                    </m:r>
                  </m:sup>
                  <m:e>
                    <m:sSup>
                      <m:e>
                        <m:d>
                          <m:dPr>
                            <m:begChr m:val="("/>
                            <m:endChr m:val=")"/>
                          </m:dPr>
                          <m:e>
                            <m:r>
                              <m:rPr>
                                <m:sty m:val="i"/>
                              </m:rPr>
                              <m:t>γλ</m:t>
                            </m:r>
                          </m:e>
                        </m:d>
                      </m:e>
                      <m:sup>
                        <m:r>
                          <m:rPr>
                            <m:sty m:val="i"/>
                          </m:rPr>
                          <m:t>l</m:t>
                        </m:r>
                      </m:sup>
                    </m:sSup>
                    <m:sSub>
                      <m:e>
                        <m:r>
                          <m:rPr>
                            <m:sty m:val="i"/>
                          </m:rPr>
                          <m:t>δ</m:t>
                        </m:r>
                      </m:e>
                      <m:sub>
                        <m:r>
                          <m:rPr>
                            <m:sty m:val="i"/>
                          </m:rPr>
                          <m:t>t</m:t>
                        </m:r>
                        <m:r>
                          <m:rPr>
                            <m:sty m:val="p"/>
                          </m:rPr>
                          <m:t>+</m:t>
                        </m:r>
                        <m:r>
                          <m:rPr>
                            <m:sty m:val="i"/>
                          </m:rPr>
                          <m:t>l</m:t>
                        </m:r>
                      </m:sub>
                    </m:sSub>
                  </m:e>
                </m:nary>
              </m:oMath>
            </m:oMathPara>
          </a:p>
        </p:txBody>
      </p:sp>
      <p:sp>
        <p:nvSpPr>
          <p:cNvPr id="18" name="Text 13"/>
          <p:cNvSpPr/>
          <p:nvPr/>
        </p:nvSpPr>
        <p:spPr>
          <a:xfrm>
            <a:off x="292608" y="5687568"/>
            <a:ext cx="11612880" cy="566928"/>
          </a:xfrm>
          <a:prstGeom prst="rect">
            <a:avLst/>
          </a:prstGeom>
          <a:noFill/>
          <a:ln/>
        </p:spPr>
        <p:txBody>
          <a:bodyPr wrap="square" lIns="0" tIns="0" rIns="0" bIns="0" rtlCol="0" anchor="ctr"/>
          <a:lstStyle/>
          <a:p>
            <a:pPr indent="0" marL="0">
              <a:buNone/>
            </a:pPr>
            <a:r>
              <a:rPr lang="en-US" sz="1300" i="1" dirty="0">
                <a:solidFill>
                  <a:srgbClr val="5A6A80"/>
                </a:solidFill>
                <a:latin typeface="Calibri" pitchFamily="34" charset="0"/>
                <a:ea typeface="Calibri" pitchFamily="34" charset="-122"/>
                <a:cs typeface="Calibri" pitchFamily="34" charset="-120"/>
              </a:rPr>
              <a:t>Link mask zeros unreachable peer attention.  Critic is removed at execution.</a:t>
            </a:r>
            <a:endParaRPr lang="en-US" sz="1300" dirty="0"/>
          </a:p>
        </p:txBody>
      </p:sp>
      <p:sp>
        <p:nvSpPr>
          <p:cNvPr id="19" name="Shape 14"/>
          <p:cNvSpPr/>
          <p:nvPr/>
        </p:nvSpPr>
        <p:spPr>
          <a:xfrm>
            <a:off x="0" y="6784848"/>
            <a:ext cx="12191695" cy="73152"/>
          </a:xfrm>
          <a:prstGeom prst="rect">
            <a:avLst/>
          </a:prstGeom>
          <a:solidFill>
            <a:srgbClr val="2F5597"/>
          </a:solidFill>
          <a:ln/>
        </p:spPr>
      </p:sp>
      <p:sp>
        <p:nvSpPr>
          <p:cNvPr id="20" name="Text 15"/>
          <p:cNvSpPr/>
          <p:nvPr/>
        </p:nvSpPr>
        <p:spPr>
          <a:xfrm>
            <a:off x="347472" y="6492240"/>
            <a:ext cx="10881360" cy="256032"/>
          </a:xfrm>
          <a:prstGeom prst="rect">
            <a:avLst/>
          </a:prstGeom>
          <a:noFill/>
          <a:ln/>
        </p:spPr>
        <p:txBody>
          <a:bodyPr wrap="square" lIns="0" tIns="0" rIns="0" bIns="0" rtlCol="0" anchor="ctr"/>
          <a:lstStyle/>
          <a:p>
            <a:pPr indent="0" marL="0">
              <a:buNone/>
            </a:pPr>
            <a:r>
              <a:rPr lang="en-US" sz="1100" dirty="0">
                <a:solidFill>
                  <a:srgbClr val="5A6A80"/>
                </a:solidFill>
                <a:latin typeface="Calibri" pitchFamily="34" charset="0"/>
                <a:ea typeface="Calibri" pitchFamily="34" charset="-122"/>
                <a:cs typeface="Calibri" pitchFamily="34" charset="-120"/>
              </a:rPr>
              <a:t>CAC 2026  ·  IC-HGAT-MAPPO  ·  Dec-POMDP / CTDE / HGAT / MAPPO</a:t>
            </a:r>
            <a:endParaRPr lang="en-US" sz="1100" dirty="0"/>
          </a:p>
        </p:txBody>
      </p:sp>
      <p:sp>
        <p:nvSpPr>
          <p:cNvPr id="21" name="Text 16"/>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Calibri" pitchFamily="34" charset="0"/>
                <a:ea typeface="Calibri" pitchFamily="34" charset="-122"/>
                <a:cs typeface="Calibri" pitchFamily="34" charset="-120"/>
              </a:rPr>
              <a:t>9</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37578" y="54864"/>
            <a:ext cx="715196" cy="493776"/>
          </a:xfrm>
          <a:prstGeom prst="rect">
            <a:avLst/>
          </a:prstGeom>
        </p:spPr>
      </p:pic>
      <p:sp>
        <p:nvSpPr>
          <p:cNvPr id="3" name="Text 0"/>
          <p:cNvSpPr/>
          <p:nvPr/>
        </p:nvSpPr>
        <p:spPr>
          <a:xfrm>
            <a:off x="347472" y="73152"/>
            <a:ext cx="10698480" cy="438912"/>
          </a:xfrm>
          <a:prstGeom prst="rect">
            <a:avLst/>
          </a:prstGeom>
          <a:noFill/>
          <a:ln/>
        </p:spPr>
        <p:txBody>
          <a:bodyPr wrap="square" lIns="0" tIns="0" rIns="0" bIns="0" rtlCol="0" anchor="ctr"/>
          <a:lstStyle/>
          <a:p>
            <a:pPr indent="0" marL="0">
              <a:buNone/>
            </a:pPr>
            <a:r>
              <a:rPr lang="en-US" sz="2600" b="1" dirty="0">
                <a:solidFill>
                  <a:srgbClr val="2F5597"/>
                </a:solidFill>
                <a:latin typeface="Calibri" pitchFamily="34" charset="0"/>
                <a:ea typeface="Calibri" pitchFamily="34" charset="-122"/>
                <a:cs typeface="Calibri" pitchFamily="34" charset="-120"/>
              </a:rPr>
              <a:t>3. Experimental Results</a:t>
            </a:r>
            <a:endParaRPr lang="en-US" sz="2600" dirty="0"/>
          </a:p>
        </p:txBody>
      </p:sp>
      <p:sp>
        <p:nvSpPr>
          <p:cNvPr id="4" name="Shape 1"/>
          <p:cNvSpPr/>
          <p:nvPr/>
        </p:nvSpPr>
        <p:spPr>
          <a:xfrm>
            <a:off x="0" y="566928"/>
            <a:ext cx="12191695" cy="475488"/>
          </a:xfrm>
          <a:prstGeom prst="rect">
            <a:avLst/>
          </a:prstGeom>
          <a:solidFill>
            <a:srgbClr val="2F5597"/>
          </a:solidFill>
          <a:ln/>
        </p:spPr>
      </p:sp>
      <p:sp>
        <p:nvSpPr>
          <p:cNvPr id="5" name="Text 2"/>
          <p:cNvSpPr/>
          <p:nvPr/>
        </p:nvSpPr>
        <p:spPr>
          <a:xfrm>
            <a:off x="347472" y="585216"/>
            <a:ext cx="11430000" cy="43891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3.1 Experimental Setup and Main Results</a:t>
            </a:r>
            <a:endParaRPr lang="en-US" sz="2000" dirty="0"/>
          </a:p>
        </p:txBody>
      </p:sp>
      <p:sp>
        <p:nvSpPr>
          <p:cNvPr id="6" name="Shape 3"/>
          <p:cNvSpPr/>
          <p:nvPr/>
        </p:nvSpPr>
        <p:spPr>
          <a:xfrm>
            <a:off x="256032" y="1060704"/>
            <a:ext cx="5029200" cy="2084832"/>
          </a:xfrm>
          <a:prstGeom prst="roundRect">
            <a:avLst>
              <a:gd name="adj" fmla="val 3509"/>
            </a:avLst>
          </a:prstGeom>
          <a:solidFill>
            <a:srgbClr val="F4F6FA"/>
          </a:solidFill>
          <a:ln/>
          <a:effectLst>
            <a:outerShdw sx="100000" sy="100000" kx="0" ky="0" algn="bl" rotWithShape="0" blurRad="50800" dist="12700" dir="16200000">
              <a:srgbClr val="1F2A44">
                <a:alpha val="12000"/>
              </a:srgbClr>
            </a:outerShdw>
          </a:effectLst>
        </p:spPr>
      </p:sp>
      <p:sp>
        <p:nvSpPr>
          <p:cNvPr id="7" name="Text 4"/>
          <p:cNvSpPr/>
          <p:nvPr/>
        </p:nvSpPr>
        <p:spPr>
          <a:xfrm>
            <a:off x="365760" y="1097280"/>
            <a:ext cx="4809744" cy="256032"/>
          </a:xfrm>
          <a:prstGeom prst="rect">
            <a:avLst/>
          </a:prstGeom>
          <a:noFill/>
          <a:ln/>
        </p:spPr>
        <p:txBody>
          <a:bodyPr wrap="square" lIns="0" tIns="0" rIns="0" bIns="0" rtlCol="0" anchor="ctr"/>
          <a:lstStyle/>
          <a:p>
            <a:pPr indent="0" marL="0">
              <a:buNone/>
            </a:pPr>
            <a:r>
              <a:rPr lang="en-US" sz="1400" b="1" dirty="0">
                <a:solidFill>
                  <a:srgbClr val="2F5597"/>
                </a:solidFill>
                <a:latin typeface="Calibri" pitchFamily="34" charset="0"/>
                <a:ea typeface="Calibri" pitchFamily="34" charset="-122"/>
                <a:cs typeface="Calibri" pitchFamily="34" charset="-120"/>
              </a:rPr>
              <a:t>Experiment protocol  (fair comparison)</a:t>
            </a:r>
            <a:endParaRPr lang="en-US" sz="1400" dirty="0"/>
          </a:p>
        </p:txBody>
      </p:sp>
      <p:sp>
        <p:nvSpPr>
          <p:cNvPr id="8" name="Text 5"/>
          <p:cNvSpPr/>
          <p:nvPr/>
        </p:nvSpPr>
        <p:spPr>
          <a:xfrm>
            <a:off x="365760" y="1371600"/>
            <a:ext cx="4809744" cy="1170432"/>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6 UAVs · 15 targets · 10 obstacles · 30×30</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Horizon 200  ·  2,000 episodes  ·  5 seeds</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30 held-out scenarios   Rs=2, Rc=10 cells</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Same env, reward, action, budget</a:t>
            </a:r>
            <a:endParaRPr lang="en-US" sz="1300" dirty="0"/>
          </a:p>
        </p:txBody>
      </p:sp>
      <p:sp>
        <p:nvSpPr>
          <p:cNvPr id="9" name="Text 6"/>
          <p:cNvSpPr/>
          <p:nvPr/>
        </p:nvSpPr>
        <p:spPr>
          <a:xfrm>
            <a:off x="365760" y="2560320"/>
            <a:ext cx="4809744" cy="475488"/>
          </a:xfrm>
          <a:prstGeom prst="rect">
            <a:avLst/>
          </a:prstGeom>
          <a:noFill/>
          <a:ln/>
        </p:spPr>
        <p:txBody>
          <a:bodyPr wrap="square" lIns="0" tIns="0" rIns="0" bIns="0" rtlCol="0" anchor="ctr"/>
          <a:lstStyle/>
          <a:p>
            <a:pPr indent="0" marL="0">
              <a:buNone/>
            </a:pPr>
            <a:r>
              <a:rPr lang="en-US" sz="1200" i="1" dirty="0">
                <a:solidFill>
                  <a:srgbClr val="5A6A80"/>
                </a:solidFill>
                <a:latin typeface="Calibri" pitchFamily="34" charset="0"/>
                <a:ea typeface="Calibri" pitchFamily="34" charset="-122"/>
                <a:cs typeface="Calibri" pitchFamily="34" charset="-120"/>
              </a:rPr>
              <a:t>Baselines: Heuristic, QMIX, Local MAPPO, Homog. Graph MAPPO</a:t>
            </a:r>
            <a:endParaRPr lang="en-US" sz="1200" dirty="0"/>
          </a:p>
        </p:txBody>
      </p:sp>
      <p:pic>
        <p:nvPicPr>
          <p:cNvPr id="10" name="Image 1" descr="/tmp/ppt-work/assets/fig3.png">    </p:cNvPr>
          <p:cNvPicPr>
            <a:picLocks noChangeAspect="1"/>
          </p:cNvPicPr>
          <p:nvPr/>
        </p:nvPicPr>
        <p:blipFill>
          <a:blip r:embed="rId2"/>
          <a:stretch>
            <a:fillRect/>
          </a:stretch>
        </p:blipFill>
        <p:spPr>
          <a:xfrm>
            <a:off x="631532" y="3200400"/>
            <a:ext cx="4278199" cy="2331720"/>
          </a:xfrm>
          <a:prstGeom prst="rect">
            <a:avLst/>
          </a:prstGeom>
        </p:spPr>
      </p:pic>
      <p:sp>
        <p:nvSpPr>
          <p:cNvPr id="11" name="Text 7"/>
          <p:cNvSpPr/>
          <p:nvPr/>
        </p:nvSpPr>
        <p:spPr>
          <a:xfrm>
            <a:off x="256032" y="5559552"/>
            <a:ext cx="5029200" cy="256032"/>
          </a:xfrm>
          <a:prstGeom prst="rect">
            <a:avLst/>
          </a:prstGeom>
          <a:noFill/>
          <a:ln/>
        </p:spPr>
        <p:txBody>
          <a:bodyPr wrap="square" lIns="0" tIns="0" rIns="0" bIns="0" rtlCol="0" anchor="ctr"/>
          <a:lstStyle/>
          <a:p>
            <a:pPr indent="0" marL="0">
              <a:buNone/>
            </a:pPr>
            <a:r>
              <a:rPr lang="en-US" sz="1100" i="1" dirty="0">
                <a:solidFill>
                  <a:srgbClr val="5A6A80"/>
                </a:solidFill>
                <a:latin typeface="Calibri" pitchFamily="34" charset="0"/>
                <a:ea typeface="Calibri" pitchFamily="34" charset="-122"/>
                <a:cs typeface="Calibri" pitchFamily="34" charset="-120"/>
              </a:rPr>
              <a:t>Trajectories are qualitative; bars below are the evidence.</a:t>
            </a:r>
            <a:endParaRPr lang="en-US" sz="1100" dirty="0"/>
          </a:p>
        </p:txBody>
      </p:sp>
      <p:sp>
        <p:nvSpPr>
          <p:cNvPr id="12" name="Shape 8"/>
          <p:cNvSpPr/>
          <p:nvPr/>
        </p:nvSpPr>
        <p:spPr>
          <a:xfrm>
            <a:off x="256032" y="5833872"/>
            <a:ext cx="5029200" cy="530352"/>
          </a:xfrm>
          <a:prstGeom prst="roundRect">
            <a:avLst>
              <a:gd name="adj" fmla="val 13793"/>
            </a:avLst>
          </a:prstGeom>
          <a:solidFill>
            <a:srgbClr val="EAF0F8"/>
          </a:solidFill>
          <a:ln/>
          <a:effectLst>
            <a:outerShdw sx="100000" sy="100000" kx="0" ky="0" algn="bl" rotWithShape="0" blurRad="50800" dist="12700" dir="16200000">
              <a:srgbClr val="1F2A44">
                <a:alpha val="12000"/>
              </a:srgbClr>
            </a:outerShdw>
          </a:effectLst>
        </p:spPr>
      </p:sp>
      <p:sp>
        <p:nvSpPr>
          <p:cNvPr id="13" name="Text 9"/>
          <p:cNvSpPr/>
          <p:nvPr/>
        </p:nvSpPr>
        <p:spPr>
          <a:xfrm>
            <a:off x="329184" y="5833872"/>
            <a:ext cx="4882896" cy="530352"/>
          </a:xfrm>
          <a:prstGeom prst="rect">
            <a:avLst/>
          </a:prstGeom>
          <a:noFill/>
          <a:ln/>
        </p:spPr>
        <p:txBody>
          <a:bodyPr wrap="square" lIns="0" tIns="0" rIns="0" bIns="0" rtlCol="0" anchor="ctr"/>
          <a:lstStyle/>
          <a:p>
            <a:pPr indent="0" marL="0">
              <a:buNone/>
            </a:pPr>
            <a:r>
              <a:rPr lang="en-US" sz="1100" dirty="0">
                <a:solidFill>
                  <a:srgbClr val="1E3F73"/>
                </a:solidFill>
                <a:latin typeface="Calibri" pitchFamily="34" charset="0"/>
                <a:ea typeface="Calibri" pitchFamily="34" charset="-122"/>
                <a:cs typeface="Calibri" pitchFamily="34" charset="-120"/>
              </a:rPr>
              <a:t>95% CI vs Heuristic Ct: 12.96–21.36 pp   ·   vs QMIX: 28.30–36.01 pp</a:t>
            </a:r>
            <a:endParaRPr lang="en-US" sz="1100" dirty="0"/>
          </a:p>
        </p:txBody>
      </p:sp>
      <p:graphicFrame>
        <p:nvGraphicFramePr>
          <p:cNvPr id="14" name="Chart 0" descr=""/>
          <p:cNvGraphicFramePr/>
          <p:nvPr/>
        </p:nvGraphicFramePr>
        <p:xfrm>
          <a:off x="5440680" y="1051560"/>
          <a:ext cx="3291840" cy="2331720"/>
        </p:xfrm>
        <a:graphic xmlns:a="http://schemas.openxmlformats.org/drawingml/2006/main">
          <a:graphicData uri="http://schemas.openxmlformats.org/drawingml/2006/chart">
            <c:chart xmlns:c="http://schemas.openxmlformats.org/drawingml/2006/chart" r:id="rId3"/>
          </a:graphicData>
        </a:graphic>
      </p:graphicFrame>
      <p:graphicFrame>
        <p:nvGraphicFramePr>
          <p:cNvPr id="15" name="Chart 1" descr=""/>
          <p:cNvGraphicFramePr/>
          <p:nvPr/>
        </p:nvGraphicFramePr>
        <p:xfrm>
          <a:off x="8732520" y="1051560"/>
          <a:ext cx="3200400" cy="2331720"/>
        </p:xfrm>
        <a:graphic xmlns:a="http://schemas.openxmlformats.org/drawingml/2006/main">
          <a:graphicData uri="http://schemas.openxmlformats.org/drawingml/2006/chart">
            <c:chart xmlns:c="http://schemas.openxmlformats.org/drawingml/2006/chart" r:id="rId4"/>
          </a:graphicData>
        </a:graphic>
      </p:graphicFrame>
      <p:sp>
        <p:nvSpPr>
          <p:cNvPr id="16" name="Shape 10"/>
          <p:cNvSpPr/>
          <p:nvPr/>
        </p:nvSpPr>
        <p:spPr>
          <a:xfrm>
            <a:off x="5440680" y="3474720"/>
            <a:ext cx="3200400" cy="1417320"/>
          </a:xfrm>
          <a:prstGeom prst="roundRect">
            <a:avLst>
              <a:gd name="adj" fmla="val 5161"/>
            </a:avLst>
          </a:prstGeom>
          <a:solidFill>
            <a:srgbClr val="FDECEA"/>
          </a:solidFill>
          <a:ln/>
          <a:effectLst>
            <a:outerShdw sx="100000" sy="100000" kx="0" ky="0" algn="bl" rotWithShape="0" blurRad="50800" dist="12700" dir="16200000">
              <a:srgbClr val="1F2A44">
                <a:alpha val="12000"/>
              </a:srgbClr>
            </a:outerShdw>
          </a:effectLst>
        </p:spPr>
      </p:sp>
      <p:sp>
        <p:nvSpPr>
          <p:cNvPr id="17" name="Text 11"/>
          <p:cNvSpPr/>
          <p:nvPr/>
        </p:nvSpPr>
        <p:spPr>
          <a:xfrm>
            <a:off x="5577840" y="3547872"/>
            <a:ext cx="2926080" cy="256032"/>
          </a:xfrm>
          <a:prstGeom prst="rect">
            <a:avLst/>
          </a:prstGeom>
          <a:noFill/>
          <a:ln/>
        </p:spPr>
        <p:txBody>
          <a:bodyPr wrap="square" lIns="0" tIns="0" rIns="0" bIns="0" rtlCol="0" anchor="ctr"/>
          <a:lstStyle/>
          <a:p>
            <a:pPr indent="0" marL="0">
              <a:buNone/>
            </a:pPr>
            <a:r>
              <a:rPr lang="en-US" sz="1200" b="1" dirty="0">
                <a:solidFill>
                  <a:srgbClr val="C0392B"/>
                </a:solidFill>
                <a:latin typeface="Calibri" pitchFamily="34" charset="0"/>
                <a:ea typeface="Calibri" pitchFamily="34" charset="-122"/>
                <a:cs typeface="Calibri" pitchFamily="34" charset="-120"/>
              </a:rPr>
              <a:t>vs. Heuristic</a:t>
            </a:r>
            <a:endParaRPr lang="en-US" sz="1200" dirty="0"/>
          </a:p>
        </p:txBody>
      </p:sp>
      <p:sp>
        <p:nvSpPr>
          <p:cNvPr id="18" name="Text 12"/>
          <p:cNvSpPr/>
          <p:nvPr/>
        </p:nvSpPr>
        <p:spPr>
          <a:xfrm>
            <a:off x="5577840" y="3840480"/>
            <a:ext cx="2926080" cy="868680"/>
          </a:xfrm>
          <a:prstGeom prst="rect">
            <a:avLst/>
          </a:prstGeom>
          <a:noFill/>
          <a:ln/>
        </p:spPr>
        <p:txBody>
          <a:bodyPr wrap="square" lIns="0" tIns="0" rIns="0" bIns="0" rtlCol="0" anchor="ctr"/>
          <a:lstStyle/>
          <a:p>
            <a:pPr indent="0" marL="0">
              <a:buNone/>
            </a:pPr>
            <a:r>
              <a:rPr lang="en-US" sz="1600" b="1" dirty="0">
                <a:solidFill>
                  <a:srgbClr val="1F2A44"/>
                </a:solidFill>
                <a:latin typeface="Calibri" pitchFamily="34" charset="0"/>
                <a:ea typeface="Calibri" pitchFamily="34" charset="-122"/>
                <a:cs typeface="Calibri" pitchFamily="34" charset="-120"/>
              </a:rPr>
              <a:t>+17.16 pp  decisiveness</a:t>
            </a:r>
            <a:endParaRPr lang="en-US" sz="1600" dirty="0"/>
          </a:p>
          <a:p>
            <a:pPr indent="0" marL="0">
              <a:buNone/>
            </a:pPr>
            <a:r>
              <a:rPr lang="en-US" sz="1600" b="1" dirty="0">
                <a:solidFill>
                  <a:srgbClr val="1F2A44"/>
                </a:solidFill>
                <a:latin typeface="Calibri" pitchFamily="34" charset="0"/>
                <a:ea typeface="Calibri" pitchFamily="34" charset="-122"/>
                <a:cs typeface="Calibri" pitchFamily="34" charset="-120"/>
              </a:rPr>
              <a:t>+9.00 pp  discovery</a:t>
            </a:r>
            <a:endParaRPr lang="en-US" sz="1600" dirty="0"/>
          </a:p>
        </p:txBody>
      </p:sp>
      <p:sp>
        <p:nvSpPr>
          <p:cNvPr id="19" name="Shape 13"/>
          <p:cNvSpPr/>
          <p:nvPr/>
        </p:nvSpPr>
        <p:spPr>
          <a:xfrm>
            <a:off x="8732520" y="3474720"/>
            <a:ext cx="3200400" cy="1417320"/>
          </a:xfrm>
          <a:prstGeom prst="roundRect">
            <a:avLst>
              <a:gd name="adj" fmla="val 5161"/>
            </a:avLst>
          </a:prstGeom>
          <a:solidFill>
            <a:srgbClr val="FFF3E8"/>
          </a:solidFill>
          <a:ln/>
          <a:effectLst>
            <a:outerShdw sx="100000" sy="100000" kx="0" ky="0" algn="bl" rotWithShape="0" blurRad="50800" dist="12700" dir="16200000">
              <a:srgbClr val="1F2A44">
                <a:alpha val="12000"/>
              </a:srgbClr>
            </a:outerShdw>
          </a:effectLst>
        </p:spPr>
      </p:sp>
      <p:sp>
        <p:nvSpPr>
          <p:cNvPr id="20" name="Text 14"/>
          <p:cNvSpPr/>
          <p:nvPr/>
        </p:nvSpPr>
        <p:spPr>
          <a:xfrm>
            <a:off x="8869680" y="3547872"/>
            <a:ext cx="2926080" cy="256032"/>
          </a:xfrm>
          <a:prstGeom prst="rect">
            <a:avLst/>
          </a:prstGeom>
          <a:noFill/>
          <a:ln/>
        </p:spPr>
        <p:txBody>
          <a:bodyPr wrap="square" lIns="0" tIns="0" rIns="0" bIns="0" rtlCol="0" anchor="ctr"/>
          <a:lstStyle/>
          <a:p>
            <a:pPr indent="0" marL="0">
              <a:buNone/>
            </a:pPr>
            <a:r>
              <a:rPr lang="en-US" sz="1200" b="1" dirty="0">
                <a:solidFill>
                  <a:srgbClr val="ED7D31"/>
                </a:solidFill>
                <a:latin typeface="Calibri" pitchFamily="34" charset="0"/>
                <a:ea typeface="Calibri" pitchFamily="34" charset="-122"/>
                <a:cs typeface="Calibri" pitchFamily="34" charset="-120"/>
              </a:rPr>
              <a:t>vs. QMIX</a:t>
            </a:r>
            <a:endParaRPr lang="en-US" sz="1200" dirty="0"/>
          </a:p>
        </p:txBody>
      </p:sp>
      <p:sp>
        <p:nvSpPr>
          <p:cNvPr id="21" name="Text 15"/>
          <p:cNvSpPr/>
          <p:nvPr/>
        </p:nvSpPr>
        <p:spPr>
          <a:xfrm>
            <a:off x="8869680" y="3840480"/>
            <a:ext cx="2926080" cy="868680"/>
          </a:xfrm>
          <a:prstGeom prst="rect">
            <a:avLst/>
          </a:prstGeom>
          <a:noFill/>
          <a:ln/>
        </p:spPr>
        <p:txBody>
          <a:bodyPr wrap="square" lIns="0" tIns="0" rIns="0" bIns="0" rtlCol="0" anchor="ctr"/>
          <a:lstStyle/>
          <a:p>
            <a:pPr indent="0" marL="0">
              <a:buNone/>
            </a:pPr>
            <a:r>
              <a:rPr lang="en-US" sz="1600" b="1" dirty="0">
                <a:solidFill>
                  <a:srgbClr val="1F2A44"/>
                </a:solidFill>
                <a:latin typeface="Calibri" pitchFamily="34" charset="0"/>
                <a:ea typeface="Calibri" pitchFamily="34" charset="-122"/>
                <a:cs typeface="Calibri" pitchFamily="34" charset="-120"/>
              </a:rPr>
              <a:t>+32.15 pp  decisiveness</a:t>
            </a:r>
            <a:endParaRPr lang="en-US" sz="1600" dirty="0"/>
          </a:p>
          <a:p>
            <a:pPr indent="0" marL="0">
              <a:buNone/>
            </a:pPr>
            <a:r>
              <a:rPr lang="en-US" sz="1600" b="1" dirty="0">
                <a:solidFill>
                  <a:srgbClr val="1F2A44"/>
                </a:solidFill>
                <a:latin typeface="Calibri" pitchFamily="34" charset="0"/>
                <a:ea typeface="Calibri" pitchFamily="34" charset="-122"/>
                <a:cs typeface="Calibri" pitchFamily="34" charset="-120"/>
              </a:rPr>
              <a:t>+14.67 pp  discovery</a:t>
            </a:r>
            <a:endParaRPr lang="en-US" sz="1600" dirty="0"/>
          </a:p>
        </p:txBody>
      </p:sp>
      <p:sp>
        <p:nvSpPr>
          <p:cNvPr id="22" name="Shape 16"/>
          <p:cNvSpPr/>
          <p:nvPr/>
        </p:nvSpPr>
        <p:spPr>
          <a:xfrm>
            <a:off x="5440680" y="5029200"/>
            <a:ext cx="6492240" cy="1170432"/>
          </a:xfrm>
          <a:prstGeom prst="roundRect">
            <a:avLst>
              <a:gd name="adj" fmla="val 6250"/>
            </a:avLst>
          </a:prstGeom>
          <a:solidFill>
            <a:srgbClr val="2F5597"/>
          </a:solidFill>
          <a:ln/>
        </p:spPr>
      </p:sp>
      <p:sp>
        <p:nvSpPr>
          <p:cNvPr id="23" name="Text 17"/>
          <p:cNvSpPr/>
          <p:nvPr/>
        </p:nvSpPr>
        <p:spPr>
          <a:xfrm>
            <a:off x="5623560" y="5102352"/>
            <a:ext cx="6172200" cy="5029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T80   ·   82.0% success     ·     88.63 steps conditional on success</a:t>
            </a:r>
            <a:endParaRPr lang="en-US" sz="1600" dirty="0"/>
          </a:p>
        </p:txBody>
      </p:sp>
      <p:sp>
        <p:nvSpPr>
          <p:cNvPr id="24" name="Text 18"/>
          <p:cNvSpPr/>
          <p:nvPr/>
        </p:nvSpPr>
        <p:spPr>
          <a:xfrm>
            <a:off x="5623560" y="5632704"/>
            <a:ext cx="6172200" cy="402336"/>
          </a:xfrm>
          <a:prstGeom prst="rect">
            <a:avLst/>
          </a:prstGeom>
          <a:noFill/>
          <a:ln/>
        </p:spPr>
        <p:txBody>
          <a:bodyPr wrap="square" lIns="0" tIns="0" rIns="0" bIns="0" rtlCol="0" anchor="ctr"/>
          <a:lstStyle/>
          <a:p>
            <a:pPr indent="0" marL="0">
              <a:buNone/>
            </a:pPr>
            <a:r>
              <a:rPr lang="en-US" sz="1300" dirty="0">
                <a:solidFill>
                  <a:srgbClr val="D6E2F5"/>
                </a:solidFill>
                <a:latin typeface="Calibri" pitchFamily="34" charset="0"/>
                <a:ea typeface="Calibri" pitchFamily="34" charset="-122"/>
                <a:cs typeface="Calibri" pitchFamily="34" charset="-120"/>
              </a:rPr>
              <a:t>Safety intervention 0.17%; collision rate comparable to the heuristic (not ranked).</a:t>
            </a:r>
            <a:endParaRPr lang="en-US" sz="1300" dirty="0"/>
          </a:p>
        </p:txBody>
      </p:sp>
      <p:sp>
        <p:nvSpPr>
          <p:cNvPr id="25" name="Shape 19"/>
          <p:cNvSpPr/>
          <p:nvPr/>
        </p:nvSpPr>
        <p:spPr>
          <a:xfrm>
            <a:off x="0" y="6784848"/>
            <a:ext cx="12191695" cy="73152"/>
          </a:xfrm>
          <a:prstGeom prst="rect">
            <a:avLst/>
          </a:prstGeom>
          <a:solidFill>
            <a:srgbClr val="2F5597"/>
          </a:solidFill>
          <a:ln/>
        </p:spPr>
      </p:sp>
      <p:sp>
        <p:nvSpPr>
          <p:cNvPr id="26" name="Text 20"/>
          <p:cNvSpPr/>
          <p:nvPr/>
        </p:nvSpPr>
        <p:spPr>
          <a:xfrm>
            <a:off x="347472" y="6492240"/>
            <a:ext cx="10881360" cy="256032"/>
          </a:xfrm>
          <a:prstGeom prst="rect">
            <a:avLst/>
          </a:prstGeom>
          <a:noFill/>
          <a:ln/>
        </p:spPr>
        <p:txBody>
          <a:bodyPr wrap="square" lIns="0" tIns="0" rIns="0" bIns="0" rtlCol="0" anchor="ctr"/>
          <a:lstStyle/>
          <a:p>
            <a:pPr indent="0" marL="0">
              <a:buNone/>
            </a:pPr>
            <a:r>
              <a:rPr lang="en-US" sz="1100" dirty="0">
                <a:solidFill>
                  <a:srgbClr val="5A6A80"/>
                </a:solidFill>
                <a:latin typeface="Calibri" pitchFamily="34" charset="0"/>
                <a:ea typeface="Calibri" pitchFamily="34" charset="-122"/>
                <a:cs typeface="Calibri" pitchFamily="34" charset="-120"/>
              </a:rPr>
              <a:t>CAC 2026  ·  IC-HGAT-MAPPO  ·  Dec-POMDP / CTDE / HGAT / MAPPO</a:t>
            </a:r>
            <a:endParaRPr lang="en-US" sz="1100" dirty="0"/>
          </a:p>
        </p:txBody>
      </p:sp>
      <p:sp>
        <p:nvSpPr>
          <p:cNvPr id="27" name="Text 21"/>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Calibri" pitchFamily="34" charset="0"/>
                <a:ea typeface="Calibri" pitchFamily="34" charset="-122"/>
                <a:cs typeface="Calibri" pitchFamily="34" charset="-120"/>
              </a:rPr>
              <a:t>10</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37578" y="54864"/>
            <a:ext cx="715196" cy="493776"/>
          </a:xfrm>
          <a:prstGeom prst="rect">
            <a:avLst/>
          </a:prstGeom>
        </p:spPr>
      </p:pic>
      <p:sp>
        <p:nvSpPr>
          <p:cNvPr id="3" name="Text 0"/>
          <p:cNvSpPr/>
          <p:nvPr/>
        </p:nvSpPr>
        <p:spPr>
          <a:xfrm>
            <a:off x="347472" y="73152"/>
            <a:ext cx="10698480" cy="438912"/>
          </a:xfrm>
          <a:prstGeom prst="rect">
            <a:avLst/>
          </a:prstGeom>
          <a:noFill/>
          <a:ln/>
        </p:spPr>
        <p:txBody>
          <a:bodyPr wrap="square" lIns="0" tIns="0" rIns="0" bIns="0" rtlCol="0" anchor="ctr"/>
          <a:lstStyle/>
          <a:p>
            <a:pPr indent="0" marL="0">
              <a:buNone/>
            </a:pPr>
            <a:r>
              <a:rPr lang="en-US" sz="2600" b="1" dirty="0">
                <a:solidFill>
                  <a:srgbClr val="2F5597"/>
                </a:solidFill>
                <a:latin typeface="Calibri" pitchFamily="34" charset="0"/>
                <a:ea typeface="Calibri" pitchFamily="34" charset="-122"/>
                <a:cs typeface="Calibri" pitchFamily="34" charset="-120"/>
              </a:rPr>
              <a:t>3. Experimental Results</a:t>
            </a:r>
            <a:endParaRPr lang="en-US" sz="2600" dirty="0"/>
          </a:p>
        </p:txBody>
      </p:sp>
      <p:sp>
        <p:nvSpPr>
          <p:cNvPr id="4" name="Shape 1"/>
          <p:cNvSpPr/>
          <p:nvPr/>
        </p:nvSpPr>
        <p:spPr>
          <a:xfrm>
            <a:off x="0" y="566928"/>
            <a:ext cx="12191695" cy="475488"/>
          </a:xfrm>
          <a:prstGeom prst="rect">
            <a:avLst/>
          </a:prstGeom>
          <a:solidFill>
            <a:srgbClr val="2F5597"/>
          </a:solidFill>
          <a:ln/>
        </p:spPr>
      </p:sp>
      <p:sp>
        <p:nvSpPr>
          <p:cNvPr id="5" name="Text 2"/>
          <p:cNvSpPr/>
          <p:nvPr/>
        </p:nvSpPr>
        <p:spPr>
          <a:xfrm>
            <a:off x="347472" y="585216"/>
            <a:ext cx="11430000" cy="43891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3.2 Ablation and Sensitivity Analysis</a:t>
            </a:r>
            <a:endParaRPr lang="en-US" sz="2000" dirty="0"/>
          </a:p>
        </p:txBody>
      </p:sp>
      <p:graphicFrame>
        <p:nvGraphicFramePr>
          <p:cNvPr id="6" name="Chart 0" descr=""/>
          <p:cNvGraphicFramePr/>
          <p:nvPr/>
        </p:nvGraphicFramePr>
        <p:xfrm>
          <a:off x="182880" y="1024128"/>
          <a:ext cx="5852160" cy="233172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6172200" y="1024128"/>
            <a:ext cx="5715000" cy="713232"/>
          </a:xfrm>
          <a:prstGeom prst="roundRect">
            <a:avLst>
              <a:gd name="adj" fmla="val 10256"/>
            </a:avLst>
          </a:prstGeom>
          <a:solidFill>
            <a:srgbClr val="FFFFFF"/>
          </a:solidFill>
          <a:ln/>
          <a:effectLst>
            <a:outerShdw sx="100000" sy="100000" kx="0" ky="0" algn="bl" rotWithShape="0" blurRad="50800" dist="12700" dir="16200000">
              <a:srgbClr val="1F2A44">
                <a:alpha val="12000"/>
              </a:srgbClr>
            </a:outerShdw>
          </a:effectLst>
        </p:spPr>
      </p:sp>
      <p:sp>
        <p:nvSpPr>
          <p:cNvPr id="8" name="Shape 4"/>
          <p:cNvSpPr/>
          <p:nvPr/>
        </p:nvSpPr>
        <p:spPr>
          <a:xfrm>
            <a:off x="6172200" y="1024128"/>
            <a:ext cx="64008" cy="713232"/>
          </a:xfrm>
          <a:prstGeom prst="rect">
            <a:avLst/>
          </a:prstGeom>
          <a:solidFill>
            <a:srgbClr val="2F5597"/>
          </a:solidFill>
          <a:ln/>
        </p:spPr>
      </p:sp>
      <p:sp>
        <p:nvSpPr>
          <p:cNvPr id="9" name="Text 5"/>
          <p:cNvSpPr/>
          <p:nvPr/>
        </p:nvSpPr>
        <p:spPr>
          <a:xfrm>
            <a:off x="6355080" y="1060704"/>
            <a:ext cx="5394960" cy="237744"/>
          </a:xfrm>
          <a:prstGeom prst="rect">
            <a:avLst/>
          </a:prstGeom>
          <a:noFill/>
          <a:ln/>
        </p:spPr>
        <p:txBody>
          <a:bodyPr wrap="square" lIns="0" tIns="0" rIns="0" bIns="0" rtlCol="0" anchor="ctr"/>
          <a:lstStyle/>
          <a:p>
            <a:pPr indent="0" marL="0">
              <a:buNone/>
            </a:pPr>
            <a:r>
              <a:rPr lang="en-US" sz="1300" b="1" dirty="0">
                <a:solidFill>
                  <a:srgbClr val="2F5597"/>
                </a:solidFill>
                <a:latin typeface="Calibri" pitchFamily="34" charset="0"/>
                <a:ea typeface="Calibri" pitchFamily="34" charset="-122"/>
                <a:cs typeface="Calibri" pitchFamily="34" charset="-120"/>
              </a:rPr>
              <a:t>Heterogeneous relations</a:t>
            </a:r>
            <a:endParaRPr lang="en-US" sz="1300" dirty="0"/>
          </a:p>
        </p:txBody>
      </p:sp>
      <p:sp>
        <p:nvSpPr>
          <p:cNvPr id="10" name="Text 6"/>
          <p:cNvSpPr/>
          <p:nvPr/>
        </p:nvSpPr>
        <p:spPr>
          <a:xfrm>
            <a:off x="6355080" y="1298448"/>
            <a:ext cx="5394960" cy="384048"/>
          </a:xfrm>
          <a:prstGeom prst="rect">
            <a:avLst/>
          </a:prstGeom>
          <a:noFill/>
          <a:ln/>
        </p:spPr>
        <p:txBody>
          <a:bodyPr wrap="square" lIns="0" tIns="0" rIns="0" bIns="0" rtlCol="0" anchor="ctr"/>
          <a:lstStyle/>
          <a:p>
            <a:pPr indent="0" marL="0">
              <a:buNone/>
            </a:pPr>
            <a:r>
              <a:rPr lang="en-US" sz="1200" dirty="0">
                <a:solidFill>
                  <a:srgbClr val="1F2A44"/>
                </a:solidFill>
                <a:latin typeface="Calibri" pitchFamily="34" charset="0"/>
                <a:ea typeface="Calibri" pitchFamily="34" charset="-122"/>
                <a:cs typeface="Calibri" pitchFamily="34" charset="-120"/>
              </a:rPr>
              <a:t>+15.10 pp decisiveness</a:t>
            </a:r>
            <a:endParaRPr lang="en-US" sz="1200" dirty="0"/>
          </a:p>
          <a:p>
            <a:pPr indent="0" marL="0">
              <a:buNone/>
            </a:pPr>
            <a:r>
              <a:rPr lang="en-US" sz="1200" dirty="0">
                <a:solidFill>
                  <a:srgbClr val="1F2A44"/>
                </a:solidFill>
                <a:latin typeface="Calibri" pitchFamily="34" charset="0"/>
                <a:ea typeface="Calibri" pitchFamily="34" charset="-122"/>
                <a:cs typeface="Calibri" pitchFamily="34" charset="-120"/>
              </a:rPr>
              <a:t>vs. Homogeneous Graph MAPPO</a:t>
            </a:r>
            <a:endParaRPr lang="en-US" sz="1200" dirty="0"/>
          </a:p>
        </p:txBody>
      </p:sp>
      <p:sp>
        <p:nvSpPr>
          <p:cNvPr id="11" name="Shape 7"/>
          <p:cNvSpPr/>
          <p:nvPr/>
        </p:nvSpPr>
        <p:spPr>
          <a:xfrm>
            <a:off x="6172200" y="1801368"/>
            <a:ext cx="5715000" cy="713232"/>
          </a:xfrm>
          <a:prstGeom prst="roundRect">
            <a:avLst>
              <a:gd name="adj" fmla="val 10256"/>
            </a:avLst>
          </a:prstGeom>
          <a:solidFill>
            <a:srgbClr val="FFFFFF"/>
          </a:solidFill>
          <a:ln/>
          <a:effectLst>
            <a:outerShdw sx="100000" sy="100000" kx="0" ky="0" algn="bl" rotWithShape="0" blurRad="50800" dist="12700" dir="16200000">
              <a:srgbClr val="1F2A44">
                <a:alpha val="12000"/>
              </a:srgbClr>
            </a:outerShdw>
          </a:effectLst>
        </p:spPr>
      </p:sp>
      <p:sp>
        <p:nvSpPr>
          <p:cNvPr id="12" name="Shape 8"/>
          <p:cNvSpPr/>
          <p:nvPr/>
        </p:nvSpPr>
        <p:spPr>
          <a:xfrm>
            <a:off x="6172200" y="1801368"/>
            <a:ext cx="64008" cy="713232"/>
          </a:xfrm>
          <a:prstGeom prst="rect">
            <a:avLst/>
          </a:prstGeom>
          <a:solidFill>
            <a:srgbClr val="2F5597"/>
          </a:solidFill>
          <a:ln/>
        </p:spPr>
      </p:sp>
      <p:sp>
        <p:nvSpPr>
          <p:cNvPr id="13" name="Text 9"/>
          <p:cNvSpPr/>
          <p:nvPr/>
        </p:nvSpPr>
        <p:spPr>
          <a:xfrm>
            <a:off x="6355080" y="1837944"/>
            <a:ext cx="5394960" cy="237744"/>
          </a:xfrm>
          <a:prstGeom prst="rect">
            <a:avLst/>
          </a:prstGeom>
          <a:noFill/>
          <a:ln/>
        </p:spPr>
        <p:txBody>
          <a:bodyPr wrap="square" lIns="0" tIns="0" rIns="0" bIns="0" rtlCol="0" anchor="ctr"/>
          <a:lstStyle/>
          <a:p>
            <a:pPr indent="0" marL="0">
              <a:buNone/>
            </a:pPr>
            <a:r>
              <a:rPr lang="en-US" sz="1300" b="1" dirty="0">
                <a:solidFill>
                  <a:srgbClr val="ED7D31"/>
                </a:solidFill>
                <a:latin typeface="Calibri" pitchFamily="34" charset="0"/>
                <a:ea typeface="Calibri" pitchFamily="34" charset="-122"/>
                <a:cs typeface="Calibri" pitchFamily="34" charset="-120"/>
              </a:rPr>
              <a:t>Revisit memory</a:t>
            </a:r>
            <a:endParaRPr lang="en-US" sz="1300" dirty="0"/>
          </a:p>
        </p:txBody>
      </p:sp>
      <p:sp>
        <p:nvSpPr>
          <p:cNvPr id="14" name="Text 10"/>
          <p:cNvSpPr/>
          <p:nvPr/>
        </p:nvSpPr>
        <p:spPr>
          <a:xfrm>
            <a:off x="6355080" y="2075688"/>
            <a:ext cx="5394960" cy="384048"/>
          </a:xfrm>
          <a:prstGeom prst="rect">
            <a:avLst/>
          </a:prstGeom>
          <a:noFill/>
          <a:ln/>
        </p:spPr>
        <p:txBody>
          <a:bodyPr wrap="square" lIns="0" tIns="0" rIns="0" bIns="0" rtlCol="0" anchor="ctr"/>
          <a:lstStyle/>
          <a:p>
            <a:pPr indent="0" marL="0">
              <a:buNone/>
            </a:pPr>
            <a:r>
              <a:rPr lang="en-US" sz="1200" dirty="0">
                <a:solidFill>
                  <a:srgbClr val="1F2A44"/>
                </a:solidFill>
                <a:latin typeface="Calibri" pitchFamily="34" charset="0"/>
                <a:ea typeface="Calibri" pitchFamily="34" charset="-122"/>
                <a:cs typeface="Calibri" pitchFamily="34" charset="-120"/>
              </a:rPr>
              <a:t>−16.33 pp decisiveness</a:t>
            </a:r>
            <a:endParaRPr lang="en-US" sz="1200" dirty="0"/>
          </a:p>
          <a:p>
            <a:pPr indent="0" marL="0">
              <a:buNone/>
            </a:pPr>
            <a:r>
              <a:rPr lang="en-US" sz="1200" dirty="0">
                <a:solidFill>
                  <a:srgbClr val="1F2A44"/>
                </a:solidFill>
                <a:latin typeface="Calibri" pitchFamily="34" charset="0"/>
                <a:ea typeface="Calibri" pitchFamily="34" charset="-122"/>
                <a:cs typeface="Calibri" pitchFamily="34" charset="-120"/>
              </a:rPr>
              <a:t>−13.67 pp discovery when removed</a:t>
            </a:r>
            <a:endParaRPr lang="en-US" sz="1200" dirty="0"/>
          </a:p>
        </p:txBody>
      </p:sp>
      <p:sp>
        <p:nvSpPr>
          <p:cNvPr id="15" name="Shape 11"/>
          <p:cNvSpPr/>
          <p:nvPr/>
        </p:nvSpPr>
        <p:spPr>
          <a:xfrm>
            <a:off x="6172200" y="2578608"/>
            <a:ext cx="5715000" cy="713232"/>
          </a:xfrm>
          <a:prstGeom prst="roundRect">
            <a:avLst>
              <a:gd name="adj" fmla="val 10256"/>
            </a:avLst>
          </a:prstGeom>
          <a:solidFill>
            <a:srgbClr val="FFFFFF"/>
          </a:solidFill>
          <a:ln/>
          <a:effectLst>
            <a:outerShdw sx="100000" sy="100000" kx="0" ky="0" algn="bl" rotWithShape="0" blurRad="50800" dist="12700" dir="16200000">
              <a:srgbClr val="1F2A44">
                <a:alpha val="12000"/>
              </a:srgbClr>
            </a:outerShdw>
          </a:effectLst>
        </p:spPr>
      </p:sp>
      <p:sp>
        <p:nvSpPr>
          <p:cNvPr id="16" name="Shape 12"/>
          <p:cNvSpPr/>
          <p:nvPr/>
        </p:nvSpPr>
        <p:spPr>
          <a:xfrm>
            <a:off x="6172200" y="2578608"/>
            <a:ext cx="64008" cy="713232"/>
          </a:xfrm>
          <a:prstGeom prst="rect">
            <a:avLst/>
          </a:prstGeom>
          <a:solidFill>
            <a:srgbClr val="2F5597"/>
          </a:solidFill>
          <a:ln/>
        </p:spPr>
      </p:sp>
      <p:sp>
        <p:nvSpPr>
          <p:cNvPr id="17" name="Text 13"/>
          <p:cNvSpPr/>
          <p:nvPr/>
        </p:nvSpPr>
        <p:spPr>
          <a:xfrm>
            <a:off x="6355080" y="2615184"/>
            <a:ext cx="5394960" cy="237744"/>
          </a:xfrm>
          <a:prstGeom prst="rect">
            <a:avLst/>
          </a:prstGeom>
          <a:noFill/>
          <a:ln/>
        </p:spPr>
        <p:txBody>
          <a:bodyPr wrap="square" lIns="0" tIns="0" rIns="0" bIns="0"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History weighting</a:t>
            </a:r>
            <a:endParaRPr lang="en-US" sz="1300" dirty="0"/>
          </a:p>
        </p:txBody>
      </p:sp>
      <p:sp>
        <p:nvSpPr>
          <p:cNvPr id="18" name="Text 14"/>
          <p:cNvSpPr/>
          <p:nvPr/>
        </p:nvSpPr>
        <p:spPr>
          <a:xfrm>
            <a:off x="6355080" y="2852928"/>
            <a:ext cx="5394960" cy="384048"/>
          </a:xfrm>
          <a:prstGeom prst="rect">
            <a:avLst/>
          </a:prstGeom>
          <a:noFill/>
          <a:ln/>
        </p:spPr>
        <p:txBody>
          <a:bodyPr wrap="square" lIns="0" tIns="0" rIns="0" bIns="0" rtlCol="0" anchor="ctr"/>
          <a:lstStyle/>
          <a:p>
            <a:pPr indent="0" marL="0">
              <a:buNone/>
            </a:pPr>
            <a:r>
              <a:rPr lang="en-US" sz="1200" dirty="0">
                <a:solidFill>
                  <a:srgbClr val="1F2A44"/>
                </a:solidFill>
                <a:latin typeface="Calibri" pitchFamily="34" charset="0"/>
                <a:ea typeface="Calibri" pitchFamily="34" charset="-122"/>
                <a:cs typeface="Calibri" pitchFamily="34" charset="-120"/>
              </a:rPr>
              <a:t>−8.16 pp decisiveness when removed</a:t>
            </a:r>
            <a:endParaRPr lang="en-US" sz="1200" dirty="0"/>
          </a:p>
          <a:p>
            <a:pPr indent="0" marL="0">
              <a:buNone/>
            </a:pPr>
            <a:r>
              <a:rPr lang="en-US" sz="1200" dirty="0">
                <a:solidFill>
                  <a:srgbClr val="1F2A44"/>
                </a:solidFill>
                <a:latin typeface="Calibri" pitchFamily="34" charset="0"/>
                <a:ea typeface="Calibri" pitchFamily="34" charset="-122"/>
                <a:cs typeface="Calibri" pitchFamily="34" charset="-120"/>
              </a:rPr>
              <a:t>T80 88.63→98.19; success 82.0% vs 86.7%</a:t>
            </a:r>
            <a:endParaRPr lang="en-US" sz="1200" dirty="0"/>
          </a:p>
        </p:txBody>
      </p:sp>
      <p:pic>
        <p:nvPicPr>
          <p:cNvPr id="19" name="Image 1" descr="/tmp/ppt-work/assets/fig4.png">    </p:cNvPr>
          <p:cNvPicPr>
            <a:picLocks noChangeAspect="1"/>
          </p:cNvPicPr>
          <p:nvPr/>
        </p:nvPicPr>
        <p:blipFill>
          <a:blip r:embed="rId3"/>
          <a:stretch>
            <a:fillRect/>
          </a:stretch>
        </p:blipFill>
        <p:spPr>
          <a:xfrm>
            <a:off x="3021904" y="3401568"/>
            <a:ext cx="6117712" cy="2029968"/>
          </a:xfrm>
          <a:prstGeom prst="rect">
            <a:avLst/>
          </a:prstGeom>
        </p:spPr>
      </p:pic>
      <p:sp>
        <p:nvSpPr>
          <p:cNvPr id="20" name="Text 15"/>
          <p:cNvSpPr/>
          <p:nvPr/>
        </p:nvSpPr>
        <p:spPr>
          <a:xfrm>
            <a:off x="274320" y="5449824"/>
            <a:ext cx="11612880" cy="256032"/>
          </a:xfrm>
          <a:prstGeom prst="rect">
            <a:avLst/>
          </a:prstGeom>
          <a:noFill/>
          <a:ln/>
        </p:spPr>
        <p:txBody>
          <a:bodyPr wrap="square" lIns="0" tIns="0" rIns="0" bIns="0" rtlCol="0" anchor="ctr"/>
          <a:lstStyle/>
          <a:p>
            <a:pPr indent="0" marL="0">
              <a:buNone/>
            </a:pPr>
            <a:r>
              <a:rPr lang="en-US" sz="1200" i="1" dirty="0">
                <a:solidFill>
                  <a:srgbClr val="1E3F73"/>
                </a:solidFill>
                <a:latin typeface="Calibri" pitchFamily="34" charset="0"/>
                <a:ea typeface="Calibri" pitchFamily="34" charset="-122"/>
                <a:cs typeface="Calibri" pitchFamily="34" charset="-120"/>
              </a:rPr>
              <a:t>Do not walk all six panels.  Cite target speed and Rc / outage; mean discovery stays higher in the tested ranges.</a:t>
            </a:r>
            <a:endParaRPr lang="en-US" sz="1200" dirty="0"/>
          </a:p>
        </p:txBody>
      </p:sp>
      <p:sp>
        <p:nvSpPr>
          <p:cNvPr id="21" name="Shape 16"/>
          <p:cNvSpPr/>
          <p:nvPr/>
        </p:nvSpPr>
        <p:spPr>
          <a:xfrm>
            <a:off x="256032" y="5742432"/>
            <a:ext cx="11686032" cy="621792"/>
          </a:xfrm>
          <a:prstGeom prst="roundRect">
            <a:avLst>
              <a:gd name="adj" fmla="val 11765"/>
            </a:avLst>
          </a:prstGeom>
          <a:solidFill>
            <a:srgbClr val="EAF0F8"/>
          </a:solidFill>
          <a:ln/>
          <a:effectLst>
            <a:outerShdw sx="100000" sy="100000" kx="0" ky="0" algn="bl" rotWithShape="0" blurRad="50800" dist="12700" dir="16200000">
              <a:srgbClr val="1F2A44">
                <a:alpha val="12000"/>
              </a:srgbClr>
            </a:outerShdw>
          </a:effectLst>
        </p:spPr>
      </p:sp>
      <p:sp>
        <p:nvSpPr>
          <p:cNvPr id="22" name="Text 17"/>
          <p:cNvSpPr/>
          <p:nvPr/>
        </p:nvSpPr>
        <p:spPr>
          <a:xfrm>
            <a:off x="384048" y="5742432"/>
            <a:ext cx="11430000" cy="621792"/>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Trade-off to state: w/o history  T80 success 86.7% vs Full 82.0%, but conditional T80 98.19 vs 88.63 and Ct 53.99 vs 62.15.</a:t>
            </a:r>
            <a:endParaRPr lang="en-US" sz="1300" dirty="0"/>
          </a:p>
        </p:txBody>
      </p:sp>
      <p:sp>
        <p:nvSpPr>
          <p:cNvPr id="23" name="Shape 18"/>
          <p:cNvSpPr/>
          <p:nvPr/>
        </p:nvSpPr>
        <p:spPr>
          <a:xfrm>
            <a:off x="0" y="6784848"/>
            <a:ext cx="12191695" cy="73152"/>
          </a:xfrm>
          <a:prstGeom prst="rect">
            <a:avLst/>
          </a:prstGeom>
          <a:solidFill>
            <a:srgbClr val="2F5597"/>
          </a:solidFill>
          <a:ln/>
        </p:spPr>
      </p:sp>
      <p:sp>
        <p:nvSpPr>
          <p:cNvPr id="24" name="Text 19"/>
          <p:cNvSpPr/>
          <p:nvPr/>
        </p:nvSpPr>
        <p:spPr>
          <a:xfrm>
            <a:off x="347472" y="6492240"/>
            <a:ext cx="10881360" cy="256032"/>
          </a:xfrm>
          <a:prstGeom prst="rect">
            <a:avLst/>
          </a:prstGeom>
          <a:noFill/>
          <a:ln/>
        </p:spPr>
        <p:txBody>
          <a:bodyPr wrap="square" lIns="0" tIns="0" rIns="0" bIns="0" rtlCol="0" anchor="ctr"/>
          <a:lstStyle/>
          <a:p>
            <a:pPr indent="0" marL="0">
              <a:buNone/>
            </a:pPr>
            <a:r>
              <a:rPr lang="en-US" sz="1100" dirty="0">
                <a:solidFill>
                  <a:srgbClr val="5A6A80"/>
                </a:solidFill>
                <a:latin typeface="Calibri" pitchFamily="34" charset="0"/>
                <a:ea typeface="Calibri" pitchFamily="34" charset="-122"/>
                <a:cs typeface="Calibri" pitchFamily="34" charset="-120"/>
              </a:rPr>
              <a:t>CAC 2026  ·  IC-HGAT-MAPPO  ·  Dec-POMDP / CTDE / HGAT / MAPPO</a:t>
            </a:r>
            <a:endParaRPr lang="en-US" sz="1100" dirty="0"/>
          </a:p>
        </p:txBody>
      </p:sp>
      <p:sp>
        <p:nvSpPr>
          <p:cNvPr id="25" name="Text 20"/>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Calibri" pitchFamily="34" charset="0"/>
                <a:ea typeface="Calibri" pitchFamily="34" charset="-122"/>
                <a:cs typeface="Calibri" pitchFamily="34" charset="-120"/>
              </a:rPr>
              <a:t>11</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37578" y="54864"/>
            <a:ext cx="715196" cy="493776"/>
          </a:xfrm>
          <a:prstGeom prst="rect">
            <a:avLst/>
          </a:prstGeom>
        </p:spPr>
      </p:pic>
      <p:sp>
        <p:nvSpPr>
          <p:cNvPr id="3" name="Text 0"/>
          <p:cNvSpPr/>
          <p:nvPr/>
        </p:nvSpPr>
        <p:spPr>
          <a:xfrm>
            <a:off x="347472" y="73152"/>
            <a:ext cx="10698480" cy="438912"/>
          </a:xfrm>
          <a:prstGeom prst="rect">
            <a:avLst/>
          </a:prstGeom>
          <a:noFill/>
          <a:ln/>
        </p:spPr>
        <p:txBody>
          <a:bodyPr wrap="square" lIns="0" tIns="0" rIns="0" bIns="0" rtlCol="0" anchor="ctr"/>
          <a:lstStyle/>
          <a:p>
            <a:pPr indent="0" marL="0">
              <a:buNone/>
            </a:pPr>
            <a:r>
              <a:rPr lang="en-US" sz="2600" b="1" dirty="0">
                <a:solidFill>
                  <a:srgbClr val="2F5597"/>
                </a:solidFill>
                <a:latin typeface="Calibri" pitchFamily="34" charset="0"/>
                <a:ea typeface="Calibri" pitchFamily="34" charset="-122"/>
                <a:cs typeface="Calibri" pitchFamily="34" charset="-120"/>
              </a:rPr>
              <a:t>4. Summary and Future Plan</a:t>
            </a:r>
            <a:endParaRPr lang="en-US" sz="2600" dirty="0"/>
          </a:p>
        </p:txBody>
      </p:sp>
      <p:sp>
        <p:nvSpPr>
          <p:cNvPr id="4" name="Shape 1"/>
          <p:cNvSpPr/>
          <p:nvPr/>
        </p:nvSpPr>
        <p:spPr>
          <a:xfrm>
            <a:off x="0" y="566928"/>
            <a:ext cx="12191695" cy="475488"/>
          </a:xfrm>
          <a:prstGeom prst="rect">
            <a:avLst/>
          </a:prstGeom>
          <a:solidFill>
            <a:srgbClr val="2F5597"/>
          </a:solidFill>
          <a:ln/>
        </p:spPr>
      </p:sp>
      <p:sp>
        <p:nvSpPr>
          <p:cNvPr id="5" name="Text 2"/>
          <p:cNvSpPr/>
          <p:nvPr/>
        </p:nvSpPr>
        <p:spPr>
          <a:xfrm>
            <a:off x="347472" y="585216"/>
            <a:ext cx="11430000" cy="43891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Contributions, results, and next steps</a:t>
            </a:r>
            <a:endParaRPr lang="en-US" sz="2000" dirty="0"/>
          </a:p>
        </p:txBody>
      </p:sp>
      <p:sp>
        <p:nvSpPr>
          <p:cNvPr id="6" name="Shape 3"/>
          <p:cNvSpPr/>
          <p:nvPr/>
        </p:nvSpPr>
        <p:spPr>
          <a:xfrm>
            <a:off x="320040" y="1078992"/>
            <a:ext cx="11539728" cy="768096"/>
          </a:xfrm>
          <a:prstGeom prst="roundRect">
            <a:avLst>
              <a:gd name="adj" fmla="val 9524"/>
            </a:avLst>
          </a:prstGeom>
          <a:solidFill>
            <a:srgbClr val="EAF0F8"/>
          </a:solidFill>
          <a:ln/>
          <a:effectLst>
            <a:outerShdw sx="100000" sy="100000" kx="0" ky="0" algn="bl" rotWithShape="0" blurRad="50800" dist="12700" dir="16200000">
              <a:srgbClr val="1F2A44">
                <a:alpha val="12000"/>
              </a:srgbClr>
            </a:outerShdw>
          </a:effectLst>
        </p:spPr>
      </p:sp>
      <p:sp>
        <p:nvSpPr>
          <p:cNvPr id="7" name="Shape 4"/>
          <p:cNvSpPr/>
          <p:nvPr/>
        </p:nvSpPr>
        <p:spPr>
          <a:xfrm>
            <a:off x="320040" y="1078992"/>
            <a:ext cx="64008" cy="768096"/>
          </a:xfrm>
          <a:prstGeom prst="rect">
            <a:avLst/>
          </a:prstGeom>
          <a:solidFill>
            <a:srgbClr val="2F5597"/>
          </a:solidFill>
          <a:ln/>
        </p:spPr>
      </p:sp>
      <p:sp>
        <p:nvSpPr>
          <p:cNvPr id="8" name="Text 5"/>
          <p:cNvSpPr/>
          <p:nvPr/>
        </p:nvSpPr>
        <p:spPr>
          <a:xfrm>
            <a:off x="502920" y="1115568"/>
            <a:ext cx="11173968" cy="292608"/>
          </a:xfrm>
          <a:prstGeom prst="rect">
            <a:avLst/>
          </a:prstGeom>
          <a:noFill/>
          <a:ln/>
        </p:spPr>
        <p:txBody>
          <a:bodyPr wrap="square" lIns="0" tIns="0" rIns="0" bIns="0" rtlCol="0" anchor="ctr"/>
          <a:lstStyle/>
          <a:p>
            <a:pPr indent="0" marL="0">
              <a:buNone/>
            </a:pPr>
            <a:r>
              <a:rPr lang="en-US" sz="1600" b="1" dirty="0">
                <a:solidFill>
                  <a:srgbClr val="1E3F73"/>
                </a:solidFill>
                <a:latin typeface="Calibri" pitchFamily="34" charset="0"/>
                <a:ea typeface="Calibri" pitchFamily="34" charset="-122"/>
                <a:cs typeface="Calibri" pitchFamily="34" charset="-120"/>
              </a:rPr>
              <a:t>1. Communication-Constrained Decision Making</a:t>
            </a:r>
            <a:endParaRPr lang="en-US" sz="1600" dirty="0"/>
          </a:p>
        </p:txBody>
      </p:sp>
      <p:sp>
        <p:nvSpPr>
          <p:cNvPr id="9" name="Text 6"/>
          <p:cNvSpPr/>
          <p:nvPr/>
        </p:nvSpPr>
        <p:spPr>
          <a:xfrm>
            <a:off x="502920" y="1408176"/>
            <a:ext cx="11173968" cy="36576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Decentralized policies use only local observations and reachable peer information.</a:t>
            </a:r>
            <a:endParaRPr lang="en-US" sz="1400" dirty="0"/>
          </a:p>
        </p:txBody>
      </p:sp>
      <p:sp>
        <p:nvSpPr>
          <p:cNvPr id="10" name="Shape 7"/>
          <p:cNvSpPr/>
          <p:nvPr/>
        </p:nvSpPr>
        <p:spPr>
          <a:xfrm>
            <a:off x="320040" y="1920240"/>
            <a:ext cx="11539728" cy="768096"/>
          </a:xfrm>
          <a:prstGeom prst="roundRect">
            <a:avLst>
              <a:gd name="adj" fmla="val 9524"/>
            </a:avLst>
          </a:prstGeom>
          <a:solidFill>
            <a:srgbClr val="FFF3E8"/>
          </a:solidFill>
          <a:ln/>
          <a:effectLst>
            <a:outerShdw sx="100000" sy="100000" kx="0" ky="0" algn="bl" rotWithShape="0" blurRad="50800" dist="12700" dir="16200000">
              <a:srgbClr val="1F2A44">
                <a:alpha val="12000"/>
              </a:srgbClr>
            </a:outerShdw>
          </a:effectLst>
        </p:spPr>
      </p:sp>
      <p:sp>
        <p:nvSpPr>
          <p:cNvPr id="11" name="Shape 8"/>
          <p:cNvSpPr/>
          <p:nvPr/>
        </p:nvSpPr>
        <p:spPr>
          <a:xfrm>
            <a:off x="320040" y="1920240"/>
            <a:ext cx="64008" cy="768096"/>
          </a:xfrm>
          <a:prstGeom prst="rect">
            <a:avLst/>
          </a:prstGeom>
          <a:solidFill>
            <a:srgbClr val="2F5597"/>
          </a:solidFill>
          <a:ln/>
        </p:spPr>
      </p:sp>
      <p:sp>
        <p:nvSpPr>
          <p:cNvPr id="12" name="Text 9"/>
          <p:cNvSpPr/>
          <p:nvPr/>
        </p:nvSpPr>
        <p:spPr>
          <a:xfrm>
            <a:off x="502920" y="1956816"/>
            <a:ext cx="11173968" cy="292608"/>
          </a:xfrm>
          <a:prstGeom prst="rect">
            <a:avLst/>
          </a:prstGeom>
          <a:noFill/>
          <a:ln/>
        </p:spPr>
        <p:txBody>
          <a:bodyPr wrap="square" lIns="0" tIns="0" rIns="0" bIns="0" rtlCol="0" anchor="ctr"/>
          <a:lstStyle/>
          <a:p>
            <a:pPr indent="0" marL="0">
              <a:buNone/>
            </a:pPr>
            <a:r>
              <a:rPr lang="en-US" sz="1600" b="1" dirty="0">
                <a:solidFill>
                  <a:srgbClr val="1E3F73"/>
                </a:solidFill>
                <a:latin typeface="Calibri" pitchFamily="34" charset="0"/>
                <a:ea typeface="Calibri" pitchFamily="34" charset="-122"/>
                <a:cs typeface="Calibri" pitchFamily="34" charset="-120"/>
              </a:rPr>
              <a:t>2. Belief Management</a:t>
            </a:r>
            <a:endParaRPr lang="en-US" sz="1600" dirty="0"/>
          </a:p>
        </p:txBody>
      </p:sp>
      <p:sp>
        <p:nvSpPr>
          <p:cNvPr id="13" name="Text 10"/>
          <p:cNvSpPr/>
          <p:nvPr/>
        </p:nvSpPr>
        <p:spPr>
          <a:xfrm>
            <a:off x="502920" y="2249424"/>
            <a:ext cx="11173968" cy="36576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Revisit-aware P/E/R memory + communication-history-aware source selection.</a:t>
            </a:r>
            <a:endParaRPr lang="en-US" sz="1400" dirty="0"/>
          </a:p>
        </p:txBody>
      </p:sp>
      <p:sp>
        <p:nvSpPr>
          <p:cNvPr id="14" name="Shape 11"/>
          <p:cNvSpPr/>
          <p:nvPr/>
        </p:nvSpPr>
        <p:spPr>
          <a:xfrm>
            <a:off x="320040" y="2761488"/>
            <a:ext cx="11539728" cy="768096"/>
          </a:xfrm>
          <a:prstGeom prst="roundRect">
            <a:avLst>
              <a:gd name="adj" fmla="val 9524"/>
            </a:avLst>
          </a:prstGeom>
          <a:solidFill>
            <a:srgbClr val="EAF0F8"/>
          </a:solidFill>
          <a:ln/>
          <a:effectLst>
            <a:outerShdw sx="100000" sy="100000" kx="0" ky="0" algn="bl" rotWithShape="0" blurRad="50800" dist="12700" dir="16200000">
              <a:srgbClr val="1F2A44">
                <a:alpha val="12000"/>
              </a:srgbClr>
            </a:outerShdw>
          </a:effectLst>
        </p:spPr>
      </p:sp>
      <p:sp>
        <p:nvSpPr>
          <p:cNvPr id="15" name="Shape 12"/>
          <p:cNvSpPr/>
          <p:nvPr/>
        </p:nvSpPr>
        <p:spPr>
          <a:xfrm>
            <a:off x="320040" y="2761488"/>
            <a:ext cx="64008" cy="768096"/>
          </a:xfrm>
          <a:prstGeom prst="rect">
            <a:avLst/>
          </a:prstGeom>
          <a:solidFill>
            <a:srgbClr val="2F5597"/>
          </a:solidFill>
          <a:ln/>
        </p:spPr>
      </p:sp>
      <p:sp>
        <p:nvSpPr>
          <p:cNvPr id="16" name="Text 13"/>
          <p:cNvSpPr/>
          <p:nvPr/>
        </p:nvSpPr>
        <p:spPr>
          <a:xfrm>
            <a:off x="502920" y="2798064"/>
            <a:ext cx="11173968" cy="292608"/>
          </a:xfrm>
          <a:prstGeom prst="rect">
            <a:avLst/>
          </a:prstGeom>
          <a:noFill/>
          <a:ln/>
        </p:spPr>
        <p:txBody>
          <a:bodyPr wrap="square" lIns="0" tIns="0" rIns="0" bIns="0" rtlCol="0" anchor="ctr"/>
          <a:lstStyle/>
          <a:p>
            <a:pPr indent="0" marL="0">
              <a:buNone/>
            </a:pPr>
            <a:r>
              <a:rPr lang="en-US" sz="1600" b="1" dirty="0">
                <a:solidFill>
                  <a:srgbClr val="1E3F73"/>
                </a:solidFill>
                <a:latin typeface="Calibri" pitchFamily="34" charset="0"/>
                <a:ea typeface="Calibri" pitchFamily="34" charset="-122"/>
                <a:cs typeface="Calibri" pitchFamily="34" charset="-120"/>
              </a:rPr>
              <a:t>3. Heterogeneous Relational Encoding</a:t>
            </a:r>
            <a:endParaRPr lang="en-US" sz="1600" dirty="0"/>
          </a:p>
        </p:txBody>
      </p:sp>
      <p:sp>
        <p:nvSpPr>
          <p:cNvPr id="17" name="Text 14"/>
          <p:cNvSpPr/>
          <p:nvPr/>
        </p:nvSpPr>
        <p:spPr>
          <a:xfrm>
            <a:off x="502920" y="3090672"/>
            <a:ext cx="11173968" cy="36576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HGAT explicitly models peer, task and obstacle relations within MAPPO.</a:t>
            </a:r>
            <a:endParaRPr lang="en-US" sz="1400" dirty="0"/>
          </a:p>
        </p:txBody>
      </p:sp>
      <p:sp>
        <p:nvSpPr>
          <p:cNvPr id="18" name="Shape 15"/>
          <p:cNvSpPr/>
          <p:nvPr/>
        </p:nvSpPr>
        <p:spPr>
          <a:xfrm>
            <a:off x="320040" y="3639312"/>
            <a:ext cx="11539728" cy="658368"/>
          </a:xfrm>
          <a:prstGeom prst="roundRect">
            <a:avLst>
              <a:gd name="adj" fmla="val 11111"/>
            </a:avLst>
          </a:prstGeom>
          <a:solidFill>
            <a:srgbClr val="2F5597"/>
          </a:solidFill>
          <a:ln/>
        </p:spPr>
      </p:sp>
      <p:sp>
        <p:nvSpPr>
          <p:cNvPr id="19" name="Text 16"/>
          <p:cNvSpPr/>
          <p:nvPr/>
        </p:nvSpPr>
        <p:spPr>
          <a:xfrm>
            <a:off x="457200" y="3639312"/>
            <a:ext cx="11265408" cy="65836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62.15%  Ct     ·     86.78%  Dt     ·     82.0%  T80 success     ·     88.63 steps | success</a:t>
            </a:r>
            <a:endParaRPr lang="en-US" sz="1800" dirty="0"/>
          </a:p>
        </p:txBody>
      </p:sp>
      <p:sp>
        <p:nvSpPr>
          <p:cNvPr id="20" name="Shape 17"/>
          <p:cNvSpPr/>
          <p:nvPr/>
        </p:nvSpPr>
        <p:spPr>
          <a:xfrm>
            <a:off x="320040" y="4389120"/>
            <a:ext cx="11539728" cy="566928"/>
          </a:xfrm>
          <a:prstGeom prst="roundRect">
            <a:avLst>
              <a:gd name="adj" fmla="val 12903"/>
            </a:avLst>
          </a:prstGeom>
          <a:solidFill>
            <a:srgbClr val="FFFFFF"/>
          </a:solidFill>
          <a:ln/>
          <a:effectLst>
            <a:outerShdw sx="100000" sy="100000" kx="0" ky="0" algn="bl" rotWithShape="0" blurRad="50800" dist="12700" dir="16200000">
              <a:srgbClr val="1F2A44">
                <a:alpha val="12000"/>
              </a:srgbClr>
            </a:outerShdw>
          </a:effectLst>
        </p:spPr>
      </p:sp>
      <p:sp>
        <p:nvSpPr>
          <p:cNvPr id="21" name="Text 18"/>
          <p:cNvSpPr/>
          <p:nvPr/>
        </p:nvSpPr>
        <p:spPr>
          <a:xfrm>
            <a:off x="457200" y="4389120"/>
            <a:ext cx="11265408" cy="566928"/>
          </a:xfrm>
          <a:prstGeom prst="rect">
            <a:avLst/>
          </a:prstGeom>
          <a:noFill/>
          <a:ln/>
        </p:spPr>
        <p:txBody>
          <a:bodyPr wrap="square" lIns="0" tIns="0" rIns="0" bIns="0" rtlCol="0" anchor="ctr"/>
          <a:lstStyle/>
          <a:p>
            <a:pPr algn="ctr" indent="0" marL="0">
              <a:buNone/>
            </a:pPr>
            <a:r>
              <a:rPr lang="en-US" sz="1400" dirty="0">
                <a:solidFill>
                  <a:srgbClr val="1F2A44"/>
                </a:solidFill>
                <a:latin typeface="Calibri" pitchFamily="34" charset="0"/>
                <a:ea typeface="Calibri" pitchFamily="34" charset="-122"/>
                <a:cs typeface="Calibri" pitchFamily="34" charset="-120"/>
              </a:rPr>
              <a:t>Key identities:  r_t = lambda_D dD_t + lambda_C dC_t - lambda_safe c_t     ·     attention = softmax(QK/sqrt(d) + log chi - k_r d_ik)</a:t>
            </a:r>
            <a:endParaRPr lang="en-US" sz="1400" dirty="0"/>
          </a:p>
        </p:txBody>
      </p:sp>
      <p:sp>
        <p:nvSpPr>
          <p:cNvPr id="22" name="Text 19"/>
          <p:cNvSpPr/>
          <p:nvPr/>
        </p:nvSpPr>
        <p:spPr>
          <a:xfrm>
            <a:off x="365760" y="5029200"/>
            <a:ext cx="11430000" cy="256032"/>
          </a:xfrm>
          <a:prstGeom prst="rect">
            <a:avLst/>
          </a:prstGeom>
          <a:noFill/>
          <a:ln/>
        </p:spPr>
        <p:txBody>
          <a:bodyPr wrap="square" lIns="0" tIns="0" rIns="0" bIns="0" rtlCol="0" anchor="ctr"/>
          <a:lstStyle/>
          <a:p>
            <a:pPr indent="0" marL="0">
              <a:buNone/>
            </a:pPr>
            <a:r>
              <a:rPr lang="en-US" sz="1500" b="1" dirty="0">
                <a:solidFill>
                  <a:srgbClr val="2F5597"/>
                </a:solidFill>
                <a:latin typeface="Calibri" pitchFamily="34" charset="0"/>
                <a:ea typeface="Calibri" pitchFamily="34" charset="-122"/>
                <a:cs typeface="Calibri" pitchFamily="34" charset="-120"/>
              </a:rPr>
              <a:t>Future Plan</a:t>
            </a:r>
            <a:endParaRPr lang="en-US" sz="1500" dirty="0"/>
          </a:p>
        </p:txBody>
      </p:sp>
      <p:sp>
        <p:nvSpPr>
          <p:cNvPr id="23" name="Shape 20"/>
          <p:cNvSpPr/>
          <p:nvPr/>
        </p:nvSpPr>
        <p:spPr>
          <a:xfrm>
            <a:off x="320040" y="5440680"/>
            <a:ext cx="3794760" cy="868680"/>
          </a:xfrm>
          <a:prstGeom prst="roundRect">
            <a:avLst>
              <a:gd name="adj" fmla="val 8421"/>
            </a:avLst>
          </a:prstGeom>
          <a:solidFill>
            <a:srgbClr val="F4F6FA"/>
          </a:solidFill>
          <a:ln/>
          <a:effectLst>
            <a:outerShdw sx="100000" sy="100000" kx="0" ky="0" algn="bl" rotWithShape="0" blurRad="50800" dist="12700" dir="16200000">
              <a:srgbClr val="1F2A44">
                <a:alpha val="12000"/>
              </a:srgbClr>
            </a:outerShdw>
          </a:effectLst>
        </p:spPr>
      </p:sp>
      <p:sp>
        <p:nvSpPr>
          <p:cNvPr id="24" name="Text 21"/>
          <p:cNvSpPr/>
          <p:nvPr/>
        </p:nvSpPr>
        <p:spPr>
          <a:xfrm>
            <a:off x="429768" y="5504688"/>
            <a:ext cx="3566160" cy="292608"/>
          </a:xfrm>
          <a:prstGeom prst="rect">
            <a:avLst/>
          </a:prstGeom>
          <a:noFill/>
          <a:ln/>
        </p:spPr>
        <p:txBody>
          <a:bodyPr wrap="square" lIns="0" tIns="0" rIns="0" bIns="0" rtlCol="0" anchor="ctr"/>
          <a:lstStyle/>
          <a:p>
            <a:pPr indent="0" marL="0">
              <a:buNone/>
            </a:pPr>
            <a:r>
              <a:rPr lang="en-US" sz="1500" b="1" dirty="0">
                <a:solidFill>
                  <a:srgbClr val="2F5597"/>
                </a:solidFill>
                <a:latin typeface="Calibri" pitchFamily="34" charset="0"/>
                <a:ea typeface="Calibri" pitchFamily="34" charset="-122"/>
                <a:cs typeface="Calibri" pitchFamily="34" charset="-120"/>
              </a:rPr>
              <a:t>3D environments</a:t>
            </a:r>
            <a:endParaRPr lang="en-US" sz="1500" dirty="0"/>
          </a:p>
        </p:txBody>
      </p:sp>
      <p:sp>
        <p:nvSpPr>
          <p:cNvPr id="25" name="Text 22"/>
          <p:cNvSpPr/>
          <p:nvPr/>
        </p:nvSpPr>
        <p:spPr>
          <a:xfrm>
            <a:off x="429768" y="5797296"/>
            <a:ext cx="3566160" cy="438912"/>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Extend planar search to 3-D UAV kinematics and occupancy</a:t>
            </a:r>
            <a:endParaRPr lang="en-US" sz="1300" dirty="0"/>
          </a:p>
        </p:txBody>
      </p:sp>
      <p:sp>
        <p:nvSpPr>
          <p:cNvPr id="26" name="Shape 23"/>
          <p:cNvSpPr/>
          <p:nvPr/>
        </p:nvSpPr>
        <p:spPr>
          <a:xfrm>
            <a:off x="4270248" y="5440680"/>
            <a:ext cx="3794760" cy="868680"/>
          </a:xfrm>
          <a:prstGeom prst="roundRect">
            <a:avLst>
              <a:gd name="adj" fmla="val 8421"/>
            </a:avLst>
          </a:prstGeom>
          <a:solidFill>
            <a:srgbClr val="F4F6FA"/>
          </a:solidFill>
          <a:ln/>
          <a:effectLst>
            <a:outerShdw sx="100000" sy="100000" kx="0" ky="0" algn="bl" rotWithShape="0" blurRad="50800" dist="12700" dir="16200000">
              <a:srgbClr val="1F2A44">
                <a:alpha val="12000"/>
              </a:srgbClr>
            </a:outerShdw>
          </a:effectLst>
        </p:spPr>
      </p:sp>
      <p:sp>
        <p:nvSpPr>
          <p:cNvPr id="27" name="Text 24"/>
          <p:cNvSpPr/>
          <p:nvPr/>
        </p:nvSpPr>
        <p:spPr>
          <a:xfrm>
            <a:off x="4379976" y="5504688"/>
            <a:ext cx="3566160" cy="292608"/>
          </a:xfrm>
          <a:prstGeom prst="rect">
            <a:avLst/>
          </a:prstGeom>
          <a:noFill/>
          <a:ln/>
        </p:spPr>
        <p:txBody>
          <a:bodyPr wrap="square" lIns="0" tIns="0" rIns="0" bIns="0" rtlCol="0" anchor="ctr"/>
          <a:lstStyle/>
          <a:p>
            <a:pPr indent="0" marL="0">
              <a:buNone/>
            </a:pPr>
            <a:r>
              <a:rPr lang="en-US" sz="1500" b="1" dirty="0">
                <a:solidFill>
                  <a:srgbClr val="2F5597"/>
                </a:solidFill>
                <a:latin typeface="Calibri" pitchFamily="34" charset="0"/>
                <a:ea typeface="Calibri" pitchFamily="34" charset="-122"/>
                <a:cs typeface="Calibri" pitchFamily="34" charset="-120"/>
              </a:rPr>
              <a:t>Fully decentralized safety</a:t>
            </a:r>
            <a:endParaRPr lang="en-US" sz="1500" dirty="0"/>
          </a:p>
        </p:txBody>
      </p:sp>
      <p:sp>
        <p:nvSpPr>
          <p:cNvPr id="28" name="Text 25"/>
          <p:cNvSpPr/>
          <p:nvPr/>
        </p:nvSpPr>
        <p:spPr>
          <a:xfrm>
            <a:off x="4379976" y="5797296"/>
            <a:ext cx="3566160" cy="438912"/>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Remove the simulator-level centralized safety supervisor</a:t>
            </a:r>
            <a:endParaRPr lang="en-US" sz="1300" dirty="0"/>
          </a:p>
        </p:txBody>
      </p:sp>
      <p:sp>
        <p:nvSpPr>
          <p:cNvPr id="29" name="Shape 26"/>
          <p:cNvSpPr/>
          <p:nvPr/>
        </p:nvSpPr>
        <p:spPr>
          <a:xfrm>
            <a:off x="8220456" y="5440680"/>
            <a:ext cx="3794760" cy="868680"/>
          </a:xfrm>
          <a:prstGeom prst="roundRect">
            <a:avLst>
              <a:gd name="adj" fmla="val 8421"/>
            </a:avLst>
          </a:prstGeom>
          <a:solidFill>
            <a:srgbClr val="F4F6FA"/>
          </a:solidFill>
          <a:ln/>
          <a:effectLst>
            <a:outerShdw sx="100000" sy="100000" kx="0" ky="0" algn="bl" rotWithShape="0" blurRad="50800" dist="12700" dir="16200000">
              <a:srgbClr val="1F2A44">
                <a:alpha val="12000"/>
              </a:srgbClr>
            </a:outerShdw>
          </a:effectLst>
        </p:spPr>
      </p:sp>
      <p:sp>
        <p:nvSpPr>
          <p:cNvPr id="30" name="Text 27"/>
          <p:cNvSpPr/>
          <p:nvPr/>
        </p:nvSpPr>
        <p:spPr>
          <a:xfrm>
            <a:off x="8330184" y="5504688"/>
            <a:ext cx="3566160" cy="292608"/>
          </a:xfrm>
          <a:prstGeom prst="rect">
            <a:avLst/>
          </a:prstGeom>
          <a:noFill/>
          <a:ln/>
        </p:spPr>
        <p:txBody>
          <a:bodyPr wrap="square" lIns="0" tIns="0" rIns="0" bIns="0" rtlCol="0" anchor="ctr"/>
          <a:lstStyle/>
          <a:p>
            <a:pPr indent="0" marL="0">
              <a:buNone/>
            </a:pPr>
            <a:r>
              <a:rPr lang="en-US" sz="1500" b="1" dirty="0">
                <a:solidFill>
                  <a:srgbClr val="2F5597"/>
                </a:solidFill>
                <a:latin typeface="Calibri" pitchFamily="34" charset="0"/>
                <a:ea typeface="Calibri" pitchFamily="34" charset="-122"/>
                <a:cs typeface="Calibri" pitchFamily="34" charset="-120"/>
              </a:rPr>
              <a:t>Realistic validation</a:t>
            </a:r>
            <a:endParaRPr lang="en-US" sz="1500" dirty="0"/>
          </a:p>
        </p:txBody>
      </p:sp>
      <p:sp>
        <p:nvSpPr>
          <p:cNvPr id="31" name="Text 28"/>
          <p:cNvSpPr/>
          <p:nvPr/>
        </p:nvSpPr>
        <p:spPr>
          <a:xfrm>
            <a:off x="8330184" y="5797296"/>
            <a:ext cx="3566160" cy="438912"/>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HIL + real radios; keep search (not pursuit) as the core story</a:t>
            </a:r>
            <a:endParaRPr lang="en-US" sz="1300" dirty="0"/>
          </a:p>
        </p:txBody>
      </p:sp>
      <p:sp>
        <p:nvSpPr>
          <p:cNvPr id="32" name="Shape 29"/>
          <p:cNvSpPr/>
          <p:nvPr/>
        </p:nvSpPr>
        <p:spPr>
          <a:xfrm>
            <a:off x="0" y="6784848"/>
            <a:ext cx="12191695" cy="73152"/>
          </a:xfrm>
          <a:prstGeom prst="rect">
            <a:avLst/>
          </a:prstGeom>
          <a:solidFill>
            <a:srgbClr val="2F5597"/>
          </a:solidFill>
          <a:ln/>
        </p:spPr>
      </p:sp>
      <p:sp>
        <p:nvSpPr>
          <p:cNvPr id="33" name="Text 30"/>
          <p:cNvSpPr/>
          <p:nvPr/>
        </p:nvSpPr>
        <p:spPr>
          <a:xfrm>
            <a:off x="347472" y="6492240"/>
            <a:ext cx="10881360" cy="256032"/>
          </a:xfrm>
          <a:prstGeom prst="rect">
            <a:avLst/>
          </a:prstGeom>
          <a:noFill/>
          <a:ln/>
        </p:spPr>
        <p:txBody>
          <a:bodyPr wrap="square" lIns="0" tIns="0" rIns="0" bIns="0" rtlCol="0" anchor="ctr"/>
          <a:lstStyle/>
          <a:p>
            <a:pPr indent="0" marL="0">
              <a:buNone/>
            </a:pPr>
            <a:r>
              <a:rPr lang="en-US" sz="1100" dirty="0">
                <a:solidFill>
                  <a:srgbClr val="5A6A80"/>
                </a:solidFill>
                <a:latin typeface="Calibri" pitchFamily="34" charset="0"/>
                <a:ea typeface="Calibri" pitchFamily="34" charset="-122"/>
                <a:cs typeface="Calibri" pitchFamily="34" charset="-120"/>
              </a:rPr>
              <a:t>CAC 2026  ·  IC-HGAT-MAPPO  ·  Dec-POMDP / CTDE / HGAT / MAPPO</a:t>
            </a:r>
            <a:endParaRPr lang="en-US" sz="1100" dirty="0"/>
          </a:p>
        </p:txBody>
      </p:sp>
      <p:sp>
        <p:nvSpPr>
          <p:cNvPr id="34" name="Text 31"/>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Calibri" pitchFamily="34" charset="0"/>
                <a:ea typeface="Calibri" pitchFamily="34" charset="-122"/>
                <a:cs typeface="Calibri" pitchFamily="34" charset="-120"/>
              </a:rPr>
              <a:t>12</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pic>
        <p:nvPicPr>
          <p:cNvPr id="3" name="Image 0" descr="/tmp/ppt-work/assets/hust.png">    </p:cNvPr>
          <p:cNvPicPr>
            <a:picLocks noChangeAspect="1"/>
          </p:cNvPicPr>
          <p:nvPr/>
        </p:nvPicPr>
        <p:blipFill>
          <a:blip r:embed="rId1"/>
          <a:stretch>
            <a:fillRect/>
          </a:stretch>
        </p:blipFill>
        <p:spPr>
          <a:xfrm>
            <a:off x="365760" y="205680"/>
            <a:ext cx="1417320" cy="978528"/>
          </a:xfrm>
          <a:prstGeom prst="rect">
            <a:avLst/>
          </a:prstGeom>
        </p:spPr>
      </p:pic>
      <p:pic>
        <p:nvPicPr>
          <p:cNvPr id="4" name="Image 1" descr="/tmp/ppt-work/assets/caa.png">    </p:cNvPr>
          <p:cNvPicPr>
            <a:picLocks noChangeAspect="1"/>
          </p:cNvPicPr>
          <p:nvPr/>
        </p:nvPicPr>
        <p:blipFill>
          <a:blip r:embed="rId2"/>
          <a:stretch>
            <a:fillRect/>
          </a:stretch>
        </p:blipFill>
        <p:spPr>
          <a:xfrm>
            <a:off x="10168128" y="237744"/>
            <a:ext cx="1563624" cy="960120"/>
          </a:xfrm>
          <a:prstGeom prst="rect">
            <a:avLst/>
          </a:prstGeom>
        </p:spPr>
      </p:pic>
      <p:sp>
        <p:nvSpPr>
          <p:cNvPr id="5" name="Shape 1"/>
          <p:cNvSpPr/>
          <p:nvPr/>
        </p:nvSpPr>
        <p:spPr>
          <a:xfrm>
            <a:off x="0" y="1371600"/>
            <a:ext cx="12191695" cy="2880360"/>
          </a:xfrm>
          <a:prstGeom prst="rect">
            <a:avLst/>
          </a:prstGeom>
          <a:solidFill>
            <a:srgbClr val="2F5597"/>
          </a:solidFill>
          <a:ln/>
        </p:spPr>
      </p:sp>
      <p:sp>
        <p:nvSpPr>
          <p:cNvPr id="6" name="Text 2"/>
          <p:cNvSpPr/>
          <p:nvPr/>
        </p:nvSpPr>
        <p:spPr>
          <a:xfrm>
            <a:off x="457200" y="1874520"/>
            <a:ext cx="1124712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Thank you for your attention!</a:t>
            </a:r>
            <a:endParaRPr lang="en-US" sz="4000" dirty="0"/>
          </a:p>
        </p:txBody>
      </p:sp>
      <p:sp>
        <p:nvSpPr>
          <p:cNvPr id="7" name="Text 3"/>
          <p:cNvSpPr/>
          <p:nvPr/>
        </p:nvSpPr>
        <p:spPr>
          <a:xfrm>
            <a:off x="640080" y="2999232"/>
            <a:ext cx="10881360" cy="1005840"/>
          </a:xfrm>
          <a:prstGeom prst="rect">
            <a:avLst/>
          </a:prstGeom>
          <a:noFill/>
          <a:ln/>
        </p:spPr>
        <p:txBody>
          <a:bodyPr wrap="square" lIns="0" tIns="0" rIns="0" bIns="0" rtlCol="0" anchor="ctr"/>
          <a:lstStyle/>
          <a:p>
            <a:pPr algn="ctr" indent="0" marL="0">
              <a:buNone/>
            </a:pPr>
            <a:r>
              <a:rPr lang="en-US" sz="1800" dirty="0">
                <a:solidFill>
                  <a:srgbClr val="D6E2F5"/>
                </a:solidFill>
                <a:latin typeface="Calibri" pitchFamily="34" charset="0"/>
                <a:ea typeface="Calibri" pitchFamily="34" charset="-122"/>
                <a:cs typeface="Calibri" pitchFamily="34" charset="-120"/>
              </a:rPr>
              <a:t>A Heterogeneous Graph-Attention MAPPO Algorithm for</a:t>
            </a:r>
            <a:endParaRPr lang="en-US" sz="1800" dirty="0"/>
          </a:p>
          <a:p>
            <a:pPr algn="ctr" indent="0" marL="0">
              <a:buNone/>
            </a:pPr>
            <a:r>
              <a:rPr lang="en-US" sz="1800" dirty="0">
                <a:solidFill>
                  <a:srgbClr val="D6E2F5"/>
                </a:solidFill>
                <a:latin typeface="Calibri" pitchFamily="34" charset="0"/>
                <a:ea typeface="Calibri" pitchFamily="34" charset="-122"/>
                <a:cs typeface="Calibri" pitchFamily="34" charset="-120"/>
              </a:rPr>
              <a:t>Cooperative Multi-UAV Search under Intermittent Communication Constraints</a:t>
            </a:r>
            <a:endParaRPr lang="en-US" sz="1800" dirty="0"/>
          </a:p>
        </p:txBody>
      </p:sp>
      <p:sp>
        <p:nvSpPr>
          <p:cNvPr id="8" name="Text 4"/>
          <p:cNvSpPr/>
          <p:nvPr/>
        </p:nvSpPr>
        <p:spPr>
          <a:xfrm>
            <a:off x="457200" y="4407408"/>
            <a:ext cx="11247120" cy="1051560"/>
          </a:xfrm>
          <a:prstGeom prst="rect">
            <a:avLst/>
          </a:prstGeom>
          <a:noFill/>
          <a:ln/>
        </p:spPr>
        <p:txBody>
          <a:bodyPr wrap="square" lIns="0" tIns="0" rIns="0" bIns="0" rtlCol="0" anchor="ctr"/>
          <a:lstStyle/>
          <a:p>
            <a:pPr algn="ctr" indent="0" marL="0">
              <a:buNone/>
            </a:pPr>
            <a:r>
              <a:rPr lang="en-US" sz="1800" dirty="0">
                <a:solidFill>
                  <a:srgbClr val="1F2A44"/>
                </a:solidFill>
                <a:latin typeface="Calibri" pitchFamily="34" charset="0"/>
                <a:ea typeface="Calibri" pitchFamily="34" charset="-122"/>
                <a:cs typeface="Calibri" pitchFamily="34" charset="-120"/>
              </a:rPr>
              <a:t>Yinying Kuang</a:t>
            </a:r>
            <a:endParaRPr lang="en-US" sz="1800" dirty="0"/>
          </a:p>
          <a:p>
            <a:pPr algn="ctr" indent="0" marL="0">
              <a:buNone/>
            </a:pPr>
            <a:r>
              <a:rPr lang="en-US" sz="1800" dirty="0">
                <a:solidFill>
                  <a:srgbClr val="1F2A44"/>
                </a:solidFill>
                <a:latin typeface="Calibri" pitchFamily="34" charset="0"/>
                <a:ea typeface="Calibri" pitchFamily="34" charset="-122"/>
                <a:cs typeface="Calibri" pitchFamily="34" charset="-120"/>
              </a:rPr>
              <a:t>Huazhong University of Science and Technology</a:t>
            </a:r>
            <a:endParaRPr lang="en-US" sz="1800" dirty="0"/>
          </a:p>
          <a:p>
            <a:pPr algn="ctr" indent="0" marL="0">
              <a:buNone/>
            </a:pPr>
            <a:r>
              <a:rPr lang="en-US" sz="1800" dirty="0">
                <a:solidFill>
                  <a:srgbClr val="1F2A44"/>
                </a:solidFill>
                <a:latin typeface="Calibri" pitchFamily="34" charset="0"/>
                <a:ea typeface="Calibri" pitchFamily="34" charset="-122"/>
                <a:cs typeface="Calibri" pitchFamily="34" charset="-120"/>
              </a:rPr>
              <a:t>kuangyinying039@163.com</a:t>
            </a:r>
            <a:endParaRPr lang="en-US" sz="1800" dirty="0"/>
          </a:p>
        </p:txBody>
      </p:sp>
      <p:sp>
        <p:nvSpPr>
          <p:cNvPr id="9" name="Shape 5"/>
          <p:cNvSpPr/>
          <p:nvPr/>
        </p:nvSpPr>
        <p:spPr>
          <a:xfrm>
            <a:off x="347472" y="5559552"/>
            <a:ext cx="2267712" cy="384048"/>
          </a:xfrm>
          <a:prstGeom prst="roundRect">
            <a:avLst>
              <a:gd name="adj" fmla="val 19048"/>
            </a:avLst>
          </a:prstGeom>
          <a:solidFill>
            <a:srgbClr val="EAF0F8"/>
          </a:solidFill>
          <a:ln/>
        </p:spPr>
      </p:sp>
      <p:sp>
        <p:nvSpPr>
          <p:cNvPr id="10" name="Text 6"/>
          <p:cNvSpPr/>
          <p:nvPr/>
        </p:nvSpPr>
        <p:spPr>
          <a:xfrm>
            <a:off x="347472" y="5559552"/>
            <a:ext cx="2267712" cy="384048"/>
          </a:xfrm>
          <a:prstGeom prst="rect">
            <a:avLst/>
          </a:prstGeom>
          <a:noFill/>
          <a:ln/>
        </p:spPr>
        <p:txBody>
          <a:bodyPr wrap="square" lIns="0" tIns="0" rIns="0" bIns="0" rtlCol="0" anchor="ctr"/>
          <a:lstStyle/>
          <a:p>
            <a:pPr algn="ctr" indent="0" marL="0">
              <a:buNone/>
            </a:pPr>
            <a:r>
              <a:rPr lang="en-US" sz="1200" b="1" dirty="0">
                <a:solidFill>
                  <a:srgbClr val="1E3F73"/>
                </a:solidFill>
                <a:latin typeface="Calibri" pitchFamily="34" charset="0"/>
                <a:ea typeface="Calibri" pitchFamily="34" charset="-122"/>
                <a:cs typeface="Calibri" pitchFamily="34" charset="-120"/>
              </a:rPr>
              <a:t>Dec-POMDP / N_i(t)</a:t>
            </a:r>
            <a:endParaRPr lang="en-US" sz="1200" dirty="0"/>
          </a:p>
        </p:txBody>
      </p:sp>
      <p:sp>
        <p:nvSpPr>
          <p:cNvPr id="11" name="Shape 7"/>
          <p:cNvSpPr/>
          <p:nvPr/>
        </p:nvSpPr>
        <p:spPr>
          <a:xfrm>
            <a:off x="2706624" y="5559552"/>
            <a:ext cx="2267712" cy="384048"/>
          </a:xfrm>
          <a:prstGeom prst="roundRect">
            <a:avLst>
              <a:gd name="adj" fmla="val 19048"/>
            </a:avLst>
          </a:prstGeom>
          <a:solidFill>
            <a:srgbClr val="EAF0F8"/>
          </a:solidFill>
          <a:ln/>
        </p:spPr>
      </p:sp>
      <p:sp>
        <p:nvSpPr>
          <p:cNvPr id="12" name="Text 8"/>
          <p:cNvSpPr/>
          <p:nvPr/>
        </p:nvSpPr>
        <p:spPr>
          <a:xfrm>
            <a:off x="2706624" y="5559552"/>
            <a:ext cx="2267712" cy="384048"/>
          </a:xfrm>
          <a:prstGeom prst="rect">
            <a:avLst/>
          </a:prstGeom>
          <a:noFill/>
          <a:ln/>
        </p:spPr>
        <p:txBody>
          <a:bodyPr wrap="square" lIns="0" tIns="0" rIns="0" bIns="0" rtlCol="0" anchor="ctr"/>
          <a:lstStyle/>
          <a:p>
            <a:pPr algn="ctr" indent="0" marL="0">
              <a:buNone/>
            </a:pPr>
            <a:r>
              <a:rPr lang="en-US" sz="1200" b="1" dirty="0">
                <a:solidFill>
                  <a:srgbClr val="1E3F73"/>
                </a:solidFill>
                <a:latin typeface="Calibri" pitchFamily="34" charset="0"/>
                <a:ea typeface="Calibri" pitchFamily="34" charset="-122"/>
                <a:cs typeface="Calibri" pitchFamily="34" charset="-120"/>
              </a:rPr>
              <a:t>Log-odds P, E, R</a:t>
            </a:r>
            <a:endParaRPr lang="en-US" sz="1200" dirty="0"/>
          </a:p>
        </p:txBody>
      </p:sp>
      <p:sp>
        <p:nvSpPr>
          <p:cNvPr id="13" name="Shape 9"/>
          <p:cNvSpPr/>
          <p:nvPr/>
        </p:nvSpPr>
        <p:spPr>
          <a:xfrm>
            <a:off x="5065776" y="5559552"/>
            <a:ext cx="2267712" cy="384048"/>
          </a:xfrm>
          <a:prstGeom prst="roundRect">
            <a:avLst>
              <a:gd name="adj" fmla="val 19048"/>
            </a:avLst>
          </a:prstGeom>
          <a:solidFill>
            <a:srgbClr val="EAF0F8"/>
          </a:solidFill>
          <a:ln/>
        </p:spPr>
      </p:sp>
      <p:sp>
        <p:nvSpPr>
          <p:cNvPr id="14" name="Text 10"/>
          <p:cNvSpPr/>
          <p:nvPr/>
        </p:nvSpPr>
        <p:spPr>
          <a:xfrm>
            <a:off x="5065776" y="5559552"/>
            <a:ext cx="2267712" cy="384048"/>
          </a:xfrm>
          <a:prstGeom prst="rect">
            <a:avLst/>
          </a:prstGeom>
          <a:noFill/>
          <a:ln/>
        </p:spPr>
        <p:txBody>
          <a:bodyPr wrap="square" lIns="0" tIns="0" rIns="0" bIns="0" rtlCol="0" anchor="ctr"/>
          <a:lstStyle/>
          <a:p>
            <a:pPr algn="ctr" indent="0" marL="0">
              <a:buNone/>
            </a:pPr>
            <a:r>
              <a:rPr lang="en-US" sz="1200" b="1" dirty="0">
                <a:solidFill>
                  <a:srgbClr val="1E3F73"/>
                </a:solidFill>
                <a:latin typeface="Calibri" pitchFamily="34" charset="0"/>
                <a:ea typeface="Calibri" pitchFamily="34" charset="-122"/>
                <a:cs typeface="Calibri" pitchFamily="34" charset="-120"/>
              </a:rPr>
              <a:t>Source j*</a:t>
            </a:r>
            <a:endParaRPr lang="en-US" sz="1200" dirty="0"/>
          </a:p>
        </p:txBody>
      </p:sp>
      <p:sp>
        <p:nvSpPr>
          <p:cNvPr id="15" name="Shape 11"/>
          <p:cNvSpPr/>
          <p:nvPr/>
        </p:nvSpPr>
        <p:spPr>
          <a:xfrm>
            <a:off x="7424928" y="5559552"/>
            <a:ext cx="2267712" cy="384048"/>
          </a:xfrm>
          <a:prstGeom prst="roundRect">
            <a:avLst>
              <a:gd name="adj" fmla="val 19048"/>
            </a:avLst>
          </a:prstGeom>
          <a:solidFill>
            <a:srgbClr val="EAF0F8"/>
          </a:solidFill>
          <a:ln/>
        </p:spPr>
      </p:sp>
      <p:sp>
        <p:nvSpPr>
          <p:cNvPr id="16" name="Text 12"/>
          <p:cNvSpPr/>
          <p:nvPr/>
        </p:nvSpPr>
        <p:spPr>
          <a:xfrm>
            <a:off x="7424928" y="5559552"/>
            <a:ext cx="2267712" cy="384048"/>
          </a:xfrm>
          <a:prstGeom prst="rect">
            <a:avLst/>
          </a:prstGeom>
          <a:noFill/>
          <a:ln/>
        </p:spPr>
        <p:txBody>
          <a:bodyPr wrap="square" lIns="0" tIns="0" rIns="0" bIns="0" rtlCol="0" anchor="ctr"/>
          <a:lstStyle/>
          <a:p>
            <a:pPr algn="ctr" indent="0" marL="0">
              <a:buNone/>
            </a:pPr>
            <a:r>
              <a:rPr lang="en-US" sz="1200" b="1" dirty="0">
                <a:solidFill>
                  <a:srgbClr val="1E3F73"/>
                </a:solidFill>
                <a:latin typeface="Calibri" pitchFamily="34" charset="0"/>
                <a:ea typeface="Calibri" pitchFamily="34" charset="-122"/>
                <a:cs typeface="Calibri" pitchFamily="34" charset="-120"/>
              </a:rPr>
              <a:t>HGAT attention</a:t>
            </a:r>
            <a:endParaRPr lang="en-US" sz="1200" dirty="0"/>
          </a:p>
        </p:txBody>
      </p:sp>
      <p:sp>
        <p:nvSpPr>
          <p:cNvPr id="17" name="Shape 13"/>
          <p:cNvSpPr/>
          <p:nvPr/>
        </p:nvSpPr>
        <p:spPr>
          <a:xfrm>
            <a:off x="9784080" y="5559552"/>
            <a:ext cx="2267712" cy="384048"/>
          </a:xfrm>
          <a:prstGeom prst="roundRect">
            <a:avLst>
              <a:gd name="adj" fmla="val 19048"/>
            </a:avLst>
          </a:prstGeom>
          <a:solidFill>
            <a:srgbClr val="EAF0F8"/>
          </a:solidFill>
          <a:ln/>
        </p:spPr>
      </p:sp>
      <p:sp>
        <p:nvSpPr>
          <p:cNvPr id="18" name="Text 14"/>
          <p:cNvSpPr/>
          <p:nvPr/>
        </p:nvSpPr>
        <p:spPr>
          <a:xfrm>
            <a:off x="9784080" y="5559552"/>
            <a:ext cx="2267712" cy="384048"/>
          </a:xfrm>
          <a:prstGeom prst="rect">
            <a:avLst/>
          </a:prstGeom>
          <a:noFill/>
          <a:ln/>
        </p:spPr>
        <p:txBody>
          <a:bodyPr wrap="square" lIns="0" tIns="0" rIns="0" bIns="0" rtlCol="0" anchor="ctr"/>
          <a:lstStyle/>
          <a:p>
            <a:pPr algn="ctr" indent="0" marL="0">
              <a:buNone/>
            </a:pPr>
            <a:r>
              <a:rPr lang="en-US" sz="1200" b="1" dirty="0">
                <a:solidFill>
                  <a:srgbClr val="1E3F73"/>
                </a:solidFill>
                <a:latin typeface="Calibri" pitchFamily="34" charset="0"/>
                <a:ea typeface="Calibri" pitchFamily="34" charset="-122"/>
                <a:cs typeface="Calibri" pitchFamily="34" charset="-120"/>
              </a:rPr>
              <a:t>MAPPO clip + GAE</a:t>
            </a:r>
            <a:endParaRPr lang="en-US" sz="1200" dirty="0"/>
          </a:p>
        </p:txBody>
      </p:sp>
      <p:sp>
        <p:nvSpPr>
          <p:cNvPr id="19" name="Text 15"/>
          <p:cNvSpPr/>
          <p:nvPr/>
        </p:nvSpPr>
        <p:spPr>
          <a:xfrm>
            <a:off x="457200" y="6035040"/>
            <a:ext cx="11247120" cy="365760"/>
          </a:xfrm>
          <a:prstGeom prst="rect">
            <a:avLst/>
          </a:prstGeom>
          <a:noFill/>
          <a:ln/>
        </p:spPr>
        <p:txBody>
          <a:bodyPr wrap="square" lIns="0" tIns="0" rIns="0" bIns="0" rtlCol="0" anchor="ctr"/>
          <a:lstStyle/>
          <a:p>
            <a:pPr algn="ctr" indent="0" marL="0">
              <a:buNone/>
            </a:pPr>
            <a:r>
              <a:rPr lang="en-US" sz="1500" b="1" dirty="0">
                <a:solidFill>
                  <a:srgbClr val="2F5597"/>
                </a:solidFill>
                <a:latin typeface="Calibri" pitchFamily="34" charset="0"/>
                <a:ea typeface="Calibri" pitchFamily="34" charset="-122"/>
                <a:cs typeface="Calibri" pitchFamily="34" charset="-120"/>
              </a:rPr>
              <a:t>CAC 2026  ·  October 2026  ·  Welcome questions on beliefs, source selection, and HGAT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IC-HGAT-MAPPO: Cooperative Multi-UAV Search under Intermittent Communication</dc:title>
  <dc:subject>CAC 2026</dc:subject>
  <dc:creator>Yinying Kuang</dc:creator>
  <cp:lastModifiedBy>Yinying Kuang</cp:lastModifiedBy>
  <cp:revision>1</cp:revision>
  <dcterms:created xsi:type="dcterms:W3CDTF">2026-09-15T08:57:29Z</dcterms:created>
  <dcterms:modified xsi:type="dcterms:W3CDTF">2026-09-15T08:57:29Z</dcterms:modified>
</cp:coreProperties>
</file>