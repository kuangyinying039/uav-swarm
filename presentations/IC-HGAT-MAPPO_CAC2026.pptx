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A44"/>
                </a:solidFill>
                <a:latin typeface="Calibri"/>
              </a:defRPr>
            </a:pPr>
            <a:r>
              <a:rPr sz="1100" b="0" i="0" u="none" strike="noStrike">
                <a:solidFill>
                  <a:srgbClr val="1F2A44"/>
                </a:solidFill>
                <a:latin typeface="Calibri"/>
              </a:rPr>
              <a:t>Belief Decisiveness (%)</a:t>
            </a:r>
          </a:p>
        </c:rich>
      </c:tx>
      <c:layout/>
      <c:overlay val="0"/>
    </c:title>
    <c:autoTitleDeleted val="0"/>
    <c:plotArea>
      <c:layout/>
      <c:barChart>
        <c:barDir val="col"/>
        <c:grouping val="clustered"/>
        <c:varyColors val="0"/>
        <c:ser>
          <c:idx val="0"/>
          <c:order val="0"/>
          <c:tx>
            <c:strRef>
              <c:f>Sheet1!$B$1</c:f>
              <c:strCache>
                <c:ptCount val="1"/>
                <c:pt idx="0">
                  <c:v>Decisiveness</c:v>
                </c:pt>
              </c:strCache>
            </c:strRef>
          </c:tx>
          <c:spPr>
            <a:solidFill>
              <a:srgbClr val="5B8CC9"/>
            </a:solidFill>
            <a:effectLst/>
          </c:spPr>
          <c:invertIfNegative val="0"/>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dPt>
            <c:idx val="0"/>
            <c:invertIfNegative val="0"/>
            <c:bubble3D val="0"/>
            <c:spPr>
              <a:solidFill>
                <a:srgbClr val="5B8CC9"/>
              </a:solidFill>
              <a:effectLst/>
            </c:spPr>
          </c:dPt>
          <c:dPt>
            <c:idx val="1"/>
            <c:invertIfNegative val="0"/>
            <c:bubble3D val="0"/>
            <c:spPr>
              <a:solidFill>
                <a:srgbClr val="5B8CC9"/>
              </a:solidFill>
              <a:effectLst/>
            </c:spPr>
          </c:dPt>
          <c:dPt>
            <c:idx val="2"/>
            <c:invertIfNegative val="0"/>
            <c:bubble3D val="0"/>
            <c:spPr>
              <a:solidFill>
                <a:srgbClr val="5B8CC9"/>
              </a:solidFill>
              <a:effectLst/>
            </c:spPr>
          </c:dPt>
          <c:dPt>
            <c:idx val="3"/>
            <c:invertIfNegative val="0"/>
            <c:bubble3D val="0"/>
            <c:spPr>
              <a:solidFill>
                <a:srgbClr val="5B8CC9"/>
              </a:solidFill>
              <a:effectLst/>
            </c:spPr>
          </c:dPt>
          <c:dPt>
            <c:idx val="4"/>
            <c:invertIfNegative val="0"/>
            <c:bubble3D val="0"/>
            <c:spPr>
              <a:solidFill>
                <a:srgbClr val="ED7D31"/>
              </a:solidFill>
              <a:effectLst/>
            </c:spPr>
          </c:dPt>
          <c:cat>
            <c:multiLvlStrRef>
              <c:f>Sheet1!$A$2:$A$6</c:f>
              <c:multiLvlStrCache>
                <c:ptCount val="5"/>
                <c:lvl>
                  <c:pt idx="0">
                    <c:v>Heuristic</c:v>
                  </c:pt>
                  <c:pt idx="1">
                    <c:v>QMIX</c:v>
                  </c:pt>
                  <c:pt idx="2">
                    <c:v>Local</c:v>
                  </c:pt>
                  <c:pt idx="3">
                    <c:v>H-Graph</c:v>
                  </c:pt>
                  <c:pt idx="4">
                    <c:v>IC-HGAT</c:v>
                  </c:pt>
                </c:lvl>
              </c:multiLvlStrCache>
            </c:multiLvlStrRef>
          </c:cat>
          <c:val>
            <c:numRef>
              <c:f>Sheet1!$B$2:$B$6</c:f>
              <c:numCache>
                <c:formatCode>General</c:formatCode>
                <c:ptCount val="5"/>
                <c:pt idx="0">
                  <c:v>44.99</c:v>
                </c:pt>
                <c:pt idx="1">
                  <c:v>30</c:v>
                </c:pt>
                <c:pt idx="2">
                  <c:v>41.91</c:v>
                </c:pt>
                <c:pt idx="3">
                  <c:v>47.05</c:v>
                </c:pt>
                <c:pt idx="4">
                  <c:v>62.15</c:v>
                </c:pt>
              </c:numCache>
            </c:numRef>
          </c:val>
        </c:ser>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F2A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0D7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A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A44"/>
                </a:solidFill>
                <a:latin typeface="Calibri"/>
              </a:defRPr>
            </a:pPr>
            <a:r>
              <a:rPr sz="1100" b="0" i="0" u="none" strike="noStrike">
                <a:solidFill>
                  <a:srgbClr val="1F2A44"/>
                </a:solidFill>
                <a:latin typeface="Calibri"/>
              </a:rPr>
              <a:t>Target Discovery (%)</a:t>
            </a:r>
          </a:p>
        </c:rich>
      </c:tx>
      <c:layout/>
      <c:overlay val="0"/>
    </c:title>
    <c:autoTitleDeleted val="0"/>
    <c:plotArea>
      <c:layout/>
      <c:barChart>
        <c:barDir val="col"/>
        <c:grouping val="clustered"/>
        <c:varyColors val="0"/>
        <c:ser>
          <c:idx val="0"/>
          <c:order val="0"/>
          <c:tx>
            <c:strRef>
              <c:f>Sheet1!$B$1</c:f>
              <c:strCache>
                <c:ptCount val="1"/>
                <c:pt idx="0">
                  <c:v>Discovery</c:v>
                </c:pt>
              </c:strCache>
            </c:strRef>
          </c:tx>
          <c:spPr>
            <a:solidFill>
              <a:srgbClr val="5B8CC9"/>
            </a:solidFill>
            <a:effectLst/>
          </c:spPr>
          <c:invertIfNegative val="0"/>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dPt>
            <c:idx val="0"/>
            <c:invertIfNegative val="0"/>
            <c:bubble3D val="0"/>
            <c:spPr>
              <a:solidFill>
                <a:srgbClr val="5B8CC9"/>
              </a:solidFill>
              <a:effectLst/>
            </c:spPr>
          </c:dPt>
          <c:dPt>
            <c:idx val="1"/>
            <c:invertIfNegative val="0"/>
            <c:bubble3D val="0"/>
            <c:spPr>
              <a:solidFill>
                <a:srgbClr val="5B8CC9"/>
              </a:solidFill>
              <a:effectLst/>
            </c:spPr>
          </c:dPt>
          <c:dPt>
            <c:idx val="2"/>
            <c:invertIfNegative val="0"/>
            <c:bubble3D val="0"/>
            <c:spPr>
              <a:solidFill>
                <a:srgbClr val="5B8CC9"/>
              </a:solidFill>
              <a:effectLst/>
            </c:spPr>
          </c:dPt>
          <c:dPt>
            <c:idx val="3"/>
            <c:invertIfNegative val="0"/>
            <c:bubble3D val="0"/>
            <c:spPr>
              <a:solidFill>
                <a:srgbClr val="5B8CC9"/>
              </a:solidFill>
              <a:effectLst/>
            </c:spPr>
          </c:dPt>
          <c:dPt>
            <c:idx val="4"/>
            <c:invertIfNegative val="0"/>
            <c:bubble3D val="0"/>
            <c:spPr>
              <a:solidFill>
                <a:srgbClr val="ED7D31"/>
              </a:solidFill>
              <a:effectLst/>
            </c:spPr>
          </c:dPt>
          <c:cat>
            <c:multiLvlStrRef>
              <c:f>Sheet1!$A$2:$A$6</c:f>
              <c:multiLvlStrCache>
                <c:ptCount val="5"/>
                <c:lvl>
                  <c:pt idx="0">
                    <c:v>Heuristic</c:v>
                  </c:pt>
                  <c:pt idx="1">
                    <c:v>QMIX</c:v>
                  </c:pt>
                  <c:pt idx="2">
                    <c:v>Local</c:v>
                  </c:pt>
                  <c:pt idx="3">
                    <c:v>H-Graph</c:v>
                  </c:pt>
                  <c:pt idx="4">
                    <c:v>IC-HGAT</c:v>
                  </c:pt>
                </c:lvl>
              </c:multiLvlStrCache>
            </c:multiLvlStrRef>
          </c:cat>
          <c:val>
            <c:numRef>
              <c:f>Sheet1!$B$2:$B$6</c:f>
              <c:numCache>
                <c:formatCode>General</c:formatCode>
                <c:ptCount val="5"/>
                <c:pt idx="0">
                  <c:v>77.78</c:v>
                </c:pt>
                <c:pt idx="1">
                  <c:v>72.11</c:v>
                </c:pt>
                <c:pt idx="2">
                  <c:v>76.22</c:v>
                </c:pt>
                <c:pt idx="3">
                  <c:v>79.78</c:v>
                </c:pt>
                <c:pt idx="4">
                  <c:v>86.78</c:v>
                </c:pt>
              </c:numCache>
            </c:numRef>
          </c:val>
        </c:ser>
        <c:dLbls>
          <c:numFmt formatCode="#,##0" sourceLinked="0"/>
          <c:txPr>
            <a:bodyPr/>
            <a:lstStyle/>
            <a:p>
              <a:pPr>
                <a:defRPr b="0" i="0" strike="noStrike" sz="900" u="none">
                  <a:solidFill>
                    <a:srgbClr val="1F2A44"/>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F2A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0D7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A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A44"/>
                </a:solidFill>
                <a:latin typeface="Calibri"/>
              </a:defRPr>
            </a:pPr>
            <a:r>
              <a:rPr sz="1100" b="0" i="0" u="none" strike="noStrike">
                <a:solidFill>
                  <a:srgbClr val="1F2A44"/>
                </a:solidFill>
                <a:latin typeface="Calibri"/>
              </a:rPr>
              <a:t>Ablation  (Decisiveness / Discovery, %)</a:t>
            </a:r>
          </a:p>
        </c:rich>
      </c:tx>
      <c:layout/>
      <c:overlay val="0"/>
    </c:title>
    <c:autoTitleDeleted val="0"/>
    <c:plotArea>
      <c:layout/>
      <c:barChart>
        <c:barDir val="col"/>
        <c:grouping val="clustered"/>
        <c:varyColors val="0"/>
        <c:ser>
          <c:idx val="0"/>
          <c:order val="0"/>
          <c:tx>
            <c:strRef>
              <c:f>Sheet1!$B$1</c:f>
              <c:strCache>
                <c:ptCount val="1"/>
                <c:pt idx="0">
                  <c:v>Decisiveness</c:v>
                </c:pt>
              </c:strCache>
            </c:strRef>
          </c:tx>
          <c:spPr>
            <a:solidFill>
              <a:srgbClr val="2F5597"/>
            </a:solidFill>
            <a:effectLst/>
          </c:spPr>
          <c:invertIfNegative val="0"/>
          <c:dLbls>
            <c:numFmt formatCode="#,##0" sourceLinked="0"/>
            <c:txPr>
              <a:bodyPr/>
              <a:lstStyle/>
              <a:p>
                <a:pPr>
                  <a:defRPr b="0" i="0" strike="noStrike" sz="800" u="none">
                    <a:solidFill>
                      <a:srgbClr val="1F2A44"/>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Full</c:v>
                  </c:pt>
                  <c:pt idx="1">
                    <c:v>w/o Revisit</c:v>
                  </c:pt>
                  <c:pt idx="2">
                    <c:v>w/o History</c:v>
                  </c:pt>
                  <c:pt idx="3">
                    <c:v>Homog. Graph</c:v>
                  </c:pt>
                </c:lvl>
              </c:multiLvlStrCache>
            </c:multiLvlStrRef>
          </c:cat>
          <c:val>
            <c:numRef>
              <c:f>Sheet1!$B$2:$B$5</c:f>
              <c:numCache>
                <c:formatCode>General</c:formatCode>
                <c:ptCount val="4"/>
                <c:pt idx="0">
                  <c:v>62.15</c:v>
                </c:pt>
                <c:pt idx="1">
                  <c:v>45.82</c:v>
                </c:pt>
                <c:pt idx="2">
                  <c:v>53.99</c:v>
                </c:pt>
                <c:pt idx="3">
                  <c:v>47.05</c:v>
                </c:pt>
              </c:numCache>
            </c:numRef>
          </c:val>
        </c:ser>
        <c:ser>
          <c:idx val="1"/>
          <c:order val="1"/>
          <c:tx>
            <c:strRef>
              <c:f>Sheet1!$C$1</c:f>
              <c:strCache>
                <c:ptCount val="1"/>
                <c:pt idx="0">
                  <c:v>Discovery</c:v>
                </c:pt>
              </c:strCache>
            </c:strRef>
          </c:tx>
          <c:spPr>
            <a:solidFill>
              <a:srgbClr val="ED7D31"/>
            </a:solidFill>
            <a:effectLst/>
          </c:spPr>
          <c:invertIfNegative val="0"/>
          <c:dLbls>
            <c:numFmt formatCode="#,##0" sourceLinked="0"/>
            <c:txPr>
              <a:bodyPr/>
              <a:lstStyle/>
              <a:p>
                <a:pPr>
                  <a:defRPr b="0" i="0" strike="noStrike" sz="800" u="none">
                    <a:solidFill>
                      <a:srgbClr val="1F2A44"/>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Full</c:v>
                  </c:pt>
                  <c:pt idx="1">
                    <c:v>w/o Revisit</c:v>
                  </c:pt>
                  <c:pt idx="2">
                    <c:v>w/o History</c:v>
                  </c:pt>
                  <c:pt idx="3">
                    <c:v>Homog. Graph</c:v>
                  </c:pt>
                </c:lvl>
              </c:multiLvlStrCache>
            </c:multiLvlStrRef>
          </c:cat>
          <c:val>
            <c:numRef>
              <c:f>Sheet1!$C$2:$C$5</c:f>
              <c:numCache>
                <c:formatCode>General</c:formatCode>
                <c:ptCount val="4"/>
                <c:pt idx="0">
                  <c:v>86.78</c:v>
                </c:pt>
                <c:pt idx="1">
                  <c:v>73.11</c:v>
                </c:pt>
                <c:pt idx="2">
                  <c:v>85.33</c:v>
                </c:pt>
                <c:pt idx="3">
                  <c:v>79.78</c:v>
                </c:pt>
              </c:numCache>
            </c:numRef>
          </c:val>
        </c:ser>
        <c:dLbls>
          <c:numFmt formatCode="#,##0" sourceLinked="0"/>
          <c:txPr>
            <a:bodyPr/>
            <a:lstStyle/>
            <a:p>
              <a:pPr>
                <a:defRPr b="0" i="0" strike="noStrike" sz="800" u="none">
                  <a:solidFill>
                    <a:srgbClr val="1F2A44"/>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A44"/>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0D7E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A80"/>
                </a:solidFill>
                <a:latin typeface="Arial"/>
              </a:defRPr>
            </a:pPr>
            <a:endParaRPr lang="en-US"/>
          </a:p>
        </c:txPr>
        <c:crossAx val="2094734554"/>
        <c:crosses val="autoZero"/>
        <c:crossBetween val="between"/>
      </c:valAx>
      <c:spPr>
        <a:noFill/>
        <a:ln>
          <a:noFill/>
        </a:ln>
        <a:effectLst/>
      </c:spPr>
    </c:plotArea>
    <c:legend>
      <c:legendPos val="r"/>
      <c:overlay val="0"/>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State the problem first: cooperative multi-UAV search under intermittent communication. Do not lead with the acronym IC-HGAT-MAPPO.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introduce our work in three parts: the problem and motivation, the proposed IC-HGAT-MAPPO framework, and the experimental results. 10–15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Multi-UAV search is useful in disaster settings, but many MARL methods assume sufficient information exchange. Under interference, communication is intermittent, so UAVs can use only onboard observations and currently reachable neighbors. The problem is cooperative search under incomplete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challenges from the paper: incomplete exchange, heterogeneous UAV/task/obstacle roles, and stale information after reconnection. We do not optimize the communication protocol; we constrain the policy to physically available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the three challenges to P/E/R memory, history-aware source selection, and heterogeneous graph attention, trained with MAPPO/CTDE. Safety projection is shared and is not a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6 UAVs, 15 targets, 10 obstacles on a 30×30 grid. Policies may use only instantaneous reachable links. Metrics: discovery Dt, belief decisiveness Ct, and T80.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local observation → link mask → P/E/R memory → heterogeneous graph → shared actor → safety projection. During training the centralized critic sees global state; it is removed at execution.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remembers what to believe. History-aware weights decide whom to trust. One source per cell, not a sum of correlated log-odds.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HGAT uses relation-specific attention with confidence, distance, and the instantaneous link mask. Shared actor, one centralized critic. Reward is discovery + decisiveness minus a small safety cost. Full PPO derivation is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comparison from Table I, shown as charts. IC-HGAT-MAPPO leads on decisiveness and discovery. T80 succeeds in 82% of runs at 88.63 steps. Do not sell safety columns as a method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Ablations: heterogeneous relations and revisit memory give the largest, most consistent gains. History weighting improves belief quality and conditional T80, with a success-rate trade-off. Sensitivity: only mention target speed and communication radius / outage, then conclude robustness.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contributions only. Repeat the headline numbers. Future work matches the paper: 3D, decentralized safety, HIL. Optionally mention 3D pursuit as an oral aside, not a new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Leave the email visible. Do not add a GitHub QR unless the chair confirms code can be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pic>
        <p:nvPicPr>
          <p:cNvPr id="3" name="Image 0" descr="/tmp/ppt-work/assets/hust.png">    </p:cNvPr>
          <p:cNvPicPr>
            <a:picLocks noChangeAspect="1"/>
          </p:cNvPicPr>
          <p:nvPr/>
        </p:nvPicPr>
        <p:blipFill>
          <a:blip r:embed="rId1"/>
          <a:stretch>
            <a:fillRect/>
          </a:stretch>
        </p:blipFill>
        <p:spPr>
          <a:xfrm>
            <a:off x="411480" y="256032"/>
            <a:ext cx="1417320" cy="978408"/>
          </a:xfrm>
          <a:prstGeom prst="rect">
            <a:avLst/>
          </a:prstGeom>
        </p:spPr>
      </p:pic>
      <p:pic>
        <p:nvPicPr>
          <p:cNvPr id="4" name="Image 1" descr="/tmp/ppt-work/assets/caa.png">    </p:cNvPr>
          <p:cNvPicPr>
            <a:picLocks noChangeAspect="1"/>
          </p:cNvPicPr>
          <p:nvPr/>
        </p:nvPicPr>
        <p:blipFill>
          <a:blip r:embed="rId2"/>
          <a:stretch>
            <a:fillRect/>
          </a:stretch>
        </p:blipFill>
        <p:spPr>
          <a:xfrm>
            <a:off x="5257800" y="274320"/>
            <a:ext cx="1691640" cy="932688"/>
          </a:xfrm>
          <a:prstGeom prst="rect">
            <a:avLst/>
          </a:prstGeom>
        </p:spPr>
      </p:pic>
      <p:sp>
        <p:nvSpPr>
          <p:cNvPr id="5" name="Text 1"/>
          <p:cNvSpPr/>
          <p:nvPr/>
        </p:nvSpPr>
        <p:spPr>
          <a:xfrm>
            <a:off x="7040880" y="438912"/>
            <a:ext cx="4663440" cy="640080"/>
          </a:xfrm>
          <a:prstGeom prst="rect">
            <a:avLst/>
          </a:prstGeom>
          <a:noFill/>
          <a:ln/>
        </p:spPr>
        <p:txBody>
          <a:bodyPr wrap="square" lIns="0" tIns="0" rIns="0" bIns="0" rtlCol="0" anchor="ctr"/>
          <a:lstStyle/>
          <a:p>
            <a:pPr indent="0" marL="0">
              <a:buNone/>
            </a:pPr>
            <a:r>
              <a:rPr lang="en-US" sz="1400" b="1" dirty="0">
                <a:solidFill>
                  <a:srgbClr val="2F5597"/>
                </a:solidFill>
                <a:latin typeface="Calibri" pitchFamily="34" charset="0"/>
                <a:ea typeface="Calibri" pitchFamily="34" charset="-122"/>
                <a:cs typeface="Calibri" pitchFamily="34" charset="-120"/>
              </a:rPr>
              <a:t>Chinese Automation Congress  ·  CAC 2026</a:t>
            </a:r>
            <a:endParaRPr lang="en-US" sz="1400" dirty="0"/>
          </a:p>
        </p:txBody>
      </p:sp>
      <p:sp>
        <p:nvSpPr>
          <p:cNvPr id="6" name="Shape 2"/>
          <p:cNvSpPr/>
          <p:nvPr/>
        </p:nvSpPr>
        <p:spPr>
          <a:xfrm>
            <a:off x="0" y="1417320"/>
            <a:ext cx="12191695" cy="3063240"/>
          </a:xfrm>
          <a:prstGeom prst="rect">
            <a:avLst/>
          </a:prstGeom>
          <a:solidFill>
            <a:srgbClr val="2F5597"/>
          </a:solidFill>
          <a:ln/>
        </p:spPr>
      </p:sp>
      <p:sp>
        <p:nvSpPr>
          <p:cNvPr id="7" name="Text 3"/>
          <p:cNvSpPr/>
          <p:nvPr/>
        </p:nvSpPr>
        <p:spPr>
          <a:xfrm>
            <a:off x="502920" y="1600200"/>
            <a:ext cx="11155680" cy="269748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 Heterogeneous Graph-Attention MAPPO Algorithm</a:t>
            </a:r>
            <a:endParaRPr lang="en-US" sz="2600" dirty="0"/>
          </a:p>
          <a:p>
            <a:pPr algn="ctr" indent="0" marL="0">
              <a:buNone/>
            </a:pPr>
            <a:r>
              <a:rPr lang="en-US" sz="2600" b="1" dirty="0">
                <a:solidFill>
                  <a:srgbClr val="FFFFFF"/>
                </a:solidFill>
                <a:latin typeface="Calibri" pitchFamily="34" charset="0"/>
                <a:ea typeface="Calibri" pitchFamily="34" charset="-122"/>
                <a:cs typeface="Calibri" pitchFamily="34" charset="-120"/>
              </a:rPr>
              <a:t>for Cooperative Multi-UAV Search</a:t>
            </a:r>
            <a:endParaRPr lang="en-US" sz="2600" dirty="0"/>
          </a:p>
          <a:p>
            <a:pPr algn="ctr" indent="0" marL="0">
              <a:buNone/>
            </a:pPr>
            <a:r>
              <a:rPr lang="en-US" sz="2600" b="1" dirty="0">
                <a:solidFill>
                  <a:srgbClr val="FFFFFF"/>
                </a:solidFill>
                <a:latin typeface="Calibri" pitchFamily="34" charset="0"/>
                <a:ea typeface="Calibri" pitchFamily="34" charset="-122"/>
                <a:cs typeface="Calibri" pitchFamily="34" charset="-120"/>
              </a:rPr>
              <a:t>under Intermittent Communication Constraints</a:t>
            </a:r>
            <a:endParaRPr lang="en-US" sz="2600" dirty="0"/>
          </a:p>
        </p:txBody>
      </p:sp>
      <p:sp>
        <p:nvSpPr>
          <p:cNvPr id="8" name="Text 4"/>
          <p:cNvSpPr/>
          <p:nvPr/>
        </p:nvSpPr>
        <p:spPr>
          <a:xfrm>
            <a:off x="457200" y="4663440"/>
            <a:ext cx="11247120" cy="384048"/>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Yinying Kuang, Zhaowei Liang, Yongran Zhi, Huijin Fan*, Lei Liu*, Bo Wang*</a:t>
            </a:r>
            <a:endParaRPr lang="en-US" sz="1600" dirty="0"/>
          </a:p>
        </p:txBody>
      </p:sp>
      <p:sp>
        <p:nvSpPr>
          <p:cNvPr id="9" name="Text 5"/>
          <p:cNvSpPr/>
          <p:nvPr/>
        </p:nvSpPr>
        <p:spPr>
          <a:xfrm>
            <a:off x="457200" y="5074920"/>
            <a:ext cx="11247120" cy="640080"/>
          </a:xfrm>
          <a:prstGeom prst="rect">
            <a:avLst/>
          </a:prstGeom>
          <a:noFill/>
          <a:ln/>
        </p:spPr>
        <p:txBody>
          <a:bodyPr wrap="square" lIns="0" tIns="0" rIns="0" bIns="0" rtlCol="0" anchor="ctr"/>
          <a:lstStyle/>
          <a:p>
            <a:pPr algn="ctr" indent="0" marL="0">
              <a:buNone/>
            </a:pPr>
            <a:r>
              <a:rPr lang="en-US" sz="1500" dirty="0">
                <a:solidFill>
                  <a:srgbClr val="5A6A80"/>
                </a:solidFill>
                <a:latin typeface="Calibri" pitchFamily="34" charset="0"/>
                <a:ea typeface="Calibri" pitchFamily="34" charset="-122"/>
                <a:cs typeface="Calibri" pitchFamily="34" charset="-120"/>
              </a:rPr>
              <a:t>Huazhong University of Science and Technology</a:t>
            </a:r>
            <a:endParaRPr lang="en-US" sz="1500" dirty="0"/>
          </a:p>
          <a:p>
            <a:pPr algn="ctr" indent="0" marL="0">
              <a:buNone/>
            </a:pPr>
            <a:r>
              <a:rPr lang="en-US" sz="1500" dirty="0">
                <a:solidFill>
                  <a:srgbClr val="5A6A80"/>
                </a:solidFill>
                <a:latin typeface="Calibri" pitchFamily="34" charset="0"/>
                <a:ea typeface="Calibri" pitchFamily="34" charset="-122"/>
                <a:cs typeface="Calibri" pitchFamily="34" charset="-120"/>
              </a:rPr>
              <a:t>Wuhan Second Ship Design and Research Institute</a:t>
            </a:r>
            <a:endParaRPr lang="en-US" sz="1500" dirty="0"/>
          </a:p>
        </p:txBody>
      </p:sp>
      <p:sp>
        <p:nvSpPr>
          <p:cNvPr id="10" name="Text 6"/>
          <p:cNvSpPr/>
          <p:nvPr/>
        </p:nvSpPr>
        <p:spPr>
          <a:xfrm>
            <a:off x="457200" y="5852160"/>
            <a:ext cx="11247120" cy="329184"/>
          </a:xfrm>
          <a:prstGeom prst="rect">
            <a:avLst/>
          </a:prstGeom>
          <a:noFill/>
          <a:ln/>
        </p:spPr>
        <p:txBody>
          <a:bodyPr wrap="square" lIns="0" tIns="0" rIns="0" bIns="0" rtlCol="0" anchor="ctr"/>
          <a:lstStyle/>
          <a:p>
            <a:pPr algn="ctr" indent="0" marL="0">
              <a:buNone/>
            </a:pPr>
            <a:r>
              <a:rPr lang="en-US" sz="1500" b="1" dirty="0">
                <a:solidFill>
                  <a:srgbClr val="2F5597"/>
                </a:solidFill>
                <a:latin typeface="Calibri" pitchFamily="34" charset="0"/>
                <a:ea typeface="Calibri" pitchFamily="34" charset="-122"/>
                <a:cs typeface="Calibri" pitchFamily="34" charset="-120"/>
              </a:rPr>
              <a:t>CAC 2026  ·  Beijing  ·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56848" y="109728"/>
            <a:ext cx="658368" cy="457200"/>
          </a:xfrm>
          <a:prstGeom prst="rect">
            <a:avLst/>
          </a:prstGeom>
        </p:spPr>
      </p:pic>
      <p:sp>
        <p:nvSpPr>
          <p:cNvPr id="3" name="Shape 0"/>
          <p:cNvSpPr/>
          <p:nvPr/>
        </p:nvSpPr>
        <p:spPr>
          <a:xfrm>
            <a:off x="0" y="658368"/>
            <a:ext cx="12191695" cy="128016"/>
          </a:xfrm>
          <a:prstGeom prst="rect">
            <a:avLst/>
          </a:prstGeom>
          <a:solidFill>
            <a:srgbClr val="2F5597"/>
          </a:solidFill>
          <a:ln/>
        </p:spPr>
      </p:sp>
      <p:sp>
        <p:nvSpPr>
          <p:cNvPr id="4" name="Shape 1"/>
          <p:cNvSpPr/>
          <p:nvPr/>
        </p:nvSpPr>
        <p:spPr>
          <a:xfrm>
            <a:off x="-182880" y="2331720"/>
            <a:ext cx="4297680" cy="1691640"/>
          </a:xfrm>
          <a:prstGeom prst="roundRect">
            <a:avLst>
              <a:gd name="adj" fmla="val 48649"/>
            </a:avLst>
          </a:prstGeom>
          <a:solidFill>
            <a:srgbClr val="2F5597"/>
          </a:solidFill>
          <a:ln/>
        </p:spPr>
      </p:sp>
      <p:sp>
        <p:nvSpPr>
          <p:cNvPr id="5" name="Text 2"/>
          <p:cNvSpPr/>
          <p:nvPr/>
        </p:nvSpPr>
        <p:spPr>
          <a:xfrm>
            <a:off x="228600" y="2743200"/>
            <a:ext cx="3566160" cy="868680"/>
          </a:xfrm>
          <a:prstGeom prst="rect">
            <a:avLst/>
          </a:prstGeom>
          <a:noFill/>
          <a:ln/>
        </p:spPr>
        <p:txBody>
          <a:bodyPr wrap="square" lIns="0" tIns="0" rIns="0" bIns="0"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CONTENTS</a:t>
            </a:r>
            <a:endParaRPr lang="en-US" sz="3200" dirty="0"/>
          </a:p>
        </p:txBody>
      </p:sp>
      <p:sp>
        <p:nvSpPr>
          <p:cNvPr id="6" name="Shape 3"/>
          <p:cNvSpPr/>
          <p:nvPr/>
        </p:nvSpPr>
        <p:spPr>
          <a:xfrm>
            <a:off x="4617720" y="1554480"/>
            <a:ext cx="64008" cy="3840480"/>
          </a:xfrm>
          <a:prstGeom prst="rect">
            <a:avLst/>
          </a:prstGeom>
          <a:solidFill>
            <a:srgbClr val="2F5597"/>
          </a:solidFill>
          <a:ln/>
        </p:spPr>
      </p:sp>
      <p:sp>
        <p:nvSpPr>
          <p:cNvPr id="7" name="Text 4"/>
          <p:cNvSpPr/>
          <p:nvPr/>
        </p:nvSpPr>
        <p:spPr>
          <a:xfrm>
            <a:off x="4983480" y="1828800"/>
            <a:ext cx="777240" cy="502920"/>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01</a:t>
            </a:r>
            <a:endParaRPr lang="en-US" sz="2600" dirty="0"/>
          </a:p>
        </p:txBody>
      </p:sp>
      <p:sp>
        <p:nvSpPr>
          <p:cNvPr id="8" name="Text 5"/>
          <p:cNvSpPr/>
          <p:nvPr/>
        </p:nvSpPr>
        <p:spPr>
          <a:xfrm>
            <a:off x="5806440" y="1828800"/>
            <a:ext cx="5852160" cy="640080"/>
          </a:xfrm>
          <a:prstGeom prst="rect">
            <a:avLst/>
          </a:prstGeom>
          <a:noFill/>
          <a:ln/>
        </p:spPr>
        <p:txBody>
          <a:bodyPr wrap="square" lIns="0" tIns="0" rIns="0" bIns="0" rtlCol="0" anchor="ctr"/>
          <a:lstStyle/>
          <a:p>
            <a:pPr indent="0" marL="0">
              <a:buNone/>
            </a:pPr>
            <a:r>
              <a:rPr lang="en-US" sz="2000" dirty="0">
                <a:solidFill>
                  <a:srgbClr val="1F2A44"/>
                </a:solidFill>
                <a:latin typeface="Calibri" pitchFamily="34" charset="0"/>
                <a:ea typeface="Calibri" pitchFamily="34" charset="-122"/>
                <a:cs typeface="Calibri" pitchFamily="34" charset="-120"/>
              </a:rPr>
              <a:t>Background and Problem Formulation</a:t>
            </a:r>
            <a:endParaRPr lang="en-US" sz="2000" dirty="0"/>
          </a:p>
        </p:txBody>
      </p:sp>
      <p:sp>
        <p:nvSpPr>
          <p:cNvPr id="9" name="Text 6"/>
          <p:cNvSpPr/>
          <p:nvPr/>
        </p:nvSpPr>
        <p:spPr>
          <a:xfrm>
            <a:off x="4983480" y="2880360"/>
            <a:ext cx="777240" cy="502920"/>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02</a:t>
            </a:r>
            <a:endParaRPr lang="en-US" sz="2600" dirty="0"/>
          </a:p>
        </p:txBody>
      </p:sp>
      <p:sp>
        <p:nvSpPr>
          <p:cNvPr id="10" name="Text 7"/>
          <p:cNvSpPr/>
          <p:nvPr/>
        </p:nvSpPr>
        <p:spPr>
          <a:xfrm>
            <a:off x="5806440" y="2880360"/>
            <a:ext cx="5852160" cy="640080"/>
          </a:xfrm>
          <a:prstGeom prst="rect">
            <a:avLst/>
          </a:prstGeom>
          <a:noFill/>
          <a:ln/>
        </p:spPr>
        <p:txBody>
          <a:bodyPr wrap="square" lIns="0" tIns="0" rIns="0" bIns="0" rtlCol="0" anchor="ctr"/>
          <a:lstStyle/>
          <a:p>
            <a:pPr indent="0" marL="0">
              <a:buNone/>
            </a:pPr>
            <a:r>
              <a:rPr lang="en-US" sz="2000" dirty="0">
                <a:solidFill>
                  <a:srgbClr val="1F2A44"/>
                </a:solidFill>
                <a:latin typeface="Calibri" pitchFamily="34" charset="0"/>
                <a:ea typeface="Calibri" pitchFamily="34" charset="-122"/>
                <a:cs typeface="Calibri" pitchFamily="34" charset="-120"/>
              </a:rPr>
              <a:t>Proposed IC-HGAT-MAPPO</a:t>
            </a:r>
            <a:endParaRPr lang="en-US" sz="2000" dirty="0"/>
          </a:p>
        </p:txBody>
      </p:sp>
      <p:sp>
        <p:nvSpPr>
          <p:cNvPr id="11" name="Text 8"/>
          <p:cNvSpPr/>
          <p:nvPr/>
        </p:nvSpPr>
        <p:spPr>
          <a:xfrm>
            <a:off x="4983480" y="3931920"/>
            <a:ext cx="777240" cy="502920"/>
          </a:xfrm>
          <a:prstGeom prst="rect">
            <a:avLst/>
          </a:prstGeom>
          <a:noFill/>
          <a:ln/>
        </p:spPr>
        <p:txBody>
          <a:bodyPr wrap="square" lIns="0" tIns="0" rIns="0" bIns="0" rtlCol="0" anchor="ctr"/>
          <a:lstStyle/>
          <a:p>
            <a:pPr indent="0" marL="0">
              <a:buNone/>
            </a:pPr>
            <a:r>
              <a:rPr lang="en-US" sz="2600" b="1" dirty="0">
                <a:solidFill>
                  <a:srgbClr val="2F5597"/>
                </a:solidFill>
                <a:latin typeface="Calibri" pitchFamily="34" charset="0"/>
                <a:ea typeface="Calibri" pitchFamily="34" charset="-122"/>
                <a:cs typeface="Calibri" pitchFamily="34" charset="-120"/>
              </a:rPr>
              <a:t>03</a:t>
            </a:r>
            <a:endParaRPr lang="en-US" sz="2600" dirty="0"/>
          </a:p>
        </p:txBody>
      </p:sp>
      <p:sp>
        <p:nvSpPr>
          <p:cNvPr id="12" name="Text 9"/>
          <p:cNvSpPr/>
          <p:nvPr/>
        </p:nvSpPr>
        <p:spPr>
          <a:xfrm>
            <a:off x="5806440" y="3931920"/>
            <a:ext cx="5852160" cy="640080"/>
          </a:xfrm>
          <a:prstGeom prst="rect">
            <a:avLst/>
          </a:prstGeom>
          <a:noFill/>
          <a:ln/>
        </p:spPr>
        <p:txBody>
          <a:bodyPr wrap="square" lIns="0" tIns="0" rIns="0" bIns="0" rtlCol="0" anchor="ctr"/>
          <a:lstStyle/>
          <a:p>
            <a:pPr indent="0" marL="0">
              <a:buNone/>
            </a:pPr>
            <a:r>
              <a:rPr lang="en-US" sz="2000" dirty="0">
                <a:solidFill>
                  <a:srgbClr val="1F2A44"/>
                </a:solidFill>
                <a:latin typeface="Calibri" pitchFamily="34" charset="0"/>
                <a:ea typeface="Calibri" pitchFamily="34" charset="-122"/>
                <a:cs typeface="Calibri" pitchFamily="34" charset="-120"/>
              </a:rPr>
              <a:t>Experimental Results and Conclusions</a:t>
            </a:r>
            <a:endParaRPr lang="en-US" sz="2000" dirty="0"/>
          </a:p>
        </p:txBody>
      </p:sp>
      <p:sp>
        <p:nvSpPr>
          <p:cNvPr id="13" name="Text 10"/>
          <p:cNvSpPr/>
          <p:nvPr/>
        </p:nvSpPr>
        <p:spPr>
          <a:xfrm>
            <a:off x="11475720" y="6510528"/>
            <a:ext cx="502920" cy="256032"/>
          </a:xfrm>
          <a:prstGeom prst="rect">
            <a:avLst/>
          </a:prstGeom>
          <a:noFill/>
          <a:ln/>
        </p:spPr>
        <p:txBody>
          <a:bodyPr wrap="square" lIns="0" tIns="0" rIns="0" bIns="0" rtlCol="0" anchor="ctr"/>
          <a:lstStyle/>
          <a:p>
            <a:pPr algn="r" indent="0" marL="0">
              <a:buNone/>
            </a:pPr>
            <a:r>
              <a:rPr lang="en-US" sz="1200" dirty="0">
                <a:solidFill>
                  <a:srgbClr val="2F5597"/>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56848" y="73152"/>
            <a:ext cx="658368" cy="457200"/>
          </a:xfrm>
          <a:prstGeom prst="rect">
            <a:avLst/>
          </a:prstGeom>
        </p:spPr>
      </p:pic>
      <p:sp>
        <p:nvSpPr>
          <p:cNvPr id="3" name="Text 0"/>
          <p:cNvSpPr/>
          <p:nvPr/>
        </p:nvSpPr>
        <p:spPr>
          <a:xfrm>
            <a:off x="347472" y="91440"/>
            <a:ext cx="10789920" cy="384048"/>
          </a:xfrm>
          <a:prstGeom prst="rect">
            <a:avLst/>
          </a:prstGeom>
          <a:noFill/>
          <a:ln/>
        </p:spPr>
        <p:txBody>
          <a:bodyPr wrap="square" lIns="0" tIns="0" rIns="0" bIns="0" rtlCol="0" anchor="ctr"/>
          <a:lstStyle/>
          <a:p>
            <a:pPr indent="0" marL="0">
              <a:buNone/>
            </a:pPr>
            <a:r>
              <a:rPr lang="en-US" sz="2200" b="1" dirty="0">
                <a:solidFill>
                  <a:srgbClr val="2F5597"/>
                </a:solidFill>
                <a:latin typeface="Calibri" pitchFamily="34" charset="0"/>
                <a:ea typeface="Calibri" pitchFamily="34" charset="-122"/>
                <a:cs typeface="Calibri" pitchFamily="34" charset="-120"/>
              </a:rPr>
              <a:t>1. Background</a:t>
            </a:r>
            <a:endParaRPr lang="en-US" sz="2200" dirty="0"/>
          </a:p>
        </p:txBody>
      </p:sp>
      <p:sp>
        <p:nvSpPr>
          <p:cNvPr id="4" name="Shape 1"/>
          <p:cNvSpPr/>
          <p:nvPr/>
        </p:nvSpPr>
        <p:spPr>
          <a:xfrm>
            <a:off x="0" y="566928"/>
            <a:ext cx="12191695" cy="420624"/>
          </a:xfrm>
          <a:prstGeom prst="rect">
            <a:avLst/>
          </a:prstGeom>
          <a:solidFill>
            <a:srgbClr val="2F5597"/>
          </a:solidFill>
          <a:ln/>
        </p:spPr>
      </p:sp>
      <p:sp>
        <p:nvSpPr>
          <p:cNvPr id="5" name="Text 2"/>
          <p:cNvSpPr/>
          <p:nvPr/>
        </p:nvSpPr>
        <p:spPr>
          <a:xfrm>
            <a:off x="347472" y="585216"/>
            <a:ext cx="114300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1.1 Cooperative Multi-UAV Search</a:t>
            </a:r>
            <a:endParaRPr lang="en-US" sz="1600" dirty="0"/>
          </a:p>
        </p:txBody>
      </p:sp>
      <p:pic>
        <p:nvPicPr>
          <p:cNvPr id="6" name="Image 1" descr="/tmp/ppt-work/assets/photos/earthquake.jpg">    </p:cNvPr>
          <p:cNvPicPr>
            <a:picLocks noChangeAspect="1"/>
          </p:cNvPicPr>
          <p:nvPr/>
        </p:nvPicPr>
        <p:blipFill>
          <a:blip r:embed="rId2"/>
          <a:stretch>
            <a:fillRect/>
          </a:stretch>
        </p:blipFill>
        <p:spPr>
          <a:xfrm>
            <a:off x="365760" y="1115568"/>
            <a:ext cx="3703320" cy="1965960"/>
          </a:xfrm>
          <a:prstGeom prst="rect">
            <a:avLst/>
          </a:prstGeom>
        </p:spPr>
      </p:pic>
      <p:sp>
        <p:nvSpPr>
          <p:cNvPr id="7" name="Text 3"/>
          <p:cNvSpPr/>
          <p:nvPr/>
        </p:nvSpPr>
        <p:spPr>
          <a:xfrm>
            <a:off x="365760" y="3108960"/>
            <a:ext cx="3703320" cy="292608"/>
          </a:xfrm>
          <a:prstGeom prst="rect">
            <a:avLst/>
          </a:prstGeom>
          <a:noFill/>
          <a:ln/>
        </p:spPr>
        <p:txBody>
          <a:bodyPr wrap="square" lIns="0" tIns="0" rIns="0" bIns="0" rtlCol="0" anchor="ctr"/>
          <a:lstStyle/>
          <a:p>
            <a:pPr algn="ctr" indent="0" marL="0">
              <a:buNone/>
            </a:pPr>
            <a:r>
              <a:rPr lang="en-US" sz="1400" b="1" dirty="0">
                <a:solidFill>
                  <a:srgbClr val="1F2A44"/>
                </a:solidFill>
                <a:latin typeface="Calibri" pitchFamily="34" charset="0"/>
                <a:ea typeface="Calibri" pitchFamily="34" charset="-122"/>
                <a:cs typeface="Calibri" pitchFamily="34" charset="-120"/>
              </a:rPr>
              <a:t>Earthquake Response</a:t>
            </a:r>
            <a:endParaRPr lang="en-US" sz="1400" dirty="0"/>
          </a:p>
        </p:txBody>
      </p:sp>
      <p:pic>
        <p:nvPicPr>
          <p:cNvPr id="8" name="Image 2" descr="/tmp/ppt-work/assets/photos/wildfire_fallback.jpg">    </p:cNvPr>
          <p:cNvPicPr>
            <a:picLocks noChangeAspect="1"/>
          </p:cNvPicPr>
          <p:nvPr/>
        </p:nvPicPr>
        <p:blipFill>
          <a:blip r:embed="rId3"/>
          <a:stretch>
            <a:fillRect/>
          </a:stretch>
        </p:blipFill>
        <p:spPr>
          <a:xfrm>
            <a:off x="4297680" y="1115568"/>
            <a:ext cx="3703320" cy="1965960"/>
          </a:xfrm>
          <a:prstGeom prst="rect">
            <a:avLst/>
          </a:prstGeom>
        </p:spPr>
      </p:pic>
      <p:sp>
        <p:nvSpPr>
          <p:cNvPr id="9" name="Text 4"/>
          <p:cNvSpPr/>
          <p:nvPr/>
        </p:nvSpPr>
        <p:spPr>
          <a:xfrm>
            <a:off x="4297680" y="3108960"/>
            <a:ext cx="3703320" cy="292608"/>
          </a:xfrm>
          <a:prstGeom prst="rect">
            <a:avLst/>
          </a:prstGeom>
          <a:noFill/>
          <a:ln/>
        </p:spPr>
        <p:txBody>
          <a:bodyPr wrap="square" lIns="0" tIns="0" rIns="0" bIns="0" rtlCol="0" anchor="ctr"/>
          <a:lstStyle/>
          <a:p>
            <a:pPr algn="ctr" indent="0" marL="0">
              <a:buNone/>
            </a:pPr>
            <a:r>
              <a:rPr lang="en-US" sz="1400" b="1" dirty="0">
                <a:solidFill>
                  <a:srgbClr val="1F2A44"/>
                </a:solidFill>
                <a:latin typeface="Calibri" pitchFamily="34" charset="0"/>
                <a:ea typeface="Calibri" pitchFamily="34" charset="-122"/>
                <a:cs typeface="Calibri" pitchFamily="34" charset="-120"/>
              </a:rPr>
              <a:t>Wildfire Monitoring</a:t>
            </a:r>
            <a:endParaRPr lang="en-US" sz="1400" dirty="0"/>
          </a:p>
        </p:txBody>
      </p:sp>
      <p:pic>
        <p:nvPicPr>
          <p:cNvPr id="10" name="Image 3" descr="/tmp/ppt-work/assets/photos/maritime.jpg">    </p:cNvPr>
          <p:cNvPicPr>
            <a:picLocks noChangeAspect="1"/>
          </p:cNvPicPr>
          <p:nvPr/>
        </p:nvPicPr>
        <p:blipFill>
          <a:blip r:embed="rId4"/>
          <a:stretch>
            <a:fillRect/>
          </a:stretch>
        </p:blipFill>
        <p:spPr>
          <a:xfrm>
            <a:off x="8229600" y="1115568"/>
            <a:ext cx="3703320" cy="1965960"/>
          </a:xfrm>
          <a:prstGeom prst="rect">
            <a:avLst/>
          </a:prstGeom>
        </p:spPr>
      </p:pic>
      <p:sp>
        <p:nvSpPr>
          <p:cNvPr id="11" name="Text 5"/>
          <p:cNvSpPr/>
          <p:nvPr/>
        </p:nvSpPr>
        <p:spPr>
          <a:xfrm>
            <a:off x="8229600" y="3108960"/>
            <a:ext cx="3703320" cy="292608"/>
          </a:xfrm>
          <a:prstGeom prst="rect">
            <a:avLst/>
          </a:prstGeom>
          <a:noFill/>
          <a:ln/>
        </p:spPr>
        <p:txBody>
          <a:bodyPr wrap="square" lIns="0" tIns="0" rIns="0" bIns="0" rtlCol="0" anchor="ctr"/>
          <a:lstStyle/>
          <a:p>
            <a:pPr algn="ctr" indent="0" marL="0">
              <a:buNone/>
            </a:pPr>
            <a:r>
              <a:rPr lang="en-US" sz="1400" b="1" dirty="0">
                <a:solidFill>
                  <a:srgbClr val="1F2A44"/>
                </a:solidFill>
                <a:latin typeface="Calibri" pitchFamily="34" charset="0"/>
                <a:ea typeface="Calibri" pitchFamily="34" charset="-122"/>
                <a:cs typeface="Calibri" pitchFamily="34" charset="-120"/>
              </a:rPr>
              <a:t>Maritime Rescue</a:t>
            </a:r>
            <a:endParaRPr lang="en-US" sz="1400" dirty="0"/>
          </a:p>
        </p:txBody>
      </p:sp>
      <p:sp>
        <p:nvSpPr>
          <p:cNvPr id="12" name="Shape 6"/>
          <p:cNvSpPr/>
          <p:nvPr/>
        </p:nvSpPr>
        <p:spPr>
          <a:xfrm>
            <a:off x="365760" y="3474720"/>
            <a:ext cx="11475720" cy="438912"/>
          </a:xfrm>
          <a:prstGeom prst="rect">
            <a:avLst/>
          </a:prstGeom>
          <a:solidFill>
            <a:srgbClr val="F4F6FA"/>
          </a:solidFill>
          <a:ln/>
        </p:spPr>
      </p:sp>
      <p:sp>
        <p:nvSpPr>
          <p:cNvPr id="13" name="Text 7"/>
          <p:cNvSpPr/>
          <p:nvPr/>
        </p:nvSpPr>
        <p:spPr>
          <a:xfrm>
            <a:off x="457200" y="3493008"/>
            <a:ext cx="4846320" cy="402336"/>
          </a:xfrm>
          <a:prstGeom prst="rect">
            <a:avLst/>
          </a:prstGeom>
          <a:noFill/>
          <a:ln/>
        </p:spPr>
        <p:txBody>
          <a:bodyPr wrap="square" lIns="0" tIns="0" rIns="0" bIns="0" rtlCol="0" anchor="ctr"/>
          <a:lstStyle/>
          <a:p>
            <a:pPr algn="r" indent="0" marL="0">
              <a:buNone/>
            </a:pPr>
            <a:r>
              <a:rPr lang="en-US" sz="1300" dirty="0">
                <a:solidFill>
                  <a:srgbClr val="5A6A80"/>
                </a:solidFill>
                <a:latin typeface="Calibri" pitchFamily="34" charset="0"/>
                <a:ea typeface="Calibri" pitchFamily="34" charset="-122"/>
                <a:cs typeface="Calibri" pitchFamily="34" charset="-120"/>
              </a:rPr>
              <a:t>Global / Reliable Information</a:t>
            </a:r>
            <a:endParaRPr lang="en-US" sz="1300" dirty="0"/>
          </a:p>
        </p:txBody>
      </p:sp>
      <p:sp>
        <p:nvSpPr>
          <p:cNvPr id="14" name="Text 8"/>
          <p:cNvSpPr/>
          <p:nvPr/>
        </p:nvSpPr>
        <p:spPr>
          <a:xfrm>
            <a:off x="5349240" y="3493008"/>
            <a:ext cx="6400800" cy="402336"/>
          </a:xfrm>
          <a:prstGeom prst="rect">
            <a:avLst/>
          </a:prstGeom>
          <a:noFill/>
          <a:ln/>
        </p:spPr>
        <p:txBody>
          <a:bodyPr wrap="square" lIns="0" tIns="0" rIns="0" bIns="0"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  →   Local Observation + Intermittent Communication</a:t>
            </a:r>
            <a:endParaRPr lang="en-US" sz="1300" dirty="0"/>
          </a:p>
        </p:txBody>
      </p:sp>
      <p:sp>
        <p:nvSpPr>
          <p:cNvPr id="15" name="Text 9"/>
          <p:cNvSpPr/>
          <p:nvPr/>
        </p:nvSpPr>
        <p:spPr>
          <a:xfrm>
            <a:off x="365760" y="3913632"/>
            <a:ext cx="11475720" cy="256032"/>
          </a:xfrm>
          <a:prstGeom prst="rect">
            <a:avLst/>
          </a:prstGeom>
          <a:noFill/>
          <a:ln/>
        </p:spPr>
        <p:txBody>
          <a:bodyPr wrap="square" lIns="0" tIns="0" rIns="0" bIns="0" rtlCol="0" anchor="ctr"/>
          <a:lstStyle/>
          <a:p>
            <a:pPr algn="ctr" indent="0" marL="0">
              <a:buNone/>
            </a:pPr>
            <a:r>
              <a:rPr lang="en-US" sz="1200" i="1" dirty="0">
                <a:solidFill>
                  <a:srgbClr val="5A6A80"/>
                </a:solidFill>
                <a:latin typeface="Calibri" pitchFamily="34" charset="0"/>
                <a:ea typeface="Calibri" pitchFamily="34" charset="-122"/>
                <a:cs typeface="Calibri" pitchFamily="34" charset="-120"/>
              </a:rPr>
              <a:t>More realistic but more challenging</a:t>
            </a:r>
            <a:endParaRPr lang="en-US" sz="1200" dirty="0"/>
          </a:p>
        </p:txBody>
      </p:sp>
      <p:sp>
        <p:nvSpPr>
          <p:cNvPr id="16" name="Shape 10"/>
          <p:cNvSpPr/>
          <p:nvPr/>
        </p:nvSpPr>
        <p:spPr>
          <a:xfrm>
            <a:off x="365760" y="4224528"/>
            <a:ext cx="3703320" cy="2011680"/>
          </a:xfrm>
          <a:prstGeom prst="roundRect">
            <a:avLst>
              <a:gd name="adj" fmla="val 3636"/>
            </a:avLst>
          </a:prstGeom>
          <a:solidFill>
            <a:srgbClr val="EAF0F8"/>
          </a:solidFill>
          <a:ln/>
          <a:effectLst>
            <a:outerShdw sx="100000" sy="100000" kx="0" ky="0" algn="bl" rotWithShape="0" blurRad="50800" dist="12700" dir="16200000">
              <a:srgbClr val="1F2A44">
                <a:alpha val="12000"/>
              </a:srgbClr>
            </a:outerShdw>
          </a:effectLst>
        </p:spPr>
      </p:sp>
      <p:sp>
        <p:nvSpPr>
          <p:cNvPr id="17" name="Text 11"/>
          <p:cNvSpPr/>
          <p:nvPr/>
        </p:nvSpPr>
        <p:spPr>
          <a:xfrm>
            <a:off x="502920" y="4315968"/>
            <a:ext cx="3429000" cy="347472"/>
          </a:xfrm>
          <a:prstGeom prst="rect">
            <a:avLst/>
          </a:prstGeom>
          <a:noFill/>
          <a:ln/>
        </p:spPr>
        <p:txBody>
          <a:bodyPr wrap="square" lIns="0" tIns="0" rIns="0" bIns="0" rtlCol="0" anchor="ctr"/>
          <a:lstStyle/>
          <a:p>
            <a:pPr indent="0" marL="0">
              <a:buNone/>
            </a:pPr>
            <a:r>
              <a:rPr lang="en-US" sz="1500" b="1" dirty="0">
                <a:solidFill>
                  <a:srgbClr val="2F5597"/>
                </a:solidFill>
                <a:latin typeface="Calibri" pitchFamily="34" charset="0"/>
                <a:ea typeface="Calibri" pitchFamily="34" charset="-122"/>
                <a:cs typeface="Calibri" pitchFamily="34" charset="-120"/>
              </a:rPr>
              <a:t>Conventional Setting</a:t>
            </a:r>
            <a:endParaRPr lang="en-US" sz="1500" dirty="0"/>
          </a:p>
        </p:txBody>
      </p:sp>
      <p:sp>
        <p:nvSpPr>
          <p:cNvPr id="18" name="Text 12"/>
          <p:cNvSpPr/>
          <p:nvPr/>
        </p:nvSpPr>
        <p:spPr>
          <a:xfrm>
            <a:off x="502920" y="4681728"/>
            <a:ext cx="3429000" cy="141732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Stable communication</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Synchronized / global information</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Homogeneous interaction modeling</a:t>
            </a:r>
            <a:endParaRPr lang="en-US" sz="1300" dirty="0"/>
          </a:p>
        </p:txBody>
      </p:sp>
      <p:sp>
        <p:nvSpPr>
          <p:cNvPr id="19" name="Shape 13"/>
          <p:cNvSpPr/>
          <p:nvPr/>
        </p:nvSpPr>
        <p:spPr>
          <a:xfrm>
            <a:off x="4297680" y="4224528"/>
            <a:ext cx="3703320" cy="2011680"/>
          </a:xfrm>
          <a:prstGeom prst="roundRect">
            <a:avLst>
              <a:gd name="adj" fmla="val 3636"/>
            </a:avLst>
          </a:prstGeom>
          <a:solidFill>
            <a:srgbClr val="FFF3E8"/>
          </a:solidFill>
          <a:ln/>
          <a:effectLst>
            <a:outerShdw sx="100000" sy="100000" kx="0" ky="0" algn="bl" rotWithShape="0" blurRad="50800" dist="12700" dir="16200000">
              <a:srgbClr val="1F2A44">
                <a:alpha val="12000"/>
              </a:srgbClr>
            </a:outerShdw>
          </a:effectLst>
        </p:spPr>
      </p:sp>
      <p:sp>
        <p:nvSpPr>
          <p:cNvPr id="20" name="Text 14"/>
          <p:cNvSpPr/>
          <p:nvPr/>
        </p:nvSpPr>
        <p:spPr>
          <a:xfrm>
            <a:off x="4434840" y="4315968"/>
            <a:ext cx="3429000" cy="347472"/>
          </a:xfrm>
          <a:prstGeom prst="rect">
            <a:avLst/>
          </a:prstGeom>
          <a:noFill/>
          <a:ln/>
        </p:spPr>
        <p:txBody>
          <a:bodyPr wrap="square" lIns="0" tIns="0" rIns="0" bIns="0" rtlCol="0" anchor="ctr"/>
          <a:lstStyle/>
          <a:p>
            <a:pPr indent="0" marL="0">
              <a:buNone/>
            </a:pPr>
            <a:r>
              <a:rPr lang="en-US" sz="1500" b="1" dirty="0">
                <a:solidFill>
                  <a:srgbClr val="ED7D31"/>
                </a:solidFill>
                <a:latin typeface="Calibri" pitchFamily="34" charset="0"/>
                <a:ea typeface="Calibri" pitchFamily="34" charset="-122"/>
                <a:cs typeface="Calibri" pitchFamily="34" charset="-120"/>
              </a:rPr>
              <a:t>Practical Setting</a:t>
            </a:r>
            <a:endParaRPr lang="en-US" sz="1500" dirty="0"/>
          </a:p>
        </p:txBody>
      </p:sp>
      <p:sp>
        <p:nvSpPr>
          <p:cNvPr id="21" name="Text 15"/>
          <p:cNvSpPr/>
          <p:nvPr/>
        </p:nvSpPr>
        <p:spPr>
          <a:xfrm>
            <a:off x="4434840" y="4681728"/>
            <a:ext cx="3429000" cy="141732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Intermittent links</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Local and incomplete beliefs</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UAV / target / obstacle interactions</a:t>
            </a:r>
            <a:endParaRPr lang="en-US" sz="1300" dirty="0"/>
          </a:p>
        </p:txBody>
      </p:sp>
      <p:sp>
        <p:nvSpPr>
          <p:cNvPr id="22" name="Shape 16"/>
          <p:cNvSpPr/>
          <p:nvPr/>
        </p:nvSpPr>
        <p:spPr>
          <a:xfrm>
            <a:off x="8229600" y="4224528"/>
            <a:ext cx="3703320" cy="2011680"/>
          </a:xfrm>
          <a:prstGeom prst="roundRect">
            <a:avLst>
              <a:gd name="adj" fmla="val 3636"/>
            </a:avLst>
          </a:prstGeom>
          <a:solidFill>
            <a:srgbClr val="FDECEA"/>
          </a:solidFill>
          <a:ln/>
          <a:effectLst>
            <a:outerShdw sx="100000" sy="100000" kx="0" ky="0" algn="bl" rotWithShape="0" blurRad="50800" dist="12700" dir="16200000">
              <a:srgbClr val="1F2A44">
                <a:alpha val="12000"/>
              </a:srgbClr>
            </a:outerShdw>
          </a:effectLst>
        </p:spPr>
      </p:sp>
      <p:sp>
        <p:nvSpPr>
          <p:cNvPr id="23" name="Text 17"/>
          <p:cNvSpPr/>
          <p:nvPr/>
        </p:nvSpPr>
        <p:spPr>
          <a:xfrm>
            <a:off x="8366760" y="4315968"/>
            <a:ext cx="3429000" cy="347472"/>
          </a:xfrm>
          <a:prstGeom prst="rect">
            <a:avLst/>
          </a:prstGeom>
          <a:noFill/>
          <a:ln/>
        </p:spPr>
        <p:txBody>
          <a:bodyPr wrap="square" lIns="0" tIns="0" rIns="0" bIns="0"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Research Needs</a:t>
            </a:r>
            <a:endParaRPr lang="en-US" sz="1500" dirty="0"/>
          </a:p>
        </p:txBody>
      </p:sp>
      <p:sp>
        <p:nvSpPr>
          <p:cNvPr id="24" name="Text 18"/>
          <p:cNvSpPr/>
          <p:nvPr/>
        </p:nvSpPr>
        <p:spPr>
          <a:xfrm>
            <a:off x="8366760" y="4681728"/>
            <a:ext cx="3429000" cy="1417320"/>
          </a:xfrm>
          <a:prstGeom prst="rect">
            <a:avLst/>
          </a:prstGeom>
          <a:noFill/>
          <a:ln/>
        </p:spPr>
        <p:txBody>
          <a:bodyPr wrap="square" lIns="0" tIns="0" rIns="0" bIns="0" rtlCol="0" anchor="t"/>
          <a:lstStyle/>
          <a:p>
            <a:pPr indent="0" marL="0">
              <a:buNone/>
            </a:pPr>
            <a:r>
              <a:rPr lang="en-US" sz="1300" dirty="0">
                <a:solidFill>
                  <a:srgbClr val="1F2A44"/>
                </a:solidFill>
                <a:latin typeface="Calibri" pitchFamily="34" charset="0"/>
                <a:ea typeface="Calibri" pitchFamily="34" charset="-122"/>
                <a:cs typeface="Calibri" pitchFamily="34" charset="-120"/>
              </a:rPr>
              <a:t>1. Maintain useful local beliefs</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2. Exploit reachable peer information</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3. Model heterogeneous relations</a:t>
            </a:r>
            <a:endParaRPr lang="en-US" sz="1300" dirty="0"/>
          </a:p>
        </p:txBody>
      </p:sp>
      <p:sp>
        <p:nvSpPr>
          <p:cNvPr id="25" name="Text 19"/>
          <p:cNvSpPr/>
          <p:nvPr/>
        </p:nvSpPr>
        <p:spPr>
          <a:xfrm>
            <a:off x="11475720" y="6510528"/>
            <a:ext cx="502920" cy="256032"/>
          </a:xfrm>
          <a:prstGeom prst="rect">
            <a:avLst/>
          </a:prstGeom>
          <a:noFill/>
          <a:ln/>
        </p:spPr>
        <p:txBody>
          <a:bodyPr wrap="square" lIns="0" tIns="0" rIns="0" bIns="0" rtlCol="0" anchor="ctr"/>
          <a:lstStyle/>
          <a:p>
            <a:pPr algn="r" indent="0" marL="0">
              <a:buNone/>
            </a:pPr>
            <a:r>
              <a:rPr lang="en-US" sz="1200" dirty="0">
                <a:solidFill>
                  <a:srgbClr val="2F5597"/>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56848" y="73152"/>
            <a:ext cx="658368" cy="457200"/>
          </a:xfrm>
          <a:prstGeom prst="rect">
            <a:avLst/>
          </a:prstGeom>
        </p:spPr>
      </p:pic>
      <p:sp>
        <p:nvSpPr>
          <p:cNvPr id="3" name="Text 0"/>
          <p:cNvSpPr/>
          <p:nvPr/>
        </p:nvSpPr>
        <p:spPr>
          <a:xfrm>
            <a:off x="347472" y="91440"/>
            <a:ext cx="10789920" cy="384048"/>
          </a:xfrm>
          <a:prstGeom prst="rect">
            <a:avLst/>
          </a:prstGeom>
          <a:noFill/>
          <a:ln/>
        </p:spPr>
        <p:txBody>
          <a:bodyPr wrap="square" lIns="0" tIns="0" rIns="0" bIns="0" rtlCol="0" anchor="ctr"/>
          <a:lstStyle/>
          <a:p>
            <a:pPr indent="0" marL="0">
              <a:buNone/>
            </a:pPr>
            <a:r>
              <a:rPr lang="en-US" sz="2200" b="1" dirty="0">
                <a:solidFill>
                  <a:srgbClr val="2F5597"/>
                </a:solidFill>
                <a:latin typeface="Calibri" pitchFamily="34" charset="0"/>
                <a:ea typeface="Calibri" pitchFamily="34" charset="-122"/>
                <a:cs typeface="Calibri" pitchFamily="34" charset="-120"/>
              </a:rPr>
              <a:t>1. Background</a:t>
            </a:r>
            <a:endParaRPr lang="en-US" sz="2200" dirty="0"/>
          </a:p>
        </p:txBody>
      </p:sp>
      <p:sp>
        <p:nvSpPr>
          <p:cNvPr id="4" name="Shape 1"/>
          <p:cNvSpPr/>
          <p:nvPr/>
        </p:nvSpPr>
        <p:spPr>
          <a:xfrm>
            <a:off x="0" y="566928"/>
            <a:ext cx="12191695" cy="420624"/>
          </a:xfrm>
          <a:prstGeom prst="rect">
            <a:avLst/>
          </a:prstGeom>
          <a:solidFill>
            <a:srgbClr val="2F5597"/>
          </a:solidFill>
          <a:ln/>
        </p:spPr>
      </p:sp>
      <p:sp>
        <p:nvSpPr>
          <p:cNvPr id="5" name="Text 2"/>
          <p:cNvSpPr/>
          <p:nvPr/>
        </p:nvSpPr>
        <p:spPr>
          <a:xfrm>
            <a:off x="347472" y="585216"/>
            <a:ext cx="114300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1.2 Key Challenges under Intermittent Communication</a:t>
            </a:r>
            <a:endParaRPr lang="en-US" sz="1600" dirty="0"/>
          </a:p>
        </p:txBody>
      </p:sp>
      <p:sp>
        <p:nvSpPr>
          <p:cNvPr id="6" name="Shape 3"/>
          <p:cNvSpPr/>
          <p:nvPr/>
        </p:nvSpPr>
        <p:spPr>
          <a:xfrm>
            <a:off x="320040" y="1143000"/>
            <a:ext cx="3794760" cy="4160520"/>
          </a:xfrm>
          <a:prstGeom prst="roundRect">
            <a:avLst>
              <a:gd name="adj" fmla="val 1928"/>
            </a:avLst>
          </a:prstGeom>
          <a:solidFill>
            <a:srgbClr val="FFFFFF"/>
          </a:solidFill>
          <a:ln/>
          <a:effectLst>
            <a:outerShdw sx="100000" sy="100000" kx="0" ky="0" algn="bl" rotWithShape="0" blurRad="50800" dist="12700" dir="16200000">
              <a:srgbClr val="1F2A44">
                <a:alpha val="12000"/>
              </a:srgbClr>
            </a:outerShdw>
          </a:effectLst>
        </p:spPr>
      </p:sp>
      <p:sp>
        <p:nvSpPr>
          <p:cNvPr id="7" name="Shape 4"/>
          <p:cNvSpPr/>
          <p:nvPr/>
        </p:nvSpPr>
        <p:spPr>
          <a:xfrm>
            <a:off x="320040" y="1143000"/>
            <a:ext cx="3794760" cy="420624"/>
          </a:xfrm>
          <a:prstGeom prst="rect">
            <a:avLst/>
          </a:prstGeom>
          <a:solidFill>
            <a:srgbClr val="2F5597"/>
          </a:solidFill>
          <a:ln/>
        </p:spPr>
      </p:sp>
      <p:sp>
        <p:nvSpPr>
          <p:cNvPr id="8" name="Text 5"/>
          <p:cNvSpPr/>
          <p:nvPr/>
        </p:nvSpPr>
        <p:spPr>
          <a:xfrm>
            <a:off x="411480" y="1170432"/>
            <a:ext cx="361188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1  Incomplete Information Exchange</a:t>
            </a:r>
            <a:endParaRPr lang="en-US" sz="1200" dirty="0"/>
          </a:p>
        </p:txBody>
      </p:sp>
      <p:pic>
        <p:nvPicPr>
          <p:cNvPr id="9" name="Image 1" descr="/tmp/ppt-work/assets/chal1.png">    </p:cNvPr>
          <p:cNvPicPr>
            <a:picLocks noChangeAspect="1"/>
          </p:cNvPicPr>
          <p:nvPr/>
        </p:nvPicPr>
        <p:blipFill>
          <a:blip r:embed="rId2"/>
          <a:stretch>
            <a:fillRect/>
          </a:stretch>
        </p:blipFill>
        <p:spPr>
          <a:xfrm>
            <a:off x="457200" y="1645920"/>
            <a:ext cx="3520440" cy="1874520"/>
          </a:xfrm>
          <a:prstGeom prst="rect">
            <a:avLst/>
          </a:prstGeom>
        </p:spPr>
      </p:pic>
      <p:sp>
        <p:nvSpPr>
          <p:cNvPr id="10" name="Text 6"/>
          <p:cNvSpPr/>
          <p:nvPr/>
        </p:nvSpPr>
        <p:spPr>
          <a:xfrm>
            <a:off x="484632" y="3566160"/>
            <a:ext cx="3474720" cy="160020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No shared global map</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Only reachable peer messages</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Decentralized decisions</a:t>
            </a:r>
            <a:endParaRPr lang="en-US" sz="1300" dirty="0"/>
          </a:p>
        </p:txBody>
      </p:sp>
      <p:sp>
        <p:nvSpPr>
          <p:cNvPr id="11" name="Shape 7"/>
          <p:cNvSpPr/>
          <p:nvPr/>
        </p:nvSpPr>
        <p:spPr>
          <a:xfrm>
            <a:off x="4270248" y="1143000"/>
            <a:ext cx="3794760" cy="4160520"/>
          </a:xfrm>
          <a:prstGeom prst="roundRect">
            <a:avLst>
              <a:gd name="adj" fmla="val 1928"/>
            </a:avLst>
          </a:prstGeom>
          <a:solidFill>
            <a:srgbClr val="FFFFFF"/>
          </a:solidFill>
          <a:ln/>
          <a:effectLst>
            <a:outerShdw sx="100000" sy="100000" kx="0" ky="0" algn="bl" rotWithShape="0" blurRad="50800" dist="12700" dir="16200000">
              <a:srgbClr val="1F2A44">
                <a:alpha val="12000"/>
              </a:srgbClr>
            </a:outerShdw>
          </a:effectLst>
        </p:spPr>
      </p:sp>
      <p:sp>
        <p:nvSpPr>
          <p:cNvPr id="12" name="Shape 8"/>
          <p:cNvSpPr/>
          <p:nvPr/>
        </p:nvSpPr>
        <p:spPr>
          <a:xfrm>
            <a:off x="4270248" y="1143000"/>
            <a:ext cx="3794760" cy="420624"/>
          </a:xfrm>
          <a:prstGeom prst="rect">
            <a:avLst/>
          </a:prstGeom>
          <a:solidFill>
            <a:srgbClr val="2F5597"/>
          </a:solidFill>
          <a:ln/>
        </p:spPr>
      </p:sp>
      <p:sp>
        <p:nvSpPr>
          <p:cNvPr id="13" name="Text 9"/>
          <p:cNvSpPr/>
          <p:nvPr/>
        </p:nvSpPr>
        <p:spPr>
          <a:xfrm>
            <a:off x="4361688" y="1170432"/>
            <a:ext cx="361188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2  Heterogeneous Interactions</a:t>
            </a:r>
            <a:endParaRPr lang="en-US" sz="1200" dirty="0"/>
          </a:p>
        </p:txBody>
      </p:sp>
      <p:pic>
        <p:nvPicPr>
          <p:cNvPr id="14" name="Image 2" descr="/tmp/ppt-work/assets/chal2.png">    </p:cNvPr>
          <p:cNvPicPr>
            <a:picLocks noChangeAspect="1"/>
          </p:cNvPicPr>
          <p:nvPr/>
        </p:nvPicPr>
        <p:blipFill>
          <a:blip r:embed="rId3"/>
          <a:stretch>
            <a:fillRect/>
          </a:stretch>
        </p:blipFill>
        <p:spPr>
          <a:xfrm>
            <a:off x="4407408" y="1645920"/>
            <a:ext cx="3520440" cy="1874520"/>
          </a:xfrm>
          <a:prstGeom prst="rect">
            <a:avLst/>
          </a:prstGeom>
        </p:spPr>
      </p:pic>
      <p:sp>
        <p:nvSpPr>
          <p:cNvPr id="15" name="Text 10"/>
          <p:cNvSpPr/>
          <p:nvPr/>
        </p:nvSpPr>
        <p:spPr>
          <a:xfrm>
            <a:off x="4434840" y="3566160"/>
            <a:ext cx="3474720" cy="160020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Peer cooperation</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Search utility</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Collision risk</a:t>
            </a:r>
            <a:endParaRPr lang="en-US" sz="1300" dirty="0"/>
          </a:p>
        </p:txBody>
      </p:sp>
      <p:sp>
        <p:nvSpPr>
          <p:cNvPr id="16" name="Shape 11"/>
          <p:cNvSpPr/>
          <p:nvPr/>
        </p:nvSpPr>
        <p:spPr>
          <a:xfrm>
            <a:off x="8220456" y="1143000"/>
            <a:ext cx="3794760" cy="4160520"/>
          </a:xfrm>
          <a:prstGeom prst="roundRect">
            <a:avLst>
              <a:gd name="adj" fmla="val 1928"/>
            </a:avLst>
          </a:prstGeom>
          <a:solidFill>
            <a:srgbClr val="FFFFFF"/>
          </a:solidFill>
          <a:ln/>
          <a:effectLst>
            <a:outerShdw sx="100000" sy="100000" kx="0" ky="0" algn="bl" rotWithShape="0" blurRad="50800" dist="12700" dir="16200000">
              <a:srgbClr val="1F2A44">
                <a:alpha val="12000"/>
              </a:srgbClr>
            </a:outerShdw>
          </a:effectLst>
        </p:spPr>
      </p:sp>
      <p:sp>
        <p:nvSpPr>
          <p:cNvPr id="17" name="Shape 12"/>
          <p:cNvSpPr/>
          <p:nvPr/>
        </p:nvSpPr>
        <p:spPr>
          <a:xfrm>
            <a:off x="8220456" y="1143000"/>
            <a:ext cx="3794760" cy="420624"/>
          </a:xfrm>
          <a:prstGeom prst="rect">
            <a:avLst/>
          </a:prstGeom>
          <a:solidFill>
            <a:srgbClr val="C0392B"/>
          </a:solidFill>
          <a:ln/>
        </p:spPr>
      </p:sp>
      <p:sp>
        <p:nvSpPr>
          <p:cNvPr id="18" name="Text 13"/>
          <p:cNvSpPr/>
          <p:nvPr/>
        </p:nvSpPr>
        <p:spPr>
          <a:xfrm>
            <a:off x="8311896" y="1170432"/>
            <a:ext cx="361188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3  Information Staleness</a:t>
            </a:r>
            <a:endParaRPr lang="en-US" sz="1200" dirty="0"/>
          </a:p>
        </p:txBody>
      </p:sp>
      <p:pic>
        <p:nvPicPr>
          <p:cNvPr id="19" name="Image 3" descr="/tmp/ppt-work/assets/chal3.png">    </p:cNvPr>
          <p:cNvPicPr>
            <a:picLocks noChangeAspect="1"/>
          </p:cNvPicPr>
          <p:nvPr/>
        </p:nvPicPr>
        <p:blipFill>
          <a:blip r:embed="rId4"/>
          <a:stretch>
            <a:fillRect/>
          </a:stretch>
        </p:blipFill>
        <p:spPr>
          <a:xfrm>
            <a:off x="8357616" y="1645920"/>
            <a:ext cx="3520440" cy="1874520"/>
          </a:xfrm>
          <a:prstGeom prst="rect">
            <a:avLst/>
          </a:prstGeom>
        </p:spPr>
      </p:pic>
      <p:sp>
        <p:nvSpPr>
          <p:cNvPr id="20" name="Text 14"/>
          <p:cNvSpPr/>
          <p:nvPr/>
        </p:nvSpPr>
        <p:spPr>
          <a:xfrm>
            <a:off x="8385048" y="3566160"/>
            <a:ext cx="3474720" cy="160020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Recovered information may be outdated</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Not all reachable beliefs are equally useful</a:t>
            </a:r>
            <a:endParaRPr lang="en-US" sz="1300" dirty="0"/>
          </a:p>
          <a:p>
            <a:pPr indent="0" marL="0">
              <a:buNone/>
            </a:pP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Which source should be trusted?</a:t>
            </a:r>
            <a:endParaRPr lang="en-US" sz="1300" dirty="0"/>
          </a:p>
        </p:txBody>
      </p:sp>
      <p:sp>
        <p:nvSpPr>
          <p:cNvPr id="21" name="Shape 15"/>
          <p:cNvSpPr/>
          <p:nvPr/>
        </p:nvSpPr>
        <p:spPr>
          <a:xfrm>
            <a:off x="320040" y="5440680"/>
            <a:ext cx="11539728" cy="868680"/>
          </a:xfrm>
          <a:prstGeom prst="roundRect">
            <a:avLst>
              <a:gd name="adj" fmla="val 8421"/>
            </a:avLst>
          </a:prstGeom>
          <a:solidFill>
            <a:srgbClr val="EAF0F8"/>
          </a:solidFill>
          <a:ln/>
        </p:spPr>
      </p:sp>
      <p:sp>
        <p:nvSpPr>
          <p:cNvPr id="22" name="Text 16"/>
          <p:cNvSpPr/>
          <p:nvPr/>
        </p:nvSpPr>
        <p:spPr>
          <a:xfrm>
            <a:off x="502920" y="5532120"/>
            <a:ext cx="11201400" cy="685800"/>
          </a:xfrm>
          <a:prstGeom prst="rect">
            <a:avLst/>
          </a:prstGeom>
          <a:noFill/>
          <a:ln/>
        </p:spPr>
        <p:txBody>
          <a:bodyPr wrap="square" lIns="0" tIns="0" rIns="0" bIns="0" rtlCol="0" anchor="ctr"/>
          <a:lstStyle/>
          <a:p>
            <a:pPr algn="ctr" indent="0" marL="0">
              <a:buNone/>
            </a:pPr>
            <a:r>
              <a:rPr lang="en-US" sz="1600" b="1" dirty="0">
                <a:solidFill>
                  <a:srgbClr val="1E3F73"/>
                </a:solidFill>
                <a:latin typeface="Calibri" pitchFamily="34" charset="0"/>
                <a:ea typeface="Calibri" pitchFamily="34" charset="-122"/>
                <a:cs typeface="Calibri" pitchFamily="34" charset="-120"/>
              </a:rPr>
              <a:t>Our focus: cooperative decision-making under communication constraints,</a:t>
            </a:r>
            <a:endParaRPr lang="en-US" sz="1600" dirty="0"/>
          </a:p>
          <a:p>
            <a:pPr algn="ctr" indent="0" marL="0">
              <a:buNone/>
            </a:pPr>
            <a:r>
              <a:rPr lang="en-US" sz="1600" b="1" dirty="0">
                <a:solidFill>
                  <a:srgbClr val="1E3F73"/>
                </a:solidFill>
                <a:latin typeface="Calibri" pitchFamily="34" charset="0"/>
                <a:ea typeface="Calibri" pitchFamily="34" charset="-122"/>
                <a:cs typeface="Calibri" pitchFamily="34" charset="-120"/>
              </a:rPr>
              <a:t>rather than communication-protocol optimization.</a:t>
            </a:r>
            <a:endParaRPr lang="en-US" sz="1600" dirty="0"/>
          </a:p>
        </p:txBody>
      </p:sp>
      <p:sp>
        <p:nvSpPr>
          <p:cNvPr id="23" name="Text 17"/>
          <p:cNvSpPr/>
          <p:nvPr/>
        </p:nvSpPr>
        <p:spPr>
          <a:xfrm>
            <a:off x="11475720" y="6510528"/>
            <a:ext cx="502920" cy="256032"/>
          </a:xfrm>
          <a:prstGeom prst="rect">
            <a:avLst/>
          </a:prstGeom>
          <a:noFill/>
          <a:ln/>
        </p:spPr>
        <p:txBody>
          <a:bodyPr wrap="square" lIns="0" tIns="0" rIns="0" bIns="0" rtlCol="0" anchor="ctr"/>
          <a:lstStyle/>
          <a:p>
            <a:pPr algn="r" indent="0" marL="0">
              <a:buNone/>
            </a:pPr>
            <a:r>
              <a:rPr lang="en-US" sz="1200" dirty="0">
                <a:solidFill>
                  <a:srgbClr val="2F5597"/>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56848" y="73152"/>
            <a:ext cx="658368" cy="457200"/>
          </a:xfrm>
          <a:prstGeom prst="rect">
            <a:avLst/>
          </a:prstGeom>
        </p:spPr>
      </p:pic>
      <p:sp>
        <p:nvSpPr>
          <p:cNvPr id="3" name="Text 0"/>
          <p:cNvSpPr/>
          <p:nvPr/>
        </p:nvSpPr>
        <p:spPr>
          <a:xfrm>
            <a:off x="347472" y="91440"/>
            <a:ext cx="10789920" cy="384048"/>
          </a:xfrm>
          <a:prstGeom prst="rect">
            <a:avLst/>
          </a:prstGeom>
          <a:noFill/>
          <a:ln/>
        </p:spPr>
        <p:txBody>
          <a:bodyPr wrap="square" lIns="0" tIns="0" rIns="0" bIns="0" rtlCol="0" anchor="ctr"/>
          <a:lstStyle/>
          <a:p>
            <a:pPr indent="0" marL="0">
              <a:buNone/>
            </a:pPr>
            <a:r>
              <a:rPr lang="en-US" sz="2200" b="1" dirty="0">
                <a:solidFill>
                  <a:srgbClr val="2F5597"/>
                </a:solidFill>
                <a:latin typeface="Calibri" pitchFamily="34" charset="0"/>
                <a:ea typeface="Calibri" pitchFamily="34" charset="-122"/>
                <a:cs typeface="Calibri" pitchFamily="34" charset="-120"/>
              </a:rPr>
              <a:t>1. Background</a:t>
            </a:r>
            <a:endParaRPr lang="en-US" sz="2200" dirty="0"/>
          </a:p>
        </p:txBody>
      </p:sp>
      <p:sp>
        <p:nvSpPr>
          <p:cNvPr id="4" name="Shape 1"/>
          <p:cNvSpPr/>
          <p:nvPr/>
        </p:nvSpPr>
        <p:spPr>
          <a:xfrm>
            <a:off x="0" y="566928"/>
            <a:ext cx="12191695" cy="420624"/>
          </a:xfrm>
          <a:prstGeom prst="rect">
            <a:avLst/>
          </a:prstGeom>
          <a:solidFill>
            <a:srgbClr val="2F5597"/>
          </a:solidFill>
          <a:ln/>
        </p:spPr>
      </p:sp>
      <p:sp>
        <p:nvSpPr>
          <p:cNvPr id="5" name="Text 2"/>
          <p:cNvSpPr/>
          <p:nvPr/>
        </p:nvSpPr>
        <p:spPr>
          <a:xfrm>
            <a:off x="347472" y="585216"/>
            <a:ext cx="114300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1.3 Proposed Solution</a:t>
            </a:r>
            <a:endParaRPr lang="en-US" sz="1600" dirty="0"/>
          </a:p>
        </p:txBody>
      </p:sp>
      <p:sp>
        <p:nvSpPr>
          <p:cNvPr id="6" name="Shape 3"/>
          <p:cNvSpPr/>
          <p:nvPr/>
        </p:nvSpPr>
        <p:spPr>
          <a:xfrm>
            <a:off x="320040" y="1170432"/>
            <a:ext cx="2743200" cy="2606040"/>
          </a:xfrm>
          <a:prstGeom prst="roundRect">
            <a:avLst>
              <a:gd name="adj" fmla="val 2807"/>
            </a:avLst>
          </a:prstGeom>
          <a:solidFill>
            <a:srgbClr val="FFFFFF"/>
          </a:solidFill>
          <a:ln/>
          <a:effectLst>
            <a:outerShdw sx="100000" sy="100000" kx="0" ky="0" algn="bl" rotWithShape="0" blurRad="50800" dist="12700" dir="16200000">
              <a:srgbClr val="1F2A44">
                <a:alpha val="12000"/>
              </a:srgbClr>
            </a:outerShdw>
          </a:effectLst>
        </p:spPr>
      </p:sp>
      <p:sp>
        <p:nvSpPr>
          <p:cNvPr id="7" name="Text 4"/>
          <p:cNvSpPr/>
          <p:nvPr/>
        </p:nvSpPr>
        <p:spPr>
          <a:xfrm>
            <a:off x="320040" y="1261872"/>
            <a:ext cx="2743200" cy="292608"/>
          </a:xfrm>
          <a:prstGeom prst="rect">
            <a:avLst/>
          </a:prstGeom>
          <a:noFill/>
          <a:ln/>
        </p:spPr>
        <p:txBody>
          <a:bodyPr wrap="square" lIns="0" tIns="0" rIns="0" bIns="0" rtlCol="0" anchor="ctr"/>
          <a:lstStyle/>
          <a:p>
            <a:pPr algn="ctr" indent="0" marL="0">
              <a:buNone/>
            </a:pPr>
            <a:r>
              <a:rPr lang="en-US" sz="1200" dirty="0">
                <a:solidFill>
                  <a:srgbClr val="5A6A80"/>
                </a:solidFill>
                <a:latin typeface="Calibri" pitchFamily="34" charset="0"/>
                <a:ea typeface="Calibri" pitchFamily="34" charset="-122"/>
                <a:cs typeface="Calibri" pitchFamily="34" charset="-120"/>
              </a:rPr>
              <a:t>Challenge 1</a:t>
            </a:r>
            <a:endParaRPr lang="en-US" sz="1200" dirty="0"/>
          </a:p>
        </p:txBody>
      </p:sp>
      <p:sp>
        <p:nvSpPr>
          <p:cNvPr id="8" name="Text 5"/>
          <p:cNvSpPr/>
          <p:nvPr/>
        </p:nvSpPr>
        <p:spPr>
          <a:xfrm>
            <a:off x="393192" y="1554480"/>
            <a:ext cx="2596896" cy="502920"/>
          </a:xfrm>
          <a:prstGeom prst="rect">
            <a:avLst/>
          </a:prstGeom>
          <a:noFill/>
          <a:ln/>
        </p:spPr>
        <p:txBody>
          <a:bodyPr wrap="square" lIns="0" tIns="0" rIns="0" bIns="0" rtlCol="0" anchor="ctr"/>
          <a:lstStyle/>
          <a:p>
            <a:pPr algn="ctr" indent="0" marL="0">
              <a:buNone/>
            </a:pPr>
            <a:r>
              <a:rPr lang="en-US" sz="1300" b="1" dirty="0">
                <a:solidFill>
                  <a:srgbClr val="1F2A44"/>
                </a:solidFill>
                <a:latin typeface="Calibri" pitchFamily="34" charset="0"/>
                <a:ea typeface="Calibri" pitchFamily="34" charset="-122"/>
                <a:cs typeface="Calibri" pitchFamily="34" charset="-120"/>
              </a:rPr>
              <a:t>Incomplete beliefs</a:t>
            </a:r>
            <a:endParaRPr lang="en-US" sz="1300" dirty="0"/>
          </a:p>
        </p:txBody>
      </p:sp>
      <p:sp>
        <p:nvSpPr>
          <p:cNvPr id="9" name="Shape 6"/>
          <p:cNvSpPr/>
          <p:nvPr/>
        </p:nvSpPr>
        <p:spPr>
          <a:xfrm>
            <a:off x="1371600" y="2084832"/>
            <a:ext cx="640080" cy="347472"/>
          </a:xfrm>
          <a:prstGeom prst="downArrow">
            <a:avLst/>
          </a:prstGeom>
          <a:solidFill>
            <a:srgbClr val="2F5597"/>
          </a:solidFill>
          <a:ln/>
        </p:spPr>
      </p:sp>
      <p:sp>
        <p:nvSpPr>
          <p:cNvPr id="10" name="Text 7"/>
          <p:cNvSpPr/>
          <p:nvPr/>
        </p:nvSpPr>
        <p:spPr>
          <a:xfrm>
            <a:off x="320040" y="2450592"/>
            <a:ext cx="2743200" cy="237744"/>
          </a:xfrm>
          <a:prstGeom prst="rect">
            <a:avLst/>
          </a:prstGeom>
          <a:noFill/>
          <a:ln/>
        </p:spPr>
        <p:txBody>
          <a:bodyPr wrap="square" lIns="0" tIns="0" rIns="0" bIns="0" rtlCol="0" anchor="ctr"/>
          <a:lstStyle/>
          <a:p>
            <a:pPr algn="ctr" indent="0" marL="0">
              <a:buNone/>
            </a:pPr>
            <a:r>
              <a:rPr lang="en-US" sz="1100" dirty="0">
                <a:solidFill>
                  <a:srgbClr val="5A6A80"/>
                </a:solidFill>
                <a:latin typeface="Calibri" pitchFamily="34" charset="0"/>
                <a:ea typeface="Calibri" pitchFamily="34" charset="-122"/>
                <a:cs typeface="Calibri" pitchFamily="34" charset="-120"/>
              </a:rPr>
              <a:t>Solution</a:t>
            </a:r>
            <a:endParaRPr lang="en-US" sz="1100" dirty="0"/>
          </a:p>
        </p:txBody>
      </p:sp>
      <p:sp>
        <p:nvSpPr>
          <p:cNvPr id="11" name="Text 8"/>
          <p:cNvSpPr/>
          <p:nvPr/>
        </p:nvSpPr>
        <p:spPr>
          <a:xfrm>
            <a:off x="393192" y="2697480"/>
            <a:ext cx="2596896" cy="868680"/>
          </a:xfrm>
          <a:prstGeom prst="rect">
            <a:avLst/>
          </a:prstGeom>
          <a:noFill/>
          <a:ln/>
        </p:spPr>
        <p:txBody>
          <a:bodyPr wrap="square" lIns="0" tIns="0" rIns="0" bIns="0" rtlCol="0" anchor="ctr"/>
          <a:lstStyle/>
          <a:p>
            <a:pPr algn="ctr" indent="0" marL="0">
              <a:buNone/>
            </a:pPr>
            <a:r>
              <a:rPr lang="en-US" sz="1400" b="1" dirty="0">
                <a:solidFill>
                  <a:srgbClr val="2F5597"/>
                </a:solidFill>
                <a:latin typeface="Calibri" pitchFamily="34" charset="0"/>
                <a:ea typeface="Calibri" pitchFamily="34" charset="-122"/>
                <a:cs typeface="Calibri" pitchFamily="34" charset="-120"/>
              </a:rPr>
              <a:t>Revisit-aware</a:t>
            </a:r>
            <a:endParaRPr lang="en-US" sz="1400" dirty="0"/>
          </a:p>
          <a:p>
            <a:pPr algn="ctr" indent="0" marL="0">
              <a:buNone/>
            </a:pPr>
            <a:r>
              <a:rPr lang="en-US" sz="1400" b="1" dirty="0">
                <a:solidFill>
                  <a:srgbClr val="2F5597"/>
                </a:solidFill>
                <a:latin typeface="Calibri" pitchFamily="34" charset="0"/>
                <a:ea typeface="Calibri" pitchFamily="34" charset="-122"/>
                <a:cs typeface="Calibri" pitchFamily="34" charset="-120"/>
              </a:rPr>
              <a:t>P/E/R Memory</a:t>
            </a:r>
            <a:endParaRPr lang="en-US" sz="1400" dirty="0"/>
          </a:p>
        </p:txBody>
      </p:sp>
      <p:sp>
        <p:nvSpPr>
          <p:cNvPr id="12" name="Shape 9"/>
          <p:cNvSpPr/>
          <p:nvPr/>
        </p:nvSpPr>
        <p:spPr>
          <a:xfrm>
            <a:off x="3200400" y="1170432"/>
            <a:ext cx="2743200" cy="2606040"/>
          </a:xfrm>
          <a:prstGeom prst="roundRect">
            <a:avLst>
              <a:gd name="adj" fmla="val 2807"/>
            </a:avLst>
          </a:prstGeom>
          <a:solidFill>
            <a:srgbClr val="FFFFFF"/>
          </a:solidFill>
          <a:ln/>
          <a:effectLst>
            <a:outerShdw sx="100000" sy="100000" kx="0" ky="0" algn="bl" rotWithShape="0" blurRad="50800" dist="12700" dir="16200000">
              <a:srgbClr val="1F2A44">
                <a:alpha val="12000"/>
              </a:srgbClr>
            </a:outerShdw>
          </a:effectLst>
        </p:spPr>
      </p:sp>
      <p:sp>
        <p:nvSpPr>
          <p:cNvPr id="13" name="Text 10"/>
          <p:cNvSpPr/>
          <p:nvPr/>
        </p:nvSpPr>
        <p:spPr>
          <a:xfrm>
            <a:off x="3200400" y="1261872"/>
            <a:ext cx="2743200" cy="292608"/>
          </a:xfrm>
          <a:prstGeom prst="rect">
            <a:avLst/>
          </a:prstGeom>
          <a:noFill/>
          <a:ln/>
        </p:spPr>
        <p:txBody>
          <a:bodyPr wrap="square" lIns="0" tIns="0" rIns="0" bIns="0" rtlCol="0" anchor="ctr"/>
          <a:lstStyle/>
          <a:p>
            <a:pPr algn="ctr" indent="0" marL="0">
              <a:buNone/>
            </a:pPr>
            <a:r>
              <a:rPr lang="en-US" sz="1200" dirty="0">
                <a:solidFill>
                  <a:srgbClr val="5A6A80"/>
                </a:solidFill>
                <a:latin typeface="Calibri" pitchFamily="34" charset="0"/>
                <a:ea typeface="Calibri" pitchFamily="34" charset="-122"/>
                <a:cs typeface="Calibri" pitchFamily="34" charset="-120"/>
              </a:rPr>
              <a:t>Challenge 2</a:t>
            </a:r>
            <a:endParaRPr lang="en-US" sz="1200" dirty="0"/>
          </a:p>
        </p:txBody>
      </p:sp>
      <p:sp>
        <p:nvSpPr>
          <p:cNvPr id="14" name="Text 11"/>
          <p:cNvSpPr/>
          <p:nvPr/>
        </p:nvSpPr>
        <p:spPr>
          <a:xfrm>
            <a:off x="3273552" y="1554480"/>
            <a:ext cx="2596896" cy="502920"/>
          </a:xfrm>
          <a:prstGeom prst="rect">
            <a:avLst/>
          </a:prstGeom>
          <a:noFill/>
          <a:ln/>
        </p:spPr>
        <p:txBody>
          <a:bodyPr wrap="square" lIns="0" tIns="0" rIns="0" bIns="0" rtlCol="0" anchor="ctr"/>
          <a:lstStyle/>
          <a:p>
            <a:pPr algn="ctr" indent="0" marL="0">
              <a:buNone/>
            </a:pPr>
            <a:r>
              <a:rPr lang="en-US" sz="1300" b="1" dirty="0">
                <a:solidFill>
                  <a:srgbClr val="1F2A44"/>
                </a:solidFill>
                <a:latin typeface="Calibri" pitchFamily="34" charset="0"/>
                <a:ea typeface="Calibri" pitchFamily="34" charset="-122"/>
                <a:cs typeface="Calibri" pitchFamily="34" charset="-120"/>
              </a:rPr>
              <a:t>Stale peer information</a:t>
            </a:r>
            <a:endParaRPr lang="en-US" sz="1300" dirty="0"/>
          </a:p>
        </p:txBody>
      </p:sp>
      <p:sp>
        <p:nvSpPr>
          <p:cNvPr id="15" name="Shape 12"/>
          <p:cNvSpPr/>
          <p:nvPr/>
        </p:nvSpPr>
        <p:spPr>
          <a:xfrm>
            <a:off x="4251960" y="2084832"/>
            <a:ext cx="640080" cy="347472"/>
          </a:xfrm>
          <a:prstGeom prst="downArrow">
            <a:avLst/>
          </a:prstGeom>
          <a:solidFill>
            <a:srgbClr val="ED7D31"/>
          </a:solidFill>
          <a:ln/>
        </p:spPr>
      </p:sp>
      <p:sp>
        <p:nvSpPr>
          <p:cNvPr id="16" name="Text 13"/>
          <p:cNvSpPr/>
          <p:nvPr/>
        </p:nvSpPr>
        <p:spPr>
          <a:xfrm>
            <a:off x="3200400" y="2450592"/>
            <a:ext cx="2743200" cy="237744"/>
          </a:xfrm>
          <a:prstGeom prst="rect">
            <a:avLst/>
          </a:prstGeom>
          <a:noFill/>
          <a:ln/>
        </p:spPr>
        <p:txBody>
          <a:bodyPr wrap="square" lIns="0" tIns="0" rIns="0" bIns="0" rtlCol="0" anchor="ctr"/>
          <a:lstStyle/>
          <a:p>
            <a:pPr algn="ctr" indent="0" marL="0">
              <a:buNone/>
            </a:pPr>
            <a:r>
              <a:rPr lang="en-US" sz="1100" dirty="0">
                <a:solidFill>
                  <a:srgbClr val="5A6A80"/>
                </a:solidFill>
                <a:latin typeface="Calibri" pitchFamily="34" charset="0"/>
                <a:ea typeface="Calibri" pitchFamily="34" charset="-122"/>
                <a:cs typeface="Calibri" pitchFamily="34" charset="-120"/>
              </a:rPr>
              <a:t>Solution</a:t>
            </a:r>
            <a:endParaRPr lang="en-US" sz="1100" dirty="0"/>
          </a:p>
        </p:txBody>
      </p:sp>
      <p:sp>
        <p:nvSpPr>
          <p:cNvPr id="17" name="Text 14"/>
          <p:cNvSpPr/>
          <p:nvPr/>
        </p:nvSpPr>
        <p:spPr>
          <a:xfrm>
            <a:off x="3273552" y="2697480"/>
            <a:ext cx="2596896" cy="868680"/>
          </a:xfrm>
          <a:prstGeom prst="rect">
            <a:avLst/>
          </a:prstGeom>
          <a:noFill/>
          <a:ln/>
        </p:spPr>
        <p:txBody>
          <a:bodyPr wrap="square" lIns="0" tIns="0" rIns="0" bIns="0" rtlCol="0" anchor="ctr"/>
          <a:lstStyle/>
          <a:p>
            <a:pPr algn="ctr" indent="0" marL="0">
              <a:buNone/>
            </a:pPr>
            <a:r>
              <a:rPr lang="en-US" sz="1400" b="1" dirty="0">
                <a:solidFill>
                  <a:srgbClr val="ED7D31"/>
                </a:solidFill>
                <a:latin typeface="Calibri" pitchFamily="34" charset="0"/>
                <a:ea typeface="Calibri" pitchFamily="34" charset="-122"/>
                <a:cs typeface="Calibri" pitchFamily="34" charset="-120"/>
              </a:rPr>
              <a:t>Communication-History-</a:t>
            </a:r>
            <a:endParaRPr lang="en-US" sz="1400" dirty="0"/>
          </a:p>
          <a:p>
            <a:pPr algn="ctr" indent="0" marL="0">
              <a:buNone/>
            </a:pPr>
            <a:r>
              <a:rPr lang="en-US" sz="1400" b="1" dirty="0">
                <a:solidFill>
                  <a:srgbClr val="ED7D31"/>
                </a:solidFill>
                <a:latin typeface="Calibri" pitchFamily="34" charset="0"/>
                <a:ea typeface="Calibri" pitchFamily="34" charset="-122"/>
                <a:cs typeface="Calibri" pitchFamily="34" charset="-120"/>
              </a:rPr>
              <a:t>Aware Source Selection</a:t>
            </a:r>
            <a:endParaRPr lang="en-US" sz="1400" dirty="0"/>
          </a:p>
        </p:txBody>
      </p:sp>
      <p:sp>
        <p:nvSpPr>
          <p:cNvPr id="18" name="Shape 15"/>
          <p:cNvSpPr/>
          <p:nvPr/>
        </p:nvSpPr>
        <p:spPr>
          <a:xfrm>
            <a:off x="6080760" y="1170432"/>
            <a:ext cx="2743200" cy="2606040"/>
          </a:xfrm>
          <a:prstGeom prst="roundRect">
            <a:avLst>
              <a:gd name="adj" fmla="val 2807"/>
            </a:avLst>
          </a:prstGeom>
          <a:solidFill>
            <a:srgbClr val="FFFFFF"/>
          </a:solidFill>
          <a:ln/>
          <a:effectLst>
            <a:outerShdw sx="100000" sy="100000" kx="0" ky="0" algn="bl" rotWithShape="0" blurRad="50800" dist="12700" dir="16200000">
              <a:srgbClr val="1F2A44">
                <a:alpha val="12000"/>
              </a:srgbClr>
            </a:outerShdw>
          </a:effectLst>
        </p:spPr>
      </p:sp>
      <p:sp>
        <p:nvSpPr>
          <p:cNvPr id="19" name="Text 16"/>
          <p:cNvSpPr/>
          <p:nvPr/>
        </p:nvSpPr>
        <p:spPr>
          <a:xfrm>
            <a:off x="6080760" y="1261872"/>
            <a:ext cx="2743200" cy="292608"/>
          </a:xfrm>
          <a:prstGeom prst="rect">
            <a:avLst/>
          </a:prstGeom>
          <a:noFill/>
          <a:ln/>
        </p:spPr>
        <p:txBody>
          <a:bodyPr wrap="square" lIns="0" tIns="0" rIns="0" bIns="0" rtlCol="0" anchor="ctr"/>
          <a:lstStyle/>
          <a:p>
            <a:pPr algn="ctr" indent="0" marL="0">
              <a:buNone/>
            </a:pPr>
            <a:r>
              <a:rPr lang="en-US" sz="1200" dirty="0">
                <a:solidFill>
                  <a:srgbClr val="5A6A80"/>
                </a:solidFill>
                <a:latin typeface="Calibri" pitchFamily="34" charset="0"/>
                <a:ea typeface="Calibri" pitchFamily="34" charset="-122"/>
                <a:cs typeface="Calibri" pitchFamily="34" charset="-120"/>
              </a:rPr>
              <a:t>Challenge 3</a:t>
            </a:r>
            <a:endParaRPr lang="en-US" sz="1200" dirty="0"/>
          </a:p>
        </p:txBody>
      </p:sp>
      <p:sp>
        <p:nvSpPr>
          <p:cNvPr id="20" name="Text 17"/>
          <p:cNvSpPr/>
          <p:nvPr/>
        </p:nvSpPr>
        <p:spPr>
          <a:xfrm>
            <a:off x="6153912" y="1554480"/>
            <a:ext cx="2596896" cy="502920"/>
          </a:xfrm>
          <a:prstGeom prst="rect">
            <a:avLst/>
          </a:prstGeom>
          <a:noFill/>
          <a:ln/>
        </p:spPr>
        <p:txBody>
          <a:bodyPr wrap="square" lIns="0" tIns="0" rIns="0" bIns="0" rtlCol="0" anchor="ctr"/>
          <a:lstStyle/>
          <a:p>
            <a:pPr algn="ctr" indent="0" marL="0">
              <a:buNone/>
            </a:pPr>
            <a:r>
              <a:rPr lang="en-US" sz="1300" b="1" dirty="0">
                <a:solidFill>
                  <a:srgbClr val="1F2A44"/>
                </a:solidFill>
                <a:latin typeface="Calibri" pitchFamily="34" charset="0"/>
                <a:ea typeface="Calibri" pitchFamily="34" charset="-122"/>
                <a:cs typeface="Calibri" pitchFamily="34" charset="-120"/>
              </a:rPr>
              <a:t>Heterogeneous entities</a:t>
            </a:r>
            <a:endParaRPr lang="en-US" sz="1300" dirty="0"/>
          </a:p>
        </p:txBody>
      </p:sp>
      <p:sp>
        <p:nvSpPr>
          <p:cNvPr id="21" name="Shape 18"/>
          <p:cNvSpPr/>
          <p:nvPr/>
        </p:nvSpPr>
        <p:spPr>
          <a:xfrm>
            <a:off x="7132320" y="2084832"/>
            <a:ext cx="640080" cy="347472"/>
          </a:xfrm>
          <a:prstGeom prst="downArrow">
            <a:avLst/>
          </a:prstGeom>
          <a:solidFill>
            <a:srgbClr val="2E8B57"/>
          </a:solidFill>
          <a:ln/>
        </p:spPr>
      </p:sp>
      <p:sp>
        <p:nvSpPr>
          <p:cNvPr id="22" name="Text 19"/>
          <p:cNvSpPr/>
          <p:nvPr/>
        </p:nvSpPr>
        <p:spPr>
          <a:xfrm>
            <a:off x="6080760" y="2450592"/>
            <a:ext cx="2743200" cy="237744"/>
          </a:xfrm>
          <a:prstGeom prst="rect">
            <a:avLst/>
          </a:prstGeom>
          <a:noFill/>
          <a:ln/>
        </p:spPr>
        <p:txBody>
          <a:bodyPr wrap="square" lIns="0" tIns="0" rIns="0" bIns="0" rtlCol="0" anchor="ctr"/>
          <a:lstStyle/>
          <a:p>
            <a:pPr algn="ctr" indent="0" marL="0">
              <a:buNone/>
            </a:pPr>
            <a:r>
              <a:rPr lang="en-US" sz="1100" dirty="0">
                <a:solidFill>
                  <a:srgbClr val="5A6A80"/>
                </a:solidFill>
                <a:latin typeface="Calibri" pitchFamily="34" charset="0"/>
                <a:ea typeface="Calibri" pitchFamily="34" charset="-122"/>
                <a:cs typeface="Calibri" pitchFamily="34" charset="-120"/>
              </a:rPr>
              <a:t>Solution</a:t>
            </a:r>
            <a:endParaRPr lang="en-US" sz="1100" dirty="0"/>
          </a:p>
        </p:txBody>
      </p:sp>
      <p:sp>
        <p:nvSpPr>
          <p:cNvPr id="23" name="Text 20"/>
          <p:cNvSpPr/>
          <p:nvPr/>
        </p:nvSpPr>
        <p:spPr>
          <a:xfrm>
            <a:off x="6153912" y="2697480"/>
            <a:ext cx="2596896" cy="868680"/>
          </a:xfrm>
          <a:prstGeom prst="rect">
            <a:avLst/>
          </a:prstGeom>
          <a:noFill/>
          <a:ln/>
        </p:spPr>
        <p:txBody>
          <a:bodyPr wrap="square" lIns="0" tIns="0" rIns="0" bIns="0" rtlCol="0" anchor="ctr"/>
          <a:lstStyle/>
          <a:p>
            <a:pPr algn="ctr" indent="0" marL="0">
              <a:buNone/>
            </a:pPr>
            <a:r>
              <a:rPr lang="en-US" sz="1400" b="1" dirty="0">
                <a:solidFill>
                  <a:srgbClr val="2E8B57"/>
                </a:solidFill>
                <a:latin typeface="Calibri" pitchFamily="34" charset="0"/>
                <a:ea typeface="Calibri" pitchFamily="34" charset="-122"/>
                <a:cs typeface="Calibri" pitchFamily="34" charset="-120"/>
              </a:rPr>
              <a:t>Heterogeneous</a:t>
            </a:r>
            <a:endParaRPr lang="en-US" sz="1400" dirty="0"/>
          </a:p>
          <a:p>
            <a:pPr algn="ctr" indent="0" marL="0">
              <a:buNone/>
            </a:pPr>
            <a:r>
              <a:rPr lang="en-US" sz="1400" b="1" dirty="0">
                <a:solidFill>
                  <a:srgbClr val="2E8B57"/>
                </a:solidFill>
                <a:latin typeface="Calibri" pitchFamily="34" charset="0"/>
                <a:ea typeface="Calibri" pitchFamily="34" charset="-122"/>
                <a:cs typeface="Calibri" pitchFamily="34" charset="-120"/>
              </a:rPr>
              <a:t>Graph Attention</a:t>
            </a:r>
            <a:endParaRPr lang="en-US" sz="1400" dirty="0"/>
          </a:p>
        </p:txBody>
      </p:sp>
      <p:sp>
        <p:nvSpPr>
          <p:cNvPr id="24" name="Shape 21"/>
          <p:cNvSpPr/>
          <p:nvPr/>
        </p:nvSpPr>
        <p:spPr>
          <a:xfrm>
            <a:off x="9006840" y="1170432"/>
            <a:ext cx="2852928" cy="2606040"/>
          </a:xfrm>
          <a:prstGeom prst="roundRect">
            <a:avLst>
              <a:gd name="adj" fmla="val 2807"/>
            </a:avLst>
          </a:prstGeom>
          <a:solidFill>
            <a:srgbClr val="2F5597"/>
          </a:solidFill>
          <a:ln/>
          <a:effectLst>
            <a:outerShdw sx="100000" sy="100000" kx="0" ky="0" algn="bl" rotWithShape="0" blurRad="50800" dist="12700" dir="16200000">
              <a:srgbClr val="1F2A44">
                <a:alpha val="12000"/>
              </a:srgbClr>
            </a:outerShdw>
          </a:effectLst>
        </p:spPr>
      </p:sp>
      <p:sp>
        <p:nvSpPr>
          <p:cNvPr id="25" name="Text 22"/>
          <p:cNvSpPr/>
          <p:nvPr/>
        </p:nvSpPr>
        <p:spPr>
          <a:xfrm>
            <a:off x="9144000" y="1298448"/>
            <a:ext cx="260604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Learning Framework</a:t>
            </a:r>
            <a:endParaRPr lang="en-US" sz="1400" dirty="0"/>
          </a:p>
        </p:txBody>
      </p:sp>
      <p:sp>
        <p:nvSpPr>
          <p:cNvPr id="26" name="Text 23"/>
          <p:cNvSpPr/>
          <p:nvPr/>
        </p:nvSpPr>
        <p:spPr>
          <a:xfrm>
            <a:off x="9144000" y="1737360"/>
            <a:ext cx="2606040" cy="1783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Shared Actor</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Centralized Critic</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MAPPO / CTDE</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Common Safety Projection</a:t>
            </a:r>
            <a:endParaRPr lang="en-US" sz="1400" dirty="0"/>
          </a:p>
        </p:txBody>
      </p:sp>
      <p:sp>
        <p:nvSpPr>
          <p:cNvPr id="27" name="Shape 24"/>
          <p:cNvSpPr/>
          <p:nvPr/>
        </p:nvSpPr>
        <p:spPr>
          <a:xfrm>
            <a:off x="320040" y="3931920"/>
            <a:ext cx="11539728" cy="2331720"/>
          </a:xfrm>
          <a:prstGeom prst="roundRect">
            <a:avLst>
              <a:gd name="adj" fmla="val 3137"/>
            </a:avLst>
          </a:prstGeom>
          <a:solidFill>
            <a:srgbClr val="EAF0F8"/>
          </a:solidFill>
          <a:ln/>
        </p:spPr>
      </p:sp>
      <p:sp>
        <p:nvSpPr>
          <p:cNvPr id="28" name="Text 25"/>
          <p:cNvSpPr/>
          <p:nvPr/>
        </p:nvSpPr>
        <p:spPr>
          <a:xfrm>
            <a:off x="502920" y="4041648"/>
            <a:ext cx="11173968" cy="365760"/>
          </a:xfrm>
          <a:prstGeom prst="rect">
            <a:avLst/>
          </a:prstGeom>
          <a:noFill/>
          <a:ln/>
        </p:spPr>
        <p:txBody>
          <a:bodyPr wrap="square" lIns="0" tIns="0" rIns="0" bIns="0" rtlCol="0" anchor="ctr"/>
          <a:lstStyle/>
          <a:p>
            <a:pPr indent="0" marL="0">
              <a:buNone/>
            </a:pPr>
            <a:r>
              <a:rPr lang="en-US" sz="1500" b="1" dirty="0">
                <a:solidFill>
                  <a:srgbClr val="1E3F73"/>
                </a:solidFill>
                <a:latin typeface="Calibri" pitchFamily="34" charset="0"/>
                <a:ea typeface="Calibri" pitchFamily="34" charset="-122"/>
                <a:cs typeface="Calibri" pitchFamily="34" charset="-120"/>
              </a:rPr>
              <a:t>Our problem: Cooperative Multi-UAV Search under Intermittent Communication Constraints</a:t>
            </a:r>
            <a:endParaRPr lang="en-US" sz="1500" dirty="0"/>
          </a:p>
        </p:txBody>
      </p:sp>
      <p:sp>
        <p:nvSpPr>
          <p:cNvPr id="29" name="Text 26"/>
          <p:cNvSpPr/>
          <p:nvPr/>
        </p:nvSpPr>
        <p:spPr>
          <a:xfrm>
            <a:off x="548640" y="4462272"/>
            <a:ext cx="7863840" cy="329184"/>
          </a:xfrm>
          <a:prstGeom prst="rect">
            <a:avLst/>
          </a:prstGeom>
          <a:noFill/>
          <a:ln/>
        </p:spPr>
        <p:txBody>
          <a:bodyPr wrap="square" lIns="0" tIns="0" rIns="0" bIns="0"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Q1. How to maintain useful beliefs without global map sharing?</a:t>
            </a:r>
            <a:endParaRPr lang="en-US" sz="1400" dirty="0"/>
          </a:p>
        </p:txBody>
      </p:sp>
      <p:sp>
        <p:nvSpPr>
          <p:cNvPr id="30" name="Text 27"/>
          <p:cNvSpPr/>
          <p:nvPr/>
        </p:nvSpPr>
        <p:spPr>
          <a:xfrm>
            <a:off x="548640" y="4809744"/>
            <a:ext cx="7863840" cy="329184"/>
          </a:xfrm>
          <a:prstGeom prst="rect">
            <a:avLst/>
          </a:prstGeom>
          <a:noFill/>
          <a:ln/>
        </p:spPr>
        <p:txBody>
          <a:bodyPr wrap="square" lIns="0" tIns="0" rIns="0" bIns="0"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Q2. How to select useful information after communication recovery?</a:t>
            </a:r>
            <a:endParaRPr lang="en-US" sz="1400" dirty="0"/>
          </a:p>
        </p:txBody>
      </p:sp>
      <p:sp>
        <p:nvSpPr>
          <p:cNvPr id="31" name="Text 28"/>
          <p:cNvSpPr/>
          <p:nvPr/>
        </p:nvSpPr>
        <p:spPr>
          <a:xfrm>
            <a:off x="548640" y="5157216"/>
            <a:ext cx="7863840" cy="329184"/>
          </a:xfrm>
          <a:prstGeom prst="rect">
            <a:avLst/>
          </a:prstGeom>
          <a:noFill/>
          <a:ln/>
        </p:spPr>
        <p:txBody>
          <a:bodyPr wrap="square" lIns="0" tIns="0" rIns="0" bIns="0"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Q3. How to model UAV, task, and obstacle interactions jointly?</a:t>
            </a:r>
            <a:endParaRPr lang="en-US" sz="1400" dirty="0"/>
          </a:p>
        </p:txBody>
      </p:sp>
      <p:sp>
        <p:nvSpPr>
          <p:cNvPr id="32" name="Shape 29"/>
          <p:cNvSpPr/>
          <p:nvPr/>
        </p:nvSpPr>
        <p:spPr>
          <a:xfrm>
            <a:off x="8549640" y="4892040"/>
            <a:ext cx="502920" cy="292608"/>
          </a:xfrm>
          <a:prstGeom prst="rightArrow">
            <a:avLst/>
          </a:prstGeom>
          <a:solidFill>
            <a:srgbClr val="2F5597"/>
          </a:solidFill>
          <a:ln/>
        </p:spPr>
      </p:sp>
      <p:sp>
        <p:nvSpPr>
          <p:cNvPr id="33" name="Shape 30"/>
          <p:cNvSpPr/>
          <p:nvPr/>
        </p:nvSpPr>
        <p:spPr>
          <a:xfrm>
            <a:off x="9144000" y="4617720"/>
            <a:ext cx="2514600" cy="1051560"/>
          </a:xfrm>
          <a:prstGeom prst="roundRect">
            <a:avLst>
              <a:gd name="adj" fmla="val 6957"/>
            </a:avLst>
          </a:prstGeom>
          <a:solidFill>
            <a:srgbClr val="2F5597"/>
          </a:solidFill>
          <a:ln/>
        </p:spPr>
      </p:sp>
      <p:sp>
        <p:nvSpPr>
          <p:cNvPr id="34" name="Text 31"/>
          <p:cNvSpPr/>
          <p:nvPr/>
        </p:nvSpPr>
        <p:spPr>
          <a:xfrm>
            <a:off x="9189720" y="4709160"/>
            <a:ext cx="2423160" cy="8686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IC-HGAT-</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MAPPO</a:t>
            </a:r>
            <a:endParaRPr lang="en-US" sz="1600" dirty="0"/>
          </a:p>
        </p:txBody>
      </p:sp>
      <p:sp>
        <p:nvSpPr>
          <p:cNvPr id="35" name="Text 32"/>
          <p:cNvSpPr/>
          <p:nvPr/>
        </p:nvSpPr>
        <p:spPr>
          <a:xfrm>
            <a:off x="11475720" y="6510528"/>
            <a:ext cx="502920" cy="256032"/>
          </a:xfrm>
          <a:prstGeom prst="rect">
            <a:avLst/>
          </a:prstGeom>
          <a:noFill/>
          <a:ln/>
        </p:spPr>
        <p:txBody>
          <a:bodyPr wrap="square" lIns="0" tIns="0" rIns="0" bIns="0" rtlCol="0" anchor="ctr"/>
          <a:lstStyle/>
          <a:p>
            <a:pPr algn="r" indent="0" marL="0">
              <a:buNone/>
            </a:pPr>
            <a:r>
              <a:rPr lang="en-US" sz="1200" dirty="0">
                <a:solidFill>
                  <a:srgbClr val="2F5597"/>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56848" y="73152"/>
            <a:ext cx="658368" cy="457200"/>
          </a:xfrm>
          <a:prstGeom prst="rect">
            <a:avLst/>
          </a:prstGeom>
        </p:spPr>
      </p:pic>
      <p:sp>
        <p:nvSpPr>
          <p:cNvPr id="3" name="Text 0"/>
          <p:cNvSpPr/>
          <p:nvPr/>
        </p:nvSpPr>
        <p:spPr>
          <a:xfrm>
            <a:off x="347472" y="91440"/>
            <a:ext cx="10789920" cy="384048"/>
          </a:xfrm>
          <a:prstGeom prst="rect">
            <a:avLst/>
          </a:prstGeom>
          <a:noFill/>
          <a:ln/>
        </p:spPr>
        <p:txBody>
          <a:bodyPr wrap="square" lIns="0" tIns="0" rIns="0" bIns="0" rtlCol="0" anchor="ctr"/>
          <a:lstStyle/>
          <a:p>
            <a:pPr indent="0" marL="0">
              <a:buNone/>
            </a:pPr>
            <a:r>
              <a:rPr lang="en-US" sz="2200" b="1" dirty="0">
                <a:solidFill>
                  <a:srgbClr val="2F5597"/>
                </a:solidFill>
                <a:latin typeface="Calibri" pitchFamily="34" charset="0"/>
                <a:ea typeface="Calibri" pitchFamily="34" charset="-122"/>
                <a:cs typeface="Calibri" pitchFamily="34" charset="-120"/>
              </a:rPr>
              <a:t>2. Proposed IC-HGAT-MAPPO</a:t>
            </a:r>
            <a:endParaRPr lang="en-US" sz="2200" dirty="0"/>
          </a:p>
        </p:txBody>
      </p:sp>
      <p:sp>
        <p:nvSpPr>
          <p:cNvPr id="4" name="Shape 1"/>
          <p:cNvSpPr/>
          <p:nvPr/>
        </p:nvSpPr>
        <p:spPr>
          <a:xfrm>
            <a:off x="0" y="566928"/>
            <a:ext cx="12191695" cy="420624"/>
          </a:xfrm>
          <a:prstGeom prst="rect">
            <a:avLst/>
          </a:prstGeom>
          <a:solidFill>
            <a:srgbClr val="2F5597"/>
          </a:solidFill>
          <a:ln/>
        </p:spPr>
      </p:sp>
      <p:sp>
        <p:nvSpPr>
          <p:cNvPr id="5" name="Text 2"/>
          <p:cNvSpPr/>
          <p:nvPr/>
        </p:nvSpPr>
        <p:spPr>
          <a:xfrm>
            <a:off x="347472" y="585216"/>
            <a:ext cx="114300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2.1 Problem Formulation</a:t>
            </a:r>
            <a:endParaRPr lang="en-US" sz="1600" dirty="0"/>
          </a:p>
        </p:txBody>
      </p:sp>
      <p:pic>
        <p:nvPicPr>
          <p:cNvPr id="6" name="Image 1" descr="/tmp/ppt-work/assets/fig1.png">    </p:cNvPr>
          <p:cNvPicPr>
            <a:picLocks noChangeAspect="1"/>
          </p:cNvPicPr>
          <p:nvPr/>
        </p:nvPicPr>
        <p:blipFill>
          <a:blip r:embed="rId2"/>
          <a:stretch>
            <a:fillRect/>
          </a:stretch>
        </p:blipFill>
        <p:spPr>
          <a:xfrm>
            <a:off x="274320" y="1115568"/>
            <a:ext cx="5989320" cy="3383280"/>
          </a:xfrm>
          <a:prstGeom prst="rect">
            <a:avLst/>
          </a:prstGeom>
        </p:spPr>
      </p:pic>
      <p:sp>
        <p:nvSpPr>
          <p:cNvPr id="7" name="Text 3"/>
          <p:cNvSpPr/>
          <p:nvPr/>
        </p:nvSpPr>
        <p:spPr>
          <a:xfrm>
            <a:off x="274320" y="4526280"/>
            <a:ext cx="5989320" cy="256032"/>
          </a:xfrm>
          <a:prstGeom prst="rect">
            <a:avLst/>
          </a:prstGeom>
          <a:noFill/>
          <a:ln/>
        </p:spPr>
        <p:txBody>
          <a:bodyPr wrap="square" lIns="0" tIns="0" rIns="0" bIns="0" rtlCol="0" anchor="ctr"/>
          <a:lstStyle/>
          <a:p>
            <a:pPr indent="0" marL="0">
              <a:buNone/>
            </a:pPr>
            <a:r>
              <a:rPr lang="en-US" sz="1000" i="1" dirty="0">
                <a:solidFill>
                  <a:srgbClr val="5A6A80"/>
                </a:solidFill>
                <a:latin typeface="Calibri" pitchFamily="34" charset="0"/>
                <a:ea typeface="Calibri" pitchFamily="34" charset="-122"/>
                <a:cs typeface="Calibri" pitchFamily="34" charset="-120"/>
              </a:rPr>
              <a:t>Fig. 1  Local sensing, intermittent links, moving targets, dynamic obstacles</a:t>
            </a:r>
            <a:endParaRPr lang="en-US" sz="1000" dirty="0"/>
          </a:p>
        </p:txBody>
      </p:sp>
      <p:sp>
        <p:nvSpPr>
          <p:cNvPr id="8" name="Shape 4"/>
          <p:cNvSpPr/>
          <p:nvPr/>
        </p:nvSpPr>
        <p:spPr>
          <a:xfrm>
            <a:off x="274320" y="4828032"/>
            <a:ext cx="5989320" cy="1417320"/>
          </a:xfrm>
          <a:prstGeom prst="roundRect">
            <a:avLst>
              <a:gd name="adj" fmla="val 5161"/>
            </a:avLst>
          </a:prstGeom>
          <a:solidFill>
            <a:srgbClr val="F4F6FA"/>
          </a:solidFill>
          <a:ln/>
          <a:effectLst>
            <a:outerShdw sx="100000" sy="100000" kx="0" ky="0" algn="bl" rotWithShape="0" blurRad="50800" dist="12700" dir="16200000">
              <a:srgbClr val="1F2A44">
                <a:alpha val="12000"/>
              </a:srgbClr>
            </a:outerShdw>
          </a:effectLst>
        </p:spPr>
      </p:sp>
      <p:sp>
        <p:nvSpPr>
          <p:cNvPr id="9" name="Text 5"/>
          <p:cNvSpPr/>
          <p:nvPr/>
        </p:nvSpPr>
        <p:spPr>
          <a:xfrm>
            <a:off x="411480" y="4882896"/>
            <a:ext cx="5715000" cy="256032"/>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Scenario</a:t>
            </a:r>
            <a:endParaRPr lang="en-US" sz="1300" dirty="0"/>
          </a:p>
        </p:txBody>
      </p:sp>
      <p:sp>
        <p:nvSpPr>
          <p:cNvPr id="10" name="Text 6"/>
          <p:cNvSpPr/>
          <p:nvPr/>
        </p:nvSpPr>
        <p:spPr>
          <a:xfrm>
            <a:off x="411480" y="5157216"/>
            <a:ext cx="5715000" cy="96012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6 UAVs · 15 targets · 10 obstacles · 30×30 area</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Local sensing + intermittent links</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Action: 8 directions + hover</a:t>
            </a:r>
            <a:endParaRPr lang="en-US" sz="1300" dirty="0"/>
          </a:p>
        </p:txBody>
      </p:sp>
      <p:sp>
        <p:nvSpPr>
          <p:cNvPr id="11" name="Shape 7"/>
          <p:cNvSpPr/>
          <p:nvPr/>
        </p:nvSpPr>
        <p:spPr>
          <a:xfrm>
            <a:off x="6446520" y="1115568"/>
            <a:ext cx="5440680" cy="1417320"/>
          </a:xfrm>
          <a:prstGeom prst="roundRect">
            <a:avLst>
              <a:gd name="adj" fmla="val 5161"/>
            </a:avLst>
          </a:prstGeom>
          <a:solidFill>
            <a:srgbClr val="FFFFFF"/>
          </a:solidFill>
          <a:ln/>
          <a:effectLst>
            <a:outerShdw sx="100000" sy="100000" kx="0" ky="0" algn="bl" rotWithShape="0" blurRad="50800" dist="12700" dir="16200000">
              <a:srgbClr val="1F2A44">
                <a:alpha val="12000"/>
              </a:srgbClr>
            </a:outerShdw>
          </a:effectLst>
        </p:spPr>
      </p:sp>
      <p:sp>
        <p:nvSpPr>
          <p:cNvPr id="12" name="Text 8"/>
          <p:cNvSpPr/>
          <p:nvPr/>
        </p:nvSpPr>
        <p:spPr>
          <a:xfrm>
            <a:off x="6583680" y="1170432"/>
            <a:ext cx="5166360" cy="256032"/>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Motion model</a:t>
            </a:r>
            <a:endParaRPr lang="en-US" sz="1300" dirty="0"/>
          </a:p>
        </p:txBody>
      </p:sp>
      <p:pic>
        <p:nvPicPr>
          <p:cNvPr id="13" name="Image 2" descr="/tmp/ppt-work/assets/eq_motion.png">    </p:cNvPr>
          <p:cNvPicPr>
            <a:picLocks noChangeAspect="1"/>
          </p:cNvPicPr>
          <p:nvPr/>
        </p:nvPicPr>
        <p:blipFill>
          <a:blip r:embed="rId3"/>
          <a:stretch>
            <a:fillRect/>
          </a:stretch>
        </p:blipFill>
        <p:spPr>
          <a:xfrm>
            <a:off x="6537960" y="1417320"/>
            <a:ext cx="5212080" cy="658368"/>
          </a:xfrm>
          <a:prstGeom prst="rect">
            <a:avLst/>
          </a:prstGeom>
        </p:spPr>
      </p:pic>
      <p:sp>
        <p:nvSpPr>
          <p:cNvPr id="14" name="Text 9"/>
          <p:cNvSpPr/>
          <p:nvPr/>
        </p:nvSpPr>
        <p:spPr>
          <a:xfrm>
            <a:off x="6583680" y="2084832"/>
            <a:ext cx="5166360" cy="292608"/>
          </a:xfrm>
          <a:prstGeom prst="rect">
            <a:avLst/>
          </a:prstGeom>
          <a:noFill/>
          <a:ln/>
        </p:spPr>
        <p:txBody>
          <a:bodyPr wrap="square" lIns="0" tIns="0" rIns="0" bIns="0" rtlCol="0" anchor="ctr"/>
          <a:lstStyle/>
          <a:p>
            <a:pPr indent="0" marL="0">
              <a:buNone/>
            </a:pPr>
            <a:r>
              <a:rPr lang="en-US" sz="1200" i="1" dirty="0">
                <a:solidFill>
                  <a:srgbClr val="5A6A80"/>
                </a:solidFill>
                <a:latin typeface="Calibri" pitchFamily="34" charset="0"/>
                <a:ea typeface="Calibri" pitchFamily="34" charset="-122"/>
                <a:cs typeface="Calibri" pitchFamily="34" charset="-120"/>
              </a:rPr>
              <a:t>Discrete motion with adaptive decision interval</a:t>
            </a:r>
            <a:endParaRPr lang="en-US" sz="1200" dirty="0"/>
          </a:p>
        </p:txBody>
      </p:sp>
      <p:sp>
        <p:nvSpPr>
          <p:cNvPr id="15" name="Shape 10"/>
          <p:cNvSpPr/>
          <p:nvPr/>
        </p:nvSpPr>
        <p:spPr>
          <a:xfrm>
            <a:off x="6446520" y="2651760"/>
            <a:ext cx="5440680" cy="1691640"/>
          </a:xfrm>
          <a:prstGeom prst="roundRect">
            <a:avLst>
              <a:gd name="adj" fmla="val 4324"/>
            </a:avLst>
          </a:prstGeom>
          <a:solidFill>
            <a:srgbClr val="FFFFFF"/>
          </a:solidFill>
          <a:ln/>
          <a:effectLst>
            <a:outerShdw sx="100000" sy="100000" kx="0" ky="0" algn="bl" rotWithShape="0" blurRad="50800" dist="12700" dir="16200000">
              <a:srgbClr val="1F2A44">
                <a:alpha val="12000"/>
              </a:srgbClr>
            </a:outerShdw>
          </a:effectLst>
        </p:spPr>
      </p:sp>
      <p:sp>
        <p:nvSpPr>
          <p:cNvPr id="16" name="Text 11"/>
          <p:cNvSpPr/>
          <p:nvPr/>
        </p:nvSpPr>
        <p:spPr>
          <a:xfrm>
            <a:off x="6583680" y="2706624"/>
            <a:ext cx="5166360" cy="256032"/>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Communication constraint</a:t>
            </a:r>
            <a:endParaRPr lang="en-US" sz="1300" dirty="0"/>
          </a:p>
        </p:txBody>
      </p:sp>
      <p:pic>
        <p:nvPicPr>
          <p:cNvPr id="17" name="Image 3" descr="/tmp/ppt-work/assets/eq_link.png">    </p:cNvPr>
          <p:cNvPicPr>
            <a:picLocks noChangeAspect="1"/>
          </p:cNvPicPr>
          <p:nvPr/>
        </p:nvPicPr>
        <p:blipFill>
          <a:blip r:embed="rId4"/>
          <a:stretch>
            <a:fillRect/>
          </a:stretch>
        </p:blipFill>
        <p:spPr>
          <a:xfrm>
            <a:off x="6492240" y="2962656"/>
            <a:ext cx="5303520" cy="640080"/>
          </a:xfrm>
          <a:prstGeom prst="rect">
            <a:avLst/>
          </a:prstGeom>
        </p:spPr>
      </p:pic>
      <p:sp>
        <p:nvSpPr>
          <p:cNvPr id="18" name="Text 12"/>
          <p:cNvSpPr/>
          <p:nvPr/>
        </p:nvSpPr>
        <p:spPr>
          <a:xfrm>
            <a:off x="6583680" y="3657600"/>
            <a:ext cx="5166360" cy="502920"/>
          </a:xfrm>
          <a:prstGeom prst="rect">
            <a:avLst/>
          </a:prstGeom>
          <a:noFill/>
          <a:ln/>
        </p:spPr>
        <p:txBody>
          <a:bodyPr wrap="square" lIns="0" tIns="0" rIns="0" bIns="0"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Only instantaneous reachable links are available</a:t>
            </a:r>
            <a:endParaRPr lang="en-US" sz="1400" dirty="0"/>
          </a:p>
        </p:txBody>
      </p:sp>
      <p:sp>
        <p:nvSpPr>
          <p:cNvPr id="19" name="Shape 13"/>
          <p:cNvSpPr/>
          <p:nvPr/>
        </p:nvSpPr>
        <p:spPr>
          <a:xfrm>
            <a:off x="6446520" y="4480560"/>
            <a:ext cx="5440680" cy="1755648"/>
          </a:xfrm>
          <a:prstGeom prst="roundRect">
            <a:avLst>
              <a:gd name="adj" fmla="val 4167"/>
            </a:avLst>
          </a:prstGeom>
          <a:solidFill>
            <a:srgbClr val="EAF0F8"/>
          </a:solidFill>
          <a:ln/>
          <a:effectLst>
            <a:outerShdw sx="100000" sy="100000" kx="0" ky="0" algn="bl" rotWithShape="0" blurRad="50800" dist="12700" dir="16200000">
              <a:srgbClr val="1F2A44">
                <a:alpha val="12000"/>
              </a:srgbClr>
            </a:outerShdw>
          </a:effectLst>
        </p:spPr>
      </p:sp>
      <p:sp>
        <p:nvSpPr>
          <p:cNvPr id="20" name="Text 14"/>
          <p:cNvSpPr/>
          <p:nvPr/>
        </p:nvSpPr>
        <p:spPr>
          <a:xfrm>
            <a:off x="6583680" y="4553712"/>
            <a:ext cx="5166360" cy="256032"/>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Evaluation objectives</a:t>
            </a:r>
            <a:endParaRPr lang="en-US" sz="1300" dirty="0"/>
          </a:p>
        </p:txBody>
      </p:sp>
      <p:sp>
        <p:nvSpPr>
          <p:cNvPr id="21" name="Text 15"/>
          <p:cNvSpPr/>
          <p:nvPr/>
        </p:nvSpPr>
        <p:spPr>
          <a:xfrm>
            <a:off x="6583680" y="4864608"/>
            <a:ext cx="5166360" cy="384048"/>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Target discovery Dt     Belief decisiveness Ct     Speed T80</a:t>
            </a:r>
            <a:endParaRPr lang="en-US" sz="1300" dirty="0"/>
          </a:p>
        </p:txBody>
      </p:sp>
      <p:sp>
        <p:nvSpPr>
          <p:cNvPr id="22" name="Text 16"/>
          <p:cNvSpPr/>
          <p:nvPr/>
        </p:nvSpPr>
        <p:spPr>
          <a:xfrm>
            <a:off x="6583680" y="5440680"/>
            <a:ext cx="5166360" cy="502920"/>
          </a:xfrm>
          <a:prstGeom prst="rect">
            <a:avLst/>
          </a:prstGeom>
          <a:noFill/>
          <a:ln/>
        </p:spPr>
        <p:txBody>
          <a:bodyPr wrap="square" lIns="0" tIns="0" rIns="0" bIns="0" rtlCol="0" anchor="ctr"/>
          <a:lstStyle/>
          <a:p>
            <a:pPr indent="0" marL="0">
              <a:buNone/>
            </a:pPr>
            <a:r>
              <a:rPr lang="en-US" sz="1400" b="1" dirty="0">
                <a:solidFill>
                  <a:srgbClr val="1E3F73"/>
                </a:solidFill>
                <a:latin typeface="Calibri" pitchFamily="34" charset="0"/>
                <a:ea typeface="Calibri" pitchFamily="34" charset="-122"/>
                <a:cs typeface="Calibri" pitchFamily="34" charset="-120"/>
              </a:rPr>
              <a:t>Higher Dt, Ct  →  better     ·     Lower T80  →  faster</a:t>
            </a:r>
            <a:endParaRPr lang="en-US" sz="1400" dirty="0"/>
          </a:p>
        </p:txBody>
      </p:sp>
      <p:sp>
        <p:nvSpPr>
          <p:cNvPr id="23" name="Text 17"/>
          <p:cNvSpPr/>
          <p:nvPr/>
        </p:nvSpPr>
        <p:spPr>
          <a:xfrm>
            <a:off x="11475720" y="6510528"/>
            <a:ext cx="502920" cy="256032"/>
          </a:xfrm>
          <a:prstGeom prst="rect">
            <a:avLst/>
          </a:prstGeom>
          <a:noFill/>
          <a:ln/>
        </p:spPr>
        <p:txBody>
          <a:bodyPr wrap="square" lIns="0" tIns="0" rIns="0" bIns="0" rtlCol="0" anchor="ctr"/>
          <a:lstStyle/>
          <a:p>
            <a:pPr algn="r" indent="0" marL="0">
              <a:buNone/>
            </a:pPr>
            <a:r>
              <a:rPr lang="en-US" sz="1200" dirty="0">
                <a:solidFill>
                  <a:srgbClr val="2F5597"/>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56848" y="73152"/>
            <a:ext cx="658368" cy="457200"/>
          </a:xfrm>
          <a:prstGeom prst="rect">
            <a:avLst/>
          </a:prstGeom>
        </p:spPr>
      </p:pic>
      <p:sp>
        <p:nvSpPr>
          <p:cNvPr id="3" name="Text 0"/>
          <p:cNvSpPr/>
          <p:nvPr/>
        </p:nvSpPr>
        <p:spPr>
          <a:xfrm>
            <a:off x="347472" y="91440"/>
            <a:ext cx="10789920" cy="384048"/>
          </a:xfrm>
          <a:prstGeom prst="rect">
            <a:avLst/>
          </a:prstGeom>
          <a:noFill/>
          <a:ln/>
        </p:spPr>
        <p:txBody>
          <a:bodyPr wrap="square" lIns="0" tIns="0" rIns="0" bIns="0" rtlCol="0" anchor="ctr"/>
          <a:lstStyle/>
          <a:p>
            <a:pPr indent="0" marL="0">
              <a:buNone/>
            </a:pPr>
            <a:r>
              <a:rPr lang="en-US" sz="2200" b="1" dirty="0">
                <a:solidFill>
                  <a:srgbClr val="2F5597"/>
                </a:solidFill>
                <a:latin typeface="Calibri" pitchFamily="34" charset="0"/>
                <a:ea typeface="Calibri" pitchFamily="34" charset="-122"/>
                <a:cs typeface="Calibri" pitchFamily="34" charset="-120"/>
              </a:rPr>
              <a:t>2. Proposed IC-HGAT-MAPPO</a:t>
            </a:r>
            <a:endParaRPr lang="en-US" sz="2200" dirty="0"/>
          </a:p>
        </p:txBody>
      </p:sp>
      <p:sp>
        <p:nvSpPr>
          <p:cNvPr id="4" name="Shape 1"/>
          <p:cNvSpPr/>
          <p:nvPr/>
        </p:nvSpPr>
        <p:spPr>
          <a:xfrm>
            <a:off x="0" y="566928"/>
            <a:ext cx="12191695" cy="420624"/>
          </a:xfrm>
          <a:prstGeom prst="rect">
            <a:avLst/>
          </a:prstGeom>
          <a:solidFill>
            <a:srgbClr val="2F5597"/>
          </a:solidFill>
          <a:ln/>
        </p:spPr>
      </p:sp>
      <p:sp>
        <p:nvSpPr>
          <p:cNvPr id="5" name="Text 2"/>
          <p:cNvSpPr/>
          <p:nvPr/>
        </p:nvSpPr>
        <p:spPr>
          <a:xfrm>
            <a:off x="347472" y="585216"/>
            <a:ext cx="114300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2.2 IC-HGAT-MAPPO Framework</a:t>
            </a:r>
            <a:endParaRPr lang="en-US" sz="1600" dirty="0"/>
          </a:p>
        </p:txBody>
      </p:sp>
      <p:pic>
        <p:nvPicPr>
          <p:cNvPr id="6" name="Image 1" descr="/tmp/ppt-work/assets/framework.png">    </p:cNvPr>
          <p:cNvPicPr>
            <a:picLocks noChangeAspect="1"/>
          </p:cNvPicPr>
          <p:nvPr/>
        </p:nvPicPr>
        <p:blipFill>
          <a:blip r:embed="rId2"/>
          <a:stretch>
            <a:fillRect/>
          </a:stretch>
        </p:blipFill>
        <p:spPr>
          <a:xfrm>
            <a:off x="228600" y="1078992"/>
            <a:ext cx="11750040" cy="3520440"/>
          </a:xfrm>
          <a:prstGeom prst="rect">
            <a:avLst/>
          </a:prstGeom>
        </p:spPr>
      </p:pic>
      <p:sp>
        <p:nvSpPr>
          <p:cNvPr id="7" name="Shape 3"/>
          <p:cNvSpPr/>
          <p:nvPr/>
        </p:nvSpPr>
        <p:spPr>
          <a:xfrm>
            <a:off x="320040" y="4681728"/>
            <a:ext cx="3794760" cy="960120"/>
          </a:xfrm>
          <a:prstGeom prst="roundRect">
            <a:avLst>
              <a:gd name="adj" fmla="val 7619"/>
            </a:avLst>
          </a:prstGeom>
          <a:solidFill>
            <a:srgbClr val="EAF0F8"/>
          </a:solidFill>
          <a:ln/>
          <a:effectLst>
            <a:outerShdw sx="100000" sy="100000" kx="0" ky="0" algn="bl" rotWithShape="0" blurRad="50800" dist="12700" dir="16200000">
              <a:srgbClr val="1F2A44">
                <a:alpha val="12000"/>
              </a:srgbClr>
            </a:outerShdw>
          </a:effectLst>
        </p:spPr>
      </p:sp>
      <p:sp>
        <p:nvSpPr>
          <p:cNvPr id="8" name="Text 4"/>
          <p:cNvSpPr/>
          <p:nvPr/>
        </p:nvSpPr>
        <p:spPr>
          <a:xfrm>
            <a:off x="457200" y="4736592"/>
            <a:ext cx="3520440" cy="292608"/>
          </a:xfrm>
          <a:prstGeom prst="rect">
            <a:avLst/>
          </a:prstGeom>
          <a:noFill/>
          <a:ln/>
        </p:spPr>
        <p:txBody>
          <a:bodyPr wrap="square" lIns="0" tIns="0" rIns="0" bIns="0" rtlCol="0" anchor="ctr"/>
          <a:lstStyle/>
          <a:p>
            <a:pPr indent="0" marL="0">
              <a:buNone/>
            </a:pPr>
            <a:r>
              <a:rPr lang="en-US" sz="1400" b="1" dirty="0">
                <a:solidFill>
                  <a:srgbClr val="1E3F73"/>
                </a:solidFill>
                <a:latin typeface="Calibri" pitchFamily="34" charset="0"/>
                <a:ea typeface="Calibri" pitchFamily="34" charset="-122"/>
                <a:cs typeface="Calibri" pitchFamily="34" charset="-120"/>
              </a:rPr>
              <a:t>Decentralized</a:t>
            </a:r>
            <a:endParaRPr lang="en-US" sz="1400" dirty="0"/>
          </a:p>
        </p:txBody>
      </p:sp>
      <p:sp>
        <p:nvSpPr>
          <p:cNvPr id="9" name="Text 5"/>
          <p:cNvSpPr/>
          <p:nvPr/>
        </p:nvSpPr>
        <p:spPr>
          <a:xfrm>
            <a:off x="457200" y="5029200"/>
            <a:ext cx="3520440" cy="475488"/>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local + reachable information only</a:t>
            </a:r>
            <a:endParaRPr lang="en-US" sz="1200" dirty="0"/>
          </a:p>
        </p:txBody>
      </p:sp>
      <p:sp>
        <p:nvSpPr>
          <p:cNvPr id="10" name="Shape 6"/>
          <p:cNvSpPr/>
          <p:nvPr/>
        </p:nvSpPr>
        <p:spPr>
          <a:xfrm>
            <a:off x="4270248" y="4681728"/>
            <a:ext cx="3794760" cy="960120"/>
          </a:xfrm>
          <a:prstGeom prst="roundRect">
            <a:avLst>
              <a:gd name="adj" fmla="val 7619"/>
            </a:avLst>
          </a:prstGeom>
          <a:solidFill>
            <a:srgbClr val="FFF3E8"/>
          </a:solidFill>
          <a:ln/>
          <a:effectLst>
            <a:outerShdw sx="100000" sy="100000" kx="0" ky="0" algn="bl" rotWithShape="0" blurRad="50800" dist="12700" dir="16200000">
              <a:srgbClr val="1F2A44">
                <a:alpha val="12000"/>
              </a:srgbClr>
            </a:outerShdw>
          </a:effectLst>
        </p:spPr>
      </p:sp>
      <p:sp>
        <p:nvSpPr>
          <p:cNvPr id="11" name="Text 7"/>
          <p:cNvSpPr/>
          <p:nvPr/>
        </p:nvSpPr>
        <p:spPr>
          <a:xfrm>
            <a:off x="4407408" y="4736592"/>
            <a:ext cx="3520440" cy="292608"/>
          </a:xfrm>
          <a:prstGeom prst="rect">
            <a:avLst/>
          </a:prstGeom>
          <a:noFill/>
          <a:ln/>
        </p:spPr>
        <p:txBody>
          <a:bodyPr wrap="square" lIns="0" tIns="0" rIns="0" bIns="0" rtlCol="0" anchor="ctr"/>
          <a:lstStyle/>
          <a:p>
            <a:pPr indent="0" marL="0">
              <a:buNone/>
            </a:pPr>
            <a:r>
              <a:rPr lang="en-US" sz="1400" b="1" dirty="0">
                <a:solidFill>
                  <a:srgbClr val="1E3F73"/>
                </a:solidFill>
                <a:latin typeface="Calibri" pitchFamily="34" charset="0"/>
                <a:ea typeface="Calibri" pitchFamily="34" charset="-122"/>
                <a:cs typeface="Calibri" pitchFamily="34" charset="-120"/>
              </a:rPr>
              <a:t>Communication-aware</a:t>
            </a:r>
            <a:endParaRPr lang="en-US" sz="1400" dirty="0"/>
          </a:p>
        </p:txBody>
      </p:sp>
      <p:sp>
        <p:nvSpPr>
          <p:cNvPr id="12" name="Text 8"/>
          <p:cNvSpPr/>
          <p:nvPr/>
        </p:nvSpPr>
        <p:spPr>
          <a:xfrm>
            <a:off x="4407408" y="5029200"/>
            <a:ext cx="3520440" cy="475488"/>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instantaneous link masking</a:t>
            </a:r>
            <a:endParaRPr lang="en-US" sz="1200" dirty="0"/>
          </a:p>
        </p:txBody>
      </p:sp>
      <p:sp>
        <p:nvSpPr>
          <p:cNvPr id="13" name="Shape 9"/>
          <p:cNvSpPr/>
          <p:nvPr/>
        </p:nvSpPr>
        <p:spPr>
          <a:xfrm>
            <a:off x="8220456" y="4681728"/>
            <a:ext cx="3794760" cy="960120"/>
          </a:xfrm>
          <a:prstGeom prst="roundRect">
            <a:avLst>
              <a:gd name="adj" fmla="val 7619"/>
            </a:avLst>
          </a:prstGeom>
          <a:solidFill>
            <a:srgbClr val="EAF0F8"/>
          </a:solidFill>
          <a:ln/>
          <a:effectLst>
            <a:outerShdw sx="100000" sy="100000" kx="0" ky="0" algn="bl" rotWithShape="0" blurRad="50800" dist="12700" dir="16200000">
              <a:srgbClr val="1F2A44">
                <a:alpha val="12000"/>
              </a:srgbClr>
            </a:outerShdw>
          </a:effectLst>
        </p:spPr>
      </p:sp>
      <p:sp>
        <p:nvSpPr>
          <p:cNvPr id="14" name="Text 10"/>
          <p:cNvSpPr/>
          <p:nvPr/>
        </p:nvSpPr>
        <p:spPr>
          <a:xfrm>
            <a:off x="8357616" y="4736592"/>
            <a:ext cx="3520440" cy="292608"/>
          </a:xfrm>
          <a:prstGeom prst="rect">
            <a:avLst/>
          </a:prstGeom>
          <a:noFill/>
          <a:ln/>
        </p:spPr>
        <p:txBody>
          <a:bodyPr wrap="square" lIns="0" tIns="0" rIns="0" bIns="0" rtlCol="0" anchor="ctr"/>
          <a:lstStyle/>
          <a:p>
            <a:pPr indent="0" marL="0">
              <a:buNone/>
            </a:pPr>
            <a:r>
              <a:rPr lang="en-US" sz="1400" b="1" dirty="0">
                <a:solidFill>
                  <a:srgbClr val="1E3F73"/>
                </a:solidFill>
                <a:latin typeface="Calibri" pitchFamily="34" charset="0"/>
                <a:ea typeface="Calibri" pitchFamily="34" charset="-122"/>
                <a:cs typeface="Calibri" pitchFamily="34" charset="-120"/>
              </a:rPr>
              <a:t>CTDE</a:t>
            </a:r>
            <a:endParaRPr lang="en-US" sz="1400" dirty="0"/>
          </a:p>
        </p:txBody>
      </p:sp>
      <p:sp>
        <p:nvSpPr>
          <p:cNvPr id="15" name="Text 11"/>
          <p:cNvSpPr/>
          <p:nvPr/>
        </p:nvSpPr>
        <p:spPr>
          <a:xfrm>
            <a:off x="8357616" y="5029200"/>
            <a:ext cx="3520440" cy="475488"/>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global state only used during training</a:t>
            </a:r>
            <a:endParaRPr lang="en-US" sz="1200" dirty="0"/>
          </a:p>
        </p:txBody>
      </p:sp>
      <p:sp>
        <p:nvSpPr>
          <p:cNvPr id="16" name="Text 12"/>
          <p:cNvSpPr/>
          <p:nvPr/>
        </p:nvSpPr>
        <p:spPr>
          <a:xfrm>
            <a:off x="320040" y="5742432"/>
            <a:ext cx="11521440" cy="292608"/>
          </a:xfrm>
          <a:prstGeom prst="rect">
            <a:avLst/>
          </a:prstGeom>
          <a:noFill/>
          <a:ln/>
        </p:spPr>
        <p:txBody>
          <a:bodyPr wrap="square" lIns="0" tIns="0" rIns="0" bIns="0" rtlCol="0" anchor="ctr"/>
          <a:lstStyle/>
          <a:p>
            <a:pPr indent="0" marL="0">
              <a:buNone/>
            </a:pPr>
            <a:r>
              <a:rPr lang="en-US" sz="1200" i="1" dirty="0">
                <a:solidFill>
                  <a:srgbClr val="5A6A80"/>
                </a:solidFill>
                <a:latin typeface="Calibri" pitchFamily="34" charset="0"/>
                <a:ea typeface="Calibri" pitchFamily="34" charset="-122"/>
                <a:cs typeface="Calibri" pitchFamily="34" charset="-120"/>
              </a:rPr>
              <a:t>Safety projection is shared by all methods and is not a contribution.</a:t>
            </a:r>
            <a:endParaRPr lang="en-US" sz="1200" dirty="0"/>
          </a:p>
        </p:txBody>
      </p:sp>
      <p:sp>
        <p:nvSpPr>
          <p:cNvPr id="17" name="Text 13"/>
          <p:cNvSpPr/>
          <p:nvPr/>
        </p:nvSpPr>
        <p:spPr>
          <a:xfrm>
            <a:off x="11475720" y="6510528"/>
            <a:ext cx="502920" cy="256032"/>
          </a:xfrm>
          <a:prstGeom prst="rect">
            <a:avLst/>
          </a:prstGeom>
          <a:noFill/>
          <a:ln/>
        </p:spPr>
        <p:txBody>
          <a:bodyPr wrap="square" lIns="0" tIns="0" rIns="0" bIns="0" rtlCol="0" anchor="ctr"/>
          <a:lstStyle/>
          <a:p>
            <a:pPr algn="r" indent="0" marL="0">
              <a:buNone/>
            </a:pPr>
            <a:r>
              <a:rPr lang="en-US" sz="1200" dirty="0">
                <a:solidFill>
                  <a:srgbClr val="2F5597"/>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56848" y="73152"/>
            <a:ext cx="658368" cy="457200"/>
          </a:xfrm>
          <a:prstGeom prst="rect">
            <a:avLst/>
          </a:prstGeom>
        </p:spPr>
      </p:pic>
      <p:sp>
        <p:nvSpPr>
          <p:cNvPr id="3" name="Text 0"/>
          <p:cNvSpPr/>
          <p:nvPr/>
        </p:nvSpPr>
        <p:spPr>
          <a:xfrm>
            <a:off x="347472" y="91440"/>
            <a:ext cx="10789920" cy="384048"/>
          </a:xfrm>
          <a:prstGeom prst="rect">
            <a:avLst/>
          </a:prstGeom>
          <a:noFill/>
          <a:ln/>
        </p:spPr>
        <p:txBody>
          <a:bodyPr wrap="square" lIns="0" tIns="0" rIns="0" bIns="0" rtlCol="0" anchor="ctr"/>
          <a:lstStyle/>
          <a:p>
            <a:pPr indent="0" marL="0">
              <a:buNone/>
            </a:pPr>
            <a:r>
              <a:rPr lang="en-US" sz="2200" b="1" dirty="0">
                <a:solidFill>
                  <a:srgbClr val="2F5597"/>
                </a:solidFill>
                <a:latin typeface="Calibri" pitchFamily="34" charset="0"/>
                <a:ea typeface="Calibri" pitchFamily="34" charset="-122"/>
                <a:cs typeface="Calibri" pitchFamily="34" charset="-120"/>
              </a:rPr>
              <a:t>2. Proposed IC-HGAT-MAPPO</a:t>
            </a:r>
            <a:endParaRPr lang="en-US" sz="2200" dirty="0"/>
          </a:p>
        </p:txBody>
      </p:sp>
      <p:sp>
        <p:nvSpPr>
          <p:cNvPr id="4" name="Shape 1"/>
          <p:cNvSpPr/>
          <p:nvPr/>
        </p:nvSpPr>
        <p:spPr>
          <a:xfrm>
            <a:off x="0" y="566928"/>
            <a:ext cx="12191695" cy="420624"/>
          </a:xfrm>
          <a:prstGeom prst="rect">
            <a:avLst/>
          </a:prstGeom>
          <a:solidFill>
            <a:srgbClr val="2F5597"/>
          </a:solidFill>
          <a:ln/>
        </p:spPr>
      </p:sp>
      <p:sp>
        <p:nvSpPr>
          <p:cNvPr id="5" name="Text 2"/>
          <p:cNvSpPr/>
          <p:nvPr/>
        </p:nvSpPr>
        <p:spPr>
          <a:xfrm>
            <a:off x="347472" y="585216"/>
            <a:ext cx="114300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2.3 Local Belief Maintenance and Information Selection</a:t>
            </a:r>
            <a:endParaRPr lang="en-US" sz="1600" dirty="0"/>
          </a:p>
        </p:txBody>
      </p:sp>
      <p:sp>
        <p:nvSpPr>
          <p:cNvPr id="6" name="Shape 3"/>
          <p:cNvSpPr/>
          <p:nvPr/>
        </p:nvSpPr>
        <p:spPr>
          <a:xfrm>
            <a:off x="256032" y="1097280"/>
            <a:ext cx="5897880" cy="5074920"/>
          </a:xfrm>
          <a:prstGeom prst="roundRect">
            <a:avLst>
              <a:gd name="adj" fmla="val 1441"/>
            </a:avLst>
          </a:prstGeom>
          <a:solidFill>
            <a:srgbClr val="FFFFFF"/>
          </a:solidFill>
          <a:ln/>
          <a:effectLst>
            <a:outerShdw sx="100000" sy="100000" kx="0" ky="0" algn="bl" rotWithShape="0" blurRad="50800" dist="12700" dir="16200000">
              <a:srgbClr val="1F2A44">
                <a:alpha val="12000"/>
              </a:srgbClr>
            </a:outerShdw>
          </a:effectLst>
        </p:spPr>
      </p:sp>
      <p:sp>
        <p:nvSpPr>
          <p:cNvPr id="7" name="Text 4"/>
          <p:cNvSpPr/>
          <p:nvPr/>
        </p:nvSpPr>
        <p:spPr>
          <a:xfrm>
            <a:off x="384048" y="1170432"/>
            <a:ext cx="5623560" cy="329184"/>
          </a:xfrm>
          <a:prstGeom prst="rect">
            <a:avLst/>
          </a:prstGeom>
          <a:noFill/>
          <a:ln/>
        </p:spPr>
        <p:txBody>
          <a:bodyPr wrap="square" lIns="0" tIns="0" rIns="0" bIns="0" rtlCol="0" anchor="ctr"/>
          <a:lstStyle/>
          <a:p>
            <a:pPr indent="0" marL="0">
              <a:buNone/>
            </a:pPr>
            <a:r>
              <a:rPr lang="en-US" sz="1600" b="1" dirty="0">
                <a:solidFill>
                  <a:srgbClr val="2F5597"/>
                </a:solidFill>
                <a:latin typeface="Calibri" pitchFamily="34" charset="0"/>
                <a:ea typeface="Calibri" pitchFamily="34" charset="-122"/>
                <a:cs typeface="Calibri" pitchFamily="34" charset="-120"/>
              </a:rPr>
              <a:t>Revisit-Aware P/E/R Memory</a:t>
            </a:r>
            <a:endParaRPr lang="en-US" sz="1600" dirty="0"/>
          </a:p>
        </p:txBody>
      </p:sp>
      <p:pic>
        <p:nvPicPr>
          <p:cNvPr id="8" name="Image 1" descr="/tmp/ppt-work/assets/per_maps.png">    </p:cNvPr>
          <p:cNvPicPr>
            <a:picLocks noChangeAspect="1"/>
          </p:cNvPicPr>
          <p:nvPr/>
        </p:nvPicPr>
        <p:blipFill>
          <a:blip r:embed="rId2"/>
          <a:stretch>
            <a:fillRect/>
          </a:stretch>
        </p:blipFill>
        <p:spPr>
          <a:xfrm>
            <a:off x="365760" y="1536192"/>
            <a:ext cx="5669280" cy="1874520"/>
          </a:xfrm>
          <a:prstGeom prst="rect">
            <a:avLst/>
          </a:prstGeom>
        </p:spPr>
      </p:pic>
      <p:pic>
        <p:nvPicPr>
          <p:cNvPr id="9" name="Image 2" descr="/tmp/ppt-work/assets/eq_p.png">    </p:cNvPr>
          <p:cNvPicPr>
            <a:picLocks noChangeAspect="1"/>
          </p:cNvPicPr>
          <p:nvPr/>
        </p:nvPicPr>
        <p:blipFill>
          <a:blip r:embed="rId3"/>
          <a:stretch>
            <a:fillRect/>
          </a:stretch>
        </p:blipFill>
        <p:spPr>
          <a:xfrm>
            <a:off x="365760" y="3429000"/>
            <a:ext cx="5623560" cy="658368"/>
          </a:xfrm>
          <a:prstGeom prst="rect">
            <a:avLst/>
          </a:prstGeom>
        </p:spPr>
      </p:pic>
      <p:sp>
        <p:nvSpPr>
          <p:cNvPr id="10" name="Text 5"/>
          <p:cNvSpPr/>
          <p:nvPr/>
        </p:nvSpPr>
        <p:spPr>
          <a:xfrm>
            <a:off x="457200" y="4114800"/>
            <a:ext cx="5532120" cy="320040"/>
          </a:xfrm>
          <a:prstGeom prst="rect">
            <a:avLst/>
          </a:prstGeom>
          <a:noFill/>
          <a:ln/>
        </p:spPr>
        <p:txBody>
          <a:bodyPr wrap="square" lIns="0" tIns="0" rIns="0" bIns="0" rtlCol="0" anchor="ctr"/>
          <a:lstStyle/>
          <a:p>
            <a:pPr indent="0" marL="0">
              <a:buNone/>
            </a:pPr>
            <a:r>
              <a:rPr lang="en-US" sz="1500" dirty="0">
                <a:solidFill>
                  <a:srgbClr val="1F2A44"/>
                </a:solidFill>
                <a:latin typeface="Calibri" pitchFamily="34" charset="0"/>
                <a:ea typeface="Calibri" pitchFamily="34" charset="-122"/>
                <a:cs typeface="Calibri" pitchFamily="34" charset="-120"/>
              </a:rPr>
              <a:t>R  ←  aging  +  spatial diffusion</a:t>
            </a:r>
            <a:endParaRPr lang="en-US" sz="1500" dirty="0"/>
          </a:p>
        </p:txBody>
      </p:sp>
      <p:sp>
        <p:nvSpPr>
          <p:cNvPr id="11" name="Text 6"/>
          <p:cNvSpPr/>
          <p:nvPr/>
        </p:nvSpPr>
        <p:spPr>
          <a:xfrm>
            <a:off x="457200" y="4526280"/>
            <a:ext cx="5532120" cy="1051560"/>
          </a:xfrm>
          <a:prstGeom prst="rect">
            <a:avLst/>
          </a:prstGeom>
          <a:noFill/>
          <a:ln/>
        </p:spPr>
        <p:txBody>
          <a:bodyPr wrap="square" lIns="0" tIns="0" rIns="0" bIns="0" rtlCol="0" anchor="ctr"/>
          <a:lstStyle/>
          <a:p>
            <a:pPr indent="0" marL="0">
              <a:buNone/>
            </a:pPr>
            <a:r>
              <a:rPr lang="en-US" sz="1400" dirty="0">
                <a:solidFill>
                  <a:srgbClr val="5A6A80"/>
                </a:solidFill>
                <a:latin typeface="Calibri" pitchFamily="34" charset="0"/>
                <a:ea typeface="Calibri" pitchFamily="34" charset="-122"/>
                <a:cs typeface="Calibri" pitchFamily="34" charset="-120"/>
              </a:rPr>
              <a:t>sensed cells  →  reset to 0</a:t>
            </a:r>
            <a:endParaRPr lang="en-US" sz="1400" dirty="0"/>
          </a:p>
          <a:p>
            <a:pPr indent="0" marL="0">
              <a:buNone/>
            </a:pPr>
            <a:r>
              <a:rPr lang="en-US" sz="1400" dirty="0">
                <a:solidFill>
                  <a:srgbClr val="5A6A80"/>
                </a:solidFill>
                <a:latin typeface="Calibri" pitchFamily="34" charset="0"/>
                <a:ea typeface="Calibri" pitchFamily="34" charset="-122"/>
                <a:cs typeface="Calibri" pitchFamily="34" charset="-120"/>
              </a:rPr>
              <a:t>unsensed cells  →  gradually become stale</a:t>
            </a:r>
            <a:endParaRPr lang="en-US" sz="1400" dirty="0"/>
          </a:p>
        </p:txBody>
      </p:sp>
      <p:sp>
        <p:nvSpPr>
          <p:cNvPr id="12" name="Shape 7"/>
          <p:cNvSpPr/>
          <p:nvPr/>
        </p:nvSpPr>
        <p:spPr>
          <a:xfrm>
            <a:off x="6309360" y="1097280"/>
            <a:ext cx="5596128" cy="5074920"/>
          </a:xfrm>
          <a:prstGeom prst="roundRect">
            <a:avLst>
              <a:gd name="adj" fmla="val 1441"/>
            </a:avLst>
          </a:prstGeom>
          <a:solidFill>
            <a:srgbClr val="FFFFFF"/>
          </a:solidFill>
          <a:ln/>
          <a:effectLst>
            <a:outerShdw sx="100000" sy="100000" kx="0" ky="0" algn="bl" rotWithShape="0" blurRad="50800" dist="12700" dir="16200000">
              <a:srgbClr val="1F2A44">
                <a:alpha val="12000"/>
              </a:srgbClr>
            </a:outerShdw>
          </a:effectLst>
        </p:spPr>
      </p:sp>
      <p:sp>
        <p:nvSpPr>
          <p:cNvPr id="13" name="Text 8"/>
          <p:cNvSpPr/>
          <p:nvPr/>
        </p:nvSpPr>
        <p:spPr>
          <a:xfrm>
            <a:off x="6446520" y="1170432"/>
            <a:ext cx="5321808" cy="384048"/>
          </a:xfrm>
          <a:prstGeom prst="rect">
            <a:avLst/>
          </a:prstGeom>
          <a:noFill/>
          <a:ln/>
        </p:spPr>
        <p:txBody>
          <a:bodyPr wrap="square" lIns="0" tIns="0" rIns="0" bIns="0" rtlCol="0" anchor="ctr"/>
          <a:lstStyle/>
          <a:p>
            <a:pPr indent="0" marL="0">
              <a:buNone/>
            </a:pPr>
            <a:r>
              <a:rPr lang="en-US" sz="1400" b="1" dirty="0">
                <a:solidFill>
                  <a:srgbClr val="ED7D31"/>
                </a:solidFill>
                <a:latin typeface="Calibri" pitchFamily="34" charset="0"/>
                <a:ea typeface="Calibri" pitchFamily="34" charset="-122"/>
                <a:cs typeface="Calibri" pitchFamily="34" charset="-120"/>
              </a:rPr>
              <a:t>Communication-History-Aware Source Selection</a:t>
            </a:r>
            <a:endParaRPr lang="en-US" sz="1400" dirty="0"/>
          </a:p>
        </p:txBody>
      </p:sp>
      <p:pic>
        <p:nvPicPr>
          <p:cNvPr id="14" name="Image 3" descr="/tmp/ppt-work/assets/source.png">    </p:cNvPr>
          <p:cNvPicPr>
            <a:picLocks noChangeAspect="1"/>
          </p:cNvPicPr>
          <p:nvPr/>
        </p:nvPicPr>
        <p:blipFill>
          <a:blip r:embed="rId4"/>
          <a:stretch>
            <a:fillRect/>
          </a:stretch>
        </p:blipFill>
        <p:spPr>
          <a:xfrm>
            <a:off x="6446520" y="1572768"/>
            <a:ext cx="5303520" cy="2148840"/>
          </a:xfrm>
          <a:prstGeom prst="rect">
            <a:avLst/>
          </a:prstGeom>
        </p:spPr>
      </p:pic>
      <p:pic>
        <p:nvPicPr>
          <p:cNvPr id="15" name="Image 4" descr="/tmp/ppt-work/assets/eq_w.png">    </p:cNvPr>
          <p:cNvPicPr>
            <a:picLocks noChangeAspect="1"/>
          </p:cNvPicPr>
          <p:nvPr/>
        </p:nvPicPr>
        <p:blipFill>
          <a:blip r:embed="rId5"/>
          <a:stretch>
            <a:fillRect/>
          </a:stretch>
        </p:blipFill>
        <p:spPr>
          <a:xfrm>
            <a:off x="6400800" y="3703320"/>
            <a:ext cx="5349240" cy="566928"/>
          </a:xfrm>
          <a:prstGeom prst="rect">
            <a:avLst/>
          </a:prstGeom>
        </p:spPr>
      </p:pic>
      <p:pic>
        <p:nvPicPr>
          <p:cNvPr id="16" name="Image 5" descr="/tmp/ppt-work/assets/eq_jstar.png">    </p:cNvPr>
          <p:cNvPicPr>
            <a:picLocks noChangeAspect="1"/>
          </p:cNvPicPr>
          <p:nvPr/>
        </p:nvPicPr>
        <p:blipFill>
          <a:blip r:embed="rId6"/>
          <a:stretch>
            <a:fillRect/>
          </a:stretch>
        </p:blipFill>
        <p:spPr>
          <a:xfrm>
            <a:off x="6400800" y="4224528"/>
            <a:ext cx="5349240" cy="530352"/>
          </a:xfrm>
          <a:prstGeom prst="rect">
            <a:avLst/>
          </a:prstGeom>
        </p:spPr>
      </p:pic>
      <p:sp>
        <p:nvSpPr>
          <p:cNvPr id="17" name="Shape 9"/>
          <p:cNvSpPr/>
          <p:nvPr/>
        </p:nvSpPr>
        <p:spPr>
          <a:xfrm>
            <a:off x="6492240" y="4846320"/>
            <a:ext cx="5212080" cy="1097280"/>
          </a:xfrm>
          <a:prstGeom prst="roundRect">
            <a:avLst>
              <a:gd name="adj" fmla="val 6667"/>
            </a:avLst>
          </a:prstGeom>
          <a:solidFill>
            <a:srgbClr val="FDECEA"/>
          </a:solidFill>
          <a:ln/>
        </p:spPr>
      </p:sp>
      <p:sp>
        <p:nvSpPr>
          <p:cNvPr id="18" name="Text 10"/>
          <p:cNvSpPr/>
          <p:nvPr/>
        </p:nvSpPr>
        <p:spPr>
          <a:xfrm>
            <a:off x="6629400" y="4919472"/>
            <a:ext cx="4937760" cy="384048"/>
          </a:xfrm>
          <a:prstGeom prst="rect">
            <a:avLst/>
          </a:prstGeom>
          <a:noFill/>
          <a:ln/>
        </p:spPr>
        <p:txBody>
          <a:bodyPr wrap="square" lIns="0" tIns="0" rIns="0" bIns="0"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One reachable source is selected per cell</a:t>
            </a:r>
            <a:endParaRPr lang="en-US" sz="1400" dirty="0"/>
          </a:p>
        </p:txBody>
      </p:sp>
      <p:sp>
        <p:nvSpPr>
          <p:cNvPr id="19" name="Text 11"/>
          <p:cNvSpPr/>
          <p:nvPr/>
        </p:nvSpPr>
        <p:spPr>
          <a:xfrm>
            <a:off x="6629400" y="5321808"/>
            <a:ext cx="4937760" cy="438912"/>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Avoid correlated evidence accumulation</a:t>
            </a:r>
            <a:endParaRPr lang="en-US" sz="1300" dirty="0"/>
          </a:p>
        </p:txBody>
      </p:sp>
      <p:sp>
        <p:nvSpPr>
          <p:cNvPr id="20" name="Text 12"/>
          <p:cNvSpPr/>
          <p:nvPr/>
        </p:nvSpPr>
        <p:spPr>
          <a:xfrm>
            <a:off x="11475720" y="6510528"/>
            <a:ext cx="502920" cy="256032"/>
          </a:xfrm>
          <a:prstGeom prst="rect">
            <a:avLst/>
          </a:prstGeom>
          <a:noFill/>
          <a:ln/>
        </p:spPr>
        <p:txBody>
          <a:bodyPr wrap="square" lIns="0" tIns="0" rIns="0" bIns="0" rtlCol="0" anchor="ctr"/>
          <a:lstStyle/>
          <a:p>
            <a:pPr algn="r" indent="0" marL="0">
              <a:buNone/>
            </a:pPr>
            <a:r>
              <a:rPr lang="en-US" sz="1200" dirty="0">
                <a:solidFill>
                  <a:srgbClr val="2F5597"/>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56848" y="73152"/>
            <a:ext cx="658368" cy="457200"/>
          </a:xfrm>
          <a:prstGeom prst="rect">
            <a:avLst/>
          </a:prstGeom>
        </p:spPr>
      </p:pic>
      <p:sp>
        <p:nvSpPr>
          <p:cNvPr id="3" name="Text 0"/>
          <p:cNvSpPr/>
          <p:nvPr/>
        </p:nvSpPr>
        <p:spPr>
          <a:xfrm>
            <a:off x="347472" y="91440"/>
            <a:ext cx="10789920" cy="384048"/>
          </a:xfrm>
          <a:prstGeom prst="rect">
            <a:avLst/>
          </a:prstGeom>
          <a:noFill/>
          <a:ln/>
        </p:spPr>
        <p:txBody>
          <a:bodyPr wrap="square" lIns="0" tIns="0" rIns="0" bIns="0" rtlCol="0" anchor="ctr"/>
          <a:lstStyle/>
          <a:p>
            <a:pPr indent="0" marL="0">
              <a:buNone/>
            </a:pPr>
            <a:r>
              <a:rPr lang="en-US" sz="2200" b="1" dirty="0">
                <a:solidFill>
                  <a:srgbClr val="2F5597"/>
                </a:solidFill>
                <a:latin typeface="Calibri" pitchFamily="34" charset="0"/>
                <a:ea typeface="Calibri" pitchFamily="34" charset="-122"/>
                <a:cs typeface="Calibri" pitchFamily="34" charset="-120"/>
              </a:rPr>
              <a:t>2. Proposed IC-HGAT-MAPPO</a:t>
            </a:r>
            <a:endParaRPr lang="en-US" sz="2200" dirty="0"/>
          </a:p>
        </p:txBody>
      </p:sp>
      <p:sp>
        <p:nvSpPr>
          <p:cNvPr id="4" name="Shape 1"/>
          <p:cNvSpPr/>
          <p:nvPr/>
        </p:nvSpPr>
        <p:spPr>
          <a:xfrm>
            <a:off x="0" y="566928"/>
            <a:ext cx="12191695" cy="420624"/>
          </a:xfrm>
          <a:prstGeom prst="rect">
            <a:avLst/>
          </a:prstGeom>
          <a:solidFill>
            <a:srgbClr val="2F5597"/>
          </a:solidFill>
          <a:ln/>
        </p:spPr>
      </p:sp>
      <p:sp>
        <p:nvSpPr>
          <p:cNvPr id="5" name="Text 2"/>
          <p:cNvSpPr/>
          <p:nvPr/>
        </p:nvSpPr>
        <p:spPr>
          <a:xfrm>
            <a:off x="347472" y="585216"/>
            <a:ext cx="114300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2.4 Heterogeneous Graph Policy and MAPPO Optimization</a:t>
            </a:r>
            <a:endParaRPr lang="en-US" sz="1600" dirty="0"/>
          </a:p>
        </p:txBody>
      </p:sp>
      <p:pic>
        <p:nvPicPr>
          <p:cNvPr id="6" name="Image 1" descr="/tmp/ppt-work/assets/hgat.png">    </p:cNvPr>
          <p:cNvPicPr>
            <a:picLocks noChangeAspect="1"/>
          </p:cNvPicPr>
          <p:nvPr/>
        </p:nvPicPr>
        <p:blipFill>
          <a:blip r:embed="rId2"/>
          <a:stretch>
            <a:fillRect/>
          </a:stretch>
        </p:blipFill>
        <p:spPr>
          <a:xfrm>
            <a:off x="182880" y="1078992"/>
            <a:ext cx="5989320" cy="3246120"/>
          </a:xfrm>
          <a:prstGeom prst="rect">
            <a:avLst/>
          </a:prstGeom>
        </p:spPr>
      </p:pic>
      <p:pic>
        <p:nvPicPr>
          <p:cNvPr id="7" name="Image 2" descr="/tmp/ppt-work/assets/eq_att.png">    </p:cNvPr>
          <p:cNvPicPr>
            <a:picLocks noChangeAspect="1"/>
          </p:cNvPicPr>
          <p:nvPr/>
        </p:nvPicPr>
        <p:blipFill>
          <a:blip r:embed="rId3"/>
          <a:stretch>
            <a:fillRect/>
          </a:stretch>
        </p:blipFill>
        <p:spPr>
          <a:xfrm>
            <a:off x="182880" y="4297680"/>
            <a:ext cx="5989320" cy="658368"/>
          </a:xfrm>
          <a:prstGeom prst="rect">
            <a:avLst/>
          </a:prstGeom>
        </p:spPr>
      </p:pic>
      <p:sp>
        <p:nvSpPr>
          <p:cNvPr id="8" name="Text 3"/>
          <p:cNvSpPr/>
          <p:nvPr/>
        </p:nvSpPr>
        <p:spPr>
          <a:xfrm>
            <a:off x="256032" y="4956048"/>
            <a:ext cx="5897880" cy="292608"/>
          </a:xfrm>
          <a:prstGeom prst="rect">
            <a:avLst/>
          </a:prstGeom>
          <a:noFill/>
          <a:ln/>
        </p:spPr>
        <p:txBody>
          <a:bodyPr wrap="square" lIns="0" tIns="0" rIns="0" bIns="0" rtlCol="0" anchor="ctr"/>
          <a:lstStyle/>
          <a:p>
            <a:pPr indent="0" marL="0">
              <a:buNone/>
            </a:pPr>
            <a:r>
              <a:rPr lang="en-US" sz="1200" b="1" dirty="0">
                <a:solidFill>
                  <a:srgbClr val="2F5597"/>
                </a:solidFill>
                <a:latin typeface="Calibri" pitchFamily="34" charset="0"/>
                <a:ea typeface="Calibri" pitchFamily="34" charset="-122"/>
                <a:cs typeface="Calibri" pitchFamily="34" charset="-120"/>
              </a:rPr>
              <a:t>Relation confidence     ·     Distance prior     ·     Link mask</a:t>
            </a:r>
            <a:endParaRPr lang="en-US" sz="1200" dirty="0"/>
          </a:p>
        </p:txBody>
      </p:sp>
      <p:pic>
        <p:nvPicPr>
          <p:cNvPr id="9" name="Image 3" descr="/tmp/ppt-work/assets/actor_critic.png">    </p:cNvPr>
          <p:cNvPicPr>
            <a:picLocks noChangeAspect="1"/>
          </p:cNvPicPr>
          <p:nvPr/>
        </p:nvPicPr>
        <p:blipFill>
          <a:blip r:embed="rId4"/>
          <a:stretch>
            <a:fillRect/>
          </a:stretch>
        </p:blipFill>
        <p:spPr>
          <a:xfrm>
            <a:off x="6263640" y="1078992"/>
            <a:ext cx="5623560" cy="3246120"/>
          </a:xfrm>
          <a:prstGeom prst="rect">
            <a:avLst/>
          </a:prstGeom>
        </p:spPr>
      </p:pic>
      <p:pic>
        <p:nvPicPr>
          <p:cNvPr id="10" name="Image 4" descr="/tmp/ppt-work/assets/eq_r.png">    </p:cNvPr>
          <p:cNvPicPr>
            <a:picLocks noChangeAspect="1"/>
          </p:cNvPicPr>
          <p:nvPr/>
        </p:nvPicPr>
        <p:blipFill>
          <a:blip r:embed="rId5"/>
          <a:stretch>
            <a:fillRect/>
          </a:stretch>
        </p:blipFill>
        <p:spPr>
          <a:xfrm>
            <a:off x="6309360" y="4297680"/>
            <a:ext cx="5577840" cy="566928"/>
          </a:xfrm>
          <a:prstGeom prst="rect">
            <a:avLst/>
          </a:prstGeom>
        </p:spPr>
      </p:pic>
      <p:sp>
        <p:nvSpPr>
          <p:cNvPr id="11" name="Text 4"/>
          <p:cNvSpPr/>
          <p:nvPr/>
        </p:nvSpPr>
        <p:spPr>
          <a:xfrm>
            <a:off x="6355080" y="4919472"/>
            <a:ext cx="5532120" cy="365760"/>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(λD, λC, λsafe) = (1.0, 0.30, 0.10)     ·     MAPPO: PPO clipping + GAE</a:t>
            </a:r>
            <a:endParaRPr lang="en-US" sz="1200" dirty="0"/>
          </a:p>
        </p:txBody>
      </p:sp>
      <p:sp>
        <p:nvSpPr>
          <p:cNvPr id="12" name="Text 5"/>
          <p:cNvSpPr/>
          <p:nvPr/>
        </p:nvSpPr>
        <p:spPr>
          <a:xfrm>
            <a:off x="256032" y="5349240"/>
            <a:ext cx="5852160" cy="365760"/>
          </a:xfrm>
          <a:prstGeom prst="rect">
            <a:avLst/>
          </a:prstGeom>
          <a:noFill/>
          <a:ln/>
        </p:spPr>
        <p:txBody>
          <a:bodyPr wrap="square" lIns="0" tIns="0" rIns="0" bIns="0" rtlCol="0" anchor="ctr"/>
          <a:lstStyle/>
          <a:p>
            <a:pPr indent="0" marL="0">
              <a:buNone/>
            </a:pPr>
            <a:r>
              <a:rPr lang="en-US" sz="1600" b="1" dirty="0">
                <a:solidFill>
                  <a:srgbClr val="2E8B57"/>
                </a:solidFill>
                <a:latin typeface="Calibri" pitchFamily="34" charset="0"/>
                <a:ea typeface="Calibri" pitchFamily="34" charset="-122"/>
                <a:cs typeface="Calibri" pitchFamily="34" charset="-120"/>
              </a:rPr>
              <a:t>Heterogeneous Graph Attention</a:t>
            </a:r>
            <a:endParaRPr lang="en-US" sz="1600" dirty="0"/>
          </a:p>
        </p:txBody>
      </p:sp>
      <p:sp>
        <p:nvSpPr>
          <p:cNvPr id="13" name="Text 6"/>
          <p:cNvSpPr/>
          <p:nvPr/>
        </p:nvSpPr>
        <p:spPr>
          <a:xfrm>
            <a:off x="11475720" y="6510528"/>
            <a:ext cx="502920" cy="256032"/>
          </a:xfrm>
          <a:prstGeom prst="rect">
            <a:avLst/>
          </a:prstGeom>
          <a:noFill/>
          <a:ln/>
        </p:spPr>
        <p:txBody>
          <a:bodyPr wrap="square" lIns="0" tIns="0" rIns="0" bIns="0" rtlCol="0" anchor="ctr"/>
          <a:lstStyle/>
          <a:p>
            <a:pPr algn="r" indent="0" marL="0">
              <a:buNone/>
            </a:pPr>
            <a:r>
              <a:rPr lang="en-US" sz="1200" dirty="0">
                <a:solidFill>
                  <a:srgbClr val="2F5597"/>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56848" y="73152"/>
            <a:ext cx="658368" cy="457200"/>
          </a:xfrm>
          <a:prstGeom prst="rect">
            <a:avLst/>
          </a:prstGeom>
        </p:spPr>
      </p:pic>
      <p:sp>
        <p:nvSpPr>
          <p:cNvPr id="3" name="Text 0"/>
          <p:cNvSpPr/>
          <p:nvPr/>
        </p:nvSpPr>
        <p:spPr>
          <a:xfrm>
            <a:off x="347472" y="91440"/>
            <a:ext cx="10789920" cy="384048"/>
          </a:xfrm>
          <a:prstGeom prst="rect">
            <a:avLst/>
          </a:prstGeom>
          <a:noFill/>
          <a:ln/>
        </p:spPr>
        <p:txBody>
          <a:bodyPr wrap="square" lIns="0" tIns="0" rIns="0" bIns="0" rtlCol="0" anchor="ctr"/>
          <a:lstStyle/>
          <a:p>
            <a:pPr indent="0" marL="0">
              <a:buNone/>
            </a:pPr>
            <a:r>
              <a:rPr lang="en-US" sz="2200" b="1" dirty="0">
                <a:solidFill>
                  <a:srgbClr val="2F5597"/>
                </a:solidFill>
                <a:latin typeface="Calibri" pitchFamily="34" charset="0"/>
                <a:ea typeface="Calibri" pitchFamily="34" charset="-122"/>
                <a:cs typeface="Calibri" pitchFamily="34" charset="-120"/>
              </a:rPr>
              <a:t>3. Experimental Results</a:t>
            </a:r>
            <a:endParaRPr lang="en-US" sz="2200" dirty="0"/>
          </a:p>
        </p:txBody>
      </p:sp>
      <p:sp>
        <p:nvSpPr>
          <p:cNvPr id="4" name="Shape 1"/>
          <p:cNvSpPr/>
          <p:nvPr/>
        </p:nvSpPr>
        <p:spPr>
          <a:xfrm>
            <a:off x="0" y="566928"/>
            <a:ext cx="12191695" cy="420624"/>
          </a:xfrm>
          <a:prstGeom prst="rect">
            <a:avLst/>
          </a:prstGeom>
          <a:solidFill>
            <a:srgbClr val="2F5597"/>
          </a:solidFill>
          <a:ln/>
        </p:spPr>
      </p:sp>
      <p:sp>
        <p:nvSpPr>
          <p:cNvPr id="5" name="Text 2"/>
          <p:cNvSpPr/>
          <p:nvPr/>
        </p:nvSpPr>
        <p:spPr>
          <a:xfrm>
            <a:off x="347472" y="585216"/>
            <a:ext cx="114300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3.1 Experimental Setup and Main Results</a:t>
            </a:r>
            <a:endParaRPr lang="en-US" sz="1600" dirty="0"/>
          </a:p>
        </p:txBody>
      </p:sp>
      <p:sp>
        <p:nvSpPr>
          <p:cNvPr id="6" name="Shape 3"/>
          <p:cNvSpPr/>
          <p:nvPr/>
        </p:nvSpPr>
        <p:spPr>
          <a:xfrm>
            <a:off x="256032" y="1078992"/>
            <a:ext cx="5074920" cy="1965960"/>
          </a:xfrm>
          <a:prstGeom prst="roundRect">
            <a:avLst>
              <a:gd name="adj" fmla="val 3721"/>
            </a:avLst>
          </a:prstGeom>
          <a:solidFill>
            <a:srgbClr val="F4F6FA"/>
          </a:solidFill>
          <a:ln/>
          <a:effectLst>
            <a:outerShdw sx="100000" sy="100000" kx="0" ky="0" algn="bl" rotWithShape="0" blurRad="50800" dist="12700" dir="16200000">
              <a:srgbClr val="1F2A44">
                <a:alpha val="12000"/>
              </a:srgbClr>
            </a:outerShdw>
          </a:effectLst>
        </p:spPr>
      </p:sp>
      <p:sp>
        <p:nvSpPr>
          <p:cNvPr id="7" name="Text 4"/>
          <p:cNvSpPr/>
          <p:nvPr/>
        </p:nvSpPr>
        <p:spPr>
          <a:xfrm>
            <a:off x="384048" y="1133856"/>
            <a:ext cx="4800600" cy="274320"/>
          </a:xfrm>
          <a:prstGeom prst="rect">
            <a:avLst/>
          </a:prstGeom>
          <a:noFill/>
          <a:ln/>
        </p:spPr>
        <p:txBody>
          <a:bodyPr wrap="square" lIns="0" tIns="0" rIns="0" bIns="0" rtlCol="0" anchor="ctr"/>
          <a:lstStyle/>
          <a:p>
            <a:pPr indent="0" marL="0">
              <a:buNone/>
            </a:pPr>
            <a:r>
              <a:rPr lang="en-US" sz="1400" b="1" dirty="0">
                <a:solidFill>
                  <a:srgbClr val="2F5597"/>
                </a:solidFill>
                <a:latin typeface="Calibri" pitchFamily="34" charset="0"/>
                <a:ea typeface="Calibri" pitchFamily="34" charset="-122"/>
                <a:cs typeface="Calibri" pitchFamily="34" charset="-120"/>
              </a:rPr>
              <a:t>Experiment setup</a:t>
            </a:r>
            <a:endParaRPr lang="en-US" sz="1400" dirty="0"/>
          </a:p>
        </p:txBody>
      </p:sp>
      <p:sp>
        <p:nvSpPr>
          <p:cNvPr id="8" name="Text 5"/>
          <p:cNvSpPr/>
          <p:nvPr/>
        </p:nvSpPr>
        <p:spPr>
          <a:xfrm>
            <a:off x="384048" y="1426464"/>
            <a:ext cx="4800600" cy="109728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6 UAVs  ·  15 targets  ·  10 obstacles  ·  30×30 grid</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Horizon = 200     ·     2,000 training episodes</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5 independently trained policies</a:t>
            </a:r>
            <a:endParaRPr lang="en-US" sz="1300" dirty="0"/>
          </a:p>
          <a:p>
            <a:pPr indent="0" marL="0">
              <a:buNone/>
            </a:pPr>
            <a:r>
              <a:rPr lang="en-US" sz="1300" dirty="0">
                <a:solidFill>
                  <a:srgbClr val="1F2A44"/>
                </a:solidFill>
                <a:latin typeface="Calibri" pitchFamily="34" charset="0"/>
                <a:ea typeface="Calibri" pitchFamily="34" charset="-122"/>
                <a:cs typeface="Calibri" pitchFamily="34" charset="-120"/>
              </a:rPr>
              <a:t>30 held-out scenarios</a:t>
            </a:r>
            <a:endParaRPr lang="en-US" sz="1300" dirty="0"/>
          </a:p>
        </p:txBody>
      </p:sp>
      <p:sp>
        <p:nvSpPr>
          <p:cNvPr id="9" name="Text 6"/>
          <p:cNvSpPr/>
          <p:nvPr/>
        </p:nvSpPr>
        <p:spPr>
          <a:xfrm>
            <a:off x="384048" y="2578608"/>
            <a:ext cx="4800600" cy="347472"/>
          </a:xfrm>
          <a:prstGeom prst="rect">
            <a:avLst/>
          </a:prstGeom>
          <a:noFill/>
          <a:ln/>
        </p:spPr>
        <p:txBody>
          <a:bodyPr wrap="square" lIns="0" tIns="0" rIns="0" bIns="0" rtlCol="0" anchor="ctr"/>
          <a:lstStyle/>
          <a:p>
            <a:pPr indent="0" marL="0">
              <a:buNone/>
            </a:pPr>
            <a:r>
              <a:rPr lang="en-US" sz="1200" i="1" dirty="0">
                <a:solidFill>
                  <a:srgbClr val="5A6A80"/>
                </a:solidFill>
                <a:latin typeface="Calibri" pitchFamily="34" charset="0"/>
                <a:ea typeface="Calibri" pitchFamily="34" charset="-122"/>
                <a:cs typeface="Calibri" pitchFamily="34" charset="-120"/>
              </a:rPr>
              <a:t>Common environment, reward, action space and training budget</a:t>
            </a:r>
            <a:endParaRPr lang="en-US" sz="1200" dirty="0"/>
          </a:p>
        </p:txBody>
      </p:sp>
      <p:pic>
        <p:nvPicPr>
          <p:cNvPr id="10" name="Image 1" descr="/tmp/ppt-work/assets/fig3.png">    </p:cNvPr>
          <p:cNvPicPr>
            <a:picLocks noChangeAspect="1"/>
          </p:cNvPicPr>
          <p:nvPr/>
        </p:nvPicPr>
        <p:blipFill>
          <a:blip r:embed="rId2"/>
          <a:stretch>
            <a:fillRect/>
          </a:stretch>
        </p:blipFill>
        <p:spPr>
          <a:xfrm>
            <a:off x="256032" y="3154680"/>
            <a:ext cx="5074920" cy="2606040"/>
          </a:xfrm>
          <a:prstGeom prst="rect">
            <a:avLst/>
          </a:prstGeom>
        </p:spPr>
      </p:pic>
      <p:sp>
        <p:nvSpPr>
          <p:cNvPr id="11" name="Text 7"/>
          <p:cNvSpPr/>
          <p:nvPr/>
        </p:nvSpPr>
        <p:spPr>
          <a:xfrm>
            <a:off x="256032" y="5779008"/>
            <a:ext cx="5074920" cy="256032"/>
          </a:xfrm>
          <a:prstGeom prst="rect">
            <a:avLst/>
          </a:prstGeom>
          <a:noFill/>
          <a:ln/>
        </p:spPr>
        <p:txBody>
          <a:bodyPr wrap="square" lIns="0" tIns="0" rIns="0" bIns="0" rtlCol="0" anchor="ctr"/>
          <a:lstStyle/>
          <a:p>
            <a:pPr indent="0" marL="0">
              <a:buNone/>
            </a:pPr>
            <a:r>
              <a:rPr lang="en-US" sz="1000" i="1" dirty="0">
                <a:solidFill>
                  <a:srgbClr val="5A6A80"/>
                </a:solidFill>
                <a:latin typeface="Calibri" pitchFamily="34" charset="0"/>
                <a:ea typeface="Calibri" pitchFamily="34" charset="-122"/>
                <a:cs typeface="Calibri" pitchFamily="34" charset="-120"/>
              </a:rPr>
              <a:t>UAV trajectories  ·  discovered / undiscovered targets  ·  dynamic obstacles</a:t>
            </a:r>
            <a:endParaRPr lang="en-US" sz="1000" dirty="0"/>
          </a:p>
        </p:txBody>
      </p:sp>
      <p:graphicFrame>
        <p:nvGraphicFramePr>
          <p:cNvPr id="12" name="Chart 0" descr=""/>
          <p:cNvGraphicFramePr/>
          <p:nvPr/>
        </p:nvGraphicFramePr>
        <p:xfrm>
          <a:off x="5440680" y="1051560"/>
          <a:ext cx="3291840" cy="2331720"/>
        </p:xfrm>
        <a:graphic xmlns:a="http://schemas.openxmlformats.org/drawingml/2006/main">
          <a:graphicData uri="http://schemas.openxmlformats.org/drawingml/2006/chart">
            <c:chart xmlns:c="http://schemas.openxmlformats.org/drawingml/2006/chart" r:id="rId3"/>
          </a:graphicData>
        </a:graphic>
      </p:graphicFrame>
      <p:graphicFrame>
        <p:nvGraphicFramePr>
          <p:cNvPr id="13" name="Chart 1" descr=""/>
          <p:cNvGraphicFramePr/>
          <p:nvPr/>
        </p:nvGraphicFramePr>
        <p:xfrm>
          <a:off x="8732520" y="1051560"/>
          <a:ext cx="3200400" cy="2331720"/>
        </p:xfrm>
        <a:graphic xmlns:a="http://schemas.openxmlformats.org/drawingml/2006/main">
          <a:graphicData uri="http://schemas.openxmlformats.org/drawingml/2006/chart">
            <c:chart xmlns:c="http://schemas.openxmlformats.org/drawingml/2006/chart" r:id="rId4"/>
          </a:graphicData>
        </a:graphic>
      </p:graphicFrame>
      <p:sp>
        <p:nvSpPr>
          <p:cNvPr id="14" name="Shape 8"/>
          <p:cNvSpPr/>
          <p:nvPr/>
        </p:nvSpPr>
        <p:spPr>
          <a:xfrm>
            <a:off x="5440680" y="3474720"/>
            <a:ext cx="3200400" cy="1417320"/>
          </a:xfrm>
          <a:prstGeom prst="roundRect">
            <a:avLst>
              <a:gd name="adj" fmla="val 5161"/>
            </a:avLst>
          </a:prstGeom>
          <a:solidFill>
            <a:srgbClr val="FDECEA"/>
          </a:solidFill>
          <a:ln/>
          <a:effectLst>
            <a:outerShdw sx="100000" sy="100000" kx="0" ky="0" algn="bl" rotWithShape="0" blurRad="50800" dist="12700" dir="16200000">
              <a:srgbClr val="1F2A44">
                <a:alpha val="12000"/>
              </a:srgbClr>
            </a:outerShdw>
          </a:effectLst>
        </p:spPr>
      </p:sp>
      <p:sp>
        <p:nvSpPr>
          <p:cNvPr id="15" name="Text 9"/>
          <p:cNvSpPr/>
          <p:nvPr/>
        </p:nvSpPr>
        <p:spPr>
          <a:xfrm>
            <a:off x="5577840" y="3547872"/>
            <a:ext cx="2926080" cy="256032"/>
          </a:xfrm>
          <a:prstGeom prst="rect">
            <a:avLst/>
          </a:prstGeom>
          <a:noFill/>
          <a:ln/>
        </p:spPr>
        <p:txBody>
          <a:bodyPr wrap="square" lIns="0" tIns="0" rIns="0" bIns="0"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vs. Heuristic</a:t>
            </a:r>
            <a:endParaRPr lang="en-US" sz="1200" dirty="0"/>
          </a:p>
        </p:txBody>
      </p:sp>
      <p:sp>
        <p:nvSpPr>
          <p:cNvPr id="16" name="Text 10"/>
          <p:cNvSpPr/>
          <p:nvPr/>
        </p:nvSpPr>
        <p:spPr>
          <a:xfrm>
            <a:off x="5577840" y="3840480"/>
            <a:ext cx="2926080" cy="86868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+17.16 pp  decisiveness</a:t>
            </a:r>
            <a:endParaRPr lang="en-US" sz="1400" dirty="0"/>
          </a:p>
          <a:p>
            <a:pPr indent="0" marL="0">
              <a:buNone/>
            </a:pPr>
            <a:r>
              <a:rPr lang="en-US" sz="1400" b="1" dirty="0">
                <a:solidFill>
                  <a:srgbClr val="1F2A44"/>
                </a:solidFill>
                <a:latin typeface="Calibri" pitchFamily="34" charset="0"/>
                <a:ea typeface="Calibri" pitchFamily="34" charset="-122"/>
                <a:cs typeface="Calibri" pitchFamily="34" charset="-120"/>
              </a:rPr>
              <a:t>+9.00 pp  discovery</a:t>
            </a:r>
            <a:endParaRPr lang="en-US" sz="1400" dirty="0"/>
          </a:p>
        </p:txBody>
      </p:sp>
      <p:sp>
        <p:nvSpPr>
          <p:cNvPr id="17" name="Shape 11"/>
          <p:cNvSpPr/>
          <p:nvPr/>
        </p:nvSpPr>
        <p:spPr>
          <a:xfrm>
            <a:off x="8732520" y="3474720"/>
            <a:ext cx="3200400" cy="1417320"/>
          </a:xfrm>
          <a:prstGeom prst="roundRect">
            <a:avLst>
              <a:gd name="adj" fmla="val 5161"/>
            </a:avLst>
          </a:prstGeom>
          <a:solidFill>
            <a:srgbClr val="FFF3E8"/>
          </a:solidFill>
          <a:ln/>
          <a:effectLst>
            <a:outerShdw sx="100000" sy="100000" kx="0" ky="0" algn="bl" rotWithShape="0" blurRad="50800" dist="12700" dir="16200000">
              <a:srgbClr val="1F2A44">
                <a:alpha val="12000"/>
              </a:srgbClr>
            </a:outerShdw>
          </a:effectLst>
        </p:spPr>
      </p:sp>
      <p:sp>
        <p:nvSpPr>
          <p:cNvPr id="18" name="Text 12"/>
          <p:cNvSpPr/>
          <p:nvPr/>
        </p:nvSpPr>
        <p:spPr>
          <a:xfrm>
            <a:off x="8869680" y="3547872"/>
            <a:ext cx="2926080" cy="256032"/>
          </a:xfrm>
          <a:prstGeom prst="rect">
            <a:avLst/>
          </a:prstGeom>
          <a:noFill/>
          <a:ln/>
        </p:spPr>
        <p:txBody>
          <a:bodyPr wrap="square" lIns="0" tIns="0" rIns="0" bIns="0" rtlCol="0" anchor="ctr"/>
          <a:lstStyle/>
          <a:p>
            <a:pPr indent="0" marL="0">
              <a:buNone/>
            </a:pPr>
            <a:r>
              <a:rPr lang="en-US" sz="1200" b="1" dirty="0">
                <a:solidFill>
                  <a:srgbClr val="ED7D31"/>
                </a:solidFill>
                <a:latin typeface="Calibri" pitchFamily="34" charset="0"/>
                <a:ea typeface="Calibri" pitchFamily="34" charset="-122"/>
                <a:cs typeface="Calibri" pitchFamily="34" charset="-120"/>
              </a:rPr>
              <a:t>vs. QMIX</a:t>
            </a:r>
            <a:endParaRPr lang="en-US" sz="1200" dirty="0"/>
          </a:p>
        </p:txBody>
      </p:sp>
      <p:sp>
        <p:nvSpPr>
          <p:cNvPr id="19" name="Text 13"/>
          <p:cNvSpPr/>
          <p:nvPr/>
        </p:nvSpPr>
        <p:spPr>
          <a:xfrm>
            <a:off x="8869680" y="3840480"/>
            <a:ext cx="2926080" cy="86868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+32.15 pp  decisiveness</a:t>
            </a:r>
            <a:endParaRPr lang="en-US" sz="1400" dirty="0"/>
          </a:p>
          <a:p>
            <a:pPr indent="0" marL="0">
              <a:buNone/>
            </a:pPr>
            <a:r>
              <a:rPr lang="en-US" sz="1400" b="1" dirty="0">
                <a:solidFill>
                  <a:srgbClr val="1F2A44"/>
                </a:solidFill>
                <a:latin typeface="Calibri" pitchFamily="34" charset="0"/>
                <a:ea typeface="Calibri" pitchFamily="34" charset="-122"/>
                <a:cs typeface="Calibri" pitchFamily="34" charset="-120"/>
              </a:rPr>
              <a:t>+14.67 pp  discovery</a:t>
            </a:r>
            <a:endParaRPr lang="en-US" sz="1400" dirty="0"/>
          </a:p>
        </p:txBody>
      </p:sp>
      <p:sp>
        <p:nvSpPr>
          <p:cNvPr id="20" name="Shape 14"/>
          <p:cNvSpPr/>
          <p:nvPr/>
        </p:nvSpPr>
        <p:spPr>
          <a:xfrm>
            <a:off x="5440680" y="5029200"/>
            <a:ext cx="6492240" cy="1170432"/>
          </a:xfrm>
          <a:prstGeom prst="roundRect">
            <a:avLst>
              <a:gd name="adj" fmla="val 6250"/>
            </a:avLst>
          </a:prstGeom>
          <a:solidFill>
            <a:srgbClr val="2F5597"/>
          </a:solidFill>
          <a:ln/>
        </p:spPr>
      </p:sp>
      <p:sp>
        <p:nvSpPr>
          <p:cNvPr id="21" name="Text 15"/>
          <p:cNvSpPr/>
          <p:nvPr/>
        </p:nvSpPr>
        <p:spPr>
          <a:xfrm>
            <a:off x="5623560" y="5138928"/>
            <a:ext cx="6172200" cy="50292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T80   ·   82.0% success     ·     88.63 steps conditional on success</a:t>
            </a:r>
            <a:endParaRPr lang="en-US" sz="1500" dirty="0"/>
          </a:p>
        </p:txBody>
      </p:sp>
      <p:sp>
        <p:nvSpPr>
          <p:cNvPr id="22" name="Text 16"/>
          <p:cNvSpPr/>
          <p:nvPr/>
        </p:nvSpPr>
        <p:spPr>
          <a:xfrm>
            <a:off x="5623560" y="5669280"/>
            <a:ext cx="6172200" cy="365760"/>
          </a:xfrm>
          <a:prstGeom prst="rect">
            <a:avLst/>
          </a:prstGeom>
          <a:noFill/>
          <a:ln/>
        </p:spPr>
        <p:txBody>
          <a:bodyPr wrap="square" lIns="0" tIns="0" rIns="0" bIns="0" rtlCol="0" anchor="ctr"/>
          <a:lstStyle/>
          <a:p>
            <a:pPr indent="0" marL="0">
              <a:buNone/>
            </a:pPr>
            <a:r>
              <a:rPr lang="en-US" sz="1200" dirty="0">
                <a:solidFill>
                  <a:srgbClr val="D6E2F5"/>
                </a:solidFill>
                <a:latin typeface="Calibri" pitchFamily="34" charset="0"/>
                <a:ea typeface="Calibri" pitchFamily="34" charset="-122"/>
                <a:cs typeface="Calibri" pitchFamily="34" charset="-120"/>
              </a:rPr>
              <a:t>Safety intervention 0.17%; collision rate comparable to the heuristic (not ranked).</a:t>
            </a:r>
            <a:endParaRPr lang="en-US" sz="1200" dirty="0"/>
          </a:p>
        </p:txBody>
      </p:sp>
      <p:sp>
        <p:nvSpPr>
          <p:cNvPr id="23" name="Text 17"/>
          <p:cNvSpPr/>
          <p:nvPr/>
        </p:nvSpPr>
        <p:spPr>
          <a:xfrm>
            <a:off x="11475720" y="6510528"/>
            <a:ext cx="502920" cy="256032"/>
          </a:xfrm>
          <a:prstGeom prst="rect">
            <a:avLst/>
          </a:prstGeom>
          <a:noFill/>
          <a:ln/>
        </p:spPr>
        <p:txBody>
          <a:bodyPr wrap="square" lIns="0" tIns="0" rIns="0" bIns="0" rtlCol="0" anchor="ctr"/>
          <a:lstStyle/>
          <a:p>
            <a:pPr algn="r" indent="0" marL="0">
              <a:buNone/>
            </a:pPr>
            <a:r>
              <a:rPr lang="en-US" sz="1200" dirty="0">
                <a:solidFill>
                  <a:srgbClr val="2F5597"/>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56848" y="73152"/>
            <a:ext cx="658368" cy="457200"/>
          </a:xfrm>
          <a:prstGeom prst="rect">
            <a:avLst/>
          </a:prstGeom>
        </p:spPr>
      </p:pic>
      <p:sp>
        <p:nvSpPr>
          <p:cNvPr id="3" name="Text 0"/>
          <p:cNvSpPr/>
          <p:nvPr/>
        </p:nvSpPr>
        <p:spPr>
          <a:xfrm>
            <a:off x="347472" y="91440"/>
            <a:ext cx="10789920" cy="384048"/>
          </a:xfrm>
          <a:prstGeom prst="rect">
            <a:avLst/>
          </a:prstGeom>
          <a:noFill/>
          <a:ln/>
        </p:spPr>
        <p:txBody>
          <a:bodyPr wrap="square" lIns="0" tIns="0" rIns="0" bIns="0" rtlCol="0" anchor="ctr"/>
          <a:lstStyle/>
          <a:p>
            <a:pPr indent="0" marL="0">
              <a:buNone/>
            </a:pPr>
            <a:r>
              <a:rPr lang="en-US" sz="2200" b="1" dirty="0">
                <a:solidFill>
                  <a:srgbClr val="2F5597"/>
                </a:solidFill>
                <a:latin typeface="Calibri" pitchFamily="34" charset="0"/>
                <a:ea typeface="Calibri" pitchFamily="34" charset="-122"/>
                <a:cs typeface="Calibri" pitchFamily="34" charset="-120"/>
              </a:rPr>
              <a:t>3. Experimental Results</a:t>
            </a:r>
            <a:endParaRPr lang="en-US" sz="2200" dirty="0"/>
          </a:p>
        </p:txBody>
      </p:sp>
      <p:sp>
        <p:nvSpPr>
          <p:cNvPr id="4" name="Shape 1"/>
          <p:cNvSpPr/>
          <p:nvPr/>
        </p:nvSpPr>
        <p:spPr>
          <a:xfrm>
            <a:off x="0" y="566928"/>
            <a:ext cx="12191695" cy="420624"/>
          </a:xfrm>
          <a:prstGeom prst="rect">
            <a:avLst/>
          </a:prstGeom>
          <a:solidFill>
            <a:srgbClr val="2F5597"/>
          </a:solidFill>
          <a:ln/>
        </p:spPr>
      </p:sp>
      <p:sp>
        <p:nvSpPr>
          <p:cNvPr id="5" name="Text 2"/>
          <p:cNvSpPr/>
          <p:nvPr/>
        </p:nvSpPr>
        <p:spPr>
          <a:xfrm>
            <a:off x="347472" y="585216"/>
            <a:ext cx="114300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3.2 Ablation and Sensitivity Analysis</a:t>
            </a:r>
            <a:endParaRPr lang="en-US" sz="1600" dirty="0"/>
          </a:p>
        </p:txBody>
      </p:sp>
      <p:graphicFrame>
        <p:nvGraphicFramePr>
          <p:cNvPr id="6" name="Chart 0" descr=""/>
          <p:cNvGraphicFramePr/>
          <p:nvPr/>
        </p:nvGraphicFramePr>
        <p:xfrm>
          <a:off x="182880" y="1024128"/>
          <a:ext cx="5989320" cy="26060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309360" y="1024128"/>
            <a:ext cx="5577840" cy="804672"/>
          </a:xfrm>
          <a:prstGeom prst="roundRect">
            <a:avLst>
              <a:gd name="adj" fmla="val 9091"/>
            </a:avLst>
          </a:prstGeom>
          <a:solidFill>
            <a:srgbClr val="FFFFFF"/>
          </a:solidFill>
          <a:ln/>
          <a:effectLst>
            <a:outerShdw sx="100000" sy="100000" kx="0" ky="0" algn="bl" rotWithShape="0" blurRad="50800" dist="12700" dir="16200000">
              <a:srgbClr val="1F2A44">
                <a:alpha val="12000"/>
              </a:srgbClr>
            </a:outerShdw>
          </a:effectLst>
        </p:spPr>
      </p:sp>
      <p:sp>
        <p:nvSpPr>
          <p:cNvPr id="8" name="Text 4"/>
          <p:cNvSpPr/>
          <p:nvPr/>
        </p:nvSpPr>
        <p:spPr>
          <a:xfrm>
            <a:off x="6473952" y="1078992"/>
            <a:ext cx="5257800" cy="256032"/>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Heterogeneous relations</a:t>
            </a:r>
            <a:endParaRPr lang="en-US" sz="1300" dirty="0"/>
          </a:p>
        </p:txBody>
      </p:sp>
      <p:sp>
        <p:nvSpPr>
          <p:cNvPr id="9" name="Text 5"/>
          <p:cNvSpPr/>
          <p:nvPr/>
        </p:nvSpPr>
        <p:spPr>
          <a:xfrm>
            <a:off x="6473952" y="1335024"/>
            <a:ext cx="5257800" cy="438912"/>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+15.10 pp decisiveness</a:t>
            </a:r>
            <a:endParaRPr lang="en-US" sz="1200" dirty="0"/>
          </a:p>
          <a:p>
            <a:pPr indent="0" marL="0">
              <a:buNone/>
            </a:pPr>
            <a:r>
              <a:rPr lang="en-US" sz="1200" dirty="0">
                <a:solidFill>
                  <a:srgbClr val="1F2A44"/>
                </a:solidFill>
                <a:latin typeface="Calibri" pitchFamily="34" charset="0"/>
                <a:ea typeface="Calibri" pitchFamily="34" charset="-122"/>
                <a:cs typeface="Calibri" pitchFamily="34" charset="-120"/>
              </a:rPr>
              <a:t>vs. Homogeneous Graph MAPPO</a:t>
            </a:r>
            <a:endParaRPr lang="en-US" sz="1200" dirty="0"/>
          </a:p>
        </p:txBody>
      </p:sp>
      <p:sp>
        <p:nvSpPr>
          <p:cNvPr id="10" name="Shape 6"/>
          <p:cNvSpPr/>
          <p:nvPr/>
        </p:nvSpPr>
        <p:spPr>
          <a:xfrm>
            <a:off x="6309360" y="1892808"/>
            <a:ext cx="5577840" cy="804672"/>
          </a:xfrm>
          <a:prstGeom prst="roundRect">
            <a:avLst>
              <a:gd name="adj" fmla="val 9091"/>
            </a:avLst>
          </a:prstGeom>
          <a:solidFill>
            <a:srgbClr val="FFFFFF"/>
          </a:solidFill>
          <a:ln/>
          <a:effectLst>
            <a:outerShdw sx="100000" sy="100000" kx="0" ky="0" algn="bl" rotWithShape="0" blurRad="50800" dist="12700" dir="16200000">
              <a:srgbClr val="1F2A44">
                <a:alpha val="12000"/>
              </a:srgbClr>
            </a:outerShdw>
          </a:effectLst>
        </p:spPr>
      </p:sp>
      <p:sp>
        <p:nvSpPr>
          <p:cNvPr id="11" name="Text 7"/>
          <p:cNvSpPr/>
          <p:nvPr/>
        </p:nvSpPr>
        <p:spPr>
          <a:xfrm>
            <a:off x="6473952" y="1947672"/>
            <a:ext cx="5257800" cy="256032"/>
          </a:xfrm>
          <a:prstGeom prst="rect">
            <a:avLst/>
          </a:prstGeom>
          <a:noFill/>
          <a:ln/>
        </p:spPr>
        <p:txBody>
          <a:bodyPr wrap="square" lIns="0" tIns="0" rIns="0" bIns="0" rtlCol="0" anchor="ctr"/>
          <a:lstStyle/>
          <a:p>
            <a:pPr indent="0" marL="0">
              <a:buNone/>
            </a:pPr>
            <a:r>
              <a:rPr lang="en-US" sz="1300" b="1" dirty="0">
                <a:solidFill>
                  <a:srgbClr val="ED7D31"/>
                </a:solidFill>
                <a:latin typeface="Calibri" pitchFamily="34" charset="0"/>
                <a:ea typeface="Calibri" pitchFamily="34" charset="-122"/>
                <a:cs typeface="Calibri" pitchFamily="34" charset="-120"/>
              </a:rPr>
              <a:t>Revisit memory</a:t>
            </a:r>
            <a:endParaRPr lang="en-US" sz="1300" dirty="0"/>
          </a:p>
        </p:txBody>
      </p:sp>
      <p:sp>
        <p:nvSpPr>
          <p:cNvPr id="12" name="Text 8"/>
          <p:cNvSpPr/>
          <p:nvPr/>
        </p:nvSpPr>
        <p:spPr>
          <a:xfrm>
            <a:off x="6473952" y="2203704"/>
            <a:ext cx="5257800" cy="438912"/>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−16.33 pp decisiveness</a:t>
            </a:r>
            <a:endParaRPr lang="en-US" sz="1200" dirty="0"/>
          </a:p>
          <a:p>
            <a:pPr indent="0" marL="0">
              <a:buNone/>
            </a:pPr>
            <a:r>
              <a:rPr lang="en-US" sz="1200" dirty="0">
                <a:solidFill>
                  <a:srgbClr val="1F2A44"/>
                </a:solidFill>
                <a:latin typeface="Calibri" pitchFamily="34" charset="0"/>
                <a:ea typeface="Calibri" pitchFamily="34" charset="-122"/>
                <a:cs typeface="Calibri" pitchFamily="34" charset="-120"/>
              </a:rPr>
              <a:t>−13.67 pp discovery when removed</a:t>
            </a:r>
            <a:endParaRPr lang="en-US" sz="1200" dirty="0"/>
          </a:p>
        </p:txBody>
      </p:sp>
      <p:sp>
        <p:nvSpPr>
          <p:cNvPr id="13" name="Shape 9"/>
          <p:cNvSpPr/>
          <p:nvPr/>
        </p:nvSpPr>
        <p:spPr>
          <a:xfrm>
            <a:off x="6309360" y="2761488"/>
            <a:ext cx="5577840" cy="804672"/>
          </a:xfrm>
          <a:prstGeom prst="roundRect">
            <a:avLst>
              <a:gd name="adj" fmla="val 9091"/>
            </a:avLst>
          </a:prstGeom>
          <a:solidFill>
            <a:srgbClr val="FFFFFF"/>
          </a:solidFill>
          <a:ln/>
          <a:effectLst>
            <a:outerShdw sx="100000" sy="100000" kx="0" ky="0" algn="bl" rotWithShape="0" blurRad="50800" dist="12700" dir="16200000">
              <a:srgbClr val="1F2A44">
                <a:alpha val="12000"/>
              </a:srgbClr>
            </a:outerShdw>
          </a:effectLst>
        </p:spPr>
      </p:sp>
      <p:sp>
        <p:nvSpPr>
          <p:cNvPr id="14" name="Text 10"/>
          <p:cNvSpPr/>
          <p:nvPr/>
        </p:nvSpPr>
        <p:spPr>
          <a:xfrm>
            <a:off x="6473952" y="2816352"/>
            <a:ext cx="5257800" cy="256032"/>
          </a:xfrm>
          <a:prstGeom prst="rect">
            <a:avLst/>
          </a:prstGeom>
          <a:noFill/>
          <a:ln/>
        </p:spPr>
        <p:txBody>
          <a:bodyPr wrap="square" lIns="0" tIns="0" rIns="0" bIns="0"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History weighting</a:t>
            </a:r>
            <a:endParaRPr lang="en-US" sz="1300" dirty="0"/>
          </a:p>
        </p:txBody>
      </p:sp>
      <p:sp>
        <p:nvSpPr>
          <p:cNvPr id="15" name="Text 11"/>
          <p:cNvSpPr/>
          <p:nvPr/>
        </p:nvSpPr>
        <p:spPr>
          <a:xfrm>
            <a:off x="6473952" y="3072384"/>
            <a:ext cx="5257800" cy="438912"/>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−8.16 pp decisiveness when removed</a:t>
            </a:r>
            <a:endParaRPr lang="en-US" sz="1200" dirty="0"/>
          </a:p>
          <a:p>
            <a:pPr indent="0" marL="0">
              <a:buNone/>
            </a:pPr>
            <a:r>
              <a:rPr lang="en-US" sz="1200" dirty="0">
                <a:solidFill>
                  <a:srgbClr val="1F2A44"/>
                </a:solidFill>
                <a:latin typeface="Calibri" pitchFamily="34" charset="0"/>
                <a:ea typeface="Calibri" pitchFamily="34" charset="-122"/>
                <a:cs typeface="Calibri" pitchFamily="34" charset="-120"/>
              </a:rPr>
              <a:t>T80 88.63→98.19; success 82.0% vs 86.7%</a:t>
            </a:r>
            <a:endParaRPr lang="en-US" sz="1200" dirty="0"/>
          </a:p>
        </p:txBody>
      </p:sp>
      <p:pic>
        <p:nvPicPr>
          <p:cNvPr id="16" name="Image 1" descr="/tmp/ppt-work/assets/fig4.png">    </p:cNvPr>
          <p:cNvPicPr>
            <a:picLocks noChangeAspect="1"/>
          </p:cNvPicPr>
          <p:nvPr/>
        </p:nvPicPr>
        <p:blipFill>
          <a:blip r:embed="rId3"/>
          <a:stretch>
            <a:fillRect/>
          </a:stretch>
        </p:blipFill>
        <p:spPr>
          <a:xfrm>
            <a:off x="228600" y="3794760"/>
            <a:ext cx="11704320" cy="2331720"/>
          </a:xfrm>
          <a:prstGeom prst="rect">
            <a:avLst/>
          </a:prstGeom>
        </p:spPr>
      </p:pic>
      <p:sp>
        <p:nvSpPr>
          <p:cNvPr id="17" name="Text 12"/>
          <p:cNvSpPr/>
          <p:nvPr/>
        </p:nvSpPr>
        <p:spPr>
          <a:xfrm>
            <a:off x="274320" y="6108192"/>
            <a:ext cx="11612880" cy="256032"/>
          </a:xfrm>
          <a:prstGeom prst="rect">
            <a:avLst/>
          </a:prstGeom>
          <a:noFill/>
          <a:ln/>
        </p:spPr>
        <p:txBody>
          <a:bodyPr wrap="square" lIns="0" tIns="0" rIns="0" bIns="0" rtlCol="0" anchor="ctr"/>
          <a:lstStyle/>
          <a:p>
            <a:pPr indent="0" marL="0">
              <a:buNone/>
            </a:pPr>
            <a:r>
              <a:rPr lang="en-US" sz="1200" i="1" dirty="0">
                <a:solidFill>
                  <a:srgbClr val="1E3F73"/>
                </a:solidFill>
                <a:latin typeface="Calibri" pitchFamily="34" charset="0"/>
                <a:ea typeface="Calibri" pitchFamily="34" charset="-122"/>
                <a:cs typeface="Calibri" pitchFamily="34" charset="-120"/>
              </a:rPr>
              <a:t>IC-HGAT-MAPPO maintains higher mean discovery across the tested perturbation ranges.</a:t>
            </a:r>
            <a:endParaRPr lang="en-US" sz="1200" dirty="0"/>
          </a:p>
        </p:txBody>
      </p:sp>
      <p:sp>
        <p:nvSpPr>
          <p:cNvPr id="18" name="Text 13"/>
          <p:cNvSpPr/>
          <p:nvPr/>
        </p:nvSpPr>
        <p:spPr>
          <a:xfrm>
            <a:off x="11475720" y="6510528"/>
            <a:ext cx="502920" cy="256032"/>
          </a:xfrm>
          <a:prstGeom prst="rect">
            <a:avLst/>
          </a:prstGeom>
          <a:noFill/>
          <a:ln/>
        </p:spPr>
        <p:txBody>
          <a:bodyPr wrap="square" lIns="0" tIns="0" rIns="0" bIns="0" rtlCol="0" anchor="ctr"/>
          <a:lstStyle/>
          <a:p>
            <a:pPr algn="r" indent="0" marL="0">
              <a:buNone/>
            </a:pPr>
            <a:r>
              <a:rPr lang="en-US" sz="1200" dirty="0">
                <a:solidFill>
                  <a:srgbClr val="2F5597"/>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tmp/ppt-work/assets/hust.png">    </p:cNvPr>
          <p:cNvPicPr>
            <a:picLocks noChangeAspect="1"/>
          </p:cNvPicPr>
          <p:nvPr/>
        </p:nvPicPr>
        <p:blipFill>
          <a:blip r:embed="rId1"/>
          <a:stretch>
            <a:fillRect/>
          </a:stretch>
        </p:blipFill>
        <p:spPr>
          <a:xfrm>
            <a:off x="11356848" y="73152"/>
            <a:ext cx="658368" cy="457200"/>
          </a:xfrm>
          <a:prstGeom prst="rect">
            <a:avLst/>
          </a:prstGeom>
        </p:spPr>
      </p:pic>
      <p:sp>
        <p:nvSpPr>
          <p:cNvPr id="3" name="Text 0"/>
          <p:cNvSpPr/>
          <p:nvPr/>
        </p:nvSpPr>
        <p:spPr>
          <a:xfrm>
            <a:off x="347472" y="91440"/>
            <a:ext cx="10789920" cy="384048"/>
          </a:xfrm>
          <a:prstGeom prst="rect">
            <a:avLst/>
          </a:prstGeom>
          <a:noFill/>
          <a:ln/>
        </p:spPr>
        <p:txBody>
          <a:bodyPr wrap="square" lIns="0" tIns="0" rIns="0" bIns="0" rtlCol="0" anchor="ctr"/>
          <a:lstStyle/>
          <a:p>
            <a:pPr indent="0" marL="0">
              <a:buNone/>
            </a:pPr>
            <a:r>
              <a:rPr lang="en-US" sz="2200" b="1" dirty="0">
                <a:solidFill>
                  <a:srgbClr val="2F5597"/>
                </a:solidFill>
                <a:latin typeface="Calibri" pitchFamily="34" charset="0"/>
                <a:ea typeface="Calibri" pitchFamily="34" charset="-122"/>
                <a:cs typeface="Calibri" pitchFamily="34" charset="-120"/>
              </a:rPr>
              <a:t>4. Summary and Future Plan</a:t>
            </a:r>
            <a:endParaRPr lang="en-US" sz="2200" dirty="0"/>
          </a:p>
        </p:txBody>
      </p:sp>
      <p:sp>
        <p:nvSpPr>
          <p:cNvPr id="4" name="Shape 1"/>
          <p:cNvSpPr/>
          <p:nvPr/>
        </p:nvSpPr>
        <p:spPr>
          <a:xfrm>
            <a:off x="0" y="566928"/>
            <a:ext cx="12191695" cy="420624"/>
          </a:xfrm>
          <a:prstGeom prst="rect">
            <a:avLst/>
          </a:prstGeom>
          <a:solidFill>
            <a:srgbClr val="2F5597"/>
          </a:solidFill>
          <a:ln/>
        </p:spPr>
      </p:sp>
      <p:sp>
        <p:nvSpPr>
          <p:cNvPr id="5" name="Text 2"/>
          <p:cNvSpPr/>
          <p:nvPr/>
        </p:nvSpPr>
        <p:spPr>
          <a:xfrm>
            <a:off x="347472" y="585216"/>
            <a:ext cx="114300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Contributions, results, and next steps</a:t>
            </a:r>
            <a:endParaRPr lang="en-US" sz="1600" dirty="0"/>
          </a:p>
        </p:txBody>
      </p:sp>
      <p:sp>
        <p:nvSpPr>
          <p:cNvPr id="6" name="Shape 3"/>
          <p:cNvSpPr/>
          <p:nvPr/>
        </p:nvSpPr>
        <p:spPr>
          <a:xfrm>
            <a:off x="320040" y="1115568"/>
            <a:ext cx="11539728" cy="868680"/>
          </a:xfrm>
          <a:prstGeom prst="roundRect">
            <a:avLst>
              <a:gd name="adj" fmla="val 8421"/>
            </a:avLst>
          </a:prstGeom>
          <a:solidFill>
            <a:srgbClr val="EAF0F8"/>
          </a:solidFill>
          <a:ln/>
          <a:effectLst>
            <a:outerShdw sx="100000" sy="100000" kx="0" ky="0" algn="bl" rotWithShape="0" blurRad="50800" dist="12700" dir="16200000">
              <a:srgbClr val="1F2A44">
                <a:alpha val="12000"/>
              </a:srgbClr>
            </a:outerShdw>
          </a:effectLst>
        </p:spPr>
      </p:sp>
      <p:sp>
        <p:nvSpPr>
          <p:cNvPr id="7" name="Text 4"/>
          <p:cNvSpPr/>
          <p:nvPr/>
        </p:nvSpPr>
        <p:spPr>
          <a:xfrm>
            <a:off x="502920" y="1188720"/>
            <a:ext cx="11173968" cy="292608"/>
          </a:xfrm>
          <a:prstGeom prst="rect">
            <a:avLst/>
          </a:prstGeom>
          <a:noFill/>
          <a:ln/>
        </p:spPr>
        <p:txBody>
          <a:bodyPr wrap="square" lIns="0" tIns="0" rIns="0" bIns="0" rtlCol="0" anchor="ctr"/>
          <a:lstStyle/>
          <a:p>
            <a:pPr indent="0" marL="0">
              <a:buNone/>
            </a:pPr>
            <a:r>
              <a:rPr lang="en-US" sz="1500" b="1" dirty="0">
                <a:solidFill>
                  <a:srgbClr val="1E3F73"/>
                </a:solidFill>
                <a:latin typeface="Calibri" pitchFamily="34" charset="0"/>
                <a:ea typeface="Calibri" pitchFamily="34" charset="-122"/>
                <a:cs typeface="Calibri" pitchFamily="34" charset="-120"/>
              </a:rPr>
              <a:t>1. Communication-Constrained Decision Making</a:t>
            </a:r>
            <a:endParaRPr lang="en-US" sz="1500" dirty="0"/>
          </a:p>
        </p:txBody>
      </p:sp>
      <p:sp>
        <p:nvSpPr>
          <p:cNvPr id="8" name="Text 5"/>
          <p:cNvSpPr/>
          <p:nvPr/>
        </p:nvSpPr>
        <p:spPr>
          <a:xfrm>
            <a:off x="502920" y="1499616"/>
            <a:ext cx="11173968" cy="384048"/>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Decentralized policies use only local observations and reachable peer information.</a:t>
            </a:r>
            <a:endParaRPr lang="en-US" sz="1400" dirty="0"/>
          </a:p>
        </p:txBody>
      </p:sp>
      <p:sp>
        <p:nvSpPr>
          <p:cNvPr id="9" name="Shape 6"/>
          <p:cNvSpPr/>
          <p:nvPr/>
        </p:nvSpPr>
        <p:spPr>
          <a:xfrm>
            <a:off x="320040" y="2075688"/>
            <a:ext cx="11539728" cy="868680"/>
          </a:xfrm>
          <a:prstGeom prst="roundRect">
            <a:avLst>
              <a:gd name="adj" fmla="val 8421"/>
            </a:avLst>
          </a:prstGeom>
          <a:solidFill>
            <a:srgbClr val="FFF3E8"/>
          </a:solidFill>
          <a:ln/>
          <a:effectLst>
            <a:outerShdw sx="100000" sy="100000" kx="0" ky="0" algn="bl" rotWithShape="0" blurRad="50800" dist="12700" dir="16200000">
              <a:srgbClr val="1F2A44">
                <a:alpha val="12000"/>
              </a:srgbClr>
            </a:outerShdw>
          </a:effectLst>
        </p:spPr>
      </p:sp>
      <p:sp>
        <p:nvSpPr>
          <p:cNvPr id="10" name="Text 7"/>
          <p:cNvSpPr/>
          <p:nvPr/>
        </p:nvSpPr>
        <p:spPr>
          <a:xfrm>
            <a:off x="502920" y="2148840"/>
            <a:ext cx="11173968" cy="292608"/>
          </a:xfrm>
          <a:prstGeom prst="rect">
            <a:avLst/>
          </a:prstGeom>
          <a:noFill/>
          <a:ln/>
        </p:spPr>
        <p:txBody>
          <a:bodyPr wrap="square" lIns="0" tIns="0" rIns="0" bIns="0" rtlCol="0" anchor="ctr"/>
          <a:lstStyle/>
          <a:p>
            <a:pPr indent="0" marL="0">
              <a:buNone/>
            </a:pPr>
            <a:r>
              <a:rPr lang="en-US" sz="1500" b="1" dirty="0">
                <a:solidFill>
                  <a:srgbClr val="1E3F73"/>
                </a:solidFill>
                <a:latin typeface="Calibri" pitchFamily="34" charset="0"/>
                <a:ea typeface="Calibri" pitchFamily="34" charset="-122"/>
                <a:cs typeface="Calibri" pitchFamily="34" charset="-120"/>
              </a:rPr>
              <a:t>2. Belief Management</a:t>
            </a:r>
            <a:endParaRPr lang="en-US" sz="1500" dirty="0"/>
          </a:p>
        </p:txBody>
      </p:sp>
      <p:sp>
        <p:nvSpPr>
          <p:cNvPr id="11" name="Text 8"/>
          <p:cNvSpPr/>
          <p:nvPr/>
        </p:nvSpPr>
        <p:spPr>
          <a:xfrm>
            <a:off x="502920" y="2459736"/>
            <a:ext cx="11173968" cy="384048"/>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Revisit-aware P/E/R memory + communication-history-aware source selection.</a:t>
            </a:r>
            <a:endParaRPr lang="en-US" sz="1400" dirty="0"/>
          </a:p>
        </p:txBody>
      </p:sp>
      <p:sp>
        <p:nvSpPr>
          <p:cNvPr id="12" name="Shape 9"/>
          <p:cNvSpPr/>
          <p:nvPr/>
        </p:nvSpPr>
        <p:spPr>
          <a:xfrm>
            <a:off x="320040" y="3035808"/>
            <a:ext cx="11539728" cy="868680"/>
          </a:xfrm>
          <a:prstGeom prst="roundRect">
            <a:avLst>
              <a:gd name="adj" fmla="val 8421"/>
            </a:avLst>
          </a:prstGeom>
          <a:solidFill>
            <a:srgbClr val="EAF0F8"/>
          </a:solidFill>
          <a:ln/>
          <a:effectLst>
            <a:outerShdw sx="100000" sy="100000" kx="0" ky="0" algn="bl" rotWithShape="0" blurRad="50800" dist="12700" dir="16200000">
              <a:srgbClr val="1F2A44">
                <a:alpha val="12000"/>
              </a:srgbClr>
            </a:outerShdw>
          </a:effectLst>
        </p:spPr>
      </p:sp>
      <p:sp>
        <p:nvSpPr>
          <p:cNvPr id="13" name="Text 10"/>
          <p:cNvSpPr/>
          <p:nvPr/>
        </p:nvSpPr>
        <p:spPr>
          <a:xfrm>
            <a:off x="502920" y="3108960"/>
            <a:ext cx="11173968" cy="292608"/>
          </a:xfrm>
          <a:prstGeom prst="rect">
            <a:avLst/>
          </a:prstGeom>
          <a:noFill/>
          <a:ln/>
        </p:spPr>
        <p:txBody>
          <a:bodyPr wrap="square" lIns="0" tIns="0" rIns="0" bIns="0" rtlCol="0" anchor="ctr"/>
          <a:lstStyle/>
          <a:p>
            <a:pPr indent="0" marL="0">
              <a:buNone/>
            </a:pPr>
            <a:r>
              <a:rPr lang="en-US" sz="1500" b="1" dirty="0">
                <a:solidFill>
                  <a:srgbClr val="1E3F73"/>
                </a:solidFill>
                <a:latin typeface="Calibri" pitchFamily="34" charset="0"/>
                <a:ea typeface="Calibri" pitchFamily="34" charset="-122"/>
                <a:cs typeface="Calibri" pitchFamily="34" charset="-120"/>
              </a:rPr>
              <a:t>3. Heterogeneous Relational Encoding</a:t>
            </a:r>
            <a:endParaRPr lang="en-US" sz="1500" dirty="0"/>
          </a:p>
        </p:txBody>
      </p:sp>
      <p:sp>
        <p:nvSpPr>
          <p:cNvPr id="14" name="Text 11"/>
          <p:cNvSpPr/>
          <p:nvPr/>
        </p:nvSpPr>
        <p:spPr>
          <a:xfrm>
            <a:off x="502920" y="3419856"/>
            <a:ext cx="11173968" cy="384048"/>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HGAT explicitly models peer, task and obstacle relations within MAPPO.</a:t>
            </a:r>
            <a:endParaRPr lang="en-US" sz="1400" dirty="0"/>
          </a:p>
        </p:txBody>
      </p:sp>
      <p:sp>
        <p:nvSpPr>
          <p:cNvPr id="15" name="Shape 12"/>
          <p:cNvSpPr/>
          <p:nvPr/>
        </p:nvSpPr>
        <p:spPr>
          <a:xfrm>
            <a:off x="320040" y="4041648"/>
            <a:ext cx="11539728" cy="960120"/>
          </a:xfrm>
          <a:prstGeom prst="roundRect">
            <a:avLst>
              <a:gd name="adj" fmla="val 7619"/>
            </a:avLst>
          </a:prstGeom>
          <a:solidFill>
            <a:srgbClr val="2F5597"/>
          </a:solidFill>
          <a:ln/>
        </p:spPr>
      </p:sp>
      <p:sp>
        <p:nvSpPr>
          <p:cNvPr id="16" name="Text 13"/>
          <p:cNvSpPr/>
          <p:nvPr/>
        </p:nvSpPr>
        <p:spPr>
          <a:xfrm>
            <a:off x="457200" y="4114800"/>
            <a:ext cx="11265408"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62.15% belief decisiveness   |   86.78% discovery   |   82.0% T80 success</a:t>
            </a:r>
            <a:endParaRPr lang="en-US" sz="1800" dirty="0"/>
          </a:p>
        </p:txBody>
      </p:sp>
      <p:sp>
        <p:nvSpPr>
          <p:cNvPr id="17" name="Text 14"/>
          <p:cNvSpPr/>
          <p:nvPr/>
        </p:nvSpPr>
        <p:spPr>
          <a:xfrm>
            <a:off x="457200" y="4526280"/>
            <a:ext cx="11265408" cy="347472"/>
          </a:xfrm>
          <a:prstGeom prst="rect">
            <a:avLst/>
          </a:prstGeom>
          <a:noFill/>
          <a:ln/>
        </p:spPr>
        <p:txBody>
          <a:bodyPr wrap="square" lIns="0" tIns="0" rIns="0" bIns="0" rtlCol="0" anchor="ctr"/>
          <a:lstStyle/>
          <a:p>
            <a:pPr algn="ctr" indent="0" marL="0">
              <a:buNone/>
            </a:pPr>
            <a:r>
              <a:rPr lang="en-US" sz="1400" dirty="0">
                <a:solidFill>
                  <a:srgbClr val="D6E2F5"/>
                </a:solidFill>
                <a:latin typeface="Calibri" pitchFamily="34" charset="0"/>
                <a:ea typeface="Calibri" pitchFamily="34" charset="-122"/>
                <a:cs typeface="Calibri" pitchFamily="34" charset="-120"/>
              </a:rPr>
              <a:t>88.63 steps conditional T80</a:t>
            </a:r>
            <a:endParaRPr lang="en-US" sz="1400" dirty="0"/>
          </a:p>
        </p:txBody>
      </p:sp>
      <p:sp>
        <p:nvSpPr>
          <p:cNvPr id="18" name="Text 15"/>
          <p:cNvSpPr/>
          <p:nvPr/>
        </p:nvSpPr>
        <p:spPr>
          <a:xfrm>
            <a:off x="365760" y="5102352"/>
            <a:ext cx="11430000" cy="292608"/>
          </a:xfrm>
          <a:prstGeom prst="rect">
            <a:avLst/>
          </a:prstGeom>
          <a:noFill/>
          <a:ln/>
        </p:spPr>
        <p:txBody>
          <a:bodyPr wrap="square" lIns="0" tIns="0" rIns="0" bIns="0" rtlCol="0" anchor="ctr"/>
          <a:lstStyle/>
          <a:p>
            <a:pPr indent="0" marL="0">
              <a:buNone/>
            </a:pPr>
            <a:r>
              <a:rPr lang="en-US" sz="1600" b="1" dirty="0">
                <a:solidFill>
                  <a:srgbClr val="2F5597"/>
                </a:solidFill>
                <a:latin typeface="Calibri" pitchFamily="34" charset="0"/>
                <a:ea typeface="Calibri" pitchFamily="34" charset="-122"/>
                <a:cs typeface="Calibri" pitchFamily="34" charset="-120"/>
              </a:rPr>
              <a:t>Future Plan</a:t>
            </a:r>
            <a:endParaRPr lang="en-US" sz="1600" dirty="0"/>
          </a:p>
        </p:txBody>
      </p:sp>
      <p:sp>
        <p:nvSpPr>
          <p:cNvPr id="19" name="Shape 16"/>
          <p:cNvSpPr/>
          <p:nvPr/>
        </p:nvSpPr>
        <p:spPr>
          <a:xfrm>
            <a:off x="320040" y="5440680"/>
            <a:ext cx="3794760" cy="868680"/>
          </a:xfrm>
          <a:prstGeom prst="roundRect">
            <a:avLst>
              <a:gd name="adj" fmla="val 8421"/>
            </a:avLst>
          </a:prstGeom>
          <a:solidFill>
            <a:srgbClr val="F4F6FA"/>
          </a:solidFill>
          <a:ln/>
          <a:effectLst>
            <a:outerShdw sx="100000" sy="100000" kx="0" ky="0" algn="bl" rotWithShape="0" blurRad="50800" dist="12700" dir="16200000">
              <a:srgbClr val="1F2A44">
                <a:alpha val="12000"/>
              </a:srgbClr>
            </a:outerShdw>
          </a:effectLst>
        </p:spPr>
      </p:sp>
      <p:sp>
        <p:nvSpPr>
          <p:cNvPr id="20" name="Text 17"/>
          <p:cNvSpPr/>
          <p:nvPr/>
        </p:nvSpPr>
        <p:spPr>
          <a:xfrm>
            <a:off x="429768" y="5504688"/>
            <a:ext cx="3566160" cy="274320"/>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3D environments</a:t>
            </a:r>
            <a:endParaRPr lang="en-US" sz="1300" dirty="0"/>
          </a:p>
        </p:txBody>
      </p:sp>
      <p:sp>
        <p:nvSpPr>
          <p:cNvPr id="21" name="Text 18"/>
          <p:cNvSpPr/>
          <p:nvPr/>
        </p:nvSpPr>
        <p:spPr>
          <a:xfrm>
            <a:off x="429768" y="5797296"/>
            <a:ext cx="3566160" cy="438912"/>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Extend planar search to three-dimensional UAV scenarios</a:t>
            </a:r>
            <a:endParaRPr lang="en-US" sz="1200" dirty="0"/>
          </a:p>
        </p:txBody>
      </p:sp>
      <p:sp>
        <p:nvSpPr>
          <p:cNvPr id="22" name="Shape 19"/>
          <p:cNvSpPr/>
          <p:nvPr/>
        </p:nvSpPr>
        <p:spPr>
          <a:xfrm>
            <a:off x="4270248" y="5440680"/>
            <a:ext cx="3794760" cy="868680"/>
          </a:xfrm>
          <a:prstGeom prst="roundRect">
            <a:avLst>
              <a:gd name="adj" fmla="val 8421"/>
            </a:avLst>
          </a:prstGeom>
          <a:solidFill>
            <a:srgbClr val="F4F6FA"/>
          </a:solidFill>
          <a:ln/>
          <a:effectLst>
            <a:outerShdw sx="100000" sy="100000" kx="0" ky="0" algn="bl" rotWithShape="0" blurRad="50800" dist="12700" dir="16200000">
              <a:srgbClr val="1F2A44">
                <a:alpha val="12000"/>
              </a:srgbClr>
            </a:outerShdw>
          </a:effectLst>
        </p:spPr>
      </p:sp>
      <p:sp>
        <p:nvSpPr>
          <p:cNvPr id="23" name="Text 20"/>
          <p:cNvSpPr/>
          <p:nvPr/>
        </p:nvSpPr>
        <p:spPr>
          <a:xfrm>
            <a:off x="4379976" y="5504688"/>
            <a:ext cx="3566160" cy="274320"/>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Fully decentralized safety</a:t>
            </a:r>
            <a:endParaRPr lang="en-US" sz="1300" dirty="0"/>
          </a:p>
        </p:txBody>
      </p:sp>
      <p:sp>
        <p:nvSpPr>
          <p:cNvPr id="24" name="Text 21"/>
          <p:cNvSpPr/>
          <p:nvPr/>
        </p:nvSpPr>
        <p:spPr>
          <a:xfrm>
            <a:off x="4379976" y="5797296"/>
            <a:ext cx="3566160" cy="438912"/>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Remove the simulator-level centralized safety supervisor</a:t>
            </a:r>
            <a:endParaRPr lang="en-US" sz="1200" dirty="0"/>
          </a:p>
        </p:txBody>
      </p:sp>
      <p:sp>
        <p:nvSpPr>
          <p:cNvPr id="25" name="Shape 22"/>
          <p:cNvSpPr/>
          <p:nvPr/>
        </p:nvSpPr>
        <p:spPr>
          <a:xfrm>
            <a:off x="8220456" y="5440680"/>
            <a:ext cx="3794760" cy="868680"/>
          </a:xfrm>
          <a:prstGeom prst="roundRect">
            <a:avLst>
              <a:gd name="adj" fmla="val 8421"/>
            </a:avLst>
          </a:prstGeom>
          <a:solidFill>
            <a:srgbClr val="F4F6FA"/>
          </a:solidFill>
          <a:ln/>
          <a:effectLst>
            <a:outerShdw sx="100000" sy="100000" kx="0" ky="0" algn="bl" rotWithShape="0" blurRad="50800" dist="12700" dir="16200000">
              <a:srgbClr val="1F2A44">
                <a:alpha val="12000"/>
              </a:srgbClr>
            </a:outerShdw>
          </a:effectLst>
        </p:spPr>
      </p:sp>
      <p:sp>
        <p:nvSpPr>
          <p:cNvPr id="26" name="Text 23"/>
          <p:cNvSpPr/>
          <p:nvPr/>
        </p:nvSpPr>
        <p:spPr>
          <a:xfrm>
            <a:off x="8330184" y="5504688"/>
            <a:ext cx="3566160" cy="274320"/>
          </a:xfrm>
          <a:prstGeom prst="rect">
            <a:avLst/>
          </a:prstGeom>
          <a:noFill/>
          <a:ln/>
        </p:spPr>
        <p:txBody>
          <a:bodyPr wrap="square" lIns="0" tIns="0" rIns="0" bIns="0" rtlCol="0" anchor="ctr"/>
          <a:lstStyle/>
          <a:p>
            <a:pPr indent="0" marL="0">
              <a:buNone/>
            </a:pPr>
            <a:r>
              <a:rPr lang="en-US" sz="1300" b="1" dirty="0">
                <a:solidFill>
                  <a:srgbClr val="2F5597"/>
                </a:solidFill>
                <a:latin typeface="Calibri" pitchFamily="34" charset="0"/>
                <a:ea typeface="Calibri" pitchFamily="34" charset="-122"/>
                <a:cs typeface="Calibri" pitchFamily="34" charset="-120"/>
              </a:rPr>
              <a:t>Realistic validation</a:t>
            </a:r>
            <a:endParaRPr lang="en-US" sz="1300" dirty="0"/>
          </a:p>
        </p:txBody>
      </p:sp>
      <p:sp>
        <p:nvSpPr>
          <p:cNvPr id="27" name="Text 24"/>
          <p:cNvSpPr/>
          <p:nvPr/>
        </p:nvSpPr>
        <p:spPr>
          <a:xfrm>
            <a:off x="8330184" y="5797296"/>
            <a:ext cx="3566160" cy="438912"/>
          </a:xfrm>
          <a:prstGeom prst="rect">
            <a:avLst/>
          </a:prstGeom>
          <a:noFill/>
          <a:ln/>
        </p:spPr>
        <p:txBody>
          <a:bodyPr wrap="square" lIns="0" tIns="0" rIns="0" bIns="0" rtlCol="0" anchor="ctr"/>
          <a:lstStyle/>
          <a:p>
            <a:pPr indent="0" marL="0">
              <a:buNone/>
            </a:pPr>
            <a:r>
              <a:rPr lang="en-US" sz="1200" dirty="0">
                <a:solidFill>
                  <a:srgbClr val="1F2A44"/>
                </a:solidFill>
                <a:latin typeface="Calibri" pitchFamily="34" charset="0"/>
                <a:ea typeface="Calibri" pitchFamily="34" charset="-122"/>
                <a:cs typeface="Calibri" pitchFamily="34" charset="-120"/>
              </a:rPr>
              <a:t>Hardware-in-the-loop and real communication systems</a:t>
            </a:r>
            <a:endParaRPr lang="en-US" sz="1200" dirty="0"/>
          </a:p>
        </p:txBody>
      </p:sp>
      <p:sp>
        <p:nvSpPr>
          <p:cNvPr id="28" name="Text 25"/>
          <p:cNvSpPr/>
          <p:nvPr/>
        </p:nvSpPr>
        <p:spPr>
          <a:xfrm>
            <a:off x="11475720" y="6510528"/>
            <a:ext cx="502920" cy="256032"/>
          </a:xfrm>
          <a:prstGeom prst="rect">
            <a:avLst/>
          </a:prstGeom>
          <a:noFill/>
          <a:ln/>
        </p:spPr>
        <p:txBody>
          <a:bodyPr wrap="square" lIns="0" tIns="0" rIns="0" bIns="0" rtlCol="0" anchor="ctr"/>
          <a:lstStyle/>
          <a:p>
            <a:pPr algn="r" indent="0" marL="0">
              <a:buNone/>
            </a:pPr>
            <a:r>
              <a:rPr lang="en-US" sz="1200" dirty="0">
                <a:solidFill>
                  <a:srgbClr val="2F5597"/>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pic>
        <p:nvPicPr>
          <p:cNvPr id="3" name="Image 0" descr="/tmp/ppt-work/assets/hust.png">    </p:cNvPr>
          <p:cNvPicPr>
            <a:picLocks noChangeAspect="1"/>
          </p:cNvPicPr>
          <p:nvPr/>
        </p:nvPicPr>
        <p:blipFill>
          <a:blip r:embed="rId1"/>
          <a:stretch>
            <a:fillRect/>
          </a:stretch>
        </p:blipFill>
        <p:spPr>
          <a:xfrm>
            <a:off x="411480" y="256032"/>
            <a:ext cx="1325880" cy="914400"/>
          </a:xfrm>
          <a:prstGeom prst="rect">
            <a:avLst/>
          </a:prstGeom>
        </p:spPr>
      </p:pic>
      <p:pic>
        <p:nvPicPr>
          <p:cNvPr id="4" name="Image 1" descr="/tmp/ppt-work/assets/caa.png">    </p:cNvPr>
          <p:cNvPicPr>
            <a:picLocks noChangeAspect="1"/>
          </p:cNvPicPr>
          <p:nvPr/>
        </p:nvPicPr>
        <p:blipFill>
          <a:blip r:embed="rId2"/>
          <a:stretch>
            <a:fillRect/>
          </a:stretch>
        </p:blipFill>
        <p:spPr>
          <a:xfrm>
            <a:off x="10195560" y="256032"/>
            <a:ext cx="1554480" cy="868680"/>
          </a:xfrm>
          <a:prstGeom prst="rect">
            <a:avLst/>
          </a:prstGeom>
        </p:spPr>
      </p:pic>
      <p:sp>
        <p:nvSpPr>
          <p:cNvPr id="5" name="Shape 1"/>
          <p:cNvSpPr/>
          <p:nvPr/>
        </p:nvSpPr>
        <p:spPr>
          <a:xfrm>
            <a:off x="0" y="1371600"/>
            <a:ext cx="12191695" cy="2880360"/>
          </a:xfrm>
          <a:prstGeom prst="rect">
            <a:avLst/>
          </a:prstGeom>
          <a:solidFill>
            <a:srgbClr val="2F5597"/>
          </a:solidFill>
          <a:ln/>
        </p:spPr>
      </p:sp>
      <p:sp>
        <p:nvSpPr>
          <p:cNvPr id="6" name="Text 2"/>
          <p:cNvSpPr/>
          <p:nvPr/>
        </p:nvSpPr>
        <p:spPr>
          <a:xfrm>
            <a:off x="457200" y="1965960"/>
            <a:ext cx="11247120" cy="100584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Thank you for your attention!</a:t>
            </a:r>
            <a:endParaRPr lang="en-US" sz="3600" dirty="0"/>
          </a:p>
        </p:txBody>
      </p:sp>
      <p:sp>
        <p:nvSpPr>
          <p:cNvPr id="7" name="Text 3"/>
          <p:cNvSpPr/>
          <p:nvPr/>
        </p:nvSpPr>
        <p:spPr>
          <a:xfrm>
            <a:off x="640080" y="3017520"/>
            <a:ext cx="10881360" cy="914400"/>
          </a:xfrm>
          <a:prstGeom prst="rect">
            <a:avLst/>
          </a:prstGeom>
          <a:noFill/>
          <a:ln/>
        </p:spPr>
        <p:txBody>
          <a:bodyPr wrap="square" lIns="0" tIns="0" rIns="0" bIns="0" rtlCol="0" anchor="ctr"/>
          <a:lstStyle/>
          <a:p>
            <a:pPr algn="ctr" indent="0" marL="0">
              <a:buNone/>
            </a:pPr>
            <a:r>
              <a:rPr lang="en-US" sz="1600" dirty="0">
                <a:solidFill>
                  <a:srgbClr val="D6E2F5"/>
                </a:solidFill>
                <a:latin typeface="Calibri" pitchFamily="34" charset="0"/>
                <a:ea typeface="Calibri" pitchFamily="34" charset="-122"/>
                <a:cs typeface="Calibri" pitchFamily="34" charset="-120"/>
              </a:rPr>
              <a:t>A Heterogeneous Graph-Attention MAPPO Algorithm for</a:t>
            </a:r>
            <a:endParaRPr lang="en-US" sz="1600" dirty="0"/>
          </a:p>
          <a:p>
            <a:pPr algn="ctr" indent="0" marL="0">
              <a:buNone/>
            </a:pPr>
            <a:r>
              <a:rPr lang="en-US" sz="1600" dirty="0">
                <a:solidFill>
                  <a:srgbClr val="D6E2F5"/>
                </a:solidFill>
                <a:latin typeface="Calibri" pitchFamily="34" charset="0"/>
                <a:ea typeface="Calibri" pitchFamily="34" charset="-122"/>
                <a:cs typeface="Calibri" pitchFamily="34" charset="-120"/>
              </a:rPr>
              <a:t>Cooperative Multi-UAV Search under Intermittent Communication Constraints</a:t>
            </a:r>
            <a:endParaRPr lang="en-US" sz="1600" dirty="0"/>
          </a:p>
        </p:txBody>
      </p:sp>
      <p:sp>
        <p:nvSpPr>
          <p:cNvPr id="8" name="Text 4"/>
          <p:cNvSpPr/>
          <p:nvPr/>
        </p:nvSpPr>
        <p:spPr>
          <a:xfrm>
            <a:off x="457200" y="4617720"/>
            <a:ext cx="11247120" cy="114300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Yinying Kuang</a:t>
            </a:r>
            <a:endParaRPr lang="en-US" sz="1600" dirty="0"/>
          </a:p>
          <a:p>
            <a:pPr algn="ctr" indent="0" marL="0">
              <a:buNone/>
            </a:pPr>
            <a:r>
              <a:rPr lang="en-US" sz="1600" dirty="0">
                <a:solidFill>
                  <a:srgbClr val="1F2A44"/>
                </a:solidFill>
                <a:latin typeface="Calibri" pitchFamily="34" charset="0"/>
                <a:ea typeface="Calibri" pitchFamily="34" charset="-122"/>
                <a:cs typeface="Calibri" pitchFamily="34" charset="-120"/>
              </a:rPr>
              <a:t>Huazhong University of Science and Technology</a:t>
            </a:r>
            <a:endParaRPr lang="en-US" sz="1600" dirty="0"/>
          </a:p>
          <a:p>
            <a:pPr algn="ctr" indent="0" marL="0">
              <a:buNone/>
            </a:pPr>
            <a:r>
              <a:rPr lang="en-US" sz="1600" dirty="0">
                <a:solidFill>
                  <a:srgbClr val="1F2A44"/>
                </a:solidFill>
                <a:latin typeface="Calibri" pitchFamily="34" charset="0"/>
                <a:ea typeface="Calibri" pitchFamily="34" charset="-122"/>
                <a:cs typeface="Calibri" pitchFamily="34" charset="-120"/>
              </a:rPr>
              <a:t>kuangyinying039@163.com</a:t>
            </a:r>
            <a:endParaRPr lang="en-US" sz="1600" dirty="0"/>
          </a:p>
        </p:txBody>
      </p:sp>
      <p:sp>
        <p:nvSpPr>
          <p:cNvPr id="9" name="Text 5"/>
          <p:cNvSpPr/>
          <p:nvPr/>
        </p:nvSpPr>
        <p:spPr>
          <a:xfrm>
            <a:off x="457200" y="5897880"/>
            <a:ext cx="11247120" cy="320040"/>
          </a:xfrm>
          <a:prstGeom prst="rect">
            <a:avLst/>
          </a:prstGeom>
          <a:noFill/>
          <a:ln/>
        </p:spPr>
        <p:txBody>
          <a:bodyPr wrap="square" lIns="0" tIns="0" rIns="0" bIns="0" rtlCol="0" anchor="ctr"/>
          <a:lstStyle/>
          <a:p>
            <a:pPr algn="ctr" indent="0" marL="0">
              <a:buNone/>
            </a:pPr>
            <a:r>
              <a:rPr lang="en-US" sz="1400" b="1" dirty="0">
                <a:solidFill>
                  <a:srgbClr val="2F5597"/>
                </a:solidFill>
                <a:latin typeface="Calibri" pitchFamily="34" charset="0"/>
                <a:ea typeface="Calibri" pitchFamily="34" charset="-122"/>
                <a:cs typeface="Calibri" pitchFamily="34" charset="-120"/>
              </a:rPr>
              <a:t>CAC 2026  ·  October 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IC-HGAT-MAPPO: Cooperative Multi-UAV Search under Intermittent Communication</dc:title>
  <dc:subject>CAC 2026</dc:subject>
  <dc:creator>Yinying Kuang</dc:creator>
  <cp:lastModifiedBy>Yinying Kuang</cp:lastModifiedBy>
  <cp:revision>1</cp:revision>
  <dcterms:created xsi:type="dcterms:W3CDTF">2026-09-15T05:54:19Z</dcterms:created>
  <dcterms:modified xsi:type="dcterms:W3CDTF">2026-09-15T05:54:19Z</dcterms:modified>
</cp:coreProperties>
</file>