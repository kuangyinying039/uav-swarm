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各位老师、同学早上好。我是华中科技大学匡银莹。今天汇报间歇通信约束下多无人机协同搜索工作，提出 IC-HGAT-MAPPO。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汇报分三部分：动机与问题、IC-HGAT-MAPPO 方法、实验与分析。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多机并行提升搜索效率，但灾区/干扰区链路间歇，只能靠局部信念与当前可达同伴信息协同。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三大挑战：信息不完整、异构关系难建模、恢复消息可能过时。我们把间歇通信建模为信息约束，而非单独优化通信。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问题建模为 Dec-POMDP。每机维护 P/E/R 局部地图；通信由瞬时邻接决定。指标含决断度、发现率与 T80。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总览：执行侧经链路掩码、P/E/R 记忆、历史源选择与异构图 Actor，再安全投影；训练侧用中心化 Critic 做 MAPPO 更新共享策略。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三类局部地图无需全局共享；链路掩码限制同伴；通信历史指标挑选新鲜且信息量大的信念。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异构图同时编码可达 UAV、目标/前沿与障碍；HGAT 编码后共享 Actor 输出九动作并做安全投影。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三点贡献：间歇通信感知搜索、重访与历史源选择、异构图注意力策略。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统一动作、环境、奖励与训练预算。对比启发式、QMIX、局部 MAPPO、同构图及两项消融。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决断度62.15%、发现率86.78%、T80成功率82.0%。异构关系与重访记忆贡献最稳定。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完整对比表。IC-HGAT-MAPPO 决断度与发现率最优；去掉重访记忆明显变差；历史加权提升信念质量与成功回合效率。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敏感性：速度、半径、中断恢复与干扰概率扰动下，方法仍保持相对更高发现率。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代表训练回合可视化，仅作定性展示。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总结三大模块与最优结果；展望三维、去中心化安全与硬件在环验证。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汇报到此结束，感谢聆听，欢迎提问。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00000"/>
            <a:ext cx="12192000" cy="2600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u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250000"/>
            <a:ext cx="2000000" cy="13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0000" y="2350000"/>
            <a:ext cx="11200000" cy="2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Heterogeneous Graph-Attention MAPPO Algorithm</a:t>
            </a:r>
          </a:p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for Cooperative Multi-UAV Search under</a:t>
            </a:r>
          </a:p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Intermittent Communication Constraints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000" y="5000000"/>
            <a:ext cx="8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A5F"/>
                </a:solidFill>
                <a:latin typeface="Calibri"/>
              </a:rPr>
              <a:t>Presenter: Yinying Kuang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000" y="5400000"/>
            <a:ext cx="9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Huazhong University of Science and Technology (HUST)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000" y="5900000"/>
            <a:ext cx="1600000" cy="420000"/>
          </a:xfrm>
          <a:prstGeom prst="round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5970000"/>
            <a:ext cx="1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CAC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u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0000" y="80000"/>
            <a:ext cx="780000" cy="5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0000" y="16000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BB0"/>
                </a:solidFill>
                <a:latin typeface="Calibri"/>
              </a:rPr>
              <a:t>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0000" y="42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3A5F"/>
                </a:solidFill>
                <a:latin typeface="Calibri"/>
              </a:rPr>
              <a:t>Talk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80000" y="920000"/>
            <a:ext cx="11600000" cy="18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000" y="1400000"/>
            <a:ext cx="1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2E6BB0"/>
                </a:solidFill>
                <a:latin typeface="Calibri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0000" y="1480000"/>
            <a:ext cx="30000" cy="700000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00000" y="1450000"/>
            <a:ext cx="8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3A5F"/>
                </a:solidFill>
                <a:latin typeface="Calibri"/>
              </a:rPr>
              <a:t>Motivation &amp;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00000" y="1900000"/>
            <a:ext cx="8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Why intermittent links break cooperative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000" y="2800000"/>
            <a:ext cx="1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2E6BB0"/>
                </a:solidFill>
                <a:latin typeface="Calibri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00000" y="2880000"/>
            <a:ext cx="30000" cy="700000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0000" y="2850000"/>
            <a:ext cx="8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3A5F"/>
                </a:solidFill>
                <a:latin typeface="Calibri"/>
              </a:rPr>
              <a:t>IC-HGAT-MAPPO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00000" y="3300000"/>
            <a:ext cx="8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Belief memory, source selection, heterogeneous GAT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000" y="4200000"/>
            <a:ext cx="1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2E6BB0"/>
                </a:solidFill>
                <a:latin typeface="Calibri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00000" y="4280000"/>
            <a:ext cx="30000" cy="700000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00000" y="4250000"/>
            <a:ext cx="8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3A5F"/>
                </a:solidFill>
                <a:latin typeface="Calibri"/>
              </a:rPr>
              <a:t>Experiments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00000" y="4700000"/>
            <a:ext cx="8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Comparisons, ablations, and sensitivity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00" y="6500000"/>
            <a:ext cx="1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18096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u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0000" y="80000"/>
            <a:ext cx="780000" cy="5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0000" y="16000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BB0"/>
                </a:solidFill>
                <a:latin typeface="Calibri"/>
              </a:rPr>
              <a:t>1.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0000" y="42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3A5F"/>
                </a:solidFill>
                <a:latin typeface="Calibri"/>
              </a:rPr>
              <a:t>Cooperative multi-UAV search needs reliable coordination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80000" y="920000"/>
            <a:ext cx="11600000" cy="18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0000" y="1400000"/>
            <a:ext cx="2700000" cy="90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0000" y="1600000"/>
            <a:ext cx="2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5F"/>
                </a:solidFill>
                <a:latin typeface="Calibri"/>
              </a:rPr>
              <a:t>Earthquake response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300000" y="1400000"/>
            <a:ext cx="2700000" cy="90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00000" y="1600000"/>
            <a:ext cx="2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5F"/>
                </a:solidFill>
                <a:latin typeface="Calibri"/>
              </a:rPr>
              <a:t>Wildfire monitoring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00000" y="1400000"/>
            <a:ext cx="2700000" cy="90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0000" y="1600000"/>
            <a:ext cx="2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5F"/>
                </a:solidFill>
                <a:latin typeface="Calibri"/>
              </a:rPr>
              <a:t>Maritime rescue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00000" y="1400000"/>
            <a:ext cx="2700000" cy="90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00000" y="1600000"/>
            <a:ext cx="2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5F"/>
                </a:solidFill>
                <a:latin typeface="Calibri"/>
              </a:rPr>
              <a:t>Border patrol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0000" y="2800000"/>
            <a:ext cx="11300000" cy="2800000"/>
          </a:xfrm>
          <a:prstGeom prst="roundRect">
            <a:avLst/>
          </a:prstGeom>
          <a:solidFill>
            <a:srgbClr val="F5F7FA"/>
          </a:solidFill>
          <a:ln w="15875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000" y="3100000"/>
            <a:ext cx="107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5F"/>
                </a:solidFill>
                <a:latin typeface="Calibri"/>
              </a:rPr>
              <a:t>In interference-prone areas, inter-UAV links are intermittent.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000" y="3800000"/>
            <a:ext cx="1070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4A5568"/>
                </a:solidFill>
                <a:latin typeface="Calibri"/>
              </a:rPr>
              <a:t>Teams must coordinate using incomplete local beliefs and</a:t>
            </a:r>
          </a:p>
          <a:p>
            <a:pPr algn="l"/>
            <a:r>
              <a:rPr sz="1800" b="0" i="0">
                <a:solidFill>
                  <a:srgbClr val="4A5568"/>
                </a:solidFill>
                <a:latin typeface="Calibri"/>
              </a:rPr>
              <a:t>only currently reachable peer messages — not a shared global map.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00" y="6500000"/>
            <a:ext cx="1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18096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u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0000" y="80000"/>
            <a:ext cx="780000" cy="5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0000" y="16000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BB0"/>
                </a:solidFill>
                <a:latin typeface="Calibri"/>
              </a:rPr>
              <a:t>1.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0000" y="42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3A5F"/>
                </a:solidFill>
                <a:latin typeface="Calibri"/>
              </a:rPr>
              <a:t>Challenges and modeling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80000" y="920000"/>
            <a:ext cx="11600000" cy="18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agram_challen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000" y="1100000"/>
            <a:ext cx="11700000" cy="48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00000" y="6500000"/>
            <a:ext cx="1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18096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u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0000" y="80000"/>
            <a:ext cx="780000" cy="5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0000" y="16000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BB0"/>
                </a:solidFill>
                <a:latin typeface="Calibri"/>
              </a:rPr>
              <a:t>1.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0000" y="42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3A5F"/>
                </a:solidFill>
                <a:latin typeface="Calibri"/>
              </a:rPr>
              <a:t>Dec-POMDP formulation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80000" y="920000"/>
            <a:ext cx="11600000" cy="18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1_sce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000" y="1200000"/>
            <a:ext cx="6800000" cy="45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0000" y="5750000"/>
            <a:ext cx="68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18096"/>
                </a:solidFill>
                <a:latin typeface="Calibri"/>
              </a:rPr>
              <a:t>Fig. 1  Search scenario with intermittent links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1300000"/>
            <a:ext cx="60000" cy="550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00000" y="1300000"/>
            <a:ext cx="4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6BB0"/>
                </a:solidFill>
                <a:latin typeface="Calibri"/>
              </a:rPr>
              <a:t>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00000" y="1580000"/>
            <a:ext cx="4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6 UAVs · 15 targets · 10 obstacles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0000" y="2100000"/>
            <a:ext cx="60000" cy="550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0000" y="2100000"/>
            <a:ext cx="4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6BB0"/>
                </a:solidFill>
                <a:latin typeface="Calibri"/>
              </a:rPr>
              <a:t>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00000" y="2380000"/>
            <a:ext cx="4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9 discrete moves (8 dirs + hover)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0000" y="2900000"/>
            <a:ext cx="60000" cy="550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0000" y="2900000"/>
            <a:ext cx="4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6BB0"/>
                </a:solidFill>
                <a:latin typeface="Calibri"/>
              </a:rPr>
              <a:t>Belief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0000" y="3180000"/>
            <a:ext cx="4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Local P / E / R maps per UAV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0000" y="3700000"/>
            <a:ext cx="60000" cy="550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00000" y="3700000"/>
            <a:ext cx="4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6BB0"/>
                </a:solidFill>
                <a:latin typeface="Calibri"/>
              </a:rPr>
              <a:t>Comm.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0000" y="3980000"/>
            <a:ext cx="4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Rc with outage–recovery process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0000" y="4500000"/>
            <a:ext cx="60000" cy="550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0000" y="4500000"/>
            <a:ext cx="4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6BB0"/>
                </a:solidFill>
                <a:latin typeface="Calibri"/>
              </a:rPr>
              <a:t>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0000" y="4780000"/>
            <a:ext cx="4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Decisiveness · Discovery · T₈₀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00000" y="6500000"/>
            <a:ext cx="1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18096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u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0000" y="80000"/>
            <a:ext cx="780000" cy="5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0000" y="16000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BB0"/>
                </a:solidFill>
                <a:latin typeface="Calibri"/>
              </a:rPr>
              <a:t>2.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0000" y="42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3A5F"/>
                </a:solidFill>
                <a:latin typeface="Calibri"/>
              </a:rPr>
              <a:t>IC-HGAT-MAPPO overall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80000" y="920000"/>
            <a:ext cx="11600000" cy="18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agram_frame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0" y="1100000"/>
            <a:ext cx="11800000" cy="52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00000" y="6500000"/>
            <a:ext cx="1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18096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u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0000" y="80000"/>
            <a:ext cx="780000" cy="5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0000" y="16000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BB0"/>
                </a:solidFill>
                <a:latin typeface="Calibri"/>
              </a:rPr>
              <a:t>2.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0000" y="42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3A5F"/>
                </a:solidFill>
                <a:latin typeface="Calibri"/>
              </a:rPr>
              <a:t>Belief maintenance and source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80000" y="920000"/>
            <a:ext cx="11600000" cy="18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agram_beli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0" y="1050000"/>
            <a:ext cx="11800000" cy="53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00000" y="6500000"/>
            <a:ext cx="1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18096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u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0000" y="80000"/>
            <a:ext cx="780000" cy="5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0000" y="16000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BB0"/>
                </a:solidFill>
                <a:latin typeface="Calibri"/>
              </a:rPr>
              <a:t>2.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0000" y="42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3A5F"/>
                </a:solidFill>
                <a:latin typeface="Calibri"/>
              </a:rPr>
              <a:t>Heterogeneous graph-attention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280000" y="920000"/>
            <a:ext cx="11600000" cy="18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agram_hg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0" y="1100000"/>
            <a:ext cx="11800000" cy="51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00000" y="6500000"/>
            <a:ext cx="1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18096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u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0000" y="80000"/>
            <a:ext cx="780000" cy="5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0000" y="16000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BB0"/>
                </a:solidFill>
                <a:latin typeface="Calibri"/>
              </a:rPr>
              <a:t>2.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0000" y="42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3A5F"/>
                </a:solidFill>
                <a:latin typeface="Calibri"/>
              </a:rPr>
              <a:t>Contributions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80000" y="920000"/>
            <a:ext cx="11600000" cy="18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0000" y="1300000"/>
            <a:ext cx="12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E6BB0"/>
                </a:solidFill>
                <a:latin typeface="Calibri"/>
              </a:rPr>
              <a:t>C1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0000" y="1340000"/>
            <a:ext cx="9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5F"/>
                </a:solidFill>
                <a:latin typeface="Calibri"/>
              </a:rPr>
              <a:t>Intermittent-aware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0000" y="1850000"/>
            <a:ext cx="9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Decentralized decisions under instantaneous link masks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0000" y="2450000"/>
            <a:ext cx="9500000" cy="15000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000" y="2700000"/>
            <a:ext cx="12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E6BB0"/>
                </a:solidFill>
                <a:latin typeface="Calibri"/>
              </a:rPr>
              <a:t>C2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0000" y="2740000"/>
            <a:ext cx="9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5F"/>
                </a:solidFill>
                <a:latin typeface="Calibri"/>
              </a:rPr>
              <a:t>Revisit + history selection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0000" y="3250000"/>
            <a:ext cx="9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Local P/E/R memory with communication-history ranking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0000" y="3850000"/>
            <a:ext cx="9500000" cy="15000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000" y="4100000"/>
            <a:ext cx="12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E6BB0"/>
                </a:solidFill>
                <a:latin typeface="Calibri"/>
              </a:rPr>
              <a:t>C3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0000" y="4140000"/>
            <a:ext cx="9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5F"/>
                </a:solidFill>
                <a:latin typeface="Calibri"/>
              </a:rPr>
              <a:t>Heterogeneous GAT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0000" y="4650000"/>
            <a:ext cx="9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Typed UAV / target / obstacle relations in one encoder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00" y="6500000"/>
            <a:ext cx="1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18096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u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0000" y="80000"/>
            <a:ext cx="780000" cy="5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0000" y="16000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BB0"/>
                </a:solidFill>
                <a:latin typeface="Calibri"/>
              </a:rPr>
              <a:t>3.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0000" y="42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3A5F"/>
                </a:solidFill>
                <a:latin typeface="Calibri"/>
              </a:rPr>
              <a:t>Setup and baselines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80000" y="920000"/>
            <a:ext cx="11600000" cy="18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0000" y="1250000"/>
            <a:ext cx="2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BB0"/>
                </a:solidFill>
                <a:latin typeface="Calibri"/>
              </a:rPr>
              <a:t>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1250000"/>
            <a:ext cx="3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30 × 30 cells, horizon T = 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00" y="2000000"/>
            <a:ext cx="2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BB0"/>
                </a:solidFill>
                <a:latin typeface="Calibri"/>
              </a:rPr>
              <a:t>Fleet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0000" y="2000000"/>
            <a:ext cx="3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6 UAVs, 15 targets, 10 obstacles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00" y="2750000"/>
            <a:ext cx="2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BB0"/>
                </a:solidFill>
                <a:latin typeface="Calibri"/>
              </a:rPr>
              <a:t>Radii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0000" y="2750000"/>
            <a:ext cx="3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Rs = 2 cells, Rc = 10 cells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000" y="3500000"/>
            <a:ext cx="2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BB0"/>
                </a:solidFill>
                <a:latin typeface="Calibri"/>
              </a:rPr>
              <a:t>Outage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0000" y="3500000"/>
            <a:ext cx="3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base 0.02; pjam = prec = 0.45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000" y="4250000"/>
            <a:ext cx="2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BB0"/>
                </a:solidFill>
                <a:latin typeface="Calibri"/>
              </a:rPr>
              <a:t>Budget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00000" y="4250000"/>
            <a:ext cx="3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2,000 episodes · 5 seeds · 30 scenarios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1250000"/>
            <a:ext cx="20000" cy="4200000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0" y="1250000"/>
            <a:ext cx="48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A5F"/>
                </a:solidFill>
                <a:latin typeface="Calibri"/>
              </a:rPr>
              <a:t>Baselines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00000" y="1870000"/>
            <a:ext cx="120000" cy="120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50000" y="1750000"/>
            <a:ext cx="4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Heuristic search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00000" y="2420000"/>
            <a:ext cx="120000" cy="120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50000" y="2300000"/>
            <a:ext cx="4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QMIX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00000" y="2970000"/>
            <a:ext cx="120000" cy="120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0000" y="2850000"/>
            <a:ext cx="4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MAPPO (local encoder)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00000" y="3520000"/>
            <a:ext cx="120000" cy="120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0000" y="3400000"/>
            <a:ext cx="4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Homogeneous Graph MAPPO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00000" y="4070000"/>
            <a:ext cx="120000" cy="120000"/>
          </a:xfrm>
          <a:prstGeom prst="rect">
            <a:avLst/>
          </a:prstGeom>
          <a:solidFill>
            <a:srgbClr val="C7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50000" y="3950000"/>
            <a:ext cx="4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Ablation: w/o revisit memory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00000" y="4620000"/>
            <a:ext cx="120000" cy="120000"/>
          </a:xfrm>
          <a:prstGeom prst="rect">
            <a:avLst/>
          </a:prstGeom>
          <a:solidFill>
            <a:srgbClr val="C7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0000" y="4500000"/>
            <a:ext cx="4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Ablation: w/o history weighting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00000" y="6500000"/>
            <a:ext cx="1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18096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u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0000" y="80000"/>
            <a:ext cx="780000" cy="5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0000" y="16000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BB0"/>
                </a:solidFill>
                <a:latin typeface="Calibri"/>
              </a:rPr>
              <a:t>3.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0000" y="42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3A5F"/>
                </a:solidFill>
                <a:latin typeface="Calibri"/>
              </a:rPr>
              <a:t>Main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80000" y="920000"/>
            <a:ext cx="11600000" cy="18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0000" y="1500000"/>
            <a:ext cx="28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E6BB0"/>
                </a:solidFill>
                <a:latin typeface="Calibri"/>
              </a:rPr>
              <a:t>62.15%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00" y="2300000"/>
            <a:ext cx="2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B3A5F"/>
                </a:solidFill>
                <a:latin typeface="Calibri"/>
              </a:rPr>
              <a:t>Belief decisiveness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00" y="2750000"/>
            <a:ext cx="28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18096"/>
                </a:solidFill>
                <a:latin typeface="Calibri"/>
              </a:rPr>
              <a:t>best overall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000" y="1600000"/>
            <a:ext cx="20000" cy="1400000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0000" y="1500000"/>
            <a:ext cx="28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E6BB0"/>
                </a:solidFill>
                <a:latin typeface="Calibri"/>
              </a:rPr>
              <a:t>86.78%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0000" y="2300000"/>
            <a:ext cx="2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B3A5F"/>
                </a:solidFill>
                <a:latin typeface="Calibri"/>
              </a:rPr>
              <a:t>Target 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0000" y="2750000"/>
            <a:ext cx="28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18096"/>
                </a:solidFill>
                <a:latin typeface="Calibri"/>
              </a:rPr>
              <a:t>+9.0 vs heuristic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0000" y="1600000"/>
            <a:ext cx="20000" cy="1400000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000" y="1500000"/>
            <a:ext cx="28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E6BB0"/>
                </a:solidFill>
                <a:latin typeface="Calibri"/>
              </a:rPr>
              <a:t>82.0%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000" y="2300000"/>
            <a:ext cx="2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B3A5F"/>
                </a:solidFill>
                <a:latin typeface="Calibri"/>
              </a:rPr>
              <a:t>T₈₀ success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000" y="2750000"/>
            <a:ext cx="28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18096"/>
                </a:solidFill>
                <a:latin typeface="Calibri"/>
              </a:rPr>
              <a:t>vs 60% homo-graph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00000" y="1600000"/>
            <a:ext cx="20000" cy="1400000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0000" y="1500000"/>
            <a:ext cx="28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E6BB0"/>
                </a:solidFill>
                <a:latin typeface="Calibri"/>
              </a:rPr>
              <a:t>88.63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0000" y="2300000"/>
            <a:ext cx="2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B3A5F"/>
                </a:solidFill>
                <a:latin typeface="Calibri"/>
              </a:rPr>
              <a:t>T₈₀ mean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0000" y="2750000"/>
            <a:ext cx="28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18096"/>
                </a:solidFill>
                <a:latin typeface="Calibri"/>
              </a:rPr>
              <a:t>among successful runs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00" y="3600000"/>
            <a:ext cx="11350000" cy="230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0000" y="3800000"/>
            <a:ext cx="10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A5F"/>
                </a:solidFill>
                <a:latin typeface="Calibri"/>
              </a:rPr>
              <a:t>What drives the gains?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000" y="4300000"/>
            <a:ext cx="1080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5568"/>
                </a:solidFill>
                <a:latin typeface="Calibri"/>
              </a:rPr>
              <a:t>• Heterogeneous relations vs homogeneous graph:  +15.10 decisiveness</a:t>
            </a:r>
          </a:p>
          <a:p>
            <a:pPr algn="l"/>
            <a:r>
              <a:rPr sz="1500" b="0" i="0">
                <a:solidFill>
                  <a:srgbClr val="4A5568"/>
                </a:solidFill>
                <a:latin typeface="Calibri"/>
              </a:rPr>
              <a:t>• Removing revisit memory:  −16.33 decisiveness, −13.67 discovery</a:t>
            </a:r>
          </a:p>
          <a:p>
            <a:pPr algn="l"/>
            <a:r>
              <a:rPr sz="1500" b="0" i="0">
                <a:solidFill>
                  <a:srgbClr val="4A5568"/>
                </a:solidFill>
                <a:latin typeface="Calibri"/>
              </a:rPr>
              <a:t>• Safety projection changes only 0.17% of nominal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00000" y="6500000"/>
            <a:ext cx="1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18096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u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0000" y="80000"/>
            <a:ext cx="780000" cy="5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0000" y="16000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BB0"/>
                </a:solidFill>
                <a:latin typeface="Calibri"/>
              </a:rPr>
              <a:t>3.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0000" y="42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3A5F"/>
                </a:solidFill>
                <a:latin typeface="Calibri"/>
              </a:rPr>
              <a:t>Comparative evaluation (30 scenarios × 5 seeds)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80000" y="920000"/>
            <a:ext cx="11600000" cy="18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0000" y="1250000"/>
            <a:ext cx="3400000" cy="520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0000" y="1390000"/>
            <a:ext cx="3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9" name="Rectangle 8"/>
          <p:cNvSpPr/>
          <p:nvPr/>
        </p:nvSpPr>
        <p:spPr>
          <a:xfrm>
            <a:off x="3800000" y="1250000"/>
            <a:ext cx="1900000" cy="520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0000" y="1390000"/>
            <a:ext cx="19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Decis.%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00000" y="1250000"/>
            <a:ext cx="1900000" cy="520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0000" y="1390000"/>
            <a:ext cx="19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Disc.%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0" y="1250000"/>
            <a:ext cx="2100000" cy="520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0000" y="1390000"/>
            <a:ext cx="21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T₈₀ Succ.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00000" y="1250000"/>
            <a:ext cx="1900000" cy="520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00000" y="1390000"/>
            <a:ext cx="19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T₈₀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0000" y="1770000"/>
            <a:ext cx="3400000" cy="52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00" y="1910000"/>
            <a:ext cx="3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Heuristic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00000" y="1770000"/>
            <a:ext cx="1900000" cy="52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0000" y="191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44.99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00000" y="1770000"/>
            <a:ext cx="1900000" cy="52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80000" y="191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77.78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0" y="1770000"/>
            <a:ext cx="2100000" cy="52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000" y="1910000"/>
            <a:ext cx="19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63.3%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00000" y="1770000"/>
            <a:ext cx="1900000" cy="52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0000" y="191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96.21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0000" y="2290000"/>
            <a:ext cx="3400000" cy="5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00" y="2430000"/>
            <a:ext cx="3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QMIX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00000" y="2290000"/>
            <a:ext cx="1900000" cy="5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80000" y="243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30.00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0000" y="2290000"/>
            <a:ext cx="1900000" cy="5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80000" y="243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72.11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00000" y="2290000"/>
            <a:ext cx="2100000" cy="5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000" y="2430000"/>
            <a:ext cx="19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38.7%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00000" y="2290000"/>
            <a:ext cx="1900000" cy="5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80000" y="243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127.57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0000" y="2810000"/>
            <a:ext cx="3400000" cy="52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0000" y="2950000"/>
            <a:ext cx="3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MAPPO (local)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00000" y="2810000"/>
            <a:ext cx="1900000" cy="52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80000" y="295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41.91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00000" y="2810000"/>
            <a:ext cx="1900000" cy="52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80000" y="295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76.22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00000" y="2810000"/>
            <a:ext cx="2100000" cy="52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000" y="2950000"/>
            <a:ext cx="19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53.3%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00000" y="2810000"/>
            <a:ext cx="1900000" cy="52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80000" y="295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122.00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0000" y="3330000"/>
            <a:ext cx="3400000" cy="5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0000" y="3470000"/>
            <a:ext cx="3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Homo. Graph MAPPO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00000" y="3330000"/>
            <a:ext cx="1900000" cy="5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80000" y="347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47.05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700000" y="3330000"/>
            <a:ext cx="1900000" cy="5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80000" y="347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79.78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00000" y="3330000"/>
            <a:ext cx="2100000" cy="5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80000" y="3470000"/>
            <a:ext cx="19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60.0%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00000" y="3330000"/>
            <a:ext cx="1900000" cy="5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80000" y="347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88.61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00000" y="3850000"/>
            <a:ext cx="3400000" cy="52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0000" y="3990000"/>
            <a:ext cx="3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w/o revisit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00000" y="3850000"/>
            <a:ext cx="1900000" cy="52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80000" y="399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45.82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700000" y="3850000"/>
            <a:ext cx="1900000" cy="52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80000" y="399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73.11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600000" y="3850000"/>
            <a:ext cx="2100000" cy="52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80000" y="3990000"/>
            <a:ext cx="19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53.3%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700000" y="3850000"/>
            <a:ext cx="1900000" cy="52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80000" y="399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141.06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00000" y="4370000"/>
            <a:ext cx="3400000" cy="5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80000" y="4510000"/>
            <a:ext cx="3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w/o hist. weight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800000" y="4370000"/>
            <a:ext cx="1900000" cy="5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880000" y="451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53.99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700000" y="4370000"/>
            <a:ext cx="1900000" cy="5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780000" y="451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85.33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600000" y="4370000"/>
            <a:ext cx="2100000" cy="5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80000" y="4510000"/>
            <a:ext cx="19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86.7%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700000" y="4370000"/>
            <a:ext cx="1900000" cy="5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80000" y="451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98.19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00000" y="4890000"/>
            <a:ext cx="3400000" cy="52000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80000" y="5030000"/>
            <a:ext cx="3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5F"/>
                </a:solidFill>
                <a:latin typeface="Calibri"/>
              </a:rPr>
              <a:t>IC-HGAT-MAPPO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00000" y="4890000"/>
            <a:ext cx="1900000" cy="52000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80000" y="503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F"/>
                </a:solidFill>
                <a:latin typeface="Calibri"/>
              </a:rPr>
              <a:t>62.15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700000" y="4890000"/>
            <a:ext cx="1900000" cy="52000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780000" y="503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F"/>
                </a:solidFill>
                <a:latin typeface="Calibri"/>
              </a:rPr>
              <a:t>86.78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600000" y="4890000"/>
            <a:ext cx="2100000" cy="52000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680000" y="5030000"/>
            <a:ext cx="19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F"/>
                </a:solidFill>
                <a:latin typeface="Calibri"/>
              </a:rPr>
              <a:t>82.0%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700000" y="4890000"/>
            <a:ext cx="1900000" cy="52000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80000" y="5030000"/>
            <a:ext cx="17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F"/>
                </a:solidFill>
                <a:latin typeface="Calibri"/>
              </a:rPr>
              <a:t>88.63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00000" y="5410000"/>
            <a:ext cx="11200000" cy="20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500000" y="6500000"/>
            <a:ext cx="1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18096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u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0000" y="80000"/>
            <a:ext cx="780000" cy="5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0000" y="16000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BB0"/>
                </a:solidFill>
                <a:latin typeface="Calibri"/>
              </a:rPr>
              <a:t>3.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0000" y="42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3A5F"/>
                </a:solidFill>
                <a:latin typeface="Calibri"/>
              </a:rPr>
              <a:t>Sensitivity under motion and communication perturbations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80000" y="920000"/>
            <a:ext cx="11600000" cy="18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4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000" y="1150000"/>
            <a:ext cx="8200000" cy="46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0000" y="5800000"/>
            <a:ext cx="8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18096"/>
                </a:solidFill>
                <a:latin typeface="Calibri"/>
              </a:rPr>
              <a:t>Fig. 4  Discovery rate across paired sensitivity sweeps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0000" y="1400000"/>
            <a:ext cx="3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BB0"/>
                </a:solidFill>
                <a:latin typeface="Calibri"/>
              </a:rPr>
              <a:t>Takeaway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0000" y="1900000"/>
            <a:ext cx="30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IC-HGAT-MAPPO keeps higher discovery than heuristic and QMIX when speeds, radii, and outage parameters change.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Link-aware constraints + local memory avoid relying on a fixed communication pattern.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00" y="6500000"/>
            <a:ext cx="1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18096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u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0000" y="80000"/>
            <a:ext cx="780000" cy="5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0000" y="16000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BB0"/>
                </a:solidFill>
                <a:latin typeface="Calibri"/>
              </a:rPr>
              <a:t>3.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0000" y="42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3A5F"/>
                </a:solidFill>
                <a:latin typeface="Calibri"/>
              </a:rPr>
              <a:t>Qualitative episode near convergence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80000" y="920000"/>
            <a:ext cx="11600000" cy="18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3_epis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000" y="1200000"/>
            <a:ext cx="9800000" cy="46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00000" y="5850000"/>
            <a:ext cx="9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18096"/>
                </a:solidFill>
                <a:latin typeface="Calibri"/>
              </a:rPr>
              <a:t>Fig. 3  Trajectories and discoveries (qualitative only)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0" y="6500000"/>
            <a:ext cx="1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18096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u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0000" y="80000"/>
            <a:ext cx="780000" cy="5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0000" y="16000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BB0"/>
                </a:solidFill>
                <a:latin typeface="Calibri"/>
              </a:rPr>
              <a:t>4.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0000" y="42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3A5F"/>
                </a:solidFill>
                <a:latin typeface="Calibri"/>
              </a:rPr>
              <a:t>Summary and prospect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280000" y="920000"/>
            <a:ext cx="11600000" cy="18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0000" y="1300000"/>
            <a:ext cx="5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A5F"/>
                </a:solidFill>
                <a:latin typeface="Calibri"/>
              </a:rPr>
              <a:t>Summary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1930000"/>
            <a:ext cx="100000" cy="100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1850000"/>
            <a:ext cx="5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IC-HGAT-MAPPO for intermittent-link cooperative search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2730000"/>
            <a:ext cx="100000" cy="100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0000" y="2650000"/>
            <a:ext cx="5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Revisit-aware beliefs + history-aware source selection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3530000"/>
            <a:ext cx="100000" cy="100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000" y="3450000"/>
            <a:ext cx="5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Heterogeneous GAT over UAV / target / obstacle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00" y="4330000"/>
            <a:ext cx="100000" cy="100000"/>
          </a:xfrm>
          <a:prstGeom prst="rect">
            <a:avLst/>
          </a:prstGeom>
          <a:solidFill>
            <a:srgbClr val="2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0000" y="4250000"/>
            <a:ext cx="5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Best decisiveness 62.15% and discovery 86.78%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0000" y="1300000"/>
            <a:ext cx="20000" cy="4200000"/>
          </a:xfrm>
          <a:prstGeom prst="rect">
            <a:avLst/>
          </a:prstGeom>
          <a:solidFill>
            <a:srgbClr val="D0D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300000"/>
            <a:ext cx="5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75000"/>
                </a:solidFill>
                <a:latin typeface="Calibri"/>
              </a:rPr>
              <a:t>Prospect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0000" y="1950000"/>
            <a:ext cx="5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1.  Extend to three-dimensional environments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2950000"/>
            <a:ext cx="5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2.  Fully decentralized safety mechanisms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3950000"/>
            <a:ext cx="5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3.  Hardware-in-the-loop with practical radios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0000" y="6500000"/>
            <a:ext cx="1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18096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00000"/>
            <a:ext cx="12192000" cy="2200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0000" y="2800000"/>
            <a:ext cx="112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Thank you — questions welcome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000" y="4800000"/>
            <a:ext cx="9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A5F"/>
                </a:solidFill>
                <a:latin typeface="Calibri"/>
              </a:rPr>
              <a:t>Yinying Kuang  ·  HUST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5250000"/>
            <a:ext cx="9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kuangyinying039@163.com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000" y="5700000"/>
            <a:ext cx="9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BB0"/>
                </a:solidFill>
                <a:latin typeface="Calibri"/>
              </a:rPr>
              <a:t>CAC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