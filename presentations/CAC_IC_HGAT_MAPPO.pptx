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71" r:id="rId23"/>
    <p:sldId id="267" r:id="rId19"/>
    <p:sldId id="268" r:id="rId20"/>
    <p:sldId id="269" r:id="rId21"/>
    <p:sldId id="270"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各位老师、同学早上好。我是华中科技大学的匡银莹。今天很荣幸向大家汇报我们关于间歇通信约束下多无人机协同搜索的工作。本文提出了 IC-HGAT-MAPPO 算法，把间歇通信建模为信息约束，并结合重访感知信念维护与异构图注意力策略，实现去中心化协同搜索。</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汇报分为三部分：一是研究背景与动机；二是提出的 IC-HGAT-MAPPO 方法框架；三是实验结果与展望。</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地震救援、森林火灾监测、海上搜救和边境巡逻等任务都需要在动态环境中高效搜索。多无人机可通过并行部署提升效率，但在灾区或强干扰区域，通信受距离与中断影响，机队只能依赖不完整的局部信念与间歇同伴信息来协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现有工作仍面临三大挑战：第一，信息不完整导致环境信念难以一致、探索难以协同；第二，无人机、搜索实体与障碍之间的异构交互难以用同构图刻画；第三，通信恢复后收到的信息可能过时，需要按通信历史评估相关性。因此，我们把间歇通信建模为信息约束，而非单独优化通信本身。</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问题建模为 Dec-POMDP。固定高度机群在二维有界区域搜索，含移动目标、动态障碍与干扰源。每架无人机维护概率、不确定性和重访陈旧度三类局部地图；通信可用性由瞬时对称邻接矩阵决定。策略参数共享，但执行时仅使用机载观测与可达同伴信息。评价指标包括信念决断度、目标发现率以及达到80%发现的时间T80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这是方法总览。执行阶段：局部观测经链路掩码进入 P/E/R 记忆，构建异构图后由共享 Actor 输出动作，再经安全投影。训练阶段：用全局状态与中心化 Critic，通过 MAPPO 优化共享策略。通信只限制可用信息，不作为单独优化目标。</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每个无人机维护三类局部地图：概率图、不确定性图和重访陈旧度图，无需全局地图共享。瞬时链路掩码限制可接收同伴；再通过节点级通信历史指标，挑选信息量大且相对新鲜的同伴信念，降低过时消息干扰。</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异构图编码器同时建模可达无人机、目标/前沿实体与可见障碍。经链路掩码的图注意力编码后，共享 Actor 输出九维离散动作，再经安全投影。训练采用 CTDE：执行去中心化，仅用一个中心化 Critic 做 MAPPO 更新。</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训练与执行流程如 Algorithm 1。每步先更新局部信念并选择通信源，再构图采样动作并做安全投影；回合结束后用 GAE 与裁剪 MAPPO 更新。三大贡献对应：间歇通信感知协同搜索、重访与历史感知信念选择、异构图注意力策略。</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在统一动作空间、环境分布、奖励与训练预算下进行。地图30×30，6机15目标10障碍，评估30个留出场景、五个独立训练策略。对比启发式、QMIX、局部观测MAPPO、同构图MAPPO，以及去掉重访记忆或通信历史加权的消融。</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IC-HGAT-MAPPO 在信念决断度与发现率上均为最高，分别为62.15%与86.78%。达到80%发现阈值的成功率为82.0%，显著高于同构图的60.0%；条件平均步数88.63。消融显示异构关系编码与重访记忆贡献最稳定；安全投影仅改动0.17%名义动作。</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敏感性分析在配对场景下逐一改变目标/障碍速度、感知与通信半径、中断恢复与干扰概率。相较启发式与QMIX，IC-HGAT-MAPPO在各扰动下保持更高发现率，体现链路感知信息约束与局部信念记忆的鲁棒性。</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图3给出接近收敛时的代表训练回合可视化，用于定性展示轨迹、发现结果与动态障碍运动，不作定量对比。</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总结：我们提出面向间歇通信的IC-HGAT-MAPPO，融合重访感知信念、通信历史源选择与异构关系编码，在30个留出场景上取得最高决断度与发现率。未来将拓展到三维、更去中心化的安全机制，以及硬件在环与真实通信系统验证。</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汇报到此结束，感谢各位老师和同学的聆听，欢迎批评指正。</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是五策略、三十个留出场景的对比结果。IC-HGAT-MAPPO在决断度与发现率上均为最优；T80成功率82.0%，高于同构图的60.0%。去掉重访记忆后性能明显下降，说明重访层很关键；去掉历史加权后决断度下降、条件T80变慢，说明历史项主要提升信念质量与成功回合效率。</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853375"/>
            <a:ext cx="12192000" cy="3163923"/>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hust_logo.png"/>
          <p:cNvPicPr>
            <a:picLocks noChangeAspect="1"/>
          </p:cNvPicPr>
          <p:nvPr/>
        </p:nvPicPr>
        <p:blipFill>
          <a:blip r:embed="rId2"/>
          <a:stretch>
            <a:fillRect/>
          </a:stretch>
        </p:blipFill>
        <p:spPr>
          <a:xfrm>
            <a:off x="200000" y="65803"/>
            <a:ext cx="2427232" cy="1675778"/>
          </a:xfrm>
          <a:prstGeom prst="rect">
            <a:avLst/>
          </a:prstGeom>
        </p:spPr>
      </p:pic>
      <p:sp>
        <p:nvSpPr>
          <p:cNvPr id="4" name="TextBox 3"/>
          <p:cNvSpPr txBox="1"/>
          <p:nvPr/>
        </p:nvSpPr>
        <p:spPr>
          <a:xfrm>
            <a:off x="400000" y="2100000"/>
            <a:ext cx="11400000" cy="2600000"/>
          </a:xfrm>
          <a:prstGeom prst="rect">
            <a:avLst/>
          </a:prstGeom>
          <a:noFill/>
        </p:spPr>
        <p:txBody>
          <a:bodyPr wrap="square">
            <a:spAutoFit/>
          </a:bodyPr>
          <a:lstStyle/>
          <a:p>
            <a:pPr algn="ctr"/>
            <a:r>
              <a:rPr sz="2800" b="1">
                <a:solidFill>
                  <a:srgbClr val="FFFFFF"/>
                </a:solidFill>
                <a:latin typeface="Calibri"/>
                <a:ea typeface="微软雅黑"/>
              </a:rPr>
              <a:t>A Heterogeneous Graph-Attention MAPPO Algorithm</a:t>
            </a:r>
          </a:p>
          <a:p>
            <a:pPr algn="ctr"/>
            <a:r>
              <a:rPr sz="2800" b="1">
                <a:solidFill>
                  <a:srgbClr val="FFFFFF"/>
                </a:solidFill>
                <a:latin typeface="Calibri"/>
                <a:ea typeface="微软雅黑"/>
              </a:rPr>
              <a:t>for Cooperative Multi-UAV Search under</a:t>
            </a:r>
          </a:p>
          <a:p>
            <a:pPr algn="ctr"/>
            <a:r>
              <a:rPr sz="2800" b="1">
                <a:solidFill>
                  <a:srgbClr val="FFFFFF"/>
                </a:solidFill>
                <a:latin typeface="Calibri"/>
                <a:ea typeface="微软雅黑"/>
              </a:rPr>
              <a:t>Intermittent Communication Constraints</a:t>
            </a:r>
          </a:p>
        </p:txBody>
      </p:sp>
      <p:sp>
        <p:nvSpPr>
          <p:cNvPr id="5" name="TextBox 4"/>
          <p:cNvSpPr txBox="1"/>
          <p:nvPr/>
        </p:nvSpPr>
        <p:spPr>
          <a:xfrm>
            <a:off x="2550767" y="5279703"/>
            <a:ext cx="7090464" cy="400110"/>
          </a:xfrm>
          <a:prstGeom prst="rect">
            <a:avLst/>
          </a:prstGeom>
          <a:noFill/>
        </p:spPr>
        <p:txBody>
          <a:bodyPr wrap="square">
            <a:spAutoFit/>
          </a:bodyPr>
          <a:lstStyle/>
          <a:p>
            <a:pPr algn="ctr"/>
            <a:r>
              <a:rPr sz="2000" b="1">
                <a:solidFill>
                  <a:srgbClr val="000000"/>
                </a:solidFill>
                <a:latin typeface="Calibri"/>
                <a:ea typeface="微软雅黑"/>
              </a:rPr>
              <a:t>Presenter  :  Yinying Kuang</a:t>
            </a:r>
          </a:p>
        </p:txBody>
      </p:sp>
      <p:sp>
        <p:nvSpPr>
          <p:cNvPr id="6" name="TextBox 5"/>
          <p:cNvSpPr txBox="1"/>
          <p:nvPr/>
        </p:nvSpPr>
        <p:spPr>
          <a:xfrm>
            <a:off x="2500000" y="5779726"/>
            <a:ext cx="7200000" cy="298139"/>
          </a:xfrm>
          <a:prstGeom prst="rect">
            <a:avLst/>
          </a:prstGeom>
          <a:noFill/>
        </p:spPr>
        <p:txBody>
          <a:bodyPr wrap="square">
            <a:spAutoFit/>
          </a:bodyPr>
          <a:lstStyle/>
          <a:p>
            <a:pPr algn="ctr"/>
            <a:r>
              <a:rPr sz="1600" b="1">
                <a:solidFill>
                  <a:srgbClr val="000000"/>
                </a:solidFill>
                <a:latin typeface="Calibri"/>
                <a:ea typeface="微软雅黑"/>
              </a:rPr>
              <a:t>Huazhong University of Science and Technology, HUST</a:t>
            </a:r>
          </a:p>
        </p:txBody>
      </p:sp>
      <p:sp>
        <p:nvSpPr>
          <p:cNvPr id="7" name="Rectangle 6"/>
          <p:cNvSpPr/>
          <p:nvPr/>
        </p:nvSpPr>
        <p:spPr>
          <a:xfrm>
            <a:off x="5043453" y="6234253"/>
            <a:ext cx="2343150" cy="328917"/>
          </a:xfrm>
          <a:prstGeom prst="rect">
            <a:avLst/>
          </a:prstGeom>
          <a:solidFill>
            <a:srgbClr val="2F5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43453" y="6234253"/>
            <a:ext cx="2343150" cy="328917"/>
          </a:xfrm>
          <a:prstGeom prst="rect">
            <a:avLst/>
          </a:prstGeom>
          <a:noFill/>
        </p:spPr>
        <p:txBody>
          <a:bodyPr wrap="square">
            <a:spAutoFit/>
          </a:bodyPr>
          <a:lstStyle/>
          <a:p>
            <a:pPr algn="ctr"/>
            <a:r>
              <a:rPr sz="1800" b="1">
                <a:solidFill>
                  <a:srgbClr val="FFFFFF"/>
                </a:solidFill>
                <a:latin typeface="Calibri"/>
                <a:ea typeface="微软雅黑"/>
              </a:rPr>
              <a:t>CAC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st_logo.png"/>
          <p:cNvPicPr>
            <a:picLocks noChangeAspect="1"/>
          </p:cNvPicPr>
          <p:nvPr/>
        </p:nvPicPr>
        <p:blipFill>
          <a:blip r:embed="rId2"/>
          <a:stretch>
            <a:fillRect/>
          </a:stretch>
        </p:blipFill>
        <p:spPr>
          <a:xfrm>
            <a:off x="11133805" y="56933"/>
            <a:ext cx="850003" cy="586848"/>
          </a:xfrm>
          <a:prstGeom prst="rect">
            <a:avLst/>
          </a:prstGeom>
        </p:spPr>
      </p:pic>
      <p:sp>
        <p:nvSpPr>
          <p:cNvPr id="3" name="Rectangle 2"/>
          <p:cNvSpPr/>
          <p:nvPr/>
        </p:nvSpPr>
        <p:spPr>
          <a:xfrm>
            <a:off x="1" y="719312"/>
            <a:ext cx="12192000" cy="117007"/>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00000" y="2356117"/>
            <a:ext cx="5000000" cy="2356157"/>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00000" y="3193763"/>
            <a:ext cx="2800000" cy="615553"/>
          </a:xfrm>
          <a:prstGeom prst="rect">
            <a:avLst/>
          </a:prstGeom>
          <a:noFill/>
        </p:spPr>
        <p:txBody>
          <a:bodyPr wrap="square">
            <a:spAutoFit/>
          </a:bodyPr>
          <a:lstStyle/>
          <a:p>
            <a:pPr algn="ctr"/>
            <a:r>
              <a:rPr sz="4000" b="1">
                <a:solidFill>
                  <a:srgbClr val="FFFFFF"/>
                </a:solidFill>
                <a:latin typeface="Calibri"/>
                <a:ea typeface="微软雅黑"/>
              </a:rPr>
              <a:t>CONTENTS</a:t>
            </a:r>
          </a:p>
        </p:txBody>
      </p:sp>
      <p:sp>
        <p:nvSpPr>
          <p:cNvPr id="6" name="Rectangle 5"/>
          <p:cNvSpPr/>
          <p:nvPr/>
        </p:nvSpPr>
        <p:spPr>
          <a:xfrm>
            <a:off x="4954579" y="1355415"/>
            <a:ext cx="25000" cy="4562087"/>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8707" y="2182731"/>
            <a:ext cx="700000" cy="492443"/>
          </a:xfrm>
          <a:prstGeom prst="rect">
            <a:avLst/>
          </a:prstGeom>
          <a:noFill/>
        </p:spPr>
        <p:txBody>
          <a:bodyPr wrap="square">
            <a:spAutoFit/>
          </a:bodyPr>
          <a:lstStyle/>
          <a:p>
            <a:pPr algn="l"/>
            <a:r>
              <a:rPr sz="3200" b="1">
                <a:solidFill>
                  <a:srgbClr val="4472C4"/>
                </a:solidFill>
                <a:latin typeface="Calibri"/>
                <a:ea typeface="微软雅黑"/>
              </a:rPr>
              <a:t>01</a:t>
            </a:r>
          </a:p>
        </p:txBody>
      </p:sp>
      <p:sp>
        <p:nvSpPr>
          <p:cNvPr id="8" name="TextBox 7"/>
          <p:cNvSpPr txBox="1"/>
          <p:nvPr/>
        </p:nvSpPr>
        <p:spPr>
          <a:xfrm>
            <a:off x="6134877" y="2212731"/>
            <a:ext cx="5500000" cy="369332"/>
          </a:xfrm>
          <a:prstGeom prst="rect">
            <a:avLst/>
          </a:prstGeom>
          <a:noFill/>
        </p:spPr>
        <p:txBody>
          <a:bodyPr wrap="square">
            <a:spAutoFit/>
          </a:bodyPr>
          <a:lstStyle/>
          <a:p>
            <a:pPr algn="l"/>
            <a:r>
              <a:rPr sz="2400" b="1">
                <a:solidFill>
                  <a:srgbClr val="000000"/>
                </a:solidFill>
                <a:latin typeface="Calibri"/>
                <a:ea typeface="微软雅黑"/>
              </a:rPr>
              <a:t>Background and Motivation</a:t>
            </a:r>
          </a:p>
        </p:txBody>
      </p:sp>
      <p:sp>
        <p:nvSpPr>
          <p:cNvPr id="9" name="TextBox 8"/>
          <p:cNvSpPr txBox="1"/>
          <p:nvPr/>
        </p:nvSpPr>
        <p:spPr>
          <a:xfrm>
            <a:off x="5308707" y="3311816"/>
            <a:ext cx="700000" cy="492443"/>
          </a:xfrm>
          <a:prstGeom prst="rect">
            <a:avLst/>
          </a:prstGeom>
          <a:noFill/>
        </p:spPr>
        <p:txBody>
          <a:bodyPr wrap="square">
            <a:spAutoFit/>
          </a:bodyPr>
          <a:lstStyle/>
          <a:p>
            <a:pPr algn="l"/>
            <a:r>
              <a:rPr sz="3200" b="1">
                <a:solidFill>
                  <a:srgbClr val="4472C4"/>
                </a:solidFill>
                <a:latin typeface="Calibri"/>
                <a:ea typeface="微软雅黑"/>
              </a:rPr>
              <a:t>02</a:t>
            </a:r>
          </a:p>
        </p:txBody>
      </p:sp>
      <p:sp>
        <p:nvSpPr>
          <p:cNvPr id="10" name="TextBox 9"/>
          <p:cNvSpPr txBox="1"/>
          <p:nvPr/>
        </p:nvSpPr>
        <p:spPr>
          <a:xfrm>
            <a:off x="6134877" y="3341816"/>
            <a:ext cx="5500000" cy="369332"/>
          </a:xfrm>
          <a:prstGeom prst="rect">
            <a:avLst/>
          </a:prstGeom>
          <a:noFill/>
        </p:spPr>
        <p:txBody>
          <a:bodyPr wrap="square">
            <a:spAutoFit/>
          </a:bodyPr>
          <a:lstStyle/>
          <a:p>
            <a:pPr algn="l"/>
            <a:r>
              <a:rPr sz="2400" b="1">
                <a:solidFill>
                  <a:srgbClr val="000000"/>
                </a:solidFill>
                <a:latin typeface="Calibri"/>
                <a:ea typeface="微软雅黑"/>
              </a:rPr>
              <a:t>IC-HGAT-MAPPO Framework</a:t>
            </a:r>
          </a:p>
        </p:txBody>
      </p:sp>
      <p:sp>
        <p:nvSpPr>
          <p:cNvPr id="11" name="TextBox 10"/>
          <p:cNvSpPr txBox="1"/>
          <p:nvPr/>
        </p:nvSpPr>
        <p:spPr>
          <a:xfrm>
            <a:off x="5308707" y="4367490"/>
            <a:ext cx="700000" cy="492443"/>
          </a:xfrm>
          <a:prstGeom prst="rect">
            <a:avLst/>
          </a:prstGeom>
          <a:noFill/>
        </p:spPr>
        <p:txBody>
          <a:bodyPr wrap="square">
            <a:spAutoFit/>
          </a:bodyPr>
          <a:lstStyle/>
          <a:p>
            <a:pPr algn="l"/>
            <a:r>
              <a:rPr sz="3200" b="1">
                <a:solidFill>
                  <a:srgbClr val="4472C4"/>
                </a:solidFill>
                <a:latin typeface="Calibri"/>
                <a:ea typeface="微软雅黑"/>
              </a:rPr>
              <a:t>03</a:t>
            </a:r>
          </a:p>
        </p:txBody>
      </p:sp>
      <p:sp>
        <p:nvSpPr>
          <p:cNvPr id="12" name="TextBox 11"/>
          <p:cNvSpPr txBox="1"/>
          <p:nvPr/>
        </p:nvSpPr>
        <p:spPr>
          <a:xfrm>
            <a:off x="6134877" y="4397490"/>
            <a:ext cx="5500000" cy="369332"/>
          </a:xfrm>
          <a:prstGeom prst="rect">
            <a:avLst/>
          </a:prstGeom>
          <a:noFill/>
        </p:spPr>
        <p:txBody>
          <a:bodyPr wrap="square">
            <a:spAutoFit/>
          </a:bodyPr>
          <a:lstStyle/>
          <a:p>
            <a:pPr algn="l"/>
            <a:r>
              <a:rPr sz="2400" b="1">
                <a:solidFill>
                  <a:srgbClr val="000000"/>
                </a:solidFill>
                <a:latin typeface="Calibri"/>
                <a:ea typeface="微软雅黑"/>
              </a:rPr>
              <a:t>Experiments and Prospect</a:t>
            </a:r>
          </a:p>
        </p:txBody>
      </p:sp>
      <p:sp>
        <p:nvSpPr>
          <p:cNvPr id="13" name="TextBox 12"/>
          <p:cNvSpPr txBox="1"/>
          <p:nvPr/>
        </p:nvSpPr>
        <p:spPr>
          <a:xfrm>
            <a:off x="10058401" y="6554610"/>
            <a:ext cx="2133600" cy="274638"/>
          </a:xfrm>
          <a:prstGeom prst="rect">
            <a:avLst/>
          </a:prstGeom>
          <a:noFill/>
        </p:spPr>
        <p:txBody>
          <a:bodyPr wrap="none">
            <a:spAutoFit/>
          </a:bodyPr>
          <a:lstStyle/>
          <a:p>
            <a:pPr algn="r"/>
            <a:r>
              <a:rPr sz="1200">
                <a:solidFill>
                  <a:srgbClr val="333333"/>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st_logo.png"/>
          <p:cNvPicPr>
            <a:picLocks noChangeAspect="1"/>
          </p:cNvPicPr>
          <p:nvPr/>
        </p:nvPicPr>
        <p:blipFill>
          <a:blip r:embed="rId2"/>
          <a:stretch>
            <a:fillRect/>
          </a:stretch>
        </p:blipFill>
        <p:spPr>
          <a:xfrm>
            <a:off x="11133805" y="56933"/>
            <a:ext cx="850003" cy="586848"/>
          </a:xfrm>
          <a:prstGeom prst="rect">
            <a:avLst/>
          </a:prstGeom>
        </p:spPr>
      </p:pic>
      <p:sp>
        <p:nvSpPr>
          <p:cNvPr id="3" name="TextBox 2"/>
          <p:cNvSpPr txBox="1"/>
          <p:nvPr/>
        </p:nvSpPr>
        <p:spPr>
          <a:xfrm>
            <a:off x="76970" y="98726"/>
            <a:ext cx="10000000" cy="523220"/>
          </a:xfrm>
          <a:prstGeom prst="rect">
            <a:avLst/>
          </a:prstGeom>
          <a:noFill/>
        </p:spPr>
        <p:txBody>
          <a:bodyPr wrap="square">
            <a:spAutoFit/>
          </a:bodyPr>
          <a:lstStyle/>
          <a:p>
            <a:pPr algn="l"/>
            <a:r>
              <a:rPr sz="2800" b="1">
                <a:solidFill>
                  <a:srgbClr val="000000"/>
                </a:solidFill>
                <a:latin typeface="Calibri"/>
                <a:ea typeface="微软雅黑"/>
              </a:rPr>
              <a:t>1. Background</a:t>
            </a:r>
          </a:p>
        </p:txBody>
      </p:sp>
      <p:sp>
        <p:nvSpPr>
          <p:cNvPr id="4" name="Rectangle 3"/>
          <p:cNvSpPr/>
          <p:nvPr/>
        </p:nvSpPr>
        <p:spPr>
          <a:xfrm>
            <a:off x="1" y="667800"/>
            <a:ext cx="12192000" cy="117007"/>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970" y="820000"/>
            <a:ext cx="10000000" cy="400110"/>
          </a:xfrm>
          <a:prstGeom prst="rect">
            <a:avLst/>
          </a:prstGeom>
          <a:noFill/>
        </p:spPr>
        <p:txBody>
          <a:bodyPr wrap="square">
            <a:spAutoFit/>
          </a:bodyPr>
          <a:lstStyle/>
          <a:p>
            <a:pPr algn="l"/>
            <a:r>
              <a:rPr sz="2000" b="0">
                <a:solidFill>
                  <a:srgbClr val="000000"/>
                </a:solidFill>
                <a:latin typeface="Calibri"/>
                <a:ea typeface="微软雅黑"/>
              </a:rPr>
              <a:t>1.1 Cooperative multi-UAV search</a:t>
            </a:r>
          </a:p>
        </p:txBody>
      </p:sp>
      <p:sp>
        <p:nvSpPr>
          <p:cNvPr id="6" name="Rounded Rectangle 5"/>
          <p:cNvSpPr/>
          <p:nvPr/>
        </p:nvSpPr>
        <p:spPr>
          <a:xfrm>
            <a:off x="250000" y="1500000"/>
            <a:ext cx="2800000" cy="2800000"/>
          </a:xfrm>
          <a:prstGeom prst="roundRect">
            <a:avLst/>
          </a:prstGeom>
          <a:solidFill>
            <a:srgbClr val="D6E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0000" y="1750000"/>
            <a:ext cx="2600000" cy="700000"/>
          </a:xfrm>
          <a:prstGeom prst="rect">
            <a:avLst/>
          </a:prstGeom>
          <a:noFill/>
        </p:spPr>
        <p:txBody>
          <a:bodyPr wrap="square">
            <a:spAutoFit/>
          </a:bodyPr>
          <a:lstStyle/>
          <a:p>
            <a:pPr algn="ctr"/>
            <a:r>
              <a:rPr sz="1800" b="1">
                <a:solidFill>
                  <a:srgbClr val="2F5496"/>
                </a:solidFill>
                <a:latin typeface="Calibri"/>
                <a:ea typeface="微软雅黑"/>
              </a:rPr>
              <a:t>Earthquake Response</a:t>
            </a:r>
          </a:p>
        </p:txBody>
      </p:sp>
      <p:sp>
        <p:nvSpPr>
          <p:cNvPr id="8" name="TextBox 7"/>
          <p:cNvSpPr txBox="1"/>
          <p:nvPr/>
        </p:nvSpPr>
        <p:spPr>
          <a:xfrm>
            <a:off x="370000" y="2600000"/>
            <a:ext cx="2560000" cy="1400000"/>
          </a:xfrm>
          <a:prstGeom prst="rect">
            <a:avLst/>
          </a:prstGeom>
          <a:noFill/>
        </p:spPr>
        <p:txBody>
          <a:bodyPr wrap="square">
            <a:spAutoFit/>
          </a:bodyPr>
          <a:lstStyle/>
          <a:p>
            <a:pPr algn="ctr"/>
            <a:r>
              <a:rPr sz="1400" b="0">
                <a:solidFill>
                  <a:srgbClr val="333333"/>
                </a:solidFill>
                <a:latin typeface="Calibri"/>
                <a:ea typeface="微软雅黑"/>
              </a:rPr>
              <a:t>Rapid coverage of damaged areas with limited infrastructure</a:t>
            </a:r>
          </a:p>
        </p:txBody>
      </p:sp>
      <p:sp>
        <p:nvSpPr>
          <p:cNvPr id="9" name="Rounded Rectangle 8"/>
          <p:cNvSpPr/>
          <p:nvPr/>
        </p:nvSpPr>
        <p:spPr>
          <a:xfrm>
            <a:off x="3200000" y="1500000"/>
            <a:ext cx="2800000" cy="2800000"/>
          </a:xfrm>
          <a:prstGeom prst="roundRect">
            <a:avLst/>
          </a:prstGeom>
          <a:solidFill>
            <a:srgbClr val="D6E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00000" y="1750000"/>
            <a:ext cx="2600000" cy="700000"/>
          </a:xfrm>
          <a:prstGeom prst="rect">
            <a:avLst/>
          </a:prstGeom>
          <a:noFill/>
        </p:spPr>
        <p:txBody>
          <a:bodyPr wrap="square">
            <a:spAutoFit/>
          </a:bodyPr>
          <a:lstStyle/>
          <a:p>
            <a:pPr algn="ctr"/>
            <a:r>
              <a:rPr sz="1800" b="1">
                <a:solidFill>
                  <a:srgbClr val="2F5496"/>
                </a:solidFill>
                <a:latin typeface="Calibri"/>
                <a:ea typeface="微软雅黑"/>
              </a:rPr>
              <a:t>Wildfire Monitoring</a:t>
            </a:r>
          </a:p>
        </p:txBody>
      </p:sp>
      <p:sp>
        <p:nvSpPr>
          <p:cNvPr id="11" name="TextBox 10"/>
          <p:cNvSpPr txBox="1"/>
          <p:nvPr/>
        </p:nvSpPr>
        <p:spPr>
          <a:xfrm>
            <a:off x="3320000" y="2600000"/>
            <a:ext cx="2560000" cy="1400000"/>
          </a:xfrm>
          <a:prstGeom prst="rect">
            <a:avLst/>
          </a:prstGeom>
          <a:noFill/>
        </p:spPr>
        <p:txBody>
          <a:bodyPr wrap="square">
            <a:spAutoFit/>
          </a:bodyPr>
          <a:lstStyle/>
          <a:p>
            <a:pPr algn="ctr"/>
            <a:r>
              <a:rPr sz="1400" b="0">
                <a:solidFill>
                  <a:srgbClr val="333333"/>
                </a:solidFill>
                <a:latin typeface="Calibri"/>
                <a:ea typeface="微软雅黑"/>
              </a:rPr>
              <a:t>Parallel sensing under smoke and interference</a:t>
            </a:r>
          </a:p>
        </p:txBody>
      </p:sp>
      <p:sp>
        <p:nvSpPr>
          <p:cNvPr id="12" name="Rounded Rectangle 11"/>
          <p:cNvSpPr/>
          <p:nvPr/>
        </p:nvSpPr>
        <p:spPr>
          <a:xfrm>
            <a:off x="6150000" y="1500000"/>
            <a:ext cx="2800000" cy="2800000"/>
          </a:xfrm>
          <a:prstGeom prst="roundRect">
            <a:avLst/>
          </a:prstGeom>
          <a:solidFill>
            <a:srgbClr val="D6E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50000" y="1750000"/>
            <a:ext cx="2600000" cy="700000"/>
          </a:xfrm>
          <a:prstGeom prst="rect">
            <a:avLst/>
          </a:prstGeom>
          <a:noFill/>
        </p:spPr>
        <p:txBody>
          <a:bodyPr wrap="square">
            <a:spAutoFit/>
          </a:bodyPr>
          <a:lstStyle/>
          <a:p>
            <a:pPr algn="ctr"/>
            <a:r>
              <a:rPr sz="1800" b="1">
                <a:solidFill>
                  <a:srgbClr val="2F5496"/>
                </a:solidFill>
                <a:latin typeface="Calibri"/>
                <a:ea typeface="微软雅黑"/>
              </a:rPr>
              <a:t>Maritime Rescue</a:t>
            </a:r>
          </a:p>
        </p:txBody>
      </p:sp>
      <p:sp>
        <p:nvSpPr>
          <p:cNvPr id="14" name="TextBox 13"/>
          <p:cNvSpPr txBox="1"/>
          <p:nvPr/>
        </p:nvSpPr>
        <p:spPr>
          <a:xfrm>
            <a:off x="6270000" y="2600000"/>
            <a:ext cx="2560000" cy="1400000"/>
          </a:xfrm>
          <a:prstGeom prst="rect">
            <a:avLst/>
          </a:prstGeom>
          <a:noFill/>
        </p:spPr>
        <p:txBody>
          <a:bodyPr wrap="square">
            <a:spAutoFit/>
          </a:bodyPr>
          <a:lstStyle/>
          <a:p>
            <a:pPr algn="ctr"/>
            <a:r>
              <a:rPr sz="1400" b="0">
                <a:solidFill>
                  <a:srgbClr val="333333"/>
                </a:solidFill>
                <a:latin typeface="Calibri"/>
                <a:ea typeface="微软雅黑"/>
              </a:rPr>
              <a:t>Wide-area search with unreliable long-range links</a:t>
            </a:r>
          </a:p>
        </p:txBody>
      </p:sp>
      <p:sp>
        <p:nvSpPr>
          <p:cNvPr id="15" name="Rounded Rectangle 14"/>
          <p:cNvSpPr/>
          <p:nvPr/>
        </p:nvSpPr>
        <p:spPr>
          <a:xfrm>
            <a:off x="9100000" y="1500000"/>
            <a:ext cx="2800000" cy="2800000"/>
          </a:xfrm>
          <a:prstGeom prst="roundRect">
            <a:avLst/>
          </a:prstGeom>
          <a:solidFill>
            <a:srgbClr val="D6E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00000" y="1750000"/>
            <a:ext cx="2600000" cy="700000"/>
          </a:xfrm>
          <a:prstGeom prst="rect">
            <a:avLst/>
          </a:prstGeom>
          <a:noFill/>
        </p:spPr>
        <p:txBody>
          <a:bodyPr wrap="square">
            <a:spAutoFit/>
          </a:bodyPr>
          <a:lstStyle/>
          <a:p>
            <a:pPr algn="ctr"/>
            <a:r>
              <a:rPr sz="1800" b="1">
                <a:solidFill>
                  <a:srgbClr val="2F5496"/>
                </a:solidFill>
                <a:latin typeface="Calibri"/>
                <a:ea typeface="微软雅黑"/>
              </a:rPr>
              <a:t>Border Patrol</a:t>
            </a:r>
          </a:p>
        </p:txBody>
      </p:sp>
      <p:sp>
        <p:nvSpPr>
          <p:cNvPr id="17" name="TextBox 16"/>
          <p:cNvSpPr txBox="1"/>
          <p:nvPr/>
        </p:nvSpPr>
        <p:spPr>
          <a:xfrm>
            <a:off x="9220000" y="2600000"/>
            <a:ext cx="2560000" cy="1400000"/>
          </a:xfrm>
          <a:prstGeom prst="rect">
            <a:avLst/>
          </a:prstGeom>
          <a:noFill/>
        </p:spPr>
        <p:txBody>
          <a:bodyPr wrap="square">
            <a:spAutoFit/>
          </a:bodyPr>
          <a:lstStyle/>
          <a:p>
            <a:pPr algn="ctr"/>
            <a:r>
              <a:rPr sz="1400" b="0">
                <a:solidFill>
                  <a:srgbClr val="333333"/>
                </a:solidFill>
                <a:latin typeface="Calibri"/>
                <a:ea typeface="微软雅黑"/>
              </a:rPr>
              <a:t>Persistent surveillance with intermittent peer contact</a:t>
            </a:r>
          </a:p>
        </p:txBody>
      </p:sp>
      <p:sp>
        <p:nvSpPr>
          <p:cNvPr id="18" name="Rectangle 17"/>
          <p:cNvSpPr/>
          <p:nvPr/>
        </p:nvSpPr>
        <p:spPr>
          <a:xfrm>
            <a:off x="154557" y="4600000"/>
            <a:ext cx="11987885" cy="900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0000" y="4750000"/>
            <a:ext cx="11600000" cy="650000"/>
          </a:xfrm>
          <a:prstGeom prst="rect">
            <a:avLst/>
          </a:prstGeom>
          <a:noFill/>
        </p:spPr>
        <p:txBody>
          <a:bodyPr wrap="square">
            <a:spAutoFit/>
          </a:bodyPr>
          <a:lstStyle/>
          <a:p>
            <a:pPr algn="ctr"/>
            <a:r>
              <a:rPr sz="1500" b="1">
                <a:solidFill>
                  <a:srgbClr val="FFFFFF"/>
                </a:solidFill>
                <a:latin typeface="Calibri"/>
                <a:ea typeface="微软雅黑"/>
              </a:rPr>
              <a:t>Multi-UAV teams improve search efficiency via parallel deployment,</a:t>
            </a:r>
          </a:p>
          <a:p>
            <a:pPr algn="ctr"/>
            <a:r>
              <a:rPr sz="1500" b="1">
                <a:solidFill>
                  <a:srgbClr val="FFFFFF"/>
                </a:solidFill>
                <a:latin typeface="Calibri"/>
                <a:ea typeface="微软雅黑"/>
              </a:rPr>
              <a:t>but disaster/interference-prone areas cause incomplete local beliefs and intermittent peer information.</a:t>
            </a:r>
          </a:p>
        </p:txBody>
      </p:sp>
      <p:sp>
        <p:nvSpPr>
          <p:cNvPr id="20" name="TextBox 19"/>
          <p:cNvSpPr txBox="1"/>
          <p:nvPr/>
        </p:nvSpPr>
        <p:spPr>
          <a:xfrm>
            <a:off x="10058401" y="6554610"/>
            <a:ext cx="2133600" cy="274638"/>
          </a:xfrm>
          <a:prstGeom prst="rect">
            <a:avLst/>
          </a:prstGeom>
          <a:noFill/>
        </p:spPr>
        <p:txBody>
          <a:bodyPr wrap="none">
            <a:spAutoFit/>
          </a:bodyPr>
          <a:lstStyle/>
          <a:p>
            <a:pPr algn="r"/>
            <a:r>
              <a:rPr sz="1200">
                <a:solidFill>
                  <a:srgbClr val="333333"/>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st_logo.png"/>
          <p:cNvPicPr>
            <a:picLocks noChangeAspect="1"/>
          </p:cNvPicPr>
          <p:nvPr/>
        </p:nvPicPr>
        <p:blipFill>
          <a:blip r:embed="rId2"/>
          <a:stretch>
            <a:fillRect/>
          </a:stretch>
        </p:blipFill>
        <p:spPr>
          <a:xfrm>
            <a:off x="11133805" y="56933"/>
            <a:ext cx="850003" cy="586848"/>
          </a:xfrm>
          <a:prstGeom prst="rect">
            <a:avLst/>
          </a:prstGeom>
        </p:spPr>
      </p:pic>
      <p:sp>
        <p:nvSpPr>
          <p:cNvPr id="3" name="TextBox 2"/>
          <p:cNvSpPr txBox="1"/>
          <p:nvPr/>
        </p:nvSpPr>
        <p:spPr>
          <a:xfrm>
            <a:off x="76970" y="98726"/>
            <a:ext cx="10000000" cy="523220"/>
          </a:xfrm>
          <a:prstGeom prst="rect">
            <a:avLst/>
          </a:prstGeom>
          <a:noFill/>
        </p:spPr>
        <p:txBody>
          <a:bodyPr wrap="square">
            <a:spAutoFit/>
          </a:bodyPr>
          <a:lstStyle/>
          <a:p>
            <a:pPr algn="l"/>
            <a:r>
              <a:rPr sz="2800" b="1">
                <a:solidFill>
                  <a:srgbClr val="000000"/>
                </a:solidFill>
                <a:latin typeface="Calibri"/>
                <a:ea typeface="微软雅黑"/>
              </a:rPr>
              <a:t>1. Background</a:t>
            </a:r>
          </a:p>
        </p:txBody>
      </p:sp>
      <p:sp>
        <p:nvSpPr>
          <p:cNvPr id="4" name="Rectangle 3"/>
          <p:cNvSpPr/>
          <p:nvPr/>
        </p:nvSpPr>
        <p:spPr>
          <a:xfrm>
            <a:off x="1" y="667800"/>
            <a:ext cx="12192000" cy="117007"/>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970" y="820000"/>
            <a:ext cx="10000000" cy="400110"/>
          </a:xfrm>
          <a:prstGeom prst="rect">
            <a:avLst/>
          </a:prstGeom>
          <a:noFill/>
        </p:spPr>
        <p:txBody>
          <a:bodyPr wrap="square">
            <a:spAutoFit/>
          </a:bodyPr>
          <a:lstStyle/>
          <a:p>
            <a:pPr algn="l"/>
            <a:r>
              <a:rPr sz="2000" b="0">
                <a:solidFill>
                  <a:srgbClr val="000000"/>
                </a:solidFill>
                <a:latin typeface="Calibri"/>
                <a:ea typeface="微软雅黑"/>
              </a:rPr>
              <a:t>1.2 Challenges under intermittent communication</a:t>
            </a:r>
          </a:p>
        </p:txBody>
      </p:sp>
      <p:sp>
        <p:nvSpPr>
          <p:cNvPr id="6" name="Rounded Rectangle 5"/>
          <p:cNvSpPr/>
          <p:nvPr/>
        </p:nvSpPr>
        <p:spPr>
          <a:xfrm>
            <a:off x="300000" y="1450000"/>
            <a:ext cx="11500000" cy="115000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00000" y="1450000"/>
            <a:ext cx="80000" cy="1150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0000" y="1650000"/>
            <a:ext cx="10800000" cy="400000"/>
          </a:xfrm>
          <a:prstGeom prst="rect">
            <a:avLst/>
          </a:prstGeom>
          <a:noFill/>
        </p:spPr>
        <p:txBody>
          <a:bodyPr wrap="square">
            <a:spAutoFit/>
          </a:bodyPr>
          <a:lstStyle/>
          <a:p>
            <a:pPr algn="l"/>
            <a:r>
              <a:rPr sz="2200" b="1">
                <a:solidFill>
                  <a:srgbClr val="2F5496"/>
                </a:solidFill>
                <a:latin typeface="Calibri"/>
                <a:ea typeface="微软雅黑"/>
              </a:rPr>
              <a:t>01  Incomplete Exchange</a:t>
            </a:r>
          </a:p>
        </p:txBody>
      </p:sp>
      <p:sp>
        <p:nvSpPr>
          <p:cNvPr id="9" name="TextBox 8"/>
          <p:cNvSpPr txBox="1"/>
          <p:nvPr/>
        </p:nvSpPr>
        <p:spPr>
          <a:xfrm>
            <a:off x="550000" y="2050000"/>
            <a:ext cx="10800000" cy="400000"/>
          </a:xfrm>
          <a:prstGeom prst="rect">
            <a:avLst/>
          </a:prstGeom>
          <a:noFill/>
        </p:spPr>
        <p:txBody>
          <a:bodyPr wrap="square">
            <a:spAutoFit/>
          </a:bodyPr>
          <a:lstStyle/>
          <a:p>
            <a:pPr algn="l"/>
            <a:r>
              <a:rPr sz="1600" b="0">
                <a:solidFill>
                  <a:srgbClr val="333333"/>
                </a:solidFill>
                <a:latin typeface="Calibri"/>
                <a:ea typeface="微软雅黑"/>
              </a:rPr>
              <a:t>Hard to keep consistent environmental beliefs and coordinated exploration when links drop.</a:t>
            </a:r>
          </a:p>
        </p:txBody>
      </p:sp>
      <p:sp>
        <p:nvSpPr>
          <p:cNvPr id="10" name="Rounded Rectangle 9"/>
          <p:cNvSpPr/>
          <p:nvPr/>
        </p:nvSpPr>
        <p:spPr>
          <a:xfrm>
            <a:off x="300000" y="2750000"/>
            <a:ext cx="11500000" cy="115000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00000" y="2750000"/>
            <a:ext cx="80000" cy="1150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0000" y="2950000"/>
            <a:ext cx="10800000" cy="400000"/>
          </a:xfrm>
          <a:prstGeom prst="rect">
            <a:avLst/>
          </a:prstGeom>
          <a:noFill/>
        </p:spPr>
        <p:txBody>
          <a:bodyPr wrap="square">
            <a:spAutoFit/>
          </a:bodyPr>
          <a:lstStyle/>
          <a:p>
            <a:pPr algn="l"/>
            <a:r>
              <a:rPr sz="2200" b="1">
                <a:solidFill>
                  <a:srgbClr val="2F5496"/>
                </a:solidFill>
                <a:latin typeface="Calibri"/>
                <a:ea typeface="微软雅黑"/>
              </a:rPr>
              <a:t>02  Heterogeneous Relations</a:t>
            </a:r>
          </a:p>
        </p:txBody>
      </p:sp>
      <p:sp>
        <p:nvSpPr>
          <p:cNvPr id="13" name="TextBox 12"/>
          <p:cNvSpPr txBox="1"/>
          <p:nvPr/>
        </p:nvSpPr>
        <p:spPr>
          <a:xfrm>
            <a:off x="550000" y="3350000"/>
            <a:ext cx="10800000" cy="400000"/>
          </a:xfrm>
          <a:prstGeom prst="rect">
            <a:avLst/>
          </a:prstGeom>
          <a:noFill/>
        </p:spPr>
        <p:txBody>
          <a:bodyPr wrap="square">
            <a:spAutoFit/>
          </a:bodyPr>
          <a:lstStyle/>
          <a:p>
            <a:pPr algn="l"/>
            <a:r>
              <a:rPr sz="1600" b="0">
                <a:solidFill>
                  <a:srgbClr val="333333"/>
                </a:solidFill>
                <a:latin typeface="Calibri"/>
                <a:ea typeface="微软雅黑"/>
              </a:rPr>
              <a:t>UAV–UAV, UAV–target/frontier, and UAV–obstacle interactions are poorly captured by homogeneous graphs.</a:t>
            </a:r>
          </a:p>
        </p:txBody>
      </p:sp>
      <p:sp>
        <p:nvSpPr>
          <p:cNvPr id="14" name="Rounded Rectangle 13"/>
          <p:cNvSpPr/>
          <p:nvPr/>
        </p:nvSpPr>
        <p:spPr>
          <a:xfrm>
            <a:off x="300000" y="4050000"/>
            <a:ext cx="11500000" cy="115000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0000" y="4050000"/>
            <a:ext cx="80000" cy="115000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50000" y="4250000"/>
            <a:ext cx="10800000" cy="400000"/>
          </a:xfrm>
          <a:prstGeom prst="rect">
            <a:avLst/>
          </a:prstGeom>
          <a:noFill/>
        </p:spPr>
        <p:txBody>
          <a:bodyPr wrap="square">
            <a:spAutoFit/>
          </a:bodyPr>
          <a:lstStyle/>
          <a:p>
            <a:pPr algn="l"/>
            <a:r>
              <a:rPr sz="2200" b="1">
                <a:solidFill>
                  <a:srgbClr val="2F5496"/>
                </a:solidFill>
                <a:latin typeface="Calibri"/>
                <a:ea typeface="微软雅黑"/>
              </a:rPr>
              <a:t>03  Stale Peer Messages</a:t>
            </a:r>
          </a:p>
        </p:txBody>
      </p:sp>
      <p:sp>
        <p:nvSpPr>
          <p:cNvPr id="17" name="TextBox 16"/>
          <p:cNvSpPr txBox="1"/>
          <p:nvPr/>
        </p:nvSpPr>
        <p:spPr>
          <a:xfrm>
            <a:off x="550000" y="4650000"/>
            <a:ext cx="10800000" cy="400000"/>
          </a:xfrm>
          <a:prstGeom prst="rect">
            <a:avLst/>
          </a:prstGeom>
          <a:noFill/>
        </p:spPr>
        <p:txBody>
          <a:bodyPr wrap="square">
            <a:spAutoFit/>
          </a:bodyPr>
          <a:lstStyle/>
          <a:p>
            <a:pPr algn="l"/>
            <a:r>
              <a:rPr sz="1600" b="0">
                <a:solidFill>
                  <a:srgbClr val="333333"/>
                </a:solidFill>
                <a:latin typeface="Calibri"/>
                <a:ea typeface="微软雅黑"/>
              </a:rPr>
              <a:t>After link recovery, received beliefs may be outdated; relevance must be ranked by communication history.</a:t>
            </a:r>
          </a:p>
        </p:txBody>
      </p:sp>
      <p:sp>
        <p:nvSpPr>
          <p:cNvPr id="18" name="TextBox 17"/>
          <p:cNvSpPr txBox="1"/>
          <p:nvPr/>
        </p:nvSpPr>
        <p:spPr>
          <a:xfrm>
            <a:off x="10058401" y="6554610"/>
            <a:ext cx="2133600" cy="274638"/>
          </a:xfrm>
          <a:prstGeom prst="rect">
            <a:avLst/>
          </a:prstGeom>
          <a:noFill/>
        </p:spPr>
        <p:txBody>
          <a:bodyPr wrap="none">
            <a:spAutoFit/>
          </a:bodyPr>
          <a:lstStyle/>
          <a:p>
            <a:pPr algn="r"/>
            <a:r>
              <a:rPr sz="1200">
                <a:solidFill>
                  <a:srgbClr val="333333"/>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st_logo.png"/>
          <p:cNvPicPr>
            <a:picLocks noChangeAspect="1"/>
          </p:cNvPicPr>
          <p:nvPr/>
        </p:nvPicPr>
        <p:blipFill>
          <a:blip r:embed="rId2"/>
          <a:stretch>
            <a:fillRect/>
          </a:stretch>
        </p:blipFill>
        <p:spPr>
          <a:xfrm>
            <a:off x="11133805" y="56933"/>
            <a:ext cx="850003" cy="586848"/>
          </a:xfrm>
          <a:prstGeom prst="rect">
            <a:avLst/>
          </a:prstGeom>
        </p:spPr>
      </p:pic>
      <p:sp>
        <p:nvSpPr>
          <p:cNvPr id="3" name="TextBox 2"/>
          <p:cNvSpPr txBox="1"/>
          <p:nvPr/>
        </p:nvSpPr>
        <p:spPr>
          <a:xfrm>
            <a:off x="76970" y="98726"/>
            <a:ext cx="10000000" cy="523220"/>
          </a:xfrm>
          <a:prstGeom prst="rect">
            <a:avLst/>
          </a:prstGeom>
          <a:noFill/>
        </p:spPr>
        <p:txBody>
          <a:bodyPr wrap="square">
            <a:spAutoFit/>
          </a:bodyPr>
          <a:lstStyle/>
          <a:p>
            <a:pPr algn="l"/>
            <a:r>
              <a:rPr sz="2800" b="1">
                <a:solidFill>
                  <a:srgbClr val="000000"/>
                </a:solidFill>
                <a:latin typeface="Calibri"/>
                <a:ea typeface="微软雅黑"/>
              </a:rPr>
              <a:t>1. Background</a:t>
            </a:r>
          </a:p>
        </p:txBody>
      </p:sp>
      <p:sp>
        <p:nvSpPr>
          <p:cNvPr id="4" name="Rectangle 3"/>
          <p:cNvSpPr/>
          <p:nvPr/>
        </p:nvSpPr>
        <p:spPr>
          <a:xfrm>
            <a:off x="1" y="667800"/>
            <a:ext cx="12192000" cy="117007"/>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970" y="820000"/>
            <a:ext cx="10000000" cy="400110"/>
          </a:xfrm>
          <a:prstGeom prst="rect">
            <a:avLst/>
          </a:prstGeom>
          <a:noFill/>
        </p:spPr>
        <p:txBody>
          <a:bodyPr wrap="square">
            <a:spAutoFit/>
          </a:bodyPr>
          <a:lstStyle/>
          <a:p>
            <a:pPr algn="l"/>
            <a:r>
              <a:rPr sz="2000" b="0">
                <a:solidFill>
                  <a:srgbClr val="000000"/>
                </a:solidFill>
                <a:latin typeface="Calibri"/>
                <a:ea typeface="微软雅黑"/>
              </a:rPr>
              <a:t>1.3 Problem formulation (Dec-POMDP)</a:t>
            </a:r>
          </a:p>
        </p:txBody>
      </p:sp>
      <p:pic>
        <p:nvPicPr>
          <p:cNvPr id="6" name="Picture 5" descr="fig1_scenario.png"/>
          <p:cNvPicPr>
            <a:picLocks noChangeAspect="1"/>
          </p:cNvPicPr>
          <p:nvPr/>
        </p:nvPicPr>
        <p:blipFill>
          <a:blip r:embed="rId3"/>
          <a:stretch>
            <a:fillRect/>
          </a:stretch>
        </p:blipFill>
        <p:spPr>
          <a:xfrm>
            <a:off x="200000" y="1400000"/>
            <a:ext cx="6200000" cy="4000000"/>
          </a:xfrm>
          <a:prstGeom prst="rect">
            <a:avLst/>
          </a:prstGeom>
        </p:spPr>
      </p:pic>
      <p:sp>
        <p:nvSpPr>
          <p:cNvPr id="7" name="TextBox 6"/>
          <p:cNvSpPr txBox="1"/>
          <p:nvPr/>
        </p:nvSpPr>
        <p:spPr>
          <a:xfrm>
            <a:off x="200000" y="5450000"/>
            <a:ext cx="6200000" cy="400000"/>
          </a:xfrm>
          <a:prstGeom prst="rect">
            <a:avLst/>
          </a:prstGeom>
          <a:noFill/>
        </p:spPr>
        <p:txBody>
          <a:bodyPr wrap="square">
            <a:spAutoFit/>
          </a:bodyPr>
          <a:lstStyle/>
          <a:p>
            <a:pPr algn="ctr"/>
            <a:r>
              <a:rPr sz="1200" b="0">
                <a:solidFill>
                  <a:srgbClr val="333333"/>
                </a:solidFill>
                <a:latin typeface="Calibri"/>
                <a:ea typeface="微软雅黑"/>
              </a:rPr>
              <a:t>Fig. 1  UAV-swarm search with intermittent links</a:t>
            </a:r>
          </a:p>
        </p:txBody>
      </p:sp>
      <p:sp>
        <p:nvSpPr>
          <p:cNvPr id="8" name="Rounded Rectangle 7"/>
          <p:cNvSpPr/>
          <p:nvPr/>
        </p:nvSpPr>
        <p:spPr>
          <a:xfrm>
            <a:off x="6600000" y="1400000"/>
            <a:ext cx="5300000" cy="450000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0000" y="1550000"/>
            <a:ext cx="4900000" cy="400000"/>
          </a:xfrm>
          <a:prstGeom prst="rect">
            <a:avLst/>
          </a:prstGeom>
          <a:noFill/>
        </p:spPr>
        <p:txBody>
          <a:bodyPr wrap="square">
            <a:spAutoFit/>
          </a:bodyPr>
          <a:lstStyle/>
          <a:p>
            <a:pPr algn="l"/>
            <a:r>
              <a:rPr sz="2000" b="1">
                <a:solidFill>
                  <a:srgbClr val="2F5496"/>
                </a:solidFill>
                <a:latin typeface="Calibri"/>
                <a:ea typeface="微软雅黑"/>
              </a:rPr>
              <a:t>System model</a:t>
            </a:r>
          </a:p>
        </p:txBody>
      </p:sp>
      <p:sp>
        <p:nvSpPr>
          <p:cNvPr id="10" name="TextBox 9"/>
          <p:cNvSpPr txBox="1"/>
          <p:nvPr/>
        </p:nvSpPr>
        <p:spPr>
          <a:xfrm>
            <a:off x="6850000" y="2100000"/>
            <a:ext cx="4900000" cy="3600000"/>
          </a:xfrm>
          <a:prstGeom prst="rect">
            <a:avLst/>
          </a:prstGeom>
          <a:noFill/>
        </p:spPr>
        <p:txBody>
          <a:bodyPr wrap="square">
            <a:spAutoFit/>
          </a:bodyPr>
          <a:lstStyle/>
          <a:p>
            <a:pPr algn="l">
              <a:spcAft>
                <a:spcPts val="800"/>
              </a:spcAft>
            </a:pPr>
            <a:r>
              <a:rPr sz="1500" b="0">
                <a:solidFill>
                  <a:srgbClr val="000000"/>
                </a:solidFill>
                <a:latin typeface="Calibri"/>
                <a:ea typeface="微软雅黑"/>
              </a:rPr>
              <a:t>•  N UAVs, M moving targets, K obstacles</a:t>
            </a:r>
          </a:p>
          <a:p>
            <a:pPr algn="l">
              <a:spcAft>
                <a:spcPts val="800"/>
              </a:spcAft>
            </a:pPr>
            <a:r>
              <a:rPr sz="1500" b="0">
                <a:solidFill>
                  <a:srgbClr val="000000"/>
                </a:solidFill>
                <a:latin typeface="Calibri"/>
                <a:ea typeface="微软雅黑"/>
              </a:rPr>
              <a:t>•  Discrete 9-action motion (8 dirs + hover)</a:t>
            </a:r>
          </a:p>
          <a:p>
            <a:pPr algn="l">
              <a:spcAft>
                <a:spcPts val="800"/>
              </a:spcAft>
            </a:pPr>
            <a:r>
              <a:rPr sz="1500" b="0">
                <a:solidFill>
                  <a:srgbClr val="000000"/>
                </a:solidFill>
                <a:latin typeface="Calibri"/>
                <a:ea typeface="微软雅黑"/>
              </a:rPr>
              <a:t>•  Sensing Rs; communication Rc with outage</a:t>
            </a:r>
          </a:p>
          <a:p>
            <a:pPr algn="l">
              <a:spcAft>
                <a:spcPts val="800"/>
              </a:spcAft>
            </a:pPr>
            <a:r>
              <a:rPr sz="1500" b="0">
                <a:solidFill>
                  <a:srgbClr val="000000"/>
                </a:solidFill>
                <a:latin typeface="Calibri"/>
                <a:ea typeface="微软雅黑"/>
              </a:rPr>
              <a:t>•  Local P / E / R belief maps per UAV</a:t>
            </a:r>
          </a:p>
          <a:p>
            <a:pPr algn="l">
              <a:spcAft>
                <a:spcPts val="800"/>
              </a:spcAft>
            </a:pPr>
            <a:r>
              <a:rPr sz="1500" b="0">
                <a:solidFill>
                  <a:srgbClr val="000000"/>
                </a:solidFill>
                <a:latin typeface="Calibri"/>
                <a:ea typeface="微软雅黑"/>
              </a:rPr>
              <a:t>•  Link mask: only reachable peer messages</a:t>
            </a:r>
          </a:p>
          <a:p>
            <a:pPr algn="l">
              <a:spcAft>
                <a:spcPts val="800"/>
              </a:spcAft>
            </a:pPr>
            <a:r>
              <a:rPr sz="1500" b="0">
                <a:solidFill>
                  <a:srgbClr val="000000"/>
                </a:solidFill>
                <a:latin typeface="Calibri"/>
                <a:ea typeface="微软雅黑"/>
              </a:rPr>
              <a:t>•  Shared policy, decentralized execution</a:t>
            </a:r>
          </a:p>
          <a:p>
            <a:pPr algn="l">
              <a:spcAft>
                <a:spcPts val="800"/>
              </a:spcAft>
            </a:pPr>
            <a:r>
              <a:rPr sz="1500" b="0">
                <a:solidFill>
                  <a:srgbClr val="000000"/>
                </a:solidFill>
                <a:latin typeface="Calibri"/>
                <a:ea typeface="微软雅黑"/>
              </a:rPr>
              <a:t>•  Metrics: decisiveness, discovery, T80</a:t>
            </a:r>
          </a:p>
        </p:txBody>
      </p:sp>
      <p:sp>
        <p:nvSpPr>
          <p:cNvPr id="11" name="TextBox 10"/>
          <p:cNvSpPr txBox="1"/>
          <p:nvPr/>
        </p:nvSpPr>
        <p:spPr>
          <a:xfrm>
            <a:off x="10058401" y="6554610"/>
            <a:ext cx="2133600" cy="274638"/>
          </a:xfrm>
          <a:prstGeom prst="rect">
            <a:avLst/>
          </a:prstGeom>
          <a:noFill/>
        </p:spPr>
        <p:txBody>
          <a:bodyPr wrap="none">
            <a:spAutoFit/>
          </a:bodyPr>
          <a:lstStyle/>
          <a:p>
            <a:pPr algn="r"/>
            <a:r>
              <a:rPr sz="1200">
                <a:solidFill>
                  <a:srgbClr val="333333"/>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st_logo.png"/>
          <p:cNvPicPr>
            <a:picLocks noChangeAspect="1"/>
          </p:cNvPicPr>
          <p:nvPr/>
        </p:nvPicPr>
        <p:blipFill>
          <a:blip r:embed="rId2"/>
          <a:stretch>
            <a:fillRect/>
          </a:stretch>
        </p:blipFill>
        <p:spPr>
          <a:xfrm>
            <a:off x="11133805" y="56933"/>
            <a:ext cx="850003" cy="586848"/>
          </a:xfrm>
          <a:prstGeom prst="rect">
            <a:avLst/>
          </a:prstGeom>
        </p:spPr>
      </p:pic>
      <p:sp>
        <p:nvSpPr>
          <p:cNvPr id="3" name="TextBox 2"/>
          <p:cNvSpPr txBox="1"/>
          <p:nvPr/>
        </p:nvSpPr>
        <p:spPr>
          <a:xfrm>
            <a:off x="76970" y="98726"/>
            <a:ext cx="10000000" cy="523220"/>
          </a:xfrm>
          <a:prstGeom prst="rect">
            <a:avLst/>
          </a:prstGeom>
          <a:noFill/>
        </p:spPr>
        <p:txBody>
          <a:bodyPr wrap="square">
            <a:spAutoFit/>
          </a:bodyPr>
          <a:lstStyle/>
          <a:p>
            <a:pPr algn="l"/>
            <a:r>
              <a:rPr sz="2800" b="1">
                <a:solidFill>
                  <a:srgbClr val="000000"/>
                </a:solidFill>
                <a:latin typeface="Calibri"/>
                <a:ea typeface="微软雅黑"/>
              </a:rPr>
              <a:t>2. IC-HGAT-MAPPO Framework</a:t>
            </a:r>
          </a:p>
        </p:txBody>
      </p:sp>
      <p:sp>
        <p:nvSpPr>
          <p:cNvPr id="4" name="Rectangle 3"/>
          <p:cNvSpPr/>
          <p:nvPr/>
        </p:nvSpPr>
        <p:spPr>
          <a:xfrm>
            <a:off x="1" y="667800"/>
            <a:ext cx="12192000" cy="117007"/>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970" y="820000"/>
            <a:ext cx="10000000" cy="400110"/>
          </a:xfrm>
          <a:prstGeom prst="rect">
            <a:avLst/>
          </a:prstGeom>
          <a:noFill/>
        </p:spPr>
        <p:txBody>
          <a:bodyPr wrap="square">
            <a:spAutoFit/>
          </a:bodyPr>
          <a:lstStyle/>
          <a:p>
            <a:pPr algn="l"/>
            <a:r>
              <a:rPr sz="2000" b="0">
                <a:solidFill>
                  <a:srgbClr val="000000"/>
                </a:solidFill>
                <a:latin typeface="Calibri"/>
                <a:ea typeface="微软雅黑"/>
              </a:rPr>
              <a:t>2.1 Overview</a:t>
            </a:r>
          </a:p>
        </p:txBody>
      </p:sp>
      <p:pic>
        <p:nvPicPr>
          <p:cNvPr id="6" name="Picture 5" descr="fig2_framework.png"/>
          <p:cNvPicPr>
            <a:picLocks noChangeAspect="1"/>
          </p:cNvPicPr>
          <p:nvPr/>
        </p:nvPicPr>
        <p:blipFill>
          <a:blip r:embed="rId3"/>
          <a:stretch>
            <a:fillRect/>
          </a:stretch>
        </p:blipFill>
        <p:spPr>
          <a:xfrm>
            <a:off x="800000" y="1450000"/>
            <a:ext cx="10500000" cy="4000000"/>
          </a:xfrm>
          <a:prstGeom prst="rect">
            <a:avLst/>
          </a:prstGeom>
        </p:spPr>
      </p:pic>
      <p:sp>
        <p:nvSpPr>
          <p:cNvPr id="7" name="TextBox 6"/>
          <p:cNvSpPr txBox="1"/>
          <p:nvPr/>
        </p:nvSpPr>
        <p:spPr>
          <a:xfrm>
            <a:off x="800000" y="5600000"/>
            <a:ext cx="10500000" cy="500000"/>
          </a:xfrm>
          <a:prstGeom prst="rect">
            <a:avLst/>
          </a:prstGeom>
          <a:noFill/>
        </p:spPr>
        <p:txBody>
          <a:bodyPr wrap="square">
            <a:spAutoFit/>
          </a:bodyPr>
          <a:lstStyle/>
          <a:p>
            <a:pPr algn="ctr"/>
            <a:r>
              <a:rPr sz="1300" b="0">
                <a:solidFill>
                  <a:srgbClr val="333333"/>
                </a:solidFill>
                <a:latin typeface="Calibri"/>
                <a:ea typeface="微软雅黑"/>
              </a:rPr>
              <a:t>Fig. 2  Decentralized execution with link-masked HGAT actor + centralized MAPPO critic</a:t>
            </a:r>
          </a:p>
        </p:txBody>
      </p:sp>
      <p:sp>
        <p:nvSpPr>
          <p:cNvPr id="8" name="TextBox 7"/>
          <p:cNvSpPr txBox="1"/>
          <p:nvPr/>
        </p:nvSpPr>
        <p:spPr>
          <a:xfrm>
            <a:off x="10058401" y="6554610"/>
            <a:ext cx="2133600" cy="274638"/>
          </a:xfrm>
          <a:prstGeom prst="rect">
            <a:avLst/>
          </a:prstGeom>
          <a:noFill/>
        </p:spPr>
        <p:txBody>
          <a:bodyPr wrap="none">
            <a:spAutoFit/>
          </a:bodyPr>
          <a:lstStyle/>
          <a:p>
            <a:pPr algn="r"/>
            <a:r>
              <a:rPr sz="1200">
                <a:solidFill>
                  <a:srgbClr val="333333"/>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st_logo.png"/>
          <p:cNvPicPr>
            <a:picLocks noChangeAspect="1"/>
          </p:cNvPicPr>
          <p:nvPr/>
        </p:nvPicPr>
        <p:blipFill>
          <a:blip r:embed="rId2"/>
          <a:stretch>
            <a:fillRect/>
          </a:stretch>
        </p:blipFill>
        <p:spPr>
          <a:xfrm>
            <a:off x="11133805" y="56933"/>
            <a:ext cx="850003" cy="586848"/>
          </a:xfrm>
          <a:prstGeom prst="rect">
            <a:avLst/>
          </a:prstGeom>
        </p:spPr>
      </p:pic>
      <p:sp>
        <p:nvSpPr>
          <p:cNvPr id="3" name="TextBox 2"/>
          <p:cNvSpPr txBox="1"/>
          <p:nvPr/>
        </p:nvSpPr>
        <p:spPr>
          <a:xfrm>
            <a:off x="76970" y="98726"/>
            <a:ext cx="10000000" cy="523220"/>
          </a:xfrm>
          <a:prstGeom prst="rect">
            <a:avLst/>
          </a:prstGeom>
          <a:noFill/>
        </p:spPr>
        <p:txBody>
          <a:bodyPr wrap="square">
            <a:spAutoFit/>
          </a:bodyPr>
          <a:lstStyle/>
          <a:p>
            <a:pPr algn="l"/>
            <a:r>
              <a:rPr sz="2800" b="1">
                <a:solidFill>
                  <a:srgbClr val="000000"/>
                </a:solidFill>
                <a:latin typeface="Calibri"/>
                <a:ea typeface="微软雅黑"/>
              </a:rPr>
              <a:t>2. IC-HGAT-MAPPO Framework</a:t>
            </a:r>
          </a:p>
        </p:txBody>
      </p:sp>
      <p:sp>
        <p:nvSpPr>
          <p:cNvPr id="4" name="Rectangle 3"/>
          <p:cNvSpPr/>
          <p:nvPr/>
        </p:nvSpPr>
        <p:spPr>
          <a:xfrm>
            <a:off x="1" y="667800"/>
            <a:ext cx="12192000" cy="117007"/>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970" y="820000"/>
            <a:ext cx="10000000" cy="400110"/>
          </a:xfrm>
          <a:prstGeom prst="rect">
            <a:avLst/>
          </a:prstGeom>
          <a:noFill/>
        </p:spPr>
        <p:txBody>
          <a:bodyPr wrap="square">
            <a:spAutoFit/>
          </a:bodyPr>
          <a:lstStyle/>
          <a:p>
            <a:pPr algn="l"/>
            <a:r>
              <a:rPr sz="2000" b="0">
                <a:solidFill>
                  <a:srgbClr val="000000"/>
                </a:solidFill>
                <a:latin typeface="Calibri"/>
                <a:ea typeface="微软雅黑"/>
              </a:rPr>
              <a:t>2.2 Belief maintenance &amp; history-aware selection</a:t>
            </a:r>
          </a:p>
        </p:txBody>
      </p:sp>
      <p:sp>
        <p:nvSpPr>
          <p:cNvPr id="6" name="Rounded Rectangle 5"/>
          <p:cNvSpPr/>
          <p:nvPr/>
        </p:nvSpPr>
        <p:spPr>
          <a:xfrm>
            <a:off x="250000" y="1450000"/>
            <a:ext cx="3750000" cy="450000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50000" y="1450000"/>
            <a:ext cx="3750000" cy="550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0000" y="1520000"/>
            <a:ext cx="3750000" cy="450000"/>
          </a:xfrm>
          <a:prstGeom prst="rect">
            <a:avLst/>
          </a:prstGeom>
          <a:noFill/>
        </p:spPr>
        <p:txBody>
          <a:bodyPr wrap="square">
            <a:spAutoFit/>
          </a:bodyPr>
          <a:lstStyle/>
          <a:p>
            <a:pPr algn="ctr"/>
            <a:r>
              <a:rPr sz="1800" b="1">
                <a:solidFill>
                  <a:srgbClr val="FFFFFF"/>
                </a:solidFill>
                <a:latin typeface="Calibri"/>
                <a:ea typeface="微软雅黑"/>
              </a:rPr>
              <a:t>P / E / R Memory</a:t>
            </a:r>
          </a:p>
        </p:txBody>
      </p:sp>
      <p:sp>
        <p:nvSpPr>
          <p:cNvPr id="9" name="TextBox 8"/>
          <p:cNvSpPr txBox="1"/>
          <p:nvPr/>
        </p:nvSpPr>
        <p:spPr>
          <a:xfrm>
            <a:off x="400000" y="2200000"/>
            <a:ext cx="3450000" cy="3500000"/>
          </a:xfrm>
          <a:prstGeom prst="rect">
            <a:avLst/>
          </a:prstGeom>
          <a:noFill/>
        </p:spPr>
        <p:txBody>
          <a:bodyPr wrap="square">
            <a:spAutoFit/>
          </a:bodyPr>
          <a:lstStyle/>
          <a:p>
            <a:pPr algn="l">
              <a:spcAft>
                <a:spcPts val="800"/>
              </a:spcAft>
            </a:pPr>
            <a:r>
              <a:rPr sz="1400" b="0">
                <a:solidFill>
                  <a:srgbClr val="000000"/>
                </a:solidFill>
                <a:latin typeface="Calibri"/>
                <a:ea typeface="微软雅黑"/>
              </a:rPr>
              <a:t>•  Probability map P: target occupancy belief</a:t>
            </a:r>
          </a:p>
          <a:p>
            <a:pPr algn="l">
              <a:spcAft>
                <a:spcPts val="800"/>
              </a:spcAft>
            </a:pPr>
            <a:r>
              <a:rPr sz="1400" b="0">
                <a:solidFill>
                  <a:srgbClr val="000000"/>
                </a:solidFill>
                <a:latin typeface="Calibri"/>
                <a:ea typeface="微软雅黑"/>
              </a:rPr>
              <a:t>•  Uncertainty map E: exploration priority</a:t>
            </a:r>
          </a:p>
          <a:p>
            <a:pPr algn="l">
              <a:spcAft>
                <a:spcPts val="800"/>
              </a:spcAft>
            </a:pPr>
            <a:r>
              <a:rPr sz="1400" b="0">
                <a:solidFill>
                  <a:srgbClr val="000000"/>
                </a:solidFill>
                <a:latin typeface="Calibri"/>
                <a:ea typeface="微软雅黑"/>
              </a:rPr>
              <a:t>•  Revisit-staleness map R: aging of visited cells</a:t>
            </a:r>
          </a:p>
          <a:p>
            <a:pPr algn="l">
              <a:spcAft>
                <a:spcPts val="800"/>
              </a:spcAft>
            </a:pPr>
            <a:r>
              <a:rPr sz="1400" b="0">
                <a:solidFill>
                  <a:srgbClr val="000000"/>
                </a:solidFill>
                <a:latin typeface="Calibri"/>
                <a:ea typeface="微软雅黑"/>
              </a:rPr>
              <a:t>•  No global map sharing required</a:t>
            </a:r>
          </a:p>
        </p:txBody>
      </p:sp>
      <p:sp>
        <p:nvSpPr>
          <p:cNvPr id="10" name="Rounded Rectangle 9"/>
          <p:cNvSpPr/>
          <p:nvPr/>
        </p:nvSpPr>
        <p:spPr>
          <a:xfrm>
            <a:off x="4200000" y="1450000"/>
            <a:ext cx="3750000" cy="450000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00000" y="1450000"/>
            <a:ext cx="3750000" cy="550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00000" y="1520000"/>
            <a:ext cx="3750000" cy="450000"/>
          </a:xfrm>
          <a:prstGeom prst="rect">
            <a:avLst/>
          </a:prstGeom>
          <a:noFill/>
        </p:spPr>
        <p:txBody>
          <a:bodyPr wrap="square">
            <a:spAutoFit/>
          </a:bodyPr>
          <a:lstStyle/>
          <a:p>
            <a:pPr algn="ctr"/>
            <a:r>
              <a:rPr sz="1800" b="1">
                <a:solidFill>
                  <a:srgbClr val="FFFFFF"/>
                </a:solidFill>
                <a:latin typeface="Calibri"/>
                <a:ea typeface="微软雅黑"/>
              </a:rPr>
              <a:t>Source Selection</a:t>
            </a:r>
          </a:p>
        </p:txBody>
      </p:sp>
      <p:sp>
        <p:nvSpPr>
          <p:cNvPr id="13" name="TextBox 12"/>
          <p:cNvSpPr txBox="1"/>
          <p:nvPr/>
        </p:nvSpPr>
        <p:spPr>
          <a:xfrm>
            <a:off x="4350000" y="2200000"/>
            <a:ext cx="3450000" cy="3500000"/>
          </a:xfrm>
          <a:prstGeom prst="rect">
            <a:avLst/>
          </a:prstGeom>
          <a:noFill/>
        </p:spPr>
        <p:txBody>
          <a:bodyPr wrap="square">
            <a:spAutoFit/>
          </a:bodyPr>
          <a:lstStyle/>
          <a:p>
            <a:pPr algn="l">
              <a:spcAft>
                <a:spcPts val="800"/>
              </a:spcAft>
            </a:pPr>
            <a:r>
              <a:rPr sz="1400" b="0">
                <a:solidFill>
                  <a:srgbClr val="000000"/>
                </a:solidFill>
                <a:latin typeface="Calibri"/>
                <a:ea typeface="微软雅黑"/>
              </a:rPr>
              <a:t>•  Instantaneous link mask restricts peers</a:t>
            </a:r>
          </a:p>
          <a:p>
            <a:pPr algn="l">
              <a:spcAft>
                <a:spcPts val="800"/>
              </a:spcAft>
            </a:pPr>
            <a:r>
              <a:rPr sz="1400" b="0">
                <a:solidFill>
                  <a:srgbClr val="000000"/>
                </a:solidFill>
                <a:latin typeface="Calibri"/>
                <a:ea typeface="微软雅黑"/>
              </a:rPr>
              <a:t>•  Node-level communication-history indicator</a:t>
            </a:r>
          </a:p>
          <a:p>
            <a:pPr algn="l">
              <a:spcAft>
                <a:spcPts val="800"/>
              </a:spcAft>
            </a:pPr>
            <a:r>
              <a:rPr sz="1400" b="0">
                <a:solidFill>
                  <a:srgbClr val="000000"/>
                </a:solidFill>
                <a:latin typeface="Calibri"/>
                <a:ea typeface="微软雅黑"/>
              </a:rPr>
              <a:t>•  Prefer informative &amp; fresh peer beliefs</a:t>
            </a:r>
          </a:p>
          <a:p>
            <a:pPr algn="l">
              <a:spcAft>
                <a:spcPts val="800"/>
              </a:spcAft>
            </a:pPr>
            <a:r>
              <a:rPr sz="1400" b="0">
                <a:solidFill>
                  <a:srgbClr val="000000"/>
                </a:solidFill>
                <a:latin typeface="Calibri"/>
                <a:ea typeface="微软雅黑"/>
              </a:rPr>
              <a:t>•  Down-weight stale recovered messages</a:t>
            </a:r>
          </a:p>
        </p:txBody>
      </p:sp>
      <p:sp>
        <p:nvSpPr>
          <p:cNvPr id="14" name="Rounded Rectangle 13"/>
          <p:cNvSpPr/>
          <p:nvPr/>
        </p:nvSpPr>
        <p:spPr>
          <a:xfrm>
            <a:off x="8150000" y="1450000"/>
            <a:ext cx="3750000" cy="450000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50000" y="1450000"/>
            <a:ext cx="3750000" cy="55000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50000" y="1520000"/>
            <a:ext cx="3750000" cy="450000"/>
          </a:xfrm>
          <a:prstGeom prst="rect">
            <a:avLst/>
          </a:prstGeom>
          <a:noFill/>
        </p:spPr>
        <p:txBody>
          <a:bodyPr wrap="square">
            <a:spAutoFit/>
          </a:bodyPr>
          <a:lstStyle/>
          <a:p>
            <a:pPr algn="ctr"/>
            <a:r>
              <a:rPr sz="1800" b="1">
                <a:solidFill>
                  <a:srgbClr val="FFFFFF"/>
                </a:solidFill>
                <a:latin typeface="Calibri"/>
                <a:ea typeface="微软雅黑"/>
              </a:rPr>
              <a:t>Design Goal</a:t>
            </a:r>
          </a:p>
        </p:txBody>
      </p:sp>
      <p:sp>
        <p:nvSpPr>
          <p:cNvPr id="17" name="TextBox 16"/>
          <p:cNvSpPr txBox="1"/>
          <p:nvPr/>
        </p:nvSpPr>
        <p:spPr>
          <a:xfrm>
            <a:off x="8300000" y="2200000"/>
            <a:ext cx="3450000" cy="3500000"/>
          </a:xfrm>
          <a:prstGeom prst="rect">
            <a:avLst/>
          </a:prstGeom>
          <a:noFill/>
        </p:spPr>
        <p:txBody>
          <a:bodyPr wrap="square">
            <a:spAutoFit/>
          </a:bodyPr>
          <a:lstStyle/>
          <a:p>
            <a:pPr algn="l">
              <a:spcAft>
                <a:spcPts val="800"/>
              </a:spcAft>
            </a:pPr>
            <a:r>
              <a:rPr sz="1400" b="0">
                <a:solidFill>
                  <a:srgbClr val="000000"/>
                </a:solidFill>
                <a:latin typeface="Calibri"/>
                <a:ea typeface="微软雅黑"/>
              </a:rPr>
              <a:t>•  Decide with onboard observations only</a:t>
            </a:r>
          </a:p>
          <a:p>
            <a:pPr algn="l">
              <a:spcAft>
                <a:spcPts val="800"/>
              </a:spcAft>
            </a:pPr>
            <a:r>
              <a:rPr sz="1400" b="0">
                <a:solidFill>
                  <a:srgbClr val="000000"/>
                </a:solidFill>
                <a:latin typeface="Calibri"/>
                <a:ea typeface="微软雅黑"/>
              </a:rPr>
              <a:t>•  Use reachable messages when available</a:t>
            </a:r>
          </a:p>
          <a:p>
            <a:pPr algn="l">
              <a:spcAft>
                <a:spcPts val="800"/>
              </a:spcAft>
            </a:pPr>
            <a:r>
              <a:rPr sz="1400" b="0">
                <a:solidFill>
                  <a:srgbClr val="000000"/>
                </a:solidFill>
                <a:latin typeface="Calibri"/>
                <a:ea typeface="微软雅黑"/>
              </a:rPr>
              <a:t>•  Keep team search coordinated under outage</a:t>
            </a:r>
          </a:p>
          <a:p>
            <a:pPr algn="l">
              <a:spcAft>
                <a:spcPts val="800"/>
              </a:spcAft>
            </a:pPr>
            <a:r>
              <a:rPr sz="1400" b="0">
                <a:solidFill>
                  <a:srgbClr val="000000"/>
                </a:solidFill>
                <a:latin typeface="Calibri"/>
                <a:ea typeface="微软雅黑"/>
              </a:rPr>
              <a:t>•  Treat communication as information constraint</a:t>
            </a:r>
          </a:p>
        </p:txBody>
      </p:sp>
      <p:sp>
        <p:nvSpPr>
          <p:cNvPr id="18" name="TextBox 17"/>
          <p:cNvSpPr txBox="1"/>
          <p:nvPr/>
        </p:nvSpPr>
        <p:spPr>
          <a:xfrm>
            <a:off x="10058401" y="6554610"/>
            <a:ext cx="2133600" cy="274638"/>
          </a:xfrm>
          <a:prstGeom prst="rect">
            <a:avLst/>
          </a:prstGeom>
          <a:noFill/>
        </p:spPr>
        <p:txBody>
          <a:bodyPr wrap="none">
            <a:spAutoFit/>
          </a:bodyPr>
          <a:lstStyle/>
          <a:p>
            <a:pPr algn="r"/>
            <a:r>
              <a:rPr sz="1200">
                <a:solidFill>
                  <a:srgbClr val="333333"/>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st_logo.png"/>
          <p:cNvPicPr>
            <a:picLocks noChangeAspect="1"/>
          </p:cNvPicPr>
          <p:nvPr/>
        </p:nvPicPr>
        <p:blipFill>
          <a:blip r:embed="rId2"/>
          <a:stretch>
            <a:fillRect/>
          </a:stretch>
        </p:blipFill>
        <p:spPr>
          <a:xfrm>
            <a:off x="11133805" y="56933"/>
            <a:ext cx="850003" cy="586848"/>
          </a:xfrm>
          <a:prstGeom prst="rect">
            <a:avLst/>
          </a:prstGeom>
        </p:spPr>
      </p:pic>
      <p:sp>
        <p:nvSpPr>
          <p:cNvPr id="3" name="TextBox 2"/>
          <p:cNvSpPr txBox="1"/>
          <p:nvPr/>
        </p:nvSpPr>
        <p:spPr>
          <a:xfrm>
            <a:off x="76970" y="98726"/>
            <a:ext cx="10000000" cy="523220"/>
          </a:xfrm>
          <a:prstGeom prst="rect">
            <a:avLst/>
          </a:prstGeom>
          <a:noFill/>
        </p:spPr>
        <p:txBody>
          <a:bodyPr wrap="square">
            <a:spAutoFit/>
          </a:bodyPr>
          <a:lstStyle/>
          <a:p>
            <a:pPr algn="l"/>
            <a:r>
              <a:rPr sz="2800" b="1">
                <a:solidFill>
                  <a:srgbClr val="000000"/>
                </a:solidFill>
                <a:latin typeface="Calibri"/>
                <a:ea typeface="微软雅黑"/>
              </a:rPr>
              <a:t>2. IC-HGAT-MAPPO Framework</a:t>
            </a:r>
          </a:p>
        </p:txBody>
      </p:sp>
      <p:sp>
        <p:nvSpPr>
          <p:cNvPr id="4" name="Rectangle 3"/>
          <p:cNvSpPr/>
          <p:nvPr/>
        </p:nvSpPr>
        <p:spPr>
          <a:xfrm>
            <a:off x="1" y="667800"/>
            <a:ext cx="12192000" cy="117007"/>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970" y="820000"/>
            <a:ext cx="10000000" cy="400110"/>
          </a:xfrm>
          <a:prstGeom prst="rect">
            <a:avLst/>
          </a:prstGeom>
          <a:noFill/>
        </p:spPr>
        <p:txBody>
          <a:bodyPr wrap="square">
            <a:spAutoFit/>
          </a:bodyPr>
          <a:lstStyle/>
          <a:p>
            <a:pPr algn="l"/>
            <a:r>
              <a:rPr sz="2000" b="0">
                <a:solidFill>
                  <a:srgbClr val="000000"/>
                </a:solidFill>
                <a:latin typeface="Calibri"/>
                <a:ea typeface="微软雅黑"/>
              </a:rPr>
              <a:t>2.3 Heterogeneous graph-attention policy</a:t>
            </a:r>
          </a:p>
        </p:txBody>
      </p:sp>
      <p:sp>
        <p:nvSpPr>
          <p:cNvPr id="6" name="Rounded Rectangle 5"/>
          <p:cNvSpPr/>
          <p:nvPr/>
        </p:nvSpPr>
        <p:spPr>
          <a:xfrm>
            <a:off x="300000" y="1450000"/>
            <a:ext cx="3700000" cy="1600000"/>
          </a:xfrm>
          <a:prstGeom prst="roundRect">
            <a:avLst/>
          </a:prstGeom>
          <a:solidFill>
            <a:srgbClr val="D6E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00000" y="1600000"/>
            <a:ext cx="3500000" cy="500000"/>
          </a:xfrm>
          <a:prstGeom prst="rect">
            <a:avLst/>
          </a:prstGeom>
          <a:noFill/>
        </p:spPr>
        <p:txBody>
          <a:bodyPr wrap="square">
            <a:spAutoFit/>
          </a:bodyPr>
          <a:lstStyle/>
          <a:p>
            <a:pPr algn="ctr"/>
            <a:r>
              <a:rPr sz="2000" b="1">
                <a:solidFill>
                  <a:srgbClr val="2F5496"/>
                </a:solidFill>
                <a:latin typeface="Calibri"/>
                <a:ea typeface="微软雅黑"/>
              </a:rPr>
              <a:t>UAV nodes</a:t>
            </a:r>
          </a:p>
        </p:txBody>
      </p:sp>
      <p:sp>
        <p:nvSpPr>
          <p:cNvPr id="8" name="TextBox 7"/>
          <p:cNvSpPr txBox="1"/>
          <p:nvPr/>
        </p:nvSpPr>
        <p:spPr>
          <a:xfrm>
            <a:off x="450000" y="2200000"/>
            <a:ext cx="3400000" cy="700000"/>
          </a:xfrm>
          <a:prstGeom prst="rect">
            <a:avLst/>
          </a:prstGeom>
          <a:noFill/>
        </p:spPr>
        <p:txBody>
          <a:bodyPr wrap="square">
            <a:spAutoFit/>
          </a:bodyPr>
          <a:lstStyle/>
          <a:p>
            <a:pPr algn="ctr"/>
            <a:r>
              <a:rPr sz="1400" b="0">
                <a:solidFill>
                  <a:srgbClr val="333333"/>
                </a:solidFill>
                <a:latin typeface="Calibri"/>
                <a:ea typeface="微软雅黑"/>
              </a:rPr>
              <a:t>Reachable teammates under current link mask</a:t>
            </a:r>
          </a:p>
        </p:txBody>
      </p:sp>
      <p:sp>
        <p:nvSpPr>
          <p:cNvPr id="9" name="Rounded Rectangle 8"/>
          <p:cNvSpPr/>
          <p:nvPr/>
        </p:nvSpPr>
        <p:spPr>
          <a:xfrm>
            <a:off x="4200000" y="1450000"/>
            <a:ext cx="3700000" cy="1600000"/>
          </a:xfrm>
          <a:prstGeom prst="roundRect">
            <a:avLst/>
          </a:prstGeom>
          <a:solidFill>
            <a:srgbClr val="D6E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00000" y="1600000"/>
            <a:ext cx="3500000" cy="500000"/>
          </a:xfrm>
          <a:prstGeom prst="rect">
            <a:avLst/>
          </a:prstGeom>
          <a:noFill/>
        </p:spPr>
        <p:txBody>
          <a:bodyPr wrap="square">
            <a:spAutoFit/>
          </a:bodyPr>
          <a:lstStyle/>
          <a:p>
            <a:pPr algn="ctr"/>
            <a:r>
              <a:rPr sz="2000" b="1">
                <a:solidFill>
                  <a:srgbClr val="2F5496"/>
                </a:solidFill>
                <a:latin typeface="Calibri"/>
                <a:ea typeface="微软雅黑"/>
              </a:rPr>
              <a:t>Target / Frontier</a:t>
            </a:r>
          </a:p>
        </p:txBody>
      </p:sp>
      <p:sp>
        <p:nvSpPr>
          <p:cNvPr id="11" name="TextBox 10"/>
          <p:cNvSpPr txBox="1"/>
          <p:nvPr/>
        </p:nvSpPr>
        <p:spPr>
          <a:xfrm>
            <a:off x="4350000" y="2200000"/>
            <a:ext cx="3400000" cy="700000"/>
          </a:xfrm>
          <a:prstGeom prst="rect">
            <a:avLst/>
          </a:prstGeom>
          <a:noFill/>
        </p:spPr>
        <p:txBody>
          <a:bodyPr wrap="square">
            <a:spAutoFit/>
          </a:bodyPr>
          <a:lstStyle/>
          <a:p>
            <a:pPr algn="ctr"/>
            <a:r>
              <a:rPr sz="1400" b="0">
                <a:solidFill>
                  <a:srgbClr val="333333"/>
                </a:solidFill>
                <a:latin typeface="Calibri"/>
                <a:ea typeface="微软雅黑"/>
              </a:rPr>
              <a:t>Search entities guiding informative moves</a:t>
            </a:r>
          </a:p>
        </p:txBody>
      </p:sp>
      <p:sp>
        <p:nvSpPr>
          <p:cNvPr id="12" name="Rounded Rectangle 11"/>
          <p:cNvSpPr/>
          <p:nvPr/>
        </p:nvSpPr>
        <p:spPr>
          <a:xfrm>
            <a:off x="8100000" y="1450000"/>
            <a:ext cx="3700000" cy="1600000"/>
          </a:xfrm>
          <a:prstGeom prst="roundRect">
            <a:avLst/>
          </a:prstGeom>
          <a:solidFill>
            <a:srgbClr val="D6E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00000" y="1600000"/>
            <a:ext cx="3500000" cy="500000"/>
          </a:xfrm>
          <a:prstGeom prst="rect">
            <a:avLst/>
          </a:prstGeom>
          <a:noFill/>
        </p:spPr>
        <p:txBody>
          <a:bodyPr wrap="square">
            <a:spAutoFit/>
          </a:bodyPr>
          <a:lstStyle/>
          <a:p>
            <a:pPr algn="ctr"/>
            <a:r>
              <a:rPr sz="2000" b="1">
                <a:solidFill>
                  <a:srgbClr val="2F5496"/>
                </a:solidFill>
                <a:latin typeface="Calibri"/>
                <a:ea typeface="微软雅黑"/>
              </a:rPr>
              <a:t>Obstacle nodes</a:t>
            </a:r>
          </a:p>
        </p:txBody>
      </p:sp>
      <p:sp>
        <p:nvSpPr>
          <p:cNvPr id="14" name="TextBox 13"/>
          <p:cNvSpPr txBox="1"/>
          <p:nvPr/>
        </p:nvSpPr>
        <p:spPr>
          <a:xfrm>
            <a:off x="8250000" y="2200000"/>
            <a:ext cx="3400000" cy="700000"/>
          </a:xfrm>
          <a:prstGeom prst="rect">
            <a:avLst/>
          </a:prstGeom>
          <a:noFill/>
        </p:spPr>
        <p:txBody>
          <a:bodyPr wrap="square">
            <a:spAutoFit/>
          </a:bodyPr>
          <a:lstStyle/>
          <a:p>
            <a:pPr algn="ctr"/>
            <a:r>
              <a:rPr sz="1400" b="0">
                <a:solidFill>
                  <a:srgbClr val="333333"/>
                </a:solidFill>
                <a:latin typeface="Calibri"/>
                <a:ea typeface="微软雅黑"/>
              </a:rPr>
              <a:t>Visible dynamic obstacles for safe planning</a:t>
            </a:r>
          </a:p>
        </p:txBody>
      </p:sp>
      <p:sp>
        <p:nvSpPr>
          <p:cNvPr id="15" name="Rounded Rectangle 14"/>
          <p:cNvSpPr/>
          <p:nvPr/>
        </p:nvSpPr>
        <p:spPr>
          <a:xfrm>
            <a:off x="300000" y="3300000"/>
            <a:ext cx="11500000" cy="250000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0000" y="3500000"/>
            <a:ext cx="11000000" cy="400000"/>
          </a:xfrm>
          <a:prstGeom prst="rect">
            <a:avLst/>
          </a:prstGeom>
          <a:noFill/>
        </p:spPr>
        <p:txBody>
          <a:bodyPr wrap="square">
            <a:spAutoFit/>
          </a:bodyPr>
          <a:lstStyle/>
          <a:p>
            <a:pPr algn="l"/>
            <a:r>
              <a:rPr sz="2000" b="1">
                <a:solidFill>
                  <a:srgbClr val="2F5496"/>
                </a:solidFill>
                <a:latin typeface="Calibri"/>
                <a:ea typeface="微软雅黑"/>
              </a:rPr>
              <a:t>Policy pipeline</a:t>
            </a:r>
          </a:p>
        </p:txBody>
      </p:sp>
      <p:sp>
        <p:nvSpPr>
          <p:cNvPr id="17" name="TextBox 16"/>
          <p:cNvSpPr txBox="1"/>
          <p:nvPr/>
        </p:nvSpPr>
        <p:spPr>
          <a:xfrm>
            <a:off x="500000" y="4100000"/>
            <a:ext cx="11000000" cy="500000"/>
          </a:xfrm>
          <a:prstGeom prst="rect">
            <a:avLst/>
          </a:prstGeom>
          <a:noFill/>
        </p:spPr>
        <p:txBody>
          <a:bodyPr wrap="square">
            <a:spAutoFit/>
          </a:bodyPr>
          <a:lstStyle/>
          <a:p>
            <a:pPr algn="ctr"/>
            <a:r>
              <a:rPr sz="1800" b="1">
                <a:solidFill>
                  <a:srgbClr val="000000"/>
                </a:solidFill>
                <a:latin typeface="Calibri"/>
                <a:ea typeface="微软雅黑"/>
              </a:rPr>
              <a:t>Masked HGAT encoder  →  Shared actor  →  9 discrete actions  →  Safety projection</a:t>
            </a:r>
          </a:p>
        </p:txBody>
      </p:sp>
      <p:sp>
        <p:nvSpPr>
          <p:cNvPr id="18" name="TextBox 17"/>
          <p:cNvSpPr txBox="1"/>
          <p:nvPr/>
        </p:nvSpPr>
        <p:spPr>
          <a:xfrm>
            <a:off x="500000" y="4800000"/>
            <a:ext cx="11000000" cy="800000"/>
          </a:xfrm>
          <a:prstGeom prst="rect">
            <a:avLst/>
          </a:prstGeom>
          <a:noFill/>
        </p:spPr>
        <p:txBody>
          <a:bodyPr wrap="square">
            <a:spAutoFit/>
          </a:bodyPr>
          <a:lstStyle/>
          <a:p>
            <a:pPr algn="ctr"/>
            <a:r>
              <a:rPr sz="1400" b="0">
                <a:solidFill>
                  <a:srgbClr val="333333"/>
                </a:solidFill>
                <a:latin typeface="Calibri"/>
                <a:ea typeface="微软雅黑"/>
              </a:rPr>
              <a:t>HGAT: 2 layers, 4 heads, hidden width 128. Typed relations help interpret search cues and obstacle risks</a:t>
            </a:r>
          </a:p>
          <a:p>
            <a:pPr algn="ctr"/>
            <a:r>
              <a:rPr sz="1400" b="0">
                <a:solidFill>
                  <a:srgbClr val="333333"/>
                </a:solidFill>
                <a:latin typeface="Calibri"/>
                <a:ea typeface="微软雅黑"/>
              </a:rPr>
              <a:t>under incomplete observations. Only one centralized critic is used during CTDE training.</a:t>
            </a:r>
          </a:p>
        </p:txBody>
      </p:sp>
      <p:sp>
        <p:nvSpPr>
          <p:cNvPr id="19" name="TextBox 18"/>
          <p:cNvSpPr txBox="1"/>
          <p:nvPr/>
        </p:nvSpPr>
        <p:spPr>
          <a:xfrm>
            <a:off x="10058401" y="6554610"/>
            <a:ext cx="2133600" cy="274638"/>
          </a:xfrm>
          <a:prstGeom prst="rect">
            <a:avLst/>
          </a:prstGeom>
          <a:noFill/>
        </p:spPr>
        <p:txBody>
          <a:bodyPr wrap="none">
            <a:spAutoFit/>
          </a:bodyPr>
          <a:lstStyle/>
          <a:p>
            <a:pPr algn="r"/>
            <a:r>
              <a:rPr sz="1200">
                <a:solidFill>
                  <a:srgbClr val="333333"/>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st_logo.png"/>
          <p:cNvPicPr>
            <a:picLocks noChangeAspect="1"/>
          </p:cNvPicPr>
          <p:nvPr/>
        </p:nvPicPr>
        <p:blipFill>
          <a:blip r:embed="rId2"/>
          <a:stretch>
            <a:fillRect/>
          </a:stretch>
        </p:blipFill>
        <p:spPr>
          <a:xfrm>
            <a:off x="11133805" y="56933"/>
            <a:ext cx="850003" cy="586848"/>
          </a:xfrm>
          <a:prstGeom prst="rect">
            <a:avLst/>
          </a:prstGeom>
        </p:spPr>
      </p:pic>
      <p:sp>
        <p:nvSpPr>
          <p:cNvPr id="3" name="TextBox 2"/>
          <p:cNvSpPr txBox="1"/>
          <p:nvPr/>
        </p:nvSpPr>
        <p:spPr>
          <a:xfrm>
            <a:off x="76970" y="98726"/>
            <a:ext cx="10000000" cy="523220"/>
          </a:xfrm>
          <a:prstGeom prst="rect">
            <a:avLst/>
          </a:prstGeom>
          <a:noFill/>
        </p:spPr>
        <p:txBody>
          <a:bodyPr wrap="square">
            <a:spAutoFit/>
          </a:bodyPr>
          <a:lstStyle/>
          <a:p>
            <a:pPr algn="l"/>
            <a:r>
              <a:rPr sz="2800" b="1">
                <a:solidFill>
                  <a:srgbClr val="000000"/>
                </a:solidFill>
                <a:latin typeface="Calibri"/>
                <a:ea typeface="微软雅黑"/>
              </a:rPr>
              <a:t>2. IC-HGAT-MAPPO Framework</a:t>
            </a:r>
          </a:p>
        </p:txBody>
      </p:sp>
      <p:sp>
        <p:nvSpPr>
          <p:cNvPr id="4" name="Rectangle 3"/>
          <p:cNvSpPr/>
          <p:nvPr/>
        </p:nvSpPr>
        <p:spPr>
          <a:xfrm>
            <a:off x="1" y="667800"/>
            <a:ext cx="12192000" cy="117007"/>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970" y="820000"/>
            <a:ext cx="10000000" cy="400110"/>
          </a:xfrm>
          <a:prstGeom prst="rect">
            <a:avLst/>
          </a:prstGeom>
          <a:noFill/>
        </p:spPr>
        <p:txBody>
          <a:bodyPr wrap="square">
            <a:spAutoFit/>
          </a:bodyPr>
          <a:lstStyle/>
          <a:p>
            <a:pPr algn="l"/>
            <a:r>
              <a:rPr sz="2000" b="0">
                <a:solidFill>
                  <a:srgbClr val="000000"/>
                </a:solidFill>
                <a:latin typeface="Calibri"/>
                <a:ea typeface="微软雅黑"/>
              </a:rPr>
              <a:t>2.4 Training &amp; decentralized execution</a:t>
            </a:r>
          </a:p>
        </p:txBody>
      </p:sp>
      <p:sp>
        <p:nvSpPr>
          <p:cNvPr id="6" name="Rounded Rectangle 5"/>
          <p:cNvSpPr/>
          <p:nvPr/>
        </p:nvSpPr>
        <p:spPr>
          <a:xfrm>
            <a:off x="300000" y="1400000"/>
            <a:ext cx="7000000" cy="470000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1550000"/>
            <a:ext cx="6600000" cy="400000"/>
          </a:xfrm>
          <a:prstGeom prst="rect">
            <a:avLst/>
          </a:prstGeom>
          <a:noFill/>
        </p:spPr>
        <p:txBody>
          <a:bodyPr wrap="square">
            <a:spAutoFit/>
          </a:bodyPr>
          <a:lstStyle/>
          <a:p>
            <a:pPr algn="l"/>
            <a:r>
              <a:rPr sz="1800" b="1">
                <a:solidFill>
                  <a:srgbClr val="2F5496"/>
                </a:solidFill>
                <a:latin typeface="Calibri"/>
                <a:ea typeface="微软雅黑"/>
              </a:rPr>
              <a:t>Algorithm 1  IC-HGAT-MAPPO</a:t>
            </a:r>
          </a:p>
        </p:txBody>
      </p:sp>
      <p:sp>
        <p:nvSpPr>
          <p:cNvPr id="8" name="TextBox 7"/>
          <p:cNvSpPr txBox="1"/>
          <p:nvPr/>
        </p:nvSpPr>
        <p:spPr>
          <a:xfrm>
            <a:off x="500000" y="2100000"/>
            <a:ext cx="6600000" cy="3800000"/>
          </a:xfrm>
          <a:prstGeom prst="rect">
            <a:avLst/>
          </a:prstGeom>
          <a:noFill/>
        </p:spPr>
        <p:txBody>
          <a:bodyPr wrap="square">
            <a:spAutoFit/>
          </a:bodyPr>
          <a:lstStyle/>
          <a:p>
            <a:pPr algn="l">
              <a:spcAft>
                <a:spcPts val="600"/>
              </a:spcAft>
            </a:pPr>
            <a:r>
              <a:rPr sz="1500" b="1">
                <a:solidFill>
                  <a:srgbClr val="000000"/>
                </a:solidFill>
                <a:latin typeface="Consolas"/>
                <a:ea typeface="微软雅黑"/>
              </a:rPr>
              <a:t>for each episode:</a:t>
            </a:r>
          </a:p>
          <a:p>
            <a:pPr>
              <a:spcAft>
                <a:spcPts val="600"/>
              </a:spcAft>
            </a:pPr>
            <a:r>
              <a:rPr sz="1500" b="0">
                <a:solidFill>
                  <a:srgbClr val="000000"/>
                </a:solidFill>
                <a:latin typeface="Consolas"/>
                <a:ea typeface="微软雅黑"/>
              </a:rPr>
              <a:t>   for each timestep t:</a:t>
            </a:r>
          </a:p>
          <a:p>
            <a:pPr>
              <a:spcAft>
                <a:spcPts val="600"/>
              </a:spcAft>
            </a:pPr>
            <a:r>
              <a:rPr sz="1500" b="0">
                <a:solidFill>
                  <a:srgbClr val="000000"/>
                </a:solidFill>
                <a:latin typeface="Consolas"/>
                <a:ea typeface="微软雅黑"/>
              </a:rPr>
              <a:t>      for each active UAV i:</a:t>
            </a:r>
          </a:p>
          <a:p>
            <a:pPr>
              <a:spcAft>
                <a:spcPts val="600"/>
              </a:spcAft>
            </a:pPr>
            <a:r>
              <a:rPr sz="1500" b="0">
                <a:solidFill>
                  <a:srgbClr val="000000"/>
                </a:solidFill>
                <a:latin typeface="Consolas"/>
                <a:ea typeface="微软雅黑"/>
              </a:rPr>
              <a:t>         Sense; update P/E/R; select sources</a:t>
            </a:r>
          </a:p>
          <a:p>
            <a:pPr>
              <a:spcAft>
                <a:spcPts val="600"/>
              </a:spcAft>
            </a:pPr>
            <a:r>
              <a:rPr sz="1500" b="0">
                <a:solidFill>
                  <a:srgbClr val="000000"/>
                </a:solidFill>
                <a:latin typeface="Consolas"/>
                <a:ea typeface="微软雅黑"/>
              </a:rPr>
              <a:t>         Build masked graph; sample action</a:t>
            </a:r>
          </a:p>
          <a:p>
            <a:pPr>
              <a:spcAft>
                <a:spcPts val="600"/>
              </a:spcAft>
            </a:pPr>
            <a:r>
              <a:rPr sz="1500" b="0">
                <a:solidFill>
                  <a:srgbClr val="000000"/>
                </a:solidFill>
                <a:latin typeface="Consolas"/>
                <a:ea typeface="微软雅黑"/>
              </a:rPr>
              <a:t>         Apply safety projection</a:t>
            </a:r>
          </a:p>
          <a:p>
            <a:pPr>
              <a:spcAft>
                <a:spcPts val="600"/>
              </a:spcAft>
            </a:pPr>
            <a:r>
              <a:rPr sz="1500" b="0">
                <a:solidFill>
                  <a:srgbClr val="000000"/>
                </a:solidFill>
                <a:latin typeface="Consolas"/>
                <a:ea typeface="微软雅黑"/>
              </a:rPr>
              <a:t>      Store samples; receive team reward r_t</a:t>
            </a:r>
          </a:p>
          <a:p>
            <a:pPr>
              <a:spcAft>
                <a:spcPts val="600"/>
              </a:spcAft>
            </a:pPr>
            <a:r>
              <a:rPr sz="1500" b="0">
                <a:solidFill>
                  <a:srgbClr val="000000"/>
                </a:solidFill>
                <a:latin typeface="Consolas"/>
                <a:ea typeface="微软雅黑"/>
              </a:rPr>
              <a:t>   Estimate GAE; update critic V_φ &amp; clipped MAPPO</a:t>
            </a:r>
          </a:p>
        </p:txBody>
      </p:sp>
      <p:sp>
        <p:nvSpPr>
          <p:cNvPr id="9" name="Rounded Rectangle 8"/>
          <p:cNvSpPr/>
          <p:nvPr/>
        </p:nvSpPr>
        <p:spPr>
          <a:xfrm>
            <a:off x="7600000" y="1400000"/>
            <a:ext cx="4300000" cy="4700000"/>
          </a:xfrm>
          <a:prstGeom prst="roundRect">
            <a:avLst/>
          </a:prstGeom>
          <a:solidFill>
            <a:srgbClr val="D6E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00000" y="1550000"/>
            <a:ext cx="4000000" cy="400000"/>
          </a:xfrm>
          <a:prstGeom prst="rect">
            <a:avLst/>
          </a:prstGeom>
          <a:noFill/>
        </p:spPr>
        <p:txBody>
          <a:bodyPr wrap="square">
            <a:spAutoFit/>
          </a:bodyPr>
          <a:lstStyle/>
          <a:p>
            <a:pPr algn="l"/>
            <a:r>
              <a:rPr sz="1800" b="1">
                <a:solidFill>
                  <a:srgbClr val="2F5496"/>
                </a:solidFill>
                <a:latin typeface="Calibri"/>
                <a:ea typeface="微软雅黑"/>
              </a:rPr>
              <a:t>Contributions</a:t>
            </a:r>
          </a:p>
        </p:txBody>
      </p:sp>
      <p:sp>
        <p:nvSpPr>
          <p:cNvPr id="11" name="TextBox 10"/>
          <p:cNvSpPr txBox="1"/>
          <p:nvPr/>
        </p:nvSpPr>
        <p:spPr>
          <a:xfrm>
            <a:off x="7800000" y="2200000"/>
            <a:ext cx="4000000" cy="3600000"/>
          </a:xfrm>
          <a:prstGeom prst="rect">
            <a:avLst/>
          </a:prstGeom>
          <a:noFill/>
        </p:spPr>
        <p:txBody>
          <a:bodyPr wrap="square">
            <a:spAutoFit/>
          </a:bodyPr>
          <a:lstStyle/>
          <a:p>
            <a:pPr algn="l">
              <a:spcAft>
                <a:spcPts val="800"/>
              </a:spcAft>
            </a:pPr>
            <a:r>
              <a:rPr sz="1400" b="0">
                <a:solidFill>
                  <a:srgbClr val="000000"/>
                </a:solidFill>
                <a:latin typeface="Calibri"/>
                <a:ea typeface="微软雅黑"/>
              </a:rPr>
              <a:t>1. Intermittent-communication-aware cooperative search</a:t>
            </a:r>
          </a:p>
          <a:p>
            <a:pPr algn="l">
              <a:spcAft>
                <a:spcPts val="800"/>
              </a:spcAft>
            </a:pPr>
            <a:r>
              <a:rPr sz="1400" b="0">
                <a:solidFill>
                  <a:srgbClr val="000000"/>
                </a:solidFill>
                <a:latin typeface="Calibri"/>
                <a:ea typeface="微软雅黑"/>
              </a:rPr>
              <a:t>2. Revisit-aware belief + history-aware source selection</a:t>
            </a:r>
          </a:p>
          <a:p>
            <a:pPr algn="l">
              <a:spcAft>
                <a:spcPts val="800"/>
              </a:spcAft>
            </a:pPr>
            <a:r>
              <a:rPr sz="1400" b="0">
                <a:solidFill>
                  <a:srgbClr val="000000"/>
                </a:solidFill>
                <a:latin typeface="Calibri"/>
                <a:ea typeface="微软雅黑"/>
              </a:rPr>
              <a:t>3. Heterogeneous graph-attention policy under incomplete observations</a:t>
            </a:r>
          </a:p>
        </p:txBody>
      </p:sp>
      <p:sp>
        <p:nvSpPr>
          <p:cNvPr id="12" name="TextBox 11"/>
          <p:cNvSpPr txBox="1"/>
          <p:nvPr/>
        </p:nvSpPr>
        <p:spPr>
          <a:xfrm>
            <a:off x="10058401" y="6554610"/>
            <a:ext cx="2133600" cy="274638"/>
          </a:xfrm>
          <a:prstGeom prst="rect">
            <a:avLst/>
          </a:prstGeom>
          <a:noFill/>
        </p:spPr>
        <p:txBody>
          <a:bodyPr wrap="none">
            <a:spAutoFit/>
          </a:bodyPr>
          <a:lstStyle/>
          <a:p>
            <a:pPr algn="r"/>
            <a:r>
              <a:rPr sz="1200">
                <a:solidFill>
                  <a:srgbClr val="333333"/>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st_logo.png"/>
          <p:cNvPicPr>
            <a:picLocks noChangeAspect="1"/>
          </p:cNvPicPr>
          <p:nvPr/>
        </p:nvPicPr>
        <p:blipFill>
          <a:blip r:embed="rId2"/>
          <a:stretch>
            <a:fillRect/>
          </a:stretch>
        </p:blipFill>
        <p:spPr>
          <a:xfrm>
            <a:off x="11133805" y="56933"/>
            <a:ext cx="850003" cy="586848"/>
          </a:xfrm>
          <a:prstGeom prst="rect">
            <a:avLst/>
          </a:prstGeom>
        </p:spPr>
      </p:pic>
      <p:sp>
        <p:nvSpPr>
          <p:cNvPr id="3" name="TextBox 2"/>
          <p:cNvSpPr txBox="1"/>
          <p:nvPr/>
        </p:nvSpPr>
        <p:spPr>
          <a:xfrm>
            <a:off x="76970" y="98726"/>
            <a:ext cx="10000000" cy="523220"/>
          </a:xfrm>
          <a:prstGeom prst="rect">
            <a:avLst/>
          </a:prstGeom>
          <a:noFill/>
        </p:spPr>
        <p:txBody>
          <a:bodyPr wrap="square">
            <a:spAutoFit/>
          </a:bodyPr>
          <a:lstStyle/>
          <a:p>
            <a:pPr algn="l"/>
            <a:r>
              <a:rPr sz="2800" b="1">
                <a:solidFill>
                  <a:srgbClr val="000000"/>
                </a:solidFill>
                <a:latin typeface="Calibri"/>
                <a:ea typeface="微软雅黑"/>
              </a:rPr>
              <a:t>3. Experiments</a:t>
            </a:r>
          </a:p>
        </p:txBody>
      </p:sp>
      <p:sp>
        <p:nvSpPr>
          <p:cNvPr id="4" name="Rectangle 3"/>
          <p:cNvSpPr/>
          <p:nvPr/>
        </p:nvSpPr>
        <p:spPr>
          <a:xfrm>
            <a:off x="1" y="667800"/>
            <a:ext cx="12192000" cy="117007"/>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970" y="820000"/>
            <a:ext cx="10000000" cy="400110"/>
          </a:xfrm>
          <a:prstGeom prst="rect">
            <a:avLst/>
          </a:prstGeom>
          <a:noFill/>
        </p:spPr>
        <p:txBody>
          <a:bodyPr wrap="square">
            <a:spAutoFit/>
          </a:bodyPr>
          <a:lstStyle/>
          <a:p>
            <a:pPr algn="l"/>
            <a:r>
              <a:rPr sz="2000" b="0">
                <a:solidFill>
                  <a:srgbClr val="000000"/>
                </a:solidFill>
                <a:latin typeface="Calibri"/>
                <a:ea typeface="微软雅黑"/>
              </a:rPr>
              <a:t>3.1 Setup and baselines</a:t>
            </a:r>
          </a:p>
        </p:txBody>
      </p:sp>
      <p:sp>
        <p:nvSpPr>
          <p:cNvPr id="6" name="Rounded Rectangle 5"/>
          <p:cNvSpPr/>
          <p:nvPr/>
        </p:nvSpPr>
        <p:spPr>
          <a:xfrm>
            <a:off x="300000" y="1400000"/>
            <a:ext cx="5600000" cy="80000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00000" y="1400000"/>
            <a:ext cx="1800000" cy="800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0000" y="1620000"/>
            <a:ext cx="1800000" cy="400000"/>
          </a:xfrm>
          <a:prstGeom prst="rect">
            <a:avLst/>
          </a:prstGeom>
          <a:noFill/>
        </p:spPr>
        <p:txBody>
          <a:bodyPr wrap="square">
            <a:spAutoFit/>
          </a:bodyPr>
          <a:lstStyle/>
          <a:p>
            <a:pPr algn="ctr"/>
            <a:r>
              <a:rPr sz="1300" b="1">
                <a:solidFill>
                  <a:srgbClr val="FFFFFF"/>
                </a:solidFill>
                <a:latin typeface="Calibri"/>
                <a:ea typeface="微软雅黑"/>
              </a:rPr>
              <a:t>Map / Horizon</a:t>
            </a:r>
          </a:p>
        </p:txBody>
      </p:sp>
      <p:sp>
        <p:nvSpPr>
          <p:cNvPr id="9" name="TextBox 8"/>
          <p:cNvSpPr txBox="1"/>
          <p:nvPr/>
        </p:nvSpPr>
        <p:spPr>
          <a:xfrm>
            <a:off x="2200000" y="1620000"/>
            <a:ext cx="3500000" cy="400000"/>
          </a:xfrm>
          <a:prstGeom prst="rect">
            <a:avLst/>
          </a:prstGeom>
          <a:noFill/>
        </p:spPr>
        <p:txBody>
          <a:bodyPr wrap="square">
            <a:spAutoFit/>
          </a:bodyPr>
          <a:lstStyle/>
          <a:p>
            <a:pPr algn="l"/>
            <a:r>
              <a:rPr sz="1500" b="0">
                <a:solidFill>
                  <a:srgbClr val="000000"/>
                </a:solidFill>
                <a:latin typeface="Calibri"/>
                <a:ea typeface="微软雅黑"/>
              </a:rPr>
              <a:t>30×30 cells, T=200</a:t>
            </a:r>
          </a:p>
        </p:txBody>
      </p:sp>
      <p:sp>
        <p:nvSpPr>
          <p:cNvPr id="10" name="Rounded Rectangle 9"/>
          <p:cNvSpPr/>
          <p:nvPr/>
        </p:nvSpPr>
        <p:spPr>
          <a:xfrm>
            <a:off x="6200000" y="1400000"/>
            <a:ext cx="5600000" cy="80000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00000" y="1400000"/>
            <a:ext cx="1800000" cy="800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00000" y="1620000"/>
            <a:ext cx="1800000" cy="400000"/>
          </a:xfrm>
          <a:prstGeom prst="rect">
            <a:avLst/>
          </a:prstGeom>
          <a:noFill/>
        </p:spPr>
        <p:txBody>
          <a:bodyPr wrap="square">
            <a:spAutoFit/>
          </a:bodyPr>
          <a:lstStyle/>
          <a:p>
            <a:pPr algn="ctr"/>
            <a:r>
              <a:rPr sz="1300" b="1">
                <a:solidFill>
                  <a:srgbClr val="FFFFFF"/>
                </a:solidFill>
                <a:latin typeface="Calibri"/>
                <a:ea typeface="微软雅黑"/>
              </a:rPr>
              <a:t>Fleet</a:t>
            </a:r>
          </a:p>
        </p:txBody>
      </p:sp>
      <p:sp>
        <p:nvSpPr>
          <p:cNvPr id="13" name="TextBox 12"/>
          <p:cNvSpPr txBox="1"/>
          <p:nvPr/>
        </p:nvSpPr>
        <p:spPr>
          <a:xfrm>
            <a:off x="8100000" y="1620000"/>
            <a:ext cx="3500000" cy="400000"/>
          </a:xfrm>
          <a:prstGeom prst="rect">
            <a:avLst/>
          </a:prstGeom>
          <a:noFill/>
        </p:spPr>
        <p:txBody>
          <a:bodyPr wrap="square">
            <a:spAutoFit/>
          </a:bodyPr>
          <a:lstStyle/>
          <a:p>
            <a:pPr algn="l"/>
            <a:r>
              <a:rPr sz="1500" b="0">
                <a:solidFill>
                  <a:srgbClr val="000000"/>
                </a:solidFill>
                <a:latin typeface="Calibri"/>
                <a:ea typeface="微软雅黑"/>
              </a:rPr>
              <a:t>6 UAVs, 15 targets, 10 obstacles</a:t>
            </a:r>
          </a:p>
        </p:txBody>
      </p:sp>
      <p:sp>
        <p:nvSpPr>
          <p:cNvPr id="14" name="Rounded Rectangle 13"/>
          <p:cNvSpPr/>
          <p:nvPr/>
        </p:nvSpPr>
        <p:spPr>
          <a:xfrm>
            <a:off x="300000" y="2300000"/>
            <a:ext cx="5600000" cy="80000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0000" y="2300000"/>
            <a:ext cx="1800000" cy="800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00000" y="2520000"/>
            <a:ext cx="1800000" cy="400000"/>
          </a:xfrm>
          <a:prstGeom prst="rect">
            <a:avLst/>
          </a:prstGeom>
          <a:noFill/>
        </p:spPr>
        <p:txBody>
          <a:bodyPr wrap="square">
            <a:spAutoFit/>
          </a:bodyPr>
          <a:lstStyle/>
          <a:p>
            <a:pPr algn="ctr"/>
            <a:r>
              <a:rPr sz="1300" b="1">
                <a:solidFill>
                  <a:srgbClr val="FFFFFF"/>
                </a:solidFill>
                <a:latin typeface="Calibri"/>
                <a:ea typeface="微软雅黑"/>
              </a:rPr>
              <a:t>Radii</a:t>
            </a:r>
          </a:p>
        </p:txBody>
      </p:sp>
      <p:sp>
        <p:nvSpPr>
          <p:cNvPr id="17" name="TextBox 16"/>
          <p:cNvSpPr txBox="1"/>
          <p:nvPr/>
        </p:nvSpPr>
        <p:spPr>
          <a:xfrm>
            <a:off x="2200000" y="2520000"/>
            <a:ext cx="3500000" cy="400000"/>
          </a:xfrm>
          <a:prstGeom prst="rect">
            <a:avLst/>
          </a:prstGeom>
          <a:noFill/>
        </p:spPr>
        <p:txBody>
          <a:bodyPr wrap="square">
            <a:spAutoFit/>
          </a:bodyPr>
          <a:lstStyle/>
          <a:p>
            <a:pPr algn="l"/>
            <a:r>
              <a:rPr sz="1500" b="0">
                <a:solidFill>
                  <a:srgbClr val="000000"/>
                </a:solidFill>
                <a:latin typeface="Calibri"/>
                <a:ea typeface="微软雅黑"/>
              </a:rPr>
              <a:t>Rs=2 cells, Rc=10 cells</a:t>
            </a:r>
          </a:p>
        </p:txBody>
      </p:sp>
      <p:sp>
        <p:nvSpPr>
          <p:cNvPr id="18" name="Rounded Rectangle 17"/>
          <p:cNvSpPr/>
          <p:nvPr/>
        </p:nvSpPr>
        <p:spPr>
          <a:xfrm>
            <a:off x="6200000" y="2300000"/>
            <a:ext cx="5600000" cy="80000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00000" y="2300000"/>
            <a:ext cx="1800000" cy="800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00000" y="2520000"/>
            <a:ext cx="1800000" cy="400000"/>
          </a:xfrm>
          <a:prstGeom prst="rect">
            <a:avLst/>
          </a:prstGeom>
          <a:noFill/>
        </p:spPr>
        <p:txBody>
          <a:bodyPr wrap="square">
            <a:spAutoFit/>
          </a:bodyPr>
          <a:lstStyle/>
          <a:p>
            <a:pPr algn="ctr"/>
            <a:r>
              <a:rPr sz="1300" b="1">
                <a:solidFill>
                  <a:srgbClr val="FFFFFF"/>
                </a:solidFill>
                <a:latin typeface="Calibri"/>
                <a:ea typeface="微软雅黑"/>
              </a:rPr>
              <a:t>Outage</a:t>
            </a:r>
          </a:p>
        </p:txBody>
      </p:sp>
      <p:sp>
        <p:nvSpPr>
          <p:cNvPr id="21" name="TextBox 20"/>
          <p:cNvSpPr txBox="1"/>
          <p:nvPr/>
        </p:nvSpPr>
        <p:spPr>
          <a:xfrm>
            <a:off x="8100000" y="2520000"/>
            <a:ext cx="3500000" cy="400000"/>
          </a:xfrm>
          <a:prstGeom prst="rect">
            <a:avLst/>
          </a:prstGeom>
          <a:noFill/>
        </p:spPr>
        <p:txBody>
          <a:bodyPr wrap="square">
            <a:spAutoFit/>
          </a:bodyPr>
          <a:lstStyle/>
          <a:p>
            <a:pPr algn="l"/>
            <a:r>
              <a:rPr sz="1500" b="0">
                <a:solidFill>
                  <a:srgbClr val="000000"/>
                </a:solidFill>
                <a:latin typeface="Calibri"/>
                <a:ea typeface="微软雅黑"/>
              </a:rPr>
              <a:t>base 0.02; pjam=prec=0.45</a:t>
            </a:r>
          </a:p>
        </p:txBody>
      </p:sp>
      <p:sp>
        <p:nvSpPr>
          <p:cNvPr id="22" name="Rounded Rectangle 21"/>
          <p:cNvSpPr/>
          <p:nvPr/>
        </p:nvSpPr>
        <p:spPr>
          <a:xfrm>
            <a:off x="300000" y="3200000"/>
            <a:ext cx="5600000" cy="80000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00000" y="3200000"/>
            <a:ext cx="1800000" cy="800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0000" y="3420000"/>
            <a:ext cx="1800000" cy="400000"/>
          </a:xfrm>
          <a:prstGeom prst="rect">
            <a:avLst/>
          </a:prstGeom>
          <a:noFill/>
        </p:spPr>
        <p:txBody>
          <a:bodyPr wrap="square">
            <a:spAutoFit/>
          </a:bodyPr>
          <a:lstStyle/>
          <a:p>
            <a:pPr algn="ctr"/>
            <a:r>
              <a:rPr sz="1300" b="1">
                <a:solidFill>
                  <a:srgbClr val="FFFFFF"/>
                </a:solidFill>
                <a:latin typeface="Calibri"/>
                <a:ea typeface="微软雅黑"/>
              </a:rPr>
              <a:t>Training</a:t>
            </a:r>
          </a:p>
        </p:txBody>
      </p:sp>
      <p:sp>
        <p:nvSpPr>
          <p:cNvPr id="25" name="TextBox 24"/>
          <p:cNvSpPr txBox="1"/>
          <p:nvPr/>
        </p:nvSpPr>
        <p:spPr>
          <a:xfrm>
            <a:off x="2200000" y="3420000"/>
            <a:ext cx="3500000" cy="400000"/>
          </a:xfrm>
          <a:prstGeom prst="rect">
            <a:avLst/>
          </a:prstGeom>
          <a:noFill/>
        </p:spPr>
        <p:txBody>
          <a:bodyPr wrap="square">
            <a:spAutoFit/>
          </a:bodyPr>
          <a:lstStyle/>
          <a:p>
            <a:pPr algn="l"/>
            <a:r>
              <a:rPr sz="1500" b="0">
                <a:solidFill>
                  <a:srgbClr val="000000"/>
                </a:solidFill>
                <a:latin typeface="Calibri"/>
                <a:ea typeface="微软雅黑"/>
              </a:rPr>
              <a:t>2,000 episodes; 5 seeds</a:t>
            </a:r>
          </a:p>
        </p:txBody>
      </p:sp>
      <p:sp>
        <p:nvSpPr>
          <p:cNvPr id="26" name="Rounded Rectangle 25"/>
          <p:cNvSpPr/>
          <p:nvPr/>
        </p:nvSpPr>
        <p:spPr>
          <a:xfrm>
            <a:off x="6200000" y="3200000"/>
            <a:ext cx="5600000" cy="80000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00000" y="3200000"/>
            <a:ext cx="1800000" cy="800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00000" y="3420000"/>
            <a:ext cx="1800000" cy="400000"/>
          </a:xfrm>
          <a:prstGeom prst="rect">
            <a:avLst/>
          </a:prstGeom>
          <a:noFill/>
        </p:spPr>
        <p:txBody>
          <a:bodyPr wrap="square">
            <a:spAutoFit/>
          </a:bodyPr>
          <a:lstStyle/>
          <a:p>
            <a:pPr algn="ctr"/>
            <a:r>
              <a:rPr sz="1300" b="1">
                <a:solidFill>
                  <a:srgbClr val="FFFFFF"/>
                </a:solidFill>
                <a:latin typeface="Calibri"/>
                <a:ea typeface="微软雅黑"/>
              </a:rPr>
              <a:t>Eval</a:t>
            </a:r>
          </a:p>
        </p:txBody>
      </p:sp>
      <p:sp>
        <p:nvSpPr>
          <p:cNvPr id="29" name="TextBox 28"/>
          <p:cNvSpPr txBox="1"/>
          <p:nvPr/>
        </p:nvSpPr>
        <p:spPr>
          <a:xfrm>
            <a:off x="8100000" y="3420000"/>
            <a:ext cx="3500000" cy="400000"/>
          </a:xfrm>
          <a:prstGeom prst="rect">
            <a:avLst/>
          </a:prstGeom>
          <a:noFill/>
        </p:spPr>
        <p:txBody>
          <a:bodyPr wrap="square">
            <a:spAutoFit/>
          </a:bodyPr>
          <a:lstStyle/>
          <a:p>
            <a:pPr algn="l"/>
            <a:r>
              <a:rPr sz="1500" b="0">
                <a:solidFill>
                  <a:srgbClr val="000000"/>
                </a:solidFill>
                <a:latin typeface="Calibri"/>
                <a:ea typeface="微软雅黑"/>
              </a:rPr>
              <a:t>30 held-out scenarios</a:t>
            </a:r>
          </a:p>
        </p:txBody>
      </p:sp>
      <p:sp>
        <p:nvSpPr>
          <p:cNvPr id="30" name="TextBox 29"/>
          <p:cNvSpPr txBox="1"/>
          <p:nvPr/>
        </p:nvSpPr>
        <p:spPr>
          <a:xfrm>
            <a:off x="300000" y="4300000"/>
            <a:ext cx="11500000" cy="400000"/>
          </a:xfrm>
          <a:prstGeom prst="rect">
            <a:avLst/>
          </a:prstGeom>
          <a:noFill/>
        </p:spPr>
        <p:txBody>
          <a:bodyPr wrap="square">
            <a:spAutoFit/>
          </a:bodyPr>
          <a:lstStyle/>
          <a:p>
            <a:pPr algn="l"/>
            <a:r>
              <a:rPr sz="1800" b="1">
                <a:solidFill>
                  <a:srgbClr val="2F5496"/>
                </a:solidFill>
                <a:latin typeface="Calibri"/>
                <a:ea typeface="微软雅黑"/>
              </a:rPr>
              <a:t>Baselines &amp; ablations</a:t>
            </a:r>
          </a:p>
        </p:txBody>
      </p:sp>
      <p:sp>
        <p:nvSpPr>
          <p:cNvPr id="31" name="TextBox 30"/>
          <p:cNvSpPr txBox="1"/>
          <p:nvPr/>
        </p:nvSpPr>
        <p:spPr>
          <a:xfrm>
            <a:off x="300000" y="4800000"/>
            <a:ext cx="11500000" cy="1200000"/>
          </a:xfrm>
          <a:prstGeom prst="rect">
            <a:avLst/>
          </a:prstGeom>
          <a:noFill/>
        </p:spPr>
        <p:txBody>
          <a:bodyPr wrap="square">
            <a:spAutoFit/>
          </a:bodyPr>
          <a:lstStyle/>
          <a:p>
            <a:pPr algn="l"/>
            <a:r>
              <a:rPr sz="1500" b="0">
                <a:solidFill>
                  <a:srgbClr val="333333"/>
                </a:solidFill>
                <a:latin typeface="Calibri"/>
                <a:ea typeface="微软雅黑"/>
              </a:rPr>
              <a:t>Heuristic search  |  QMIX  |  MAPPO (local encoder)  |  Homogeneous Graph MAPPO</a:t>
            </a:r>
          </a:p>
          <a:p>
            <a:pPr algn="l"/>
            <a:r>
              <a:rPr sz="1500" b="0">
                <a:solidFill>
                  <a:srgbClr val="333333"/>
                </a:solidFill>
                <a:latin typeface="Calibri"/>
                <a:ea typeface="微软雅黑"/>
              </a:rPr>
              <a:t>Ablations: w/o revisit memory  ·  w/o communication-history weighting</a:t>
            </a:r>
          </a:p>
        </p:txBody>
      </p:sp>
      <p:sp>
        <p:nvSpPr>
          <p:cNvPr id="32" name="TextBox 31"/>
          <p:cNvSpPr txBox="1"/>
          <p:nvPr/>
        </p:nvSpPr>
        <p:spPr>
          <a:xfrm>
            <a:off x="10058401" y="6554610"/>
            <a:ext cx="2133600" cy="274638"/>
          </a:xfrm>
          <a:prstGeom prst="rect">
            <a:avLst/>
          </a:prstGeom>
          <a:noFill/>
        </p:spPr>
        <p:txBody>
          <a:bodyPr wrap="none">
            <a:spAutoFit/>
          </a:bodyPr>
          <a:lstStyle/>
          <a:p>
            <a:pPr algn="r"/>
            <a:r>
              <a:rPr sz="1200">
                <a:solidFill>
                  <a:srgbClr val="333333"/>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st_logo.png"/>
          <p:cNvPicPr>
            <a:picLocks noChangeAspect="1"/>
          </p:cNvPicPr>
          <p:nvPr/>
        </p:nvPicPr>
        <p:blipFill>
          <a:blip r:embed="rId2"/>
          <a:stretch>
            <a:fillRect/>
          </a:stretch>
        </p:blipFill>
        <p:spPr>
          <a:xfrm>
            <a:off x="11133805" y="56933"/>
            <a:ext cx="850003" cy="586848"/>
          </a:xfrm>
          <a:prstGeom prst="rect">
            <a:avLst/>
          </a:prstGeom>
        </p:spPr>
      </p:pic>
      <p:sp>
        <p:nvSpPr>
          <p:cNvPr id="3" name="TextBox 2"/>
          <p:cNvSpPr txBox="1"/>
          <p:nvPr/>
        </p:nvSpPr>
        <p:spPr>
          <a:xfrm>
            <a:off x="76970" y="98726"/>
            <a:ext cx="10000000" cy="523220"/>
          </a:xfrm>
          <a:prstGeom prst="rect">
            <a:avLst/>
          </a:prstGeom>
          <a:noFill/>
        </p:spPr>
        <p:txBody>
          <a:bodyPr wrap="square">
            <a:spAutoFit/>
          </a:bodyPr>
          <a:lstStyle/>
          <a:p>
            <a:pPr algn="l"/>
            <a:r>
              <a:rPr sz="2800" b="1">
                <a:solidFill>
                  <a:srgbClr val="000000"/>
                </a:solidFill>
                <a:latin typeface="Calibri"/>
                <a:ea typeface="微软雅黑"/>
              </a:rPr>
              <a:t>3. Experiments</a:t>
            </a:r>
          </a:p>
        </p:txBody>
      </p:sp>
      <p:sp>
        <p:nvSpPr>
          <p:cNvPr id="4" name="Rectangle 3"/>
          <p:cNvSpPr/>
          <p:nvPr/>
        </p:nvSpPr>
        <p:spPr>
          <a:xfrm>
            <a:off x="1" y="667800"/>
            <a:ext cx="12192000" cy="117007"/>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970" y="820000"/>
            <a:ext cx="10000000" cy="400110"/>
          </a:xfrm>
          <a:prstGeom prst="rect">
            <a:avLst/>
          </a:prstGeom>
          <a:noFill/>
        </p:spPr>
        <p:txBody>
          <a:bodyPr wrap="square">
            <a:spAutoFit/>
          </a:bodyPr>
          <a:lstStyle/>
          <a:p>
            <a:pPr algn="l"/>
            <a:r>
              <a:rPr sz="2000" b="0">
                <a:solidFill>
                  <a:srgbClr val="000000"/>
                </a:solidFill>
                <a:latin typeface="Calibri"/>
                <a:ea typeface="微软雅黑"/>
              </a:rPr>
              <a:t>3.2 Main results (Table I)</a:t>
            </a:r>
          </a:p>
        </p:txBody>
      </p:sp>
      <p:sp>
        <p:nvSpPr>
          <p:cNvPr id="6" name="Rounded Rectangle 5"/>
          <p:cNvSpPr/>
          <p:nvPr/>
        </p:nvSpPr>
        <p:spPr>
          <a:xfrm>
            <a:off x="250000" y="1400000"/>
            <a:ext cx="2850000" cy="2200000"/>
          </a:xfrm>
          <a:prstGeom prst="roundRect">
            <a:avLst/>
          </a:prstGeom>
          <a:solidFill>
            <a:srgbClr val="D6E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0000" y="1550000"/>
            <a:ext cx="2850000" cy="700000"/>
          </a:xfrm>
          <a:prstGeom prst="rect">
            <a:avLst/>
          </a:prstGeom>
          <a:noFill/>
        </p:spPr>
        <p:txBody>
          <a:bodyPr wrap="square">
            <a:spAutoFit/>
          </a:bodyPr>
          <a:lstStyle/>
          <a:p>
            <a:pPr algn="ctr"/>
            <a:r>
              <a:rPr sz="3600" b="1">
                <a:solidFill>
                  <a:srgbClr val="2F5496"/>
                </a:solidFill>
                <a:latin typeface="Calibri"/>
                <a:ea typeface="微软雅黑"/>
              </a:rPr>
              <a:t>62.15%</a:t>
            </a:r>
          </a:p>
        </p:txBody>
      </p:sp>
      <p:sp>
        <p:nvSpPr>
          <p:cNvPr id="8" name="TextBox 7"/>
          <p:cNvSpPr txBox="1"/>
          <p:nvPr/>
        </p:nvSpPr>
        <p:spPr>
          <a:xfrm>
            <a:off x="350000" y="2350000"/>
            <a:ext cx="2650000" cy="500000"/>
          </a:xfrm>
          <a:prstGeom prst="rect">
            <a:avLst/>
          </a:prstGeom>
          <a:noFill/>
        </p:spPr>
        <p:txBody>
          <a:bodyPr wrap="square">
            <a:spAutoFit/>
          </a:bodyPr>
          <a:lstStyle/>
          <a:p>
            <a:pPr algn="ctr"/>
            <a:r>
              <a:rPr sz="1400" b="1">
                <a:solidFill>
                  <a:srgbClr val="000000"/>
                </a:solidFill>
                <a:latin typeface="Calibri"/>
                <a:ea typeface="微软雅黑"/>
              </a:rPr>
              <a:t>Belief Decisiveness</a:t>
            </a:r>
          </a:p>
        </p:txBody>
      </p:sp>
      <p:sp>
        <p:nvSpPr>
          <p:cNvPr id="9" name="TextBox 8"/>
          <p:cNvSpPr txBox="1"/>
          <p:nvPr/>
        </p:nvSpPr>
        <p:spPr>
          <a:xfrm>
            <a:off x="350000" y="2900000"/>
            <a:ext cx="2650000" cy="500000"/>
          </a:xfrm>
          <a:prstGeom prst="rect">
            <a:avLst/>
          </a:prstGeom>
          <a:noFill/>
        </p:spPr>
        <p:txBody>
          <a:bodyPr wrap="square">
            <a:spAutoFit/>
          </a:bodyPr>
          <a:lstStyle/>
          <a:p>
            <a:pPr algn="ctr"/>
            <a:r>
              <a:rPr sz="1200" b="0">
                <a:solidFill>
                  <a:srgbClr val="333333"/>
                </a:solidFill>
                <a:latin typeface="Calibri"/>
                <a:ea typeface="微软雅黑"/>
              </a:rPr>
              <a:t>Highest among all methods</a:t>
            </a:r>
          </a:p>
        </p:txBody>
      </p:sp>
      <p:sp>
        <p:nvSpPr>
          <p:cNvPr id="10" name="Rounded Rectangle 9"/>
          <p:cNvSpPr/>
          <p:nvPr/>
        </p:nvSpPr>
        <p:spPr>
          <a:xfrm>
            <a:off x="3250000" y="1400000"/>
            <a:ext cx="2850000" cy="2200000"/>
          </a:xfrm>
          <a:prstGeom prst="roundRect">
            <a:avLst/>
          </a:prstGeom>
          <a:solidFill>
            <a:srgbClr val="D6E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50000" y="1550000"/>
            <a:ext cx="2850000" cy="700000"/>
          </a:xfrm>
          <a:prstGeom prst="rect">
            <a:avLst/>
          </a:prstGeom>
          <a:noFill/>
        </p:spPr>
        <p:txBody>
          <a:bodyPr wrap="square">
            <a:spAutoFit/>
          </a:bodyPr>
          <a:lstStyle/>
          <a:p>
            <a:pPr algn="ctr"/>
            <a:r>
              <a:rPr sz="3600" b="1">
                <a:solidFill>
                  <a:srgbClr val="2F5496"/>
                </a:solidFill>
                <a:latin typeface="Calibri"/>
                <a:ea typeface="微软雅黑"/>
              </a:rPr>
              <a:t>86.78%</a:t>
            </a:r>
          </a:p>
        </p:txBody>
      </p:sp>
      <p:sp>
        <p:nvSpPr>
          <p:cNvPr id="12" name="TextBox 11"/>
          <p:cNvSpPr txBox="1"/>
          <p:nvPr/>
        </p:nvSpPr>
        <p:spPr>
          <a:xfrm>
            <a:off x="3350000" y="2350000"/>
            <a:ext cx="2650000" cy="500000"/>
          </a:xfrm>
          <a:prstGeom prst="rect">
            <a:avLst/>
          </a:prstGeom>
          <a:noFill/>
        </p:spPr>
        <p:txBody>
          <a:bodyPr wrap="square">
            <a:spAutoFit/>
          </a:bodyPr>
          <a:lstStyle/>
          <a:p>
            <a:pPr algn="ctr"/>
            <a:r>
              <a:rPr sz="1400" b="1">
                <a:solidFill>
                  <a:srgbClr val="000000"/>
                </a:solidFill>
                <a:latin typeface="Calibri"/>
                <a:ea typeface="微软雅黑"/>
              </a:rPr>
              <a:t>Target Discovery</a:t>
            </a:r>
          </a:p>
        </p:txBody>
      </p:sp>
      <p:sp>
        <p:nvSpPr>
          <p:cNvPr id="13" name="TextBox 12"/>
          <p:cNvSpPr txBox="1"/>
          <p:nvPr/>
        </p:nvSpPr>
        <p:spPr>
          <a:xfrm>
            <a:off x="3350000" y="2900000"/>
            <a:ext cx="2650000" cy="500000"/>
          </a:xfrm>
          <a:prstGeom prst="rect">
            <a:avLst/>
          </a:prstGeom>
          <a:noFill/>
        </p:spPr>
        <p:txBody>
          <a:bodyPr wrap="square">
            <a:spAutoFit/>
          </a:bodyPr>
          <a:lstStyle/>
          <a:p>
            <a:pPr algn="ctr"/>
            <a:r>
              <a:rPr sz="1200" b="0">
                <a:solidFill>
                  <a:srgbClr val="333333"/>
                </a:solidFill>
                <a:latin typeface="Calibri"/>
                <a:ea typeface="微软雅黑"/>
              </a:rPr>
              <a:t>+9.00 vs heuristic</a:t>
            </a:r>
          </a:p>
        </p:txBody>
      </p:sp>
      <p:sp>
        <p:nvSpPr>
          <p:cNvPr id="14" name="Rounded Rectangle 13"/>
          <p:cNvSpPr/>
          <p:nvPr/>
        </p:nvSpPr>
        <p:spPr>
          <a:xfrm>
            <a:off x="6250000" y="1400000"/>
            <a:ext cx="2850000" cy="2200000"/>
          </a:xfrm>
          <a:prstGeom prst="roundRect">
            <a:avLst/>
          </a:prstGeom>
          <a:solidFill>
            <a:srgbClr val="D6E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50000" y="1550000"/>
            <a:ext cx="2850000" cy="700000"/>
          </a:xfrm>
          <a:prstGeom prst="rect">
            <a:avLst/>
          </a:prstGeom>
          <a:noFill/>
        </p:spPr>
        <p:txBody>
          <a:bodyPr wrap="square">
            <a:spAutoFit/>
          </a:bodyPr>
          <a:lstStyle/>
          <a:p>
            <a:pPr algn="ctr"/>
            <a:r>
              <a:rPr sz="3600" b="1">
                <a:solidFill>
                  <a:srgbClr val="2F5496"/>
                </a:solidFill>
                <a:latin typeface="Calibri"/>
                <a:ea typeface="微软雅黑"/>
              </a:rPr>
              <a:t>82.0%</a:t>
            </a:r>
          </a:p>
        </p:txBody>
      </p:sp>
      <p:sp>
        <p:nvSpPr>
          <p:cNvPr id="16" name="TextBox 15"/>
          <p:cNvSpPr txBox="1"/>
          <p:nvPr/>
        </p:nvSpPr>
        <p:spPr>
          <a:xfrm>
            <a:off x="6350000" y="2350000"/>
            <a:ext cx="2650000" cy="500000"/>
          </a:xfrm>
          <a:prstGeom prst="rect">
            <a:avLst/>
          </a:prstGeom>
          <a:noFill/>
        </p:spPr>
        <p:txBody>
          <a:bodyPr wrap="square">
            <a:spAutoFit/>
          </a:bodyPr>
          <a:lstStyle/>
          <a:p>
            <a:pPr algn="ctr"/>
            <a:r>
              <a:rPr sz="1400" b="1">
                <a:solidFill>
                  <a:srgbClr val="000000"/>
                </a:solidFill>
                <a:latin typeface="Calibri"/>
                <a:ea typeface="微软雅黑"/>
              </a:rPr>
              <a:t>T80 Success Rate</a:t>
            </a:r>
          </a:p>
        </p:txBody>
      </p:sp>
      <p:sp>
        <p:nvSpPr>
          <p:cNvPr id="17" name="TextBox 16"/>
          <p:cNvSpPr txBox="1"/>
          <p:nvPr/>
        </p:nvSpPr>
        <p:spPr>
          <a:xfrm>
            <a:off x="6350000" y="2900000"/>
            <a:ext cx="2650000" cy="500000"/>
          </a:xfrm>
          <a:prstGeom prst="rect">
            <a:avLst/>
          </a:prstGeom>
          <a:noFill/>
        </p:spPr>
        <p:txBody>
          <a:bodyPr wrap="square">
            <a:spAutoFit/>
          </a:bodyPr>
          <a:lstStyle/>
          <a:p>
            <a:pPr algn="ctr"/>
            <a:r>
              <a:rPr sz="1200" b="0">
                <a:solidFill>
                  <a:srgbClr val="333333"/>
                </a:solidFill>
                <a:latin typeface="Calibri"/>
                <a:ea typeface="微软雅黑"/>
              </a:rPr>
              <a:t>vs 60.0% homo-graph</a:t>
            </a:r>
          </a:p>
        </p:txBody>
      </p:sp>
      <p:sp>
        <p:nvSpPr>
          <p:cNvPr id="18" name="Rounded Rectangle 17"/>
          <p:cNvSpPr/>
          <p:nvPr/>
        </p:nvSpPr>
        <p:spPr>
          <a:xfrm>
            <a:off x="9250000" y="1400000"/>
            <a:ext cx="2850000" cy="2200000"/>
          </a:xfrm>
          <a:prstGeom prst="roundRect">
            <a:avLst/>
          </a:prstGeom>
          <a:solidFill>
            <a:srgbClr val="D6E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50000" y="1550000"/>
            <a:ext cx="2850000" cy="700000"/>
          </a:xfrm>
          <a:prstGeom prst="rect">
            <a:avLst/>
          </a:prstGeom>
          <a:noFill/>
        </p:spPr>
        <p:txBody>
          <a:bodyPr wrap="square">
            <a:spAutoFit/>
          </a:bodyPr>
          <a:lstStyle/>
          <a:p>
            <a:pPr algn="ctr"/>
            <a:r>
              <a:rPr sz="3600" b="1">
                <a:solidFill>
                  <a:srgbClr val="2F5496"/>
                </a:solidFill>
                <a:latin typeface="Calibri"/>
                <a:ea typeface="微软雅黑"/>
              </a:rPr>
              <a:t>88.63</a:t>
            </a:r>
          </a:p>
        </p:txBody>
      </p:sp>
      <p:sp>
        <p:nvSpPr>
          <p:cNvPr id="20" name="TextBox 19"/>
          <p:cNvSpPr txBox="1"/>
          <p:nvPr/>
        </p:nvSpPr>
        <p:spPr>
          <a:xfrm>
            <a:off x="9350000" y="2350000"/>
            <a:ext cx="2650000" cy="500000"/>
          </a:xfrm>
          <a:prstGeom prst="rect">
            <a:avLst/>
          </a:prstGeom>
          <a:noFill/>
        </p:spPr>
        <p:txBody>
          <a:bodyPr wrap="square">
            <a:spAutoFit/>
          </a:bodyPr>
          <a:lstStyle/>
          <a:p>
            <a:pPr algn="ctr"/>
            <a:r>
              <a:rPr sz="1400" b="1">
                <a:solidFill>
                  <a:srgbClr val="000000"/>
                </a:solidFill>
                <a:latin typeface="Calibri"/>
                <a:ea typeface="微软雅黑"/>
              </a:rPr>
              <a:t>T80 Mean Steps</a:t>
            </a:r>
          </a:p>
        </p:txBody>
      </p:sp>
      <p:sp>
        <p:nvSpPr>
          <p:cNvPr id="21" name="TextBox 20"/>
          <p:cNvSpPr txBox="1"/>
          <p:nvPr/>
        </p:nvSpPr>
        <p:spPr>
          <a:xfrm>
            <a:off x="9350000" y="2900000"/>
            <a:ext cx="2650000" cy="500000"/>
          </a:xfrm>
          <a:prstGeom prst="rect">
            <a:avLst/>
          </a:prstGeom>
          <a:noFill/>
        </p:spPr>
        <p:txBody>
          <a:bodyPr wrap="square">
            <a:spAutoFit/>
          </a:bodyPr>
          <a:lstStyle/>
          <a:p>
            <a:pPr algn="ctr"/>
            <a:r>
              <a:rPr sz="1200" b="0">
                <a:solidFill>
                  <a:srgbClr val="333333"/>
                </a:solidFill>
                <a:latin typeface="Calibri"/>
                <a:ea typeface="微软雅黑"/>
              </a:rPr>
              <a:t>Fast among successful runs</a:t>
            </a:r>
          </a:p>
        </p:txBody>
      </p:sp>
      <p:sp>
        <p:nvSpPr>
          <p:cNvPr id="22" name="Rounded Rectangle 21"/>
          <p:cNvSpPr/>
          <p:nvPr/>
        </p:nvSpPr>
        <p:spPr>
          <a:xfrm>
            <a:off x="250000" y="3900000"/>
            <a:ext cx="11550000" cy="200000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0000" y="4100000"/>
            <a:ext cx="11200000" cy="1600000"/>
          </a:xfrm>
          <a:prstGeom prst="rect">
            <a:avLst/>
          </a:prstGeom>
          <a:noFill/>
        </p:spPr>
        <p:txBody>
          <a:bodyPr wrap="square">
            <a:spAutoFit/>
          </a:bodyPr>
          <a:lstStyle/>
          <a:p>
            <a:pPr algn="l"/>
            <a:r>
              <a:rPr sz="1500" b="0">
                <a:solidFill>
                  <a:srgbClr val="000000"/>
                </a:solidFill>
                <a:latin typeface="Calibri"/>
                <a:ea typeface="微软雅黑"/>
              </a:rPr>
              <a:t>Key takeaways</a:t>
            </a:r>
          </a:p>
          <a:p>
            <a:pPr algn="l"/>
            <a:r>
              <a:rPr sz="1500" b="0">
                <a:solidFill>
                  <a:srgbClr val="000000"/>
                </a:solidFill>
                <a:latin typeface="Calibri"/>
                <a:ea typeface="微软雅黑"/>
              </a:rPr>
              <a:t>• Heterogeneous relations vs homogeneous graph: +15.10 decisiveness points</a:t>
            </a:r>
          </a:p>
          <a:p>
            <a:pPr algn="l"/>
            <a:r>
              <a:rPr sz="1500" b="0">
                <a:solidFill>
                  <a:srgbClr val="000000"/>
                </a:solidFill>
                <a:latin typeface="Calibri"/>
                <a:ea typeface="微软雅黑"/>
              </a:rPr>
              <a:t>• Removing revisit memory: −16.33 decisiveness, −13.67 discovery</a:t>
            </a:r>
          </a:p>
          <a:p>
            <a:pPr algn="l"/>
            <a:r>
              <a:rPr sz="1500" b="0">
                <a:solidFill>
                  <a:srgbClr val="000000"/>
                </a:solidFill>
                <a:latin typeface="Calibri"/>
                <a:ea typeface="微软雅黑"/>
              </a:rPr>
              <a:t>• Safety projection changes only 0.17% of nominal actions (collision ≈ heuristic)</a:t>
            </a:r>
          </a:p>
        </p:txBody>
      </p:sp>
      <p:sp>
        <p:nvSpPr>
          <p:cNvPr id="24" name="TextBox 23"/>
          <p:cNvSpPr txBox="1"/>
          <p:nvPr/>
        </p:nvSpPr>
        <p:spPr>
          <a:xfrm>
            <a:off x="10058401" y="6554610"/>
            <a:ext cx="2133600" cy="274638"/>
          </a:xfrm>
          <a:prstGeom prst="rect">
            <a:avLst/>
          </a:prstGeom>
          <a:noFill/>
        </p:spPr>
        <p:txBody>
          <a:bodyPr wrap="none">
            <a:spAutoFit/>
          </a:bodyPr>
          <a:lstStyle/>
          <a:p>
            <a:pPr algn="r"/>
            <a:r>
              <a:rPr sz="1200">
                <a:solidFill>
                  <a:srgbClr val="333333"/>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1133805" y="56933"/>
            <a:ext cx="850003" cy="586848"/>
          </a:xfrm>
          <a:prstGeom prst="rect">
            <a:avLst/>
          </a:prstGeom>
        </p:spPr>
      </p:pic>
      <p:sp>
        <p:nvSpPr>
          <p:cNvPr id="3" name="TextBox 2"/>
          <p:cNvSpPr txBox="1"/>
          <p:nvPr/>
        </p:nvSpPr>
        <p:spPr>
          <a:xfrm>
            <a:off x="76970" y="98726"/>
            <a:ext cx="10000000" cy="523220"/>
          </a:xfrm>
          <a:prstGeom prst="rect">
            <a:avLst/>
          </a:prstGeom>
          <a:noFill/>
        </p:spPr>
        <p:txBody>
          <a:bodyPr wrap="square">
            <a:spAutoFit/>
          </a:bodyPr>
          <a:lstStyle/>
          <a:p>
            <a:pPr algn="l"/>
            <a:r>
              <a:rPr sz="2800" b="1">
                <a:solidFill>
                  <a:srgbClr val="000000"/>
                </a:solidFill>
                <a:latin typeface="Calibri"/>
              </a:rPr>
              <a:t>3. Experiments</a:t>
            </a:r>
          </a:p>
        </p:txBody>
      </p:sp>
      <p:sp>
        <p:nvSpPr>
          <p:cNvPr id="4" name="Rectangle 3"/>
          <p:cNvSpPr/>
          <p:nvPr/>
        </p:nvSpPr>
        <p:spPr>
          <a:xfrm>
            <a:off x="1" y="667800"/>
            <a:ext cx="12192000" cy="117007"/>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970" y="820000"/>
            <a:ext cx="10000000" cy="400110"/>
          </a:xfrm>
          <a:prstGeom prst="rect">
            <a:avLst/>
          </a:prstGeom>
          <a:noFill/>
        </p:spPr>
        <p:txBody>
          <a:bodyPr wrap="square">
            <a:spAutoFit/>
          </a:bodyPr>
          <a:lstStyle/>
          <a:p>
            <a:pPr algn="l"/>
            <a:r>
              <a:rPr sz="2000" b="0">
                <a:solidFill>
                  <a:srgbClr val="000000"/>
                </a:solidFill>
                <a:latin typeface="Calibri"/>
              </a:rPr>
              <a:t>3.2b Comparative evaluation (five-seed, 30 scenarios)</a:t>
            </a:r>
          </a:p>
        </p:txBody>
      </p:sp>
      <p:sp>
        <p:nvSpPr>
          <p:cNvPr id="6" name="Rectangle 5"/>
          <p:cNvSpPr/>
          <p:nvPr/>
        </p:nvSpPr>
        <p:spPr>
          <a:xfrm>
            <a:off x="300000" y="1400000"/>
            <a:ext cx="3200000" cy="520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00000" y="1520000"/>
            <a:ext cx="3200000" cy="300000"/>
          </a:xfrm>
          <a:prstGeom prst="rect">
            <a:avLst/>
          </a:prstGeom>
          <a:noFill/>
        </p:spPr>
        <p:txBody>
          <a:bodyPr wrap="square">
            <a:spAutoFit/>
          </a:bodyPr>
          <a:lstStyle/>
          <a:p>
            <a:pPr algn="ctr"/>
            <a:r>
              <a:rPr sz="1400" b="1">
                <a:solidFill>
                  <a:srgbClr val="FFFFFF"/>
                </a:solidFill>
                <a:latin typeface="Calibri"/>
              </a:rPr>
              <a:t>Method</a:t>
            </a:r>
          </a:p>
        </p:txBody>
      </p:sp>
      <p:sp>
        <p:nvSpPr>
          <p:cNvPr id="8" name="Rectangle 7"/>
          <p:cNvSpPr/>
          <p:nvPr/>
        </p:nvSpPr>
        <p:spPr>
          <a:xfrm>
            <a:off x="3500000" y="1400000"/>
            <a:ext cx="2100000" cy="520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00000" y="1520000"/>
            <a:ext cx="2100000" cy="300000"/>
          </a:xfrm>
          <a:prstGeom prst="rect">
            <a:avLst/>
          </a:prstGeom>
          <a:noFill/>
        </p:spPr>
        <p:txBody>
          <a:bodyPr wrap="square">
            <a:spAutoFit/>
          </a:bodyPr>
          <a:lstStyle/>
          <a:p>
            <a:pPr algn="ctr"/>
            <a:r>
              <a:rPr sz="1400" b="1">
                <a:solidFill>
                  <a:srgbClr val="FFFFFF"/>
                </a:solidFill>
                <a:latin typeface="Calibri"/>
              </a:rPr>
              <a:t>Decisiveness</a:t>
            </a:r>
          </a:p>
        </p:txBody>
      </p:sp>
      <p:sp>
        <p:nvSpPr>
          <p:cNvPr id="10" name="Rectangle 9"/>
          <p:cNvSpPr/>
          <p:nvPr/>
        </p:nvSpPr>
        <p:spPr>
          <a:xfrm>
            <a:off x="5600000" y="1400000"/>
            <a:ext cx="2100000" cy="520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00000" y="1520000"/>
            <a:ext cx="2100000" cy="300000"/>
          </a:xfrm>
          <a:prstGeom prst="rect">
            <a:avLst/>
          </a:prstGeom>
          <a:noFill/>
        </p:spPr>
        <p:txBody>
          <a:bodyPr wrap="square">
            <a:spAutoFit/>
          </a:bodyPr>
          <a:lstStyle/>
          <a:p>
            <a:pPr algn="ctr"/>
            <a:r>
              <a:rPr sz="1400" b="1">
                <a:solidFill>
                  <a:srgbClr val="FFFFFF"/>
                </a:solidFill>
                <a:latin typeface="Calibri"/>
              </a:rPr>
              <a:t>Discovery</a:t>
            </a:r>
          </a:p>
        </p:txBody>
      </p:sp>
      <p:sp>
        <p:nvSpPr>
          <p:cNvPr id="12" name="Rectangle 11"/>
          <p:cNvSpPr/>
          <p:nvPr/>
        </p:nvSpPr>
        <p:spPr>
          <a:xfrm>
            <a:off x="7700000" y="1400000"/>
            <a:ext cx="2000000" cy="520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0000" y="1520000"/>
            <a:ext cx="2000000" cy="300000"/>
          </a:xfrm>
          <a:prstGeom prst="rect">
            <a:avLst/>
          </a:prstGeom>
          <a:noFill/>
        </p:spPr>
        <p:txBody>
          <a:bodyPr wrap="square">
            <a:spAutoFit/>
          </a:bodyPr>
          <a:lstStyle/>
          <a:p>
            <a:pPr algn="ctr"/>
            <a:r>
              <a:rPr sz="1400" b="1">
                <a:solidFill>
                  <a:srgbClr val="FFFFFF"/>
                </a:solidFill>
                <a:latin typeface="Calibri"/>
              </a:rPr>
              <a:t>T80 Succ.</a:t>
            </a:r>
          </a:p>
        </p:txBody>
      </p:sp>
      <p:sp>
        <p:nvSpPr>
          <p:cNvPr id="14" name="Rectangle 13"/>
          <p:cNvSpPr/>
          <p:nvPr/>
        </p:nvSpPr>
        <p:spPr>
          <a:xfrm>
            <a:off x="9700000" y="1400000"/>
            <a:ext cx="2000000" cy="520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00000" y="1520000"/>
            <a:ext cx="2000000" cy="300000"/>
          </a:xfrm>
          <a:prstGeom prst="rect">
            <a:avLst/>
          </a:prstGeom>
          <a:noFill/>
        </p:spPr>
        <p:txBody>
          <a:bodyPr wrap="square">
            <a:spAutoFit/>
          </a:bodyPr>
          <a:lstStyle/>
          <a:p>
            <a:pPr algn="ctr"/>
            <a:r>
              <a:rPr sz="1400" b="1">
                <a:solidFill>
                  <a:srgbClr val="FFFFFF"/>
                </a:solidFill>
                <a:latin typeface="Calibri"/>
              </a:rPr>
              <a:t>T80 Mean</a:t>
            </a:r>
          </a:p>
        </p:txBody>
      </p:sp>
      <p:sp>
        <p:nvSpPr>
          <p:cNvPr id="16" name="Rectangle 15"/>
          <p:cNvSpPr/>
          <p:nvPr/>
        </p:nvSpPr>
        <p:spPr>
          <a:xfrm>
            <a:off x="300000" y="1920000"/>
            <a:ext cx="3200000" cy="52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0000" y="2040000"/>
            <a:ext cx="3120000" cy="300000"/>
          </a:xfrm>
          <a:prstGeom prst="rect">
            <a:avLst/>
          </a:prstGeom>
          <a:noFill/>
        </p:spPr>
        <p:txBody>
          <a:bodyPr wrap="square">
            <a:spAutoFit/>
          </a:bodyPr>
          <a:lstStyle/>
          <a:p>
            <a:pPr algn="l"/>
            <a:r>
              <a:rPr sz="1300" b="0">
                <a:solidFill>
                  <a:srgbClr val="000000"/>
                </a:solidFill>
                <a:latin typeface="Calibri"/>
              </a:rPr>
              <a:t>Heuristic search</a:t>
            </a:r>
          </a:p>
        </p:txBody>
      </p:sp>
      <p:sp>
        <p:nvSpPr>
          <p:cNvPr id="18" name="Rectangle 17"/>
          <p:cNvSpPr/>
          <p:nvPr/>
        </p:nvSpPr>
        <p:spPr>
          <a:xfrm>
            <a:off x="3500000" y="1920000"/>
            <a:ext cx="2100000" cy="52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40000" y="2040000"/>
            <a:ext cx="2020000" cy="300000"/>
          </a:xfrm>
          <a:prstGeom prst="rect">
            <a:avLst/>
          </a:prstGeom>
          <a:noFill/>
        </p:spPr>
        <p:txBody>
          <a:bodyPr wrap="square">
            <a:spAutoFit/>
          </a:bodyPr>
          <a:lstStyle/>
          <a:p>
            <a:pPr algn="ctr"/>
            <a:r>
              <a:rPr sz="1300" b="0">
                <a:solidFill>
                  <a:srgbClr val="000000"/>
                </a:solidFill>
                <a:latin typeface="Calibri"/>
              </a:rPr>
              <a:t>44.99%</a:t>
            </a:r>
          </a:p>
        </p:txBody>
      </p:sp>
      <p:sp>
        <p:nvSpPr>
          <p:cNvPr id="20" name="Rectangle 19"/>
          <p:cNvSpPr/>
          <p:nvPr/>
        </p:nvSpPr>
        <p:spPr>
          <a:xfrm>
            <a:off x="5600000" y="1920000"/>
            <a:ext cx="2100000" cy="52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40000" y="2040000"/>
            <a:ext cx="2020000" cy="300000"/>
          </a:xfrm>
          <a:prstGeom prst="rect">
            <a:avLst/>
          </a:prstGeom>
          <a:noFill/>
        </p:spPr>
        <p:txBody>
          <a:bodyPr wrap="square">
            <a:spAutoFit/>
          </a:bodyPr>
          <a:lstStyle/>
          <a:p>
            <a:pPr algn="ctr"/>
            <a:r>
              <a:rPr sz="1300" b="0">
                <a:solidFill>
                  <a:srgbClr val="000000"/>
                </a:solidFill>
                <a:latin typeface="Calibri"/>
              </a:rPr>
              <a:t>77.78%</a:t>
            </a:r>
          </a:p>
        </p:txBody>
      </p:sp>
      <p:sp>
        <p:nvSpPr>
          <p:cNvPr id="22" name="Rectangle 21"/>
          <p:cNvSpPr/>
          <p:nvPr/>
        </p:nvSpPr>
        <p:spPr>
          <a:xfrm>
            <a:off x="7700000" y="1920000"/>
            <a:ext cx="2000000" cy="52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40000" y="2040000"/>
            <a:ext cx="1920000" cy="300000"/>
          </a:xfrm>
          <a:prstGeom prst="rect">
            <a:avLst/>
          </a:prstGeom>
          <a:noFill/>
        </p:spPr>
        <p:txBody>
          <a:bodyPr wrap="square">
            <a:spAutoFit/>
          </a:bodyPr>
          <a:lstStyle/>
          <a:p>
            <a:pPr algn="ctr"/>
            <a:r>
              <a:rPr sz="1300" b="0">
                <a:solidFill>
                  <a:srgbClr val="000000"/>
                </a:solidFill>
                <a:latin typeface="Calibri"/>
              </a:rPr>
              <a:t>63.3%</a:t>
            </a:r>
          </a:p>
        </p:txBody>
      </p:sp>
      <p:sp>
        <p:nvSpPr>
          <p:cNvPr id="24" name="Rectangle 23"/>
          <p:cNvSpPr/>
          <p:nvPr/>
        </p:nvSpPr>
        <p:spPr>
          <a:xfrm>
            <a:off x="9700000" y="1920000"/>
            <a:ext cx="2000000" cy="52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40000" y="2040000"/>
            <a:ext cx="1920000" cy="300000"/>
          </a:xfrm>
          <a:prstGeom prst="rect">
            <a:avLst/>
          </a:prstGeom>
          <a:noFill/>
        </p:spPr>
        <p:txBody>
          <a:bodyPr wrap="square">
            <a:spAutoFit/>
          </a:bodyPr>
          <a:lstStyle/>
          <a:p>
            <a:pPr algn="ctr"/>
            <a:r>
              <a:rPr sz="1300" b="0">
                <a:solidFill>
                  <a:srgbClr val="000000"/>
                </a:solidFill>
                <a:latin typeface="Calibri"/>
              </a:rPr>
              <a:t>96.21</a:t>
            </a:r>
          </a:p>
        </p:txBody>
      </p:sp>
      <p:sp>
        <p:nvSpPr>
          <p:cNvPr id="26" name="Rectangle 25"/>
          <p:cNvSpPr/>
          <p:nvPr/>
        </p:nvSpPr>
        <p:spPr>
          <a:xfrm>
            <a:off x="300000" y="2440000"/>
            <a:ext cx="3200000" cy="52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40000" y="2560000"/>
            <a:ext cx="3120000" cy="300000"/>
          </a:xfrm>
          <a:prstGeom prst="rect">
            <a:avLst/>
          </a:prstGeom>
          <a:noFill/>
        </p:spPr>
        <p:txBody>
          <a:bodyPr wrap="square">
            <a:spAutoFit/>
          </a:bodyPr>
          <a:lstStyle/>
          <a:p>
            <a:pPr algn="l"/>
            <a:r>
              <a:rPr sz="1300" b="0">
                <a:solidFill>
                  <a:srgbClr val="000000"/>
                </a:solidFill>
                <a:latin typeface="Calibri"/>
              </a:rPr>
              <a:t>QMIX</a:t>
            </a:r>
          </a:p>
        </p:txBody>
      </p:sp>
      <p:sp>
        <p:nvSpPr>
          <p:cNvPr id="28" name="Rectangle 27"/>
          <p:cNvSpPr/>
          <p:nvPr/>
        </p:nvSpPr>
        <p:spPr>
          <a:xfrm>
            <a:off x="3500000" y="2440000"/>
            <a:ext cx="2100000" cy="52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40000" y="2560000"/>
            <a:ext cx="2020000" cy="300000"/>
          </a:xfrm>
          <a:prstGeom prst="rect">
            <a:avLst/>
          </a:prstGeom>
          <a:noFill/>
        </p:spPr>
        <p:txBody>
          <a:bodyPr wrap="square">
            <a:spAutoFit/>
          </a:bodyPr>
          <a:lstStyle/>
          <a:p>
            <a:pPr algn="ctr"/>
            <a:r>
              <a:rPr sz="1300" b="0">
                <a:solidFill>
                  <a:srgbClr val="000000"/>
                </a:solidFill>
                <a:latin typeface="Calibri"/>
              </a:rPr>
              <a:t>30.00%</a:t>
            </a:r>
          </a:p>
        </p:txBody>
      </p:sp>
      <p:sp>
        <p:nvSpPr>
          <p:cNvPr id="30" name="Rectangle 29"/>
          <p:cNvSpPr/>
          <p:nvPr/>
        </p:nvSpPr>
        <p:spPr>
          <a:xfrm>
            <a:off x="5600000" y="2440000"/>
            <a:ext cx="2100000" cy="52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40000" y="2560000"/>
            <a:ext cx="2020000" cy="300000"/>
          </a:xfrm>
          <a:prstGeom prst="rect">
            <a:avLst/>
          </a:prstGeom>
          <a:noFill/>
        </p:spPr>
        <p:txBody>
          <a:bodyPr wrap="square">
            <a:spAutoFit/>
          </a:bodyPr>
          <a:lstStyle/>
          <a:p>
            <a:pPr algn="ctr"/>
            <a:r>
              <a:rPr sz="1300" b="0">
                <a:solidFill>
                  <a:srgbClr val="000000"/>
                </a:solidFill>
                <a:latin typeface="Calibri"/>
              </a:rPr>
              <a:t>72.11%</a:t>
            </a:r>
          </a:p>
        </p:txBody>
      </p:sp>
      <p:sp>
        <p:nvSpPr>
          <p:cNvPr id="32" name="Rectangle 31"/>
          <p:cNvSpPr/>
          <p:nvPr/>
        </p:nvSpPr>
        <p:spPr>
          <a:xfrm>
            <a:off x="7700000" y="2440000"/>
            <a:ext cx="2000000" cy="52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40000" y="2560000"/>
            <a:ext cx="1920000" cy="300000"/>
          </a:xfrm>
          <a:prstGeom prst="rect">
            <a:avLst/>
          </a:prstGeom>
          <a:noFill/>
        </p:spPr>
        <p:txBody>
          <a:bodyPr wrap="square">
            <a:spAutoFit/>
          </a:bodyPr>
          <a:lstStyle/>
          <a:p>
            <a:pPr algn="ctr"/>
            <a:r>
              <a:rPr sz="1300" b="0">
                <a:solidFill>
                  <a:srgbClr val="000000"/>
                </a:solidFill>
                <a:latin typeface="Calibri"/>
              </a:rPr>
              <a:t>38.7%</a:t>
            </a:r>
          </a:p>
        </p:txBody>
      </p:sp>
      <p:sp>
        <p:nvSpPr>
          <p:cNvPr id="34" name="Rectangle 33"/>
          <p:cNvSpPr/>
          <p:nvPr/>
        </p:nvSpPr>
        <p:spPr>
          <a:xfrm>
            <a:off x="9700000" y="2440000"/>
            <a:ext cx="2000000" cy="52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40000" y="2560000"/>
            <a:ext cx="1920000" cy="300000"/>
          </a:xfrm>
          <a:prstGeom prst="rect">
            <a:avLst/>
          </a:prstGeom>
          <a:noFill/>
        </p:spPr>
        <p:txBody>
          <a:bodyPr wrap="square">
            <a:spAutoFit/>
          </a:bodyPr>
          <a:lstStyle/>
          <a:p>
            <a:pPr algn="ctr"/>
            <a:r>
              <a:rPr sz="1300" b="0">
                <a:solidFill>
                  <a:srgbClr val="000000"/>
                </a:solidFill>
                <a:latin typeface="Calibri"/>
              </a:rPr>
              <a:t>127.57</a:t>
            </a:r>
          </a:p>
        </p:txBody>
      </p:sp>
      <p:sp>
        <p:nvSpPr>
          <p:cNvPr id="36" name="Rectangle 35"/>
          <p:cNvSpPr/>
          <p:nvPr/>
        </p:nvSpPr>
        <p:spPr>
          <a:xfrm>
            <a:off x="300000" y="2960000"/>
            <a:ext cx="3200000" cy="52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40000" y="3080000"/>
            <a:ext cx="3120000" cy="300000"/>
          </a:xfrm>
          <a:prstGeom prst="rect">
            <a:avLst/>
          </a:prstGeom>
          <a:noFill/>
        </p:spPr>
        <p:txBody>
          <a:bodyPr wrap="square">
            <a:spAutoFit/>
          </a:bodyPr>
          <a:lstStyle/>
          <a:p>
            <a:pPr algn="l"/>
            <a:r>
              <a:rPr sz="1300" b="0">
                <a:solidFill>
                  <a:srgbClr val="000000"/>
                </a:solidFill>
                <a:latin typeface="Calibri"/>
              </a:rPr>
              <a:t>MAPPO (local)</a:t>
            </a:r>
          </a:p>
        </p:txBody>
      </p:sp>
      <p:sp>
        <p:nvSpPr>
          <p:cNvPr id="38" name="Rectangle 37"/>
          <p:cNvSpPr/>
          <p:nvPr/>
        </p:nvSpPr>
        <p:spPr>
          <a:xfrm>
            <a:off x="3500000" y="2960000"/>
            <a:ext cx="2100000" cy="52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540000" y="3080000"/>
            <a:ext cx="2020000" cy="300000"/>
          </a:xfrm>
          <a:prstGeom prst="rect">
            <a:avLst/>
          </a:prstGeom>
          <a:noFill/>
        </p:spPr>
        <p:txBody>
          <a:bodyPr wrap="square">
            <a:spAutoFit/>
          </a:bodyPr>
          <a:lstStyle/>
          <a:p>
            <a:pPr algn="ctr"/>
            <a:r>
              <a:rPr sz="1300" b="0">
                <a:solidFill>
                  <a:srgbClr val="000000"/>
                </a:solidFill>
                <a:latin typeface="Calibri"/>
              </a:rPr>
              <a:t>41.91%</a:t>
            </a:r>
          </a:p>
        </p:txBody>
      </p:sp>
      <p:sp>
        <p:nvSpPr>
          <p:cNvPr id="40" name="Rectangle 39"/>
          <p:cNvSpPr/>
          <p:nvPr/>
        </p:nvSpPr>
        <p:spPr>
          <a:xfrm>
            <a:off x="5600000" y="2960000"/>
            <a:ext cx="2100000" cy="52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640000" y="3080000"/>
            <a:ext cx="2020000" cy="300000"/>
          </a:xfrm>
          <a:prstGeom prst="rect">
            <a:avLst/>
          </a:prstGeom>
          <a:noFill/>
        </p:spPr>
        <p:txBody>
          <a:bodyPr wrap="square">
            <a:spAutoFit/>
          </a:bodyPr>
          <a:lstStyle/>
          <a:p>
            <a:pPr algn="ctr"/>
            <a:r>
              <a:rPr sz="1300" b="0">
                <a:solidFill>
                  <a:srgbClr val="000000"/>
                </a:solidFill>
                <a:latin typeface="Calibri"/>
              </a:rPr>
              <a:t>76.22%</a:t>
            </a:r>
          </a:p>
        </p:txBody>
      </p:sp>
      <p:sp>
        <p:nvSpPr>
          <p:cNvPr id="42" name="Rectangle 41"/>
          <p:cNvSpPr/>
          <p:nvPr/>
        </p:nvSpPr>
        <p:spPr>
          <a:xfrm>
            <a:off x="7700000" y="2960000"/>
            <a:ext cx="2000000" cy="52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740000" y="3080000"/>
            <a:ext cx="1920000" cy="300000"/>
          </a:xfrm>
          <a:prstGeom prst="rect">
            <a:avLst/>
          </a:prstGeom>
          <a:noFill/>
        </p:spPr>
        <p:txBody>
          <a:bodyPr wrap="square">
            <a:spAutoFit/>
          </a:bodyPr>
          <a:lstStyle/>
          <a:p>
            <a:pPr algn="ctr"/>
            <a:r>
              <a:rPr sz="1300" b="0">
                <a:solidFill>
                  <a:srgbClr val="000000"/>
                </a:solidFill>
                <a:latin typeface="Calibri"/>
              </a:rPr>
              <a:t>53.3%</a:t>
            </a:r>
          </a:p>
        </p:txBody>
      </p:sp>
      <p:sp>
        <p:nvSpPr>
          <p:cNvPr id="44" name="Rectangle 43"/>
          <p:cNvSpPr/>
          <p:nvPr/>
        </p:nvSpPr>
        <p:spPr>
          <a:xfrm>
            <a:off x="9700000" y="2960000"/>
            <a:ext cx="2000000" cy="52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740000" y="3080000"/>
            <a:ext cx="1920000" cy="300000"/>
          </a:xfrm>
          <a:prstGeom prst="rect">
            <a:avLst/>
          </a:prstGeom>
          <a:noFill/>
        </p:spPr>
        <p:txBody>
          <a:bodyPr wrap="square">
            <a:spAutoFit/>
          </a:bodyPr>
          <a:lstStyle/>
          <a:p>
            <a:pPr algn="ctr"/>
            <a:r>
              <a:rPr sz="1300" b="0">
                <a:solidFill>
                  <a:srgbClr val="000000"/>
                </a:solidFill>
                <a:latin typeface="Calibri"/>
              </a:rPr>
              <a:t>122.00</a:t>
            </a:r>
          </a:p>
        </p:txBody>
      </p:sp>
      <p:sp>
        <p:nvSpPr>
          <p:cNvPr id="46" name="Rectangle 45"/>
          <p:cNvSpPr/>
          <p:nvPr/>
        </p:nvSpPr>
        <p:spPr>
          <a:xfrm>
            <a:off x="300000" y="3480000"/>
            <a:ext cx="3200000" cy="52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40000" y="3600000"/>
            <a:ext cx="3120000" cy="300000"/>
          </a:xfrm>
          <a:prstGeom prst="rect">
            <a:avLst/>
          </a:prstGeom>
          <a:noFill/>
        </p:spPr>
        <p:txBody>
          <a:bodyPr wrap="square">
            <a:spAutoFit/>
          </a:bodyPr>
          <a:lstStyle/>
          <a:p>
            <a:pPr algn="l"/>
            <a:r>
              <a:rPr sz="1300" b="0">
                <a:solidFill>
                  <a:srgbClr val="000000"/>
                </a:solidFill>
                <a:latin typeface="Calibri"/>
              </a:rPr>
              <a:t>Homo. Graph MAPPO</a:t>
            </a:r>
          </a:p>
        </p:txBody>
      </p:sp>
      <p:sp>
        <p:nvSpPr>
          <p:cNvPr id="48" name="Rectangle 47"/>
          <p:cNvSpPr/>
          <p:nvPr/>
        </p:nvSpPr>
        <p:spPr>
          <a:xfrm>
            <a:off x="3500000" y="3480000"/>
            <a:ext cx="2100000" cy="52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540000" y="3600000"/>
            <a:ext cx="2020000" cy="300000"/>
          </a:xfrm>
          <a:prstGeom prst="rect">
            <a:avLst/>
          </a:prstGeom>
          <a:noFill/>
        </p:spPr>
        <p:txBody>
          <a:bodyPr wrap="square">
            <a:spAutoFit/>
          </a:bodyPr>
          <a:lstStyle/>
          <a:p>
            <a:pPr algn="ctr"/>
            <a:r>
              <a:rPr sz="1300" b="0">
                <a:solidFill>
                  <a:srgbClr val="000000"/>
                </a:solidFill>
                <a:latin typeface="Calibri"/>
              </a:rPr>
              <a:t>47.05%</a:t>
            </a:r>
          </a:p>
        </p:txBody>
      </p:sp>
      <p:sp>
        <p:nvSpPr>
          <p:cNvPr id="50" name="Rectangle 49"/>
          <p:cNvSpPr/>
          <p:nvPr/>
        </p:nvSpPr>
        <p:spPr>
          <a:xfrm>
            <a:off x="5600000" y="3480000"/>
            <a:ext cx="2100000" cy="52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640000" y="3600000"/>
            <a:ext cx="2020000" cy="300000"/>
          </a:xfrm>
          <a:prstGeom prst="rect">
            <a:avLst/>
          </a:prstGeom>
          <a:noFill/>
        </p:spPr>
        <p:txBody>
          <a:bodyPr wrap="square">
            <a:spAutoFit/>
          </a:bodyPr>
          <a:lstStyle/>
          <a:p>
            <a:pPr algn="ctr"/>
            <a:r>
              <a:rPr sz="1300" b="0">
                <a:solidFill>
                  <a:srgbClr val="000000"/>
                </a:solidFill>
                <a:latin typeface="Calibri"/>
              </a:rPr>
              <a:t>79.78%</a:t>
            </a:r>
          </a:p>
        </p:txBody>
      </p:sp>
      <p:sp>
        <p:nvSpPr>
          <p:cNvPr id="52" name="Rectangle 51"/>
          <p:cNvSpPr/>
          <p:nvPr/>
        </p:nvSpPr>
        <p:spPr>
          <a:xfrm>
            <a:off x="7700000" y="3480000"/>
            <a:ext cx="2000000" cy="52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740000" y="3600000"/>
            <a:ext cx="1920000" cy="300000"/>
          </a:xfrm>
          <a:prstGeom prst="rect">
            <a:avLst/>
          </a:prstGeom>
          <a:noFill/>
        </p:spPr>
        <p:txBody>
          <a:bodyPr wrap="square">
            <a:spAutoFit/>
          </a:bodyPr>
          <a:lstStyle/>
          <a:p>
            <a:pPr algn="ctr"/>
            <a:r>
              <a:rPr sz="1300" b="0">
                <a:solidFill>
                  <a:srgbClr val="000000"/>
                </a:solidFill>
                <a:latin typeface="Calibri"/>
              </a:rPr>
              <a:t>60.0%</a:t>
            </a:r>
          </a:p>
        </p:txBody>
      </p:sp>
      <p:sp>
        <p:nvSpPr>
          <p:cNvPr id="54" name="Rectangle 53"/>
          <p:cNvSpPr/>
          <p:nvPr/>
        </p:nvSpPr>
        <p:spPr>
          <a:xfrm>
            <a:off x="9700000" y="3480000"/>
            <a:ext cx="2000000" cy="52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740000" y="3600000"/>
            <a:ext cx="1920000" cy="300000"/>
          </a:xfrm>
          <a:prstGeom prst="rect">
            <a:avLst/>
          </a:prstGeom>
          <a:noFill/>
        </p:spPr>
        <p:txBody>
          <a:bodyPr wrap="square">
            <a:spAutoFit/>
          </a:bodyPr>
          <a:lstStyle/>
          <a:p>
            <a:pPr algn="ctr"/>
            <a:r>
              <a:rPr sz="1300" b="0">
                <a:solidFill>
                  <a:srgbClr val="000000"/>
                </a:solidFill>
                <a:latin typeface="Calibri"/>
              </a:rPr>
              <a:t>88.61</a:t>
            </a:r>
          </a:p>
        </p:txBody>
      </p:sp>
      <p:sp>
        <p:nvSpPr>
          <p:cNvPr id="56" name="Rectangle 55"/>
          <p:cNvSpPr/>
          <p:nvPr/>
        </p:nvSpPr>
        <p:spPr>
          <a:xfrm>
            <a:off x="300000" y="4000000"/>
            <a:ext cx="3200000" cy="52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40000" y="4120000"/>
            <a:ext cx="3120000" cy="300000"/>
          </a:xfrm>
          <a:prstGeom prst="rect">
            <a:avLst/>
          </a:prstGeom>
          <a:noFill/>
        </p:spPr>
        <p:txBody>
          <a:bodyPr wrap="square">
            <a:spAutoFit/>
          </a:bodyPr>
          <a:lstStyle/>
          <a:p>
            <a:pPr algn="l"/>
            <a:r>
              <a:rPr sz="1300" b="0">
                <a:solidFill>
                  <a:srgbClr val="000000"/>
                </a:solidFill>
                <a:latin typeface="Calibri"/>
              </a:rPr>
              <a:t>w/o revisit memory</a:t>
            </a:r>
          </a:p>
        </p:txBody>
      </p:sp>
      <p:sp>
        <p:nvSpPr>
          <p:cNvPr id="58" name="Rectangle 57"/>
          <p:cNvSpPr/>
          <p:nvPr/>
        </p:nvSpPr>
        <p:spPr>
          <a:xfrm>
            <a:off x="3500000" y="4000000"/>
            <a:ext cx="2100000" cy="52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540000" y="4120000"/>
            <a:ext cx="2020000" cy="300000"/>
          </a:xfrm>
          <a:prstGeom prst="rect">
            <a:avLst/>
          </a:prstGeom>
          <a:noFill/>
        </p:spPr>
        <p:txBody>
          <a:bodyPr wrap="square">
            <a:spAutoFit/>
          </a:bodyPr>
          <a:lstStyle/>
          <a:p>
            <a:pPr algn="ctr"/>
            <a:r>
              <a:rPr sz="1300" b="0">
                <a:solidFill>
                  <a:srgbClr val="000000"/>
                </a:solidFill>
                <a:latin typeface="Calibri"/>
              </a:rPr>
              <a:t>45.82%</a:t>
            </a:r>
          </a:p>
        </p:txBody>
      </p:sp>
      <p:sp>
        <p:nvSpPr>
          <p:cNvPr id="60" name="Rectangle 59"/>
          <p:cNvSpPr/>
          <p:nvPr/>
        </p:nvSpPr>
        <p:spPr>
          <a:xfrm>
            <a:off x="5600000" y="4000000"/>
            <a:ext cx="2100000" cy="52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640000" y="4120000"/>
            <a:ext cx="2020000" cy="300000"/>
          </a:xfrm>
          <a:prstGeom prst="rect">
            <a:avLst/>
          </a:prstGeom>
          <a:noFill/>
        </p:spPr>
        <p:txBody>
          <a:bodyPr wrap="square">
            <a:spAutoFit/>
          </a:bodyPr>
          <a:lstStyle/>
          <a:p>
            <a:pPr algn="ctr"/>
            <a:r>
              <a:rPr sz="1300" b="0">
                <a:solidFill>
                  <a:srgbClr val="000000"/>
                </a:solidFill>
                <a:latin typeface="Calibri"/>
              </a:rPr>
              <a:t>73.11%</a:t>
            </a:r>
          </a:p>
        </p:txBody>
      </p:sp>
      <p:sp>
        <p:nvSpPr>
          <p:cNvPr id="62" name="Rectangle 61"/>
          <p:cNvSpPr/>
          <p:nvPr/>
        </p:nvSpPr>
        <p:spPr>
          <a:xfrm>
            <a:off x="7700000" y="4000000"/>
            <a:ext cx="2000000" cy="52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740000" y="4120000"/>
            <a:ext cx="1920000" cy="300000"/>
          </a:xfrm>
          <a:prstGeom prst="rect">
            <a:avLst/>
          </a:prstGeom>
          <a:noFill/>
        </p:spPr>
        <p:txBody>
          <a:bodyPr wrap="square">
            <a:spAutoFit/>
          </a:bodyPr>
          <a:lstStyle/>
          <a:p>
            <a:pPr algn="ctr"/>
            <a:r>
              <a:rPr sz="1300" b="0">
                <a:solidFill>
                  <a:srgbClr val="000000"/>
                </a:solidFill>
                <a:latin typeface="Calibri"/>
              </a:rPr>
              <a:t>53.3%</a:t>
            </a:r>
          </a:p>
        </p:txBody>
      </p:sp>
      <p:sp>
        <p:nvSpPr>
          <p:cNvPr id="64" name="Rectangle 63"/>
          <p:cNvSpPr/>
          <p:nvPr/>
        </p:nvSpPr>
        <p:spPr>
          <a:xfrm>
            <a:off x="9700000" y="4000000"/>
            <a:ext cx="2000000" cy="52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740000" y="4120000"/>
            <a:ext cx="1920000" cy="300000"/>
          </a:xfrm>
          <a:prstGeom prst="rect">
            <a:avLst/>
          </a:prstGeom>
          <a:noFill/>
        </p:spPr>
        <p:txBody>
          <a:bodyPr wrap="square">
            <a:spAutoFit/>
          </a:bodyPr>
          <a:lstStyle/>
          <a:p>
            <a:pPr algn="ctr"/>
            <a:r>
              <a:rPr sz="1300" b="0">
                <a:solidFill>
                  <a:srgbClr val="000000"/>
                </a:solidFill>
                <a:latin typeface="Calibri"/>
              </a:rPr>
              <a:t>141.06</a:t>
            </a:r>
          </a:p>
        </p:txBody>
      </p:sp>
      <p:sp>
        <p:nvSpPr>
          <p:cNvPr id="66" name="Rectangle 65"/>
          <p:cNvSpPr/>
          <p:nvPr/>
        </p:nvSpPr>
        <p:spPr>
          <a:xfrm>
            <a:off x="300000" y="4520000"/>
            <a:ext cx="3200000" cy="52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40000" y="4640000"/>
            <a:ext cx="3120000" cy="300000"/>
          </a:xfrm>
          <a:prstGeom prst="rect">
            <a:avLst/>
          </a:prstGeom>
          <a:noFill/>
        </p:spPr>
        <p:txBody>
          <a:bodyPr wrap="square">
            <a:spAutoFit/>
          </a:bodyPr>
          <a:lstStyle/>
          <a:p>
            <a:pPr algn="l"/>
            <a:r>
              <a:rPr sz="1300" b="0">
                <a:solidFill>
                  <a:srgbClr val="000000"/>
                </a:solidFill>
                <a:latin typeface="Calibri"/>
              </a:rPr>
              <a:t>w/o hist. weighting</a:t>
            </a:r>
          </a:p>
        </p:txBody>
      </p:sp>
      <p:sp>
        <p:nvSpPr>
          <p:cNvPr id="68" name="Rectangle 67"/>
          <p:cNvSpPr/>
          <p:nvPr/>
        </p:nvSpPr>
        <p:spPr>
          <a:xfrm>
            <a:off x="3500000" y="4520000"/>
            <a:ext cx="2100000" cy="52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540000" y="4640000"/>
            <a:ext cx="2020000" cy="300000"/>
          </a:xfrm>
          <a:prstGeom prst="rect">
            <a:avLst/>
          </a:prstGeom>
          <a:noFill/>
        </p:spPr>
        <p:txBody>
          <a:bodyPr wrap="square">
            <a:spAutoFit/>
          </a:bodyPr>
          <a:lstStyle/>
          <a:p>
            <a:pPr algn="ctr"/>
            <a:r>
              <a:rPr sz="1300" b="0">
                <a:solidFill>
                  <a:srgbClr val="000000"/>
                </a:solidFill>
                <a:latin typeface="Calibri"/>
              </a:rPr>
              <a:t>53.99%</a:t>
            </a:r>
          </a:p>
        </p:txBody>
      </p:sp>
      <p:sp>
        <p:nvSpPr>
          <p:cNvPr id="70" name="Rectangle 69"/>
          <p:cNvSpPr/>
          <p:nvPr/>
        </p:nvSpPr>
        <p:spPr>
          <a:xfrm>
            <a:off x="5600000" y="4520000"/>
            <a:ext cx="2100000" cy="52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640000" y="4640000"/>
            <a:ext cx="2020000" cy="300000"/>
          </a:xfrm>
          <a:prstGeom prst="rect">
            <a:avLst/>
          </a:prstGeom>
          <a:noFill/>
        </p:spPr>
        <p:txBody>
          <a:bodyPr wrap="square">
            <a:spAutoFit/>
          </a:bodyPr>
          <a:lstStyle/>
          <a:p>
            <a:pPr algn="ctr"/>
            <a:r>
              <a:rPr sz="1300" b="0">
                <a:solidFill>
                  <a:srgbClr val="000000"/>
                </a:solidFill>
                <a:latin typeface="Calibri"/>
              </a:rPr>
              <a:t>85.33%</a:t>
            </a:r>
          </a:p>
        </p:txBody>
      </p:sp>
      <p:sp>
        <p:nvSpPr>
          <p:cNvPr id="72" name="Rectangle 71"/>
          <p:cNvSpPr/>
          <p:nvPr/>
        </p:nvSpPr>
        <p:spPr>
          <a:xfrm>
            <a:off x="7700000" y="4520000"/>
            <a:ext cx="2000000" cy="52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740000" y="4640000"/>
            <a:ext cx="1920000" cy="300000"/>
          </a:xfrm>
          <a:prstGeom prst="rect">
            <a:avLst/>
          </a:prstGeom>
          <a:noFill/>
        </p:spPr>
        <p:txBody>
          <a:bodyPr wrap="square">
            <a:spAutoFit/>
          </a:bodyPr>
          <a:lstStyle/>
          <a:p>
            <a:pPr algn="ctr"/>
            <a:r>
              <a:rPr sz="1300" b="0">
                <a:solidFill>
                  <a:srgbClr val="000000"/>
                </a:solidFill>
                <a:latin typeface="Calibri"/>
              </a:rPr>
              <a:t>86.7%</a:t>
            </a:r>
          </a:p>
        </p:txBody>
      </p:sp>
      <p:sp>
        <p:nvSpPr>
          <p:cNvPr id="74" name="Rectangle 73"/>
          <p:cNvSpPr/>
          <p:nvPr/>
        </p:nvSpPr>
        <p:spPr>
          <a:xfrm>
            <a:off x="9700000" y="4520000"/>
            <a:ext cx="2000000" cy="52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740000" y="4640000"/>
            <a:ext cx="1920000" cy="300000"/>
          </a:xfrm>
          <a:prstGeom prst="rect">
            <a:avLst/>
          </a:prstGeom>
          <a:noFill/>
        </p:spPr>
        <p:txBody>
          <a:bodyPr wrap="square">
            <a:spAutoFit/>
          </a:bodyPr>
          <a:lstStyle/>
          <a:p>
            <a:pPr algn="ctr"/>
            <a:r>
              <a:rPr sz="1300" b="0">
                <a:solidFill>
                  <a:srgbClr val="000000"/>
                </a:solidFill>
                <a:latin typeface="Calibri"/>
              </a:rPr>
              <a:t>98.19</a:t>
            </a:r>
          </a:p>
        </p:txBody>
      </p:sp>
      <p:sp>
        <p:nvSpPr>
          <p:cNvPr id="76" name="Rectangle 75"/>
          <p:cNvSpPr/>
          <p:nvPr/>
        </p:nvSpPr>
        <p:spPr>
          <a:xfrm>
            <a:off x="300000" y="5040000"/>
            <a:ext cx="3200000" cy="520000"/>
          </a:xfrm>
          <a:prstGeom prst="rect">
            <a:avLst/>
          </a:prstGeom>
          <a:solidFill>
            <a:srgbClr val="E2E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340000" y="5160000"/>
            <a:ext cx="3120000" cy="300000"/>
          </a:xfrm>
          <a:prstGeom prst="rect">
            <a:avLst/>
          </a:prstGeom>
          <a:noFill/>
        </p:spPr>
        <p:txBody>
          <a:bodyPr wrap="square">
            <a:spAutoFit/>
          </a:bodyPr>
          <a:lstStyle/>
          <a:p>
            <a:pPr algn="l"/>
            <a:r>
              <a:rPr sz="1300" b="1">
                <a:solidFill>
                  <a:srgbClr val="2F5496"/>
                </a:solidFill>
                <a:latin typeface="Calibri"/>
              </a:rPr>
              <a:t>IC-HGAT-MAPPO</a:t>
            </a:r>
          </a:p>
        </p:txBody>
      </p:sp>
      <p:sp>
        <p:nvSpPr>
          <p:cNvPr id="78" name="Rectangle 77"/>
          <p:cNvSpPr/>
          <p:nvPr/>
        </p:nvSpPr>
        <p:spPr>
          <a:xfrm>
            <a:off x="3500000" y="5040000"/>
            <a:ext cx="2100000" cy="520000"/>
          </a:xfrm>
          <a:prstGeom prst="rect">
            <a:avLst/>
          </a:prstGeom>
          <a:solidFill>
            <a:srgbClr val="E2E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540000" y="5160000"/>
            <a:ext cx="2020000" cy="300000"/>
          </a:xfrm>
          <a:prstGeom prst="rect">
            <a:avLst/>
          </a:prstGeom>
          <a:noFill/>
        </p:spPr>
        <p:txBody>
          <a:bodyPr wrap="square">
            <a:spAutoFit/>
          </a:bodyPr>
          <a:lstStyle/>
          <a:p>
            <a:pPr algn="ctr"/>
            <a:r>
              <a:rPr sz="1300" b="1">
                <a:solidFill>
                  <a:srgbClr val="2F5496"/>
                </a:solidFill>
                <a:latin typeface="Calibri"/>
              </a:rPr>
              <a:t>62.15%</a:t>
            </a:r>
          </a:p>
        </p:txBody>
      </p:sp>
      <p:sp>
        <p:nvSpPr>
          <p:cNvPr id="80" name="Rectangle 79"/>
          <p:cNvSpPr/>
          <p:nvPr/>
        </p:nvSpPr>
        <p:spPr>
          <a:xfrm>
            <a:off x="5600000" y="5040000"/>
            <a:ext cx="2100000" cy="520000"/>
          </a:xfrm>
          <a:prstGeom prst="rect">
            <a:avLst/>
          </a:prstGeom>
          <a:solidFill>
            <a:srgbClr val="E2E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640000" y="5160000"/>
            <a:ext cx="2020000" cy="300000"/>
          </a:xfrm>
          <a:prstGeom prst="rect">
            <a:avLst/>
          </a:prstGeom>
          <a:noFill/>
        </p:spPr>
        <p:txBody>
          <a:bodyPr wrap="square">
            <a:spAutoFit/>
          </a:bodyPr>
          <a:lstStyle/>
          <a:p>
            <a:pPr algn="ctr"/>
            <a:r>
              <a:rPr sz="1300" b="1">
                <a:solidFill>
                  <a:srgbClr val="2F5496"/>
                </a:solidFill>
                <a:latin typeface="Calibri"/>
              </a:rPr>
              <a:t>86.78%</a:t>
            </a:r>
          </a:p>
        </p:txBody>
      </p:sp>
      <p:sp>
        <p:nvSpPr>
          <p:cNvPr id="82" name="Rectangle 81"/>
          <p:cNvSpPr/>
          <p:nvPr/>
        </p:nvSpPr>
        <p:spPr>
          <a:xfrm>
            <a:off x="7700000" y="5040000"/>
            <a:ext cx="2000000" cy="520000"/>
          </a:xfrm>
          <a:prstGeom prst="rect">
            <a:avLst/>
          </a:prstGeom>
          <a:solidFill>
            <a:srgbClr val="E2E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7740000" y="5160000"/>
            <a:ext cx="1920000" cy="300000"/>
          </a:xfrm>
          <a:prstGeom prst="rect">
            <a:avLst/>
          </a:prstGeom>
          <a:noFill/>
        </p:spPr>
        <p:txBody>
          <a:bodyPr wrap="square">
            <a:spAutoFit/>
          </a:bodyPr>
          <a:lstStyle/>
          <a:p>
            <a:pPr algn="ctr"/>
            <a:r>
              <a:rPr sz="1300" b="1">
                <a:solidFill>
                  <a:srgbClr val="2F5496"/>
                </a:solidFill>
                <a:latin typeface="Calibri"/>
              </a:rPr>
              <a:t>82.0%</a:t>
            </a:r>
          </a:p>
        </p:txBody>
      </p:sp>
      <p:sp>
        <p:nvSpPr>
          <p:cNvPr id="84" name="Rectangle 83"/>
          <p:cNvSpPr/>
          <p:nvPr/>
        </p:nvSpPr>
        <p:spPr>
          <a:xfrm>
            <a:off x="9700000" y="5040000"/>
            <a:ext cx="2000000" cy="520000"/>
          </a:xfrm>
          <a:prstGeom prst="rect">
            <a:avLst/>
          </a:prstGeom>
          <a:solidFill>
            <a:srgbClr val="E2E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9740000" y="5160000"/>
            <a:ext cx="1920000" cy="300000"/>
          </a:xfrm>
          <a:prstGeom prst="rect">
            <a:avLst/>
          </a:prstGeom>
          <a:noFill/>
        </p:spPr>
        <p:txBody>
          <a:bodyPr wrap="square">
            <a:spAutoFit/>
          </a:bodyPr>
          <a:lstStyle/>
          <a:p>
            <a:pPr algn="ctr"/>
            <a:r>
              <a:rPr sz="1300" b="1">
                <a:solidFill>
                  <a:srgbClr val="2F5496"/>
                </a:solidFill>
                <a:latin typeface="Calibri"/>
              </a:rPr>
              <a:t>88.63</a:t>
            </a:r>
          </a:p>
        </p:txBody>
      </p:sp>
      <p:sp>
        <p:nvSpPr>
          <p:cNvPr id="86" name="TextBox 85"/>
          <p:cNvSpPr txBox="1"/>
          <p:nvPr/>
        </p:nvSpPr>
        <p:spPr>
          <a:xfrm>
            <a:off x="10058401" y="6554610"/>
            <a:ext cx="2133600" cy="274638"/>
          </a:xfrm>
          <a:prstGeom prst="rect">
            <a:avLst/>
          </a:prstGeom>
          <a:noFill/>
        </p:spPr>
        <p:txBody>
          <a:bodyPr wrap="none">
            <a:spAutoFit/>
          </a:bodyPr>
          <a:lstStyle/>
          <a:p>
            <a:pPr algn="r"/>
            <a:r>
              <a:rPr sz="1200">
                <a:solidFill>
                  <a:srgbClr val="333333"/>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st_logo.png"/>
          <p:cNvPicPr>
            <a:picLocks noChangeAspect="1"/>
          </p:cNvPicPr>
          <p:nvPr/>
        </p:nvPicPr>
        <p:blipFill>
          <a:blip r:embed="rId2"/>
          <a:stretch>
            <a:fillRect/>
          </a:stretch>
        </p:blipFill>
        <p:spPr>
          <a:xfrm>
            <a:off x="11133805" y="56933"/>
            <a:ext cx="850003" cy="586848"/>
          </a:xfrm>
          <a:prstGeom prst="rect">
            <a:avLst/>
          </a:prstGeom>
        </p:spPr>
      </p:pic>
      <p:sp>
        <p:nvSpPr>
          <p:cNvPr id="3" name="TextBox 2"/>
          <p:cNvSpPr txBox="1"/>
          <p:nvPr/>
        </p:nvSpPr>
        <p:spPr>
          <a:xfrm>
            <a:off x="76970" y="98726"/>
            <a:ext cx="10000000" cy="523220"/>
          </a:xfrm>
          <a:prstGeom prst="rect">
            <a:avLst/>
          </a:prstGeom>
          <a:noFill/>
        </p:spPr>
        <p:txBody>
          <a:bodyPr wrap="square">
            <a:spAutoFit/>
          </a:bodyPr>
          <a:lstStyle/>
          <a:p>
            <a:pPr algn="l"/>
            <a:r>
              <a:rPr sz="2800" b="1">
                <a:solidFill>
                  <a:srgbClr val="000000"/>
                </a:solidFill>
                <a:latin typeface="Calibri"/>
                <a:ea typeface="微软雅黑"/>
              </a:rPr>
              <a:t>3. Experiments</a:t>
            </a:r>
          </a:p>
        </p:txBody>
      </p:sp>
      <p:sp>
        <p:nvSpPr>
          <p:cNvPr id="4" name="Rectangle 3"/>
          <p:cNvSpPr/>
          <p:nvPr/>
        </p:nvSpPr>
        <p:spPr>
          <a:xfrm>
            <a:off x="1" y="667800"/>
            <a:ext cx="12192000" cy="117007"/>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970" y="820000"/>
            <a:ext cx="10000000" cy="400110"/>
          </a:xfrm>
          <a:prstGeom prst="rect">
            <a:avLst/>
          </a:prstGeom>
          <a:noFill/>
        </p:spPr>
        <p:txBody>
          <a:bodyPr wrap="square">
            <a:spAutoFit/>
          </a:bodyPr>
          <a:lstStyle/>
          <a:p>
            <a:pPr algn="l"/>
            <a:r>
              <a:rPr sz="2000" b="0">
                <a:solidFill>
                  <a:srgbClr val="000000"/>
                </a:solidFill>
                <a:latin typeface="Calibri"/>
                <a:ea typeface="微软雅黑"/>
              </a:rPr>
              <a:t>3.3 Ablation &amp; sensitivity</a:t>
            </a:r>
          </a:p>
        </p:txBody>
      </p:sp>
      <p:pic>
        <p:nvPicPr>
          <p:cNvPr id="6" name="Picture 5" descr="fig4_sensitivity.png"/>
          <p:cNvPicPr>
            <a:picLocks noChangeAspect="1"/>
          </p:cNvPicPr>
          <p:nvPr/>
        </p:nvPicPr>
        <p:blipFill>
          <a:blip r:embed="rId3"/>
          <a:stretch>
            <a:fillRect/>
          </a:stretch>
        </p:blipFill>
        <p:spPr>
          <a:xfrm>
            <a:off x="200000" y="1350000"/>
            <a:ext cx="7800000" cy="3400000"/>
          </a:xfrm>
          <a:prstGeom prst="rect">
            <a:avLst/>
          </a:prstGeom>
        </p:spPr>
      </p:pic>
      <p:sp>
        <p:nvSpPr>
          <p:cNvPr id="7" name="TextBox 6"/>
          <p:cNvSpPr txBox="1"/>
          <p:nvPr/>
        </p:nvSpPr>
        <p:spPr>
          <a:xfrm>
            <a:off x="200000" y="4800000"/>
            <a:ext cx="7800000" cy="400000"/>
          </a:xfrm>
          <a:prstGeom prst="rect">
            <a:avLst/>
          </a:prstGeom>
          <a:noFill/>
        </p:spPr>
        <p:txBody>
          <a:bodyPr wrap="square">
            <a:spAutoFit/>
          </a:bodyPr>
          <a:lstStyle/>
          <a:p>
            <a:pPr algn="ctr"/>
            <a:r>
              <a:rPr sz="1200" b="0">
                <a:solidFill>
                  <a:srgbClr val="333333"/>
                </a:solidFill>
                <a:latin typeface="Calibri"/>
                <a:ea typeface="微软雅黑"/>
              </a:rPr>
              <a:t>Fig. 4  Discovery under motion &amp; communication perturbations</a:t>
            </a:r>
          </a:p>
        </p:txBody>
      </p:sp>
      <p:sp>
        <p:nvSpPr>
          <p:cNvPr id="8" name="Rounded Rectangle 7"/>
          <p:cNvSpPr/>
          <p:nvPr/>
        </p:nvSpPr>
        <p:spPr>
          <a:xfrm>
            <a:off x="8200000" y="1350000"/>
            <a:ext cx="3700000" cy="420000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00000" y="1500000"/>
            <a:ext cx="3400000" cy="400000"/>
          </a:xfrm>
          <a:prstGeom prst="rect">
            <a:avLst/>
          </a:prstGeom>
          <a:noFill/>
        </p:spPr>
        <p:txBody>
          <a:bodyPr wrap="square">
            <a:spAutoFit/>
          </a:bodyPr>
          <a:lstStyle/>
          <a:p>
            <a:pPr algn="l"/>
            <a:r>
              <a:rPr sz="1800" b="1">
                <a:solidFill>
                  <a:srgbClr val="2F5496"/>
                </a:solidFill>
                <a:latin typeface="Calibri"/>
                <a:ea typeface="微软雅黑"/>
              </a:rPr>
              <a:t>Robustness</a:t>
            </a:r>
          </a:p>
        </p:txBody>
      </p:sp>
      <p:sp>
        <p:nvSpPr>
          <p:cNvPr id="10" name="TextBox 9"/>
          <p:cNvSpPr txBox="1"/>
          <p:nvPr/>
        </p:nvSpPr>
        <p:spPr>
          <a:xfrm>
            <a:off x="8400000" y="2100000"/>
            <a:ext cx="3400000" cy="3200000"/>
          </a:xfrm>
          <a:prstGeom prst="rect">
            <a:avLst/>
          </a:prstGeom>
          <a:noFill/>
        </p:spPr>
        <p:txBody>
          <a:bodyPr wrap="square">
            <a:spAutoFit/>
          </a:bodyPr>
          <a:lstStyle/>
          <a:p>
            <a:pPr algn="l">
              <a:spcAft>
                <a:spcPts val="800"/>
              </a:spcAft>
            </a:pPr>
            <a:r>
              <a:rPr sz="1300" b="1">
                <a:solidFill>
                  <a:srgbClr val="000000"/>
                </a:solidFill>
                <a:latin typeface="Calibri"/>
                <a:ea typeface="微软雅黑"/>
              </a:rPr>
              <a:t>Higher discovery than heuristic &amp; QMIX across sweeps</a:t>
            </a:r>
          </a:p>
          <a:p>
            <a:pPr algn="l">
              <a:spcAft>
                <a:spcPts val="800"/>
              </a:spcAft>
            </a:pPr>
            <a:r>
              <a:rPr sz="1300" b="0">
                <a:solidFill>
                  <a:srgbClr val="000000"/>
                </a:solidFill>
                <a:latin typeface="Calibri"/>
                <a:ea typeface="微软雅黑"/>
              </a:rPr>
              <a:t>•  Target/obstacle speed</a:t>
            </a:r>
          </a:p>
          <a:p>
            <a:pPr algn="l">
              <a:spcAft>
                <a:spcPts val="800"/>
              </a:spcAft>
            </a:pPr>
            <a:r>
              <a:rPr sz="1300" b="0">
                <a:solidFill>
                  <a:srgbClr val="000000"/>
                </a:solidFill>
                <a:latin typeface="Calibri"/>
                <a:ea typeface="微软雅黑"/>
              </a:rPr>
              <a:t>•  Sensing &amp; communication radii</a:t>
            </a:r>
          </a:p>
          <a:p>
            <a:pPr algn="l">
              <a:spcAft>
                <a:spcPts val="800"/>
              </a:spcAft>
            </a:pPr>
            <a:r>
              <a:rPr sz="1300" b="0">
                <a:solidFill>
                  <a:srgbClr val="000000"/>
                </a:solidFill>
                <a:latin typeface="Calibri"/>
                <a:ea typeface="微软雅黑"/>
              </a:rPr>
              <a:t>•  Outage recovery &amp; jam probability</a:t>
            </a:r>
          </a:p>
          <a:p>
            <a:pPr algn="l">
              <a:spcAft>
                <a:spcPts val="800"/>
              </a:spcAft>
            </a:pPr>
            <a:r>
              <a:rPr sz="1300" b="0">
                <a:solidFill>
                  <a:srgbClr val="000000"/>
                </a:solidFill>
                <a:latin typeface="Calibri"/>
                <a:ea typeface="微软雅黑"/>
              </a:rPr>
              <a:t>Link-aware constraint + local memory avoid reliance on fixed link patterns</a:t>
            </a:r>
          </a:p>
        </p:txBody>
      </p:sp>
      <p:sp>
        <p:nvSpPr>
          <p:cNvPr id="11" name="TextBox 10"/>
          <p:cNvSpPr txBox="1"/>
          <p:nvPr/>
        </p:nvSpPr>
        <p:spPr>
          <a:xfrm>
            <a:off x="10058401" y="6554610"/>
            <a:ext cx="2133600" cy="274638"/>
          </a:xfrm>
          <a:prstGeom prst="rect">
            <a:avLst/>
          </a:prstGeom>
          <a:noFill/>
        </p:spPr>
        <p:txBody>
          <a:bodyPr wrap="none">
            <a:spAutoFit/>
          </a:bodyPr>
          <a:lstStyle/>
          <a:p>
            <a:pPr algn="r"/>
            <a:r>
              <a:rPr sz="1200">
                <a:solidFill>
                  <a:srgbClr val="333333"/>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st_logo.png"/>
          <p:cNvPicPr>
            <a:picLocks noChangeAspect="1"/>
          </p:cNvPicPr>
          <p:nvPr/>
        </p:nvPicPr>
        <p:blipFill>
          <a:blip r:embed="rId2"/>
          <a:stretch>
            <a:fillRect/>
          </a:stretch>
        </p:blipFill>
        <p:spPr>
          <a:xfrm>
            <a:off x="11133805" y="56933"/>
            <a:ext cx="850003" cy="586848"/>
          </a:xfrm>
          <a:prstGeom prst="rect">
            <a:avLst/>
          </a:prstGeom>
        </p:spPr>
      </p:pic>
      <p:sp>
        <p:nvSpPr>
          <p:cNvPr id="3" name="TextBox 2"/>
          <p:cNvSpPr txBox="1"/>
          <p:nvPr/>
        </p:nvSpPr>
        <p:spPr>
          <a:xfrm>
            <a:off x="76970" y="98726"/>
            <a:ext cx="10000000" cy="523220"/>
          </a:xfrm>
          <a:prstGeom prst="rect">
            <a:avLst/>
          </a:prstGeom>
          <a:noFill/>
        </p:spPr>
        <p:txBody>
          <a:bodyPr wrap="square">
            <a:spAutoFit/>
          </a:bodyPr>
          <a:lstStyle/>
          <a:p>
            <a:pPr algn="l"/>
            <a:r>
              <a:rPr sz="2800" b="1">
                <a:solidFill>
                  <a:srgbClr val="000000"/>
                </a:solidFill>
                <a:latin typeface="Calibri"/>
                <a:ea typeface="微软雅黑"/>
              </a:rPr>
              <a:t>3. Experiments</a:t>
            </a:r>
          </a:p>
        </p:txBody>
      </p:sp>
      <p:sp>
        <p:nvSpPr>
          <p:cNvPr id="4" name="Rectangle 3"/>
          <p:cNvSpPr/>
          <p:nvPr/>
        </p:nvSpPr>
        <p:spPr>
          <a:xfrm>
            <a:off x="1" y="667800"/>
            <a:ext cx="12192000" cy="117007"/>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970" y="820000"/>
            <a:ext cx="10000000" cy="400110"/>
          </a:xfrm>
          <a:prstGeom prst="rect">
            <a:avLst/>
          </a:prstGeom>
          <a:noFill/>
        </p:spPr>
        <p:txBody>
          <a:bodyPr wrap="square">
            <a:spAutoFit/>
          </a:bodyPr>
          <a:lstStyle/>
          <a:p>
            <a:pPr algn="l"/>
            <a:r>
              <a:rPr sz="2000" b="0">
                <a:solidFill>
                  <a:srgbClr val="000000"/>
                </a:solidFill>
                <a:latin typeface="Calibri"/>
                <a:ea typeface="微软雅黑"/>
              </a:rPr>
              <a:t>3.4 Representative episode near convergence</a:t>
            </a:r>
          </a:p>
        </p:txBody>
      </p:sp>
      <p:pic>
        <p:nvPicPr>
          <p:cNvPr id="6" name="Picture 5" descr="fig3_episode.png"/>
          <p:cNvPicPr>
            <a:picLocks noChangeAspect="1"/>
          </p:cNvPicPr>
          <p:nvPr/>
        </p:nvPicPr>
        <p:blipFill>
          <a:blip r:embed="rId3"/>
          <a:stretch>
            <a:fillRect/>
          </a:stretch>
        </p:blipFill>
        <p:spPr>
          <a:xfrm>
            <a:off x="1200000" y="1300000"/>
            <a:ext cx="9600000" cy="4500000"/>
          </a:xfrm>
          <a:prstGeom prst="rect">
            <a:avLst/>
          </a:prstGeom>
        </p:spPr>
      </p:pic>
      <p:sp>
        <p:nvSpPr>
          <p:cNvPr id="7" name="TextBox 6"/>
          <p:cNvSpPr txBox="1"/>
          <p:nvPr/>
        </p:nvSpPr>
        <p:spPr>
          <a:xfrm>
            <a:off x="1200000" y="5850000"/>
            <a:ext cx="9600000" cy="400000"/>
          </a:xfrm>
          <a:prstGeom prst="rect">
            <a:avLst/>
          </a:prstGeom>
          <a:noFill/>
        </p:spPr>
        <p:txBody>
          <a:bodyPr wrap="square">
            <a:spAutoFit/>
          </a:bodyPr>
          <a:lstStyle/>
          <a:p>
            <a:pPr algn="ctr"/>
            <a:r>
              <a:rPr sz="1200" b="0">
                <a:solidFill>
                  <a:srgbClr val="333333"/>
                </a:solidFill>
                <a:latin typeface="Calibri"/>
                <a:ea typeface="微软雅黑"/>
              </a:rPr>
              <a:t>Fig. 3  Trajectories, endpoints, discoveries, and dynamic obstacles (qualitative)</a:t>
            </a:r>
          </a:p>
        </p:txBody>
      </p:sp>
      <p:sp>
        <p:nvSpPr>
          <p:cNvPr id="8" name="TextBox 7"/>
          <p:cNvSpPr txBox="1"/>
          <p:nvPr/>
        </p:nvSpPr>
        <p:spPr>
          <a:xfrm>
            <a:off x="10058401" y="6554610"/>
            <a:ext cx="2133600" cy="274638"/>
          </a:xfrm>
          <a:prstGeom prst="rect">
            <a:avLst/>
          </a:prstGeom>
          <a:noFill/>
        </p:spPr>
        <p:txBody>
          <a:bodyPr wrap="none">
            <a:spAutoFit/>
          </a:bodyPr>
          <a:lstStyle/>
          <a:p>
            <a:pPr algn="r"/>
            <a:r>
              <a:rPr sz="1200">
                <a:solidFill>
                  <a:srgbClr val="333333"/>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st_logo.png"/>
          <p:cNvPicPr>
            <a:picLocks noChangeAspect="1"/>
          </p:cNvPicPr>
          <p:nvPr/>
        </p:nvPicPr>
        <p:blipFill>
          <a:blip r:embed="rId2"/>
          <a:stretch>
            <a:fillRect/>
          </a:stretch>
        </p:blipFill>
        <p:spPr>
          <a:xfrm>
            <a:off x="11133805" y="56933"/>
            <a:ext cx="850003" cy="586848"/>
          </a:xfrm>
          <a:prstGeom prst="rect">
            <a:avLst/>
          </a:prstGeom>
        </p:spPr>
      </p:pic>
      <p:sp>
        <p:nvSpPr>
          <p:cNvPr id="3" name="TextBox 2"/>
          <p:cNvSpPr txBox="1"/>
          <p:nvPr/>
        </p:nvSpPr>
        <p:spPr>
          <a:xfrm>
            <a:off x="76970" y="98726"/>
            <a:ext cx="10000000" cy="523220"/>
          </a:xfrm>
          <a:prstGeom prst="rect">
            <a:avLst/>
          </a:prstGeom>
          <a:noFill/>
        </p:spPr>
        <p:txBody>
          <a:bodyPr wrap="square">
            <a:spAutoFit/>
          </a:bodyPr>
          <a:lstStyle/>
          <a:p>
            <a:pPr algn="l"/>
            <a:r>
              <a:rPr sz="2800" b="1">
                <a:solidFill>
                  <a:srgbClr val="000000"/>
                </a:solidFill>
                <a:latin typeface="Calibri"/>
                <a:ea typeface="微软雅黑"/>
              </a:rPr>
              <a:t>4. Summary and Prospect</a:t>
            </a:r>
          </a:p>
        </p:txBody>
      </p:sp>
      <p:sp>
        <p:nvSpPr>
          <p:cNvPr id="4" name="Rectangle 3"/>
          <p:cNvSpPr/>
          <p:nvPr/>
        </p:nvSpPr>
        <p:spPr>
          <a:xfrm>
            <a:off x="1" y="667800"/>
            <a:ext cx="12192000" cy="117007"/>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970" y="820000"/>
            <a:ext cx="10000000" cy="200000"/>
          </a:xfrm>
          <a:prstGeom prst="rect">
            <a:avLst/>
          </a:prstGeom>
          <a:noFill/>
        </p:spPr>
        <p:txBody>
          <a:bodyPr wrap="square">
            <a:spAutoFit/>
          </a:bodyPr>
          <a:lstStyle/>
          <a:p>
            <a:pPr algn="l"/>
            <a:r>
              <a:rPr sz="1000" b="0">
                <a:solidFill>
                  <a:srgbClr val="000000"/>
                </a:solidFill>
                <a:latin typeface="Calibri"/>
                <a:ea typeface="微软雅黑"/>
              </a:rPr>
              <a:t> </a:t>
            </a:r>
          </a:p>
        </p:txBody>
      </p:sp>
      <p:sp>
        <p:nvSpPr>
          <p:cNvPr id="6" name="Rounded Rectangle 5"/>
          <p:cNvSpPr/>
          <p:nvPr/>
        </p:nvSpPr>
        <p:spPr>
          <a:xfrm>
            <a:off x="250000" y="1400000"/>
            <a:ext cx="5700000" cy="450000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0000" y="1550000"/>
            <a:ext cx="5300000" cy="400000"/>
          </a:xfrm>
          <a:prstGeom prst="rect">
            <a:avLst/>
          </a:prstGeom>
          <a:noFill/>
        </p:spPr>
        <p:txBody>
          <a:bodyPr wrap="square">
            <a:spAutoFit/>
          </a:bodyPr>
          <a:lstStyle/>
          <a:p>
            <a:pPr algn="l"/>
            <a:r>
              <a:rPr sz="2200" b="1">
                <a:solidFill>
                  <a:srgbClr val="2F5496"/>
                </a:solidFill>
                <a:latin typeface="Calibri"/>
                <a:ea typeface="微软雅黑"/>
              </a:rPr>
              <a:t>Summary</a:t>
            </a:r>
          </a:p>
        </p:txBody>
      </p:sp>
      <p:sp>
        <p:nvSpPr>
          <p:cNvPr id="8" name="TextBox 7"/>
          <p:cNvSpPr txBox="1"/>
          <p:nvPr/>
        </p:nvSpPr>
        <p:spPr>
          <a:xfrm>
            <a:off x="450000" y="2100000"/>
            <a:ext cx="5300000" cy="3600000"/>
          </a:xfrm>
          <a:prstGeom prst="rect">
            <a:avLst/>
          </a:prstGeom>
          <a:noFill/>
        </p:spPr>
        <p:txBody>
          <a:bodyPr wrap="square">
            <a:spAutoFit/>
          </a:bodyPr>
          <a:lstStyle/>
          <a:p>
            <a:pPr algn="l">
              <a:spcAft>
                <a:spcPts val="800"/>
              </a:spcAft>
            </a:pPr>
            <a:r>
              <a:rPr sz="1400" b="0">
                <a:solidFill>
                  <a:srgbClr val="000000"/>
                </a:solidFill>
                <a:latin typeface="Calibri"/>
                <a:ea typeface="微软雅黑"/>
              </a:rPr>
              <a:t>•  IC-HGAT-MAPPO for cooperative multi-UAV search under intermittent links</a:t>
            </a:r>
          </a:p>
          <a:p>
            <a:pPr algn="l">
              <a:spcAft>
                <a:spcPts val="800"/>
              </a:spcAft>
            </a:pPr>
            <a:r>
              <a:rPr sz="1400" b="0">
                <a:solidFill>
                  <a:srgbClr val="000000"/>
                </a:solidFill>
                <a:latin typeface="Calibri"/>
                <a:ea typeface="微软雅黑"/>
              </a:rPr>
              <a:t>•  Revisit-aware beliefs + communication-history-aware source selection</a:t>
            </a:r>
          </a:p>
          <a:p>
            <a:pPr algn="l">
              <a:spcAft>
                <a:spcPts val="800"/>
              </a:spcAft>
            </a:pPr>
            <a:r>
              <a:rPr sz="1400" b="0">
                <a:solidFill>
                  <a:srgbClr val="000000"/>
                </a:solidFill>
                <a:latin typeface="Calibri"/>
                <a:ea typeface="微软雅黑"/>
              </a:rPr>
              <a:t>•  Heterogeneous graph-attention encoding of UAV / target / obstacle relations</a:t>
            </a:r>
          </a:p>
          <a:p>
            <a:pPr algn="l">
              <a:spcAft>
                <a:spcPts val="800"/>
              </a:spcAft>
            </a:pPr>
            <a:r>
              <a:rPr sz="1400" b="0">
                <a:solidFill>
                  <a:srgbClr val="000000"/>
                </a:solidFill>
                <a:latin typeface="Calibri"/>
                <a:ea typeface="微软雅黑"/>
              </a:rPr>
              <a:t>•  Best mean decisiveness (62.15%) and discovery (86.78%) on 30 scenarios × 5 seeds</a:t>
            </a:r>
          </a:p>
        </p:txBody>
      </p:sp>
      <p:sp>
        <p:nvSpPr>
          <p:cNvPr id="9" name="Rounded Rectangle 8"/>
          <p:cNvSpPr/>
          <p:nvPr/>
        </p:nvSpPr>
        <p:spPr>
          <a:xfrm>
            <a:off x="6200000" y="1400000"/>
            <a:ext cx="5700000" cy="4500000"/>
          </a:xfrm>
          <a:prstGeom prst="roundRect">
            <a:avLst/>
          </a:prstGeom>
          <a:solidFill>
            <a:srgbClr val="D6E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000" y="1550000"/>
            <a:ext cx="5300000" cy="400000"/>
          </a:xfrm>
          <a:prstGeom prst="rect">
            <a:avLst/>
          </a:prstGeom>
          <a:noFill/>
        </p:spPr>
        <p:txBody>
          <a:bodyPr wrap="square">
            <a:spAutoFit/>
          </a:bodyPr>
          <a:lstStyle/>
          <a:p>
            <a:pPr algn="l"/>
            <a:r>
              <a:rPr sz="2200" b="1">
                <a:solidFill>
                  <a:srgbClr val="C00000"/>
                </a:solidFill>
                <a:latin typeface="Calibri"/>
                <a:ea typeface="微软雅黑"/>
              </a:rPr>
              <a:t>Prospect</a:t>
            </a:r>
          </a:p>
        </p:txBody>
      </p:sp>
      <p:sp>
        <p:nvSpPr>
          <p:cNvPr id="11" name="TextBox 10"/>
          <p:cNvSpPr txBox="1"/>
          <p:nvPr/>
        </p:nvSpPr>
        <p:spPr>
          <a:xfrm>
            <a:off x="6400000" y="2200000"/>
            <a:ext cx="5300000" cy="3400000"/>
          </a:xfrm>
          <a:prstGeom prst="rect">
            <a:avLst/>
          </a:prstGeom>
          <a:noFill/>
        </p:spPr>
        <p:txBody>
          <a:bodyPr wrap="square">
            <a:spAutoFit/>
          </a:bodyPr>
          <a:lstStyle/>
          <a:p>
            <a:pPr algn="l">
              <a:spcAft>
                <a:spcPts val="800"/>
              </a:spcAft>
            </a:pPr>
            <a:r>
              <a:rPr sz="1500" b="0">
                <a:solidFill>
                  <a:srgbClr val="000000"/>
                </a:solidFill>
                <a:latin typeface="Calibri"/>
                <a:ea typeface="微软雅黑"/>
              </a:rPr>
              <a:t>•  Extend to three-dimensional environments</a:t>
            </a:r>
          </a:p>
          <a:p>
            <a:pPr algn="l">
              <a:spcAft>
                <a:spcPts val="800"/>
              </a:spcAft>
            </a:pPr>
            <a:r>
              <a:rPr sz="1500" b="0">
                <a:solidFill>
                  <a:srgbClr val="000000"/>
                </a:solidFill>
                <a:latin typeface="Calibri"/>
                <a:ea typeface="微软雅黑"/>
              </a:rPr>
              <a:t>•  Fully decentralized safety mechanisms</a:t>
            </a:r>
          </a:p>
          <a:p>
            <a:pPr algn="l">
              <a:spcAft>
                <a:spcPts val="800"/>
              </a:spcAft>
            </a:pPr>
            <a:r>
              <a:rPr sz="1500" b="0">
                <a:solidFill>
                  <a:srgbClr val="000000"/>
                </a:solidFill>
                <a:latin typeface="Calibri"/>
                <a:ea typeface="微软雅黑"/>
              </a:rPr>
              <a:t>•  Hardware-in-the-loop validation with practical radios</a:t>
            </a:r>
          </a:p>
        </p:txBody>
      </p:sp>
      <p:sp>
        <p:nvSpPr>
          <p:cNvPr id="12" name="TextBox 11"/>
          <p:cNvSpPr txBox="1"/>
          <p:nvPr/>
        </p:nvSpPr>
        <p:spPr>
          <a:xfrm>
            <a:off x="10058401" y="6554610"/>
            <a:ext cx="2133600" cy="274638"/>
          </a:xfrm>
          <a:prstGeom prst="rect">
            <a:avLst/>
          </a:prstGeom>
          <a:noFill/>
        </p:spPr>
        <p:txBody>
          <a:bodyPr wrap="none">
            <a:spAutoFit/>
          </a:bodyPr>
          <a:lstStyle/>
          <a:p>
            <a:pPr algn="r"/>
            <a:r>
              <a:rPr sz="1200">
                <a:solidFill>
                  <a:srgbClr val="333333"/>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853375"/>
            <a:ext cx="12192000" cy="2800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hust_logo.png"/>
          <p:cNvPicPr>
            <a:picLocks noChangeAspect="1"/>
          </p:cNvPicPr>
          <p:nvPr/>
        </p:nvPicPr>
        <p:blipFill>
          <a:blip r:embed="rId2"/>
          <a:stretch>
            <a:fillRect/>
          </a:stretch>
        </p:blipFill>
        <p:spPr>
          <a:xfrm>
            <a:off x="200000" y="65803"/>
            <a:ext cx="2427232" cy="1675778"/>
          </a:xfrm>
          <a:prstGeom prst="rect">
            <a:avLst/>
          </a:prstGeom>
        </p:spPr>
      </p:pic>
      <p:sp>
        <p:nvSpPr>
          <p:cNvPr id="4" name="TextBox 3"/>
          <p:cNvSpPr txBox="1"/>
          <p:nvPr/>
        </p:nvSpPr>
        <p:spPr>
          <a:xfrm>
            <a:off x="500000" y="2500000"/>
            <a:ext cx="11000000" cy="1000000"/>
          </a:xfrm>
          <a:prstGeom prst="rect">
            <a:avLst/>
          </a:prstGeom>
          <a:noFill/>
        </p:spPr>
        <p:txBody>
          <a:bodyPr wrap="square">
            <a:spAutoFit/>
          </a:bodyPr>
          <a:lstStyle/>
          <a:p>
            <a:pPr algn="ctr"/>
            <a:r>
              <a:rPr sz="4000" b="1">
                <a:solidFill>
                  <a:srgbClr val="FFFFFF"/>
                </a:solidFill>
                <a:latin typeface="Calibri"/>
                <a:ea typeface="微软雅黑"/>
              </a:rPr>
              <a:t>Thank you for your listening！</a:t>
            </a:r>
          </a:p>
        </p:txBody>
      </p:sp>
      <p:sp>
        <p:nvSpPr>
          <p:cNvPr id="5" name="TextBox 4"/>
          <p:cNvSpPr txBox="1"/>
          <p:nvPr/>
        </p:nvSpPr>
        <p:spPr>
          <a:xfrm>
            <a:off x="2500000" y="5000000"/>
            <a:ext cx="7000000" cy="400000"/>
          </a:xfrm>
          <a:prstGeom prst="rect">
            <a:avLst/>
          </a:prstGeom>
          <a:noFill/>
        </p:spPr>
        <p:txBody>
          <a:bodyPr wrap="square">
            <a:spAutoFit/>
          </a:bodyPr>
          <a:lstStyle/>
          <a:p>
            <a:pPr algn="ctr"/>
            <a:r>
              <a:rPr sz="2000" b="1">
                <a:solidFill>
                  <a:srgbClr val="000000"/>
                </a:solidFill>
                <a:latin typeface="Calibri"/>
                <a:ea typeface="微软雅黑"/>
              </a:rPr>
              <a:t>Yinying Kuang, HUST</a:t>
            </a:r>
          </a:p>
        </p:txBody>
      </p:sp>
      <p:sp>
        <p:nvSpPr>
          <p:cNvPr id="6" name="TextBox 5"/>
          <p:cNvSpPr txBox="1"/>
          <p:nvPr/>
        </p:nvSpPr>
        <p:spPr>
          <a:xfrm>
            <a:off x="2500000" y="5500000"/>
            <a:ext cx="7000000" cy="400000"/>
          </a:xfrm>
          <a:prstGeom prst="rect">
            <a:avLst/>
          </a:prstGeom>
          <a:noFill/>
        </p:spPr>
        <p:txBody>
          <a:bodyPr wrap="square">
            <a:spAutoFit/>
          </a:bodyPr>
          <a:lstStyle/>
          <a:p>
            <a:pPr algn="ctr"/>
            <a:r>
              <a:rPr sz="1600" b="0">
                <a:solidFill>
                  <a:srgbClr val="333333"/>
                </a:solidFill>
                <a:latin typeface="Calibri"/>
                <a:ea typeface="微软雅黑"/>
              </a:rPr>
              <a:t>Email: kuangyinying039@163.com</a:t>
            </a:r>
          </a:p>
        </p:txBody>
      </p:sp>
      <p:sp>
        <p:nvSpPr>
          <p:cNvPr id="7" name="TextBox 6"/>
          <p:cNvSpPr txBox="1"/>
          <p:nvPr/>
        </p:nvSpPr>
        <p:spPr>
          <a:xfrm>
            <a:off x="2500000" y="6000000"/>
            <a:ext cx="7000000" cy="400000"/>
          </a:xfrm>
          <a:prstGeom prst="rect">
            <a:avLst/>
          </a:prstGeom>
          <a:noFill/>
        </p:spPr>
        <p:txBody>
          <a:bodyPr wrap="square">
            <a:spAutoFit/>
          </a:bodyPr>
          <a:lstStyle/>
          <a:p>
            <a:pPr algn="ctr"/>
            <a:r>
              <a:rPr sz="1600" b="1">
                <a:solidFill>
                  <a:srgbClr val="2F5496"/>
                </a:solidFill>
                <a:latin typeface="Calibri"/>
                <a:ea typeface="微软雅黑"/>
              </a:rPr>
              <a:t>CAC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